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3" roundtripDataSignature="AMtx7mhy9ktAygIh1d/LqMfxIpJ1E/Hbb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schemas.openxmlformats.org/officeDocument/2006/relationships/slide" Target="slides/slide38.xml"/><Relationship Id="rId41" Type="http://schemas.openxmlformats.org/officeDocument/2006/relationships/slide" Target="slides/slide37.xml"/><Relationship Id="rId22" Type="http://schemas.openxmlformats.org/officeDocument/2006/relationships/slide" Target="slides/slide18.xml"/><Relationship Id="rId21" Type="http://schemas.openxmlformats.org/officeDocument/2006/relationships/slide" Target="slides/slide17.xml"/><Relationship Id="rId43" Type="http://customschemas.google.com/relationships/presentationmetadata" Target="metadata"/><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Clase 7: el CEO resolvió el problema de búsqueda con sorting + binary search, pero los tickets son dinámicos: se agregan y eliminan constantemente. Un array ordenado requiere O(n) para inserción. Necesitamos una estructura que mantenga O(log n) para búsqueda, inserción y eliminación simultáneamente.</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pregunta que no hay que responder todavía: ¿qué estructura permite O(log n) en búsqueda, inserción y eliminación simultáneamente? El array ordenado da O(log n) en búsqueda pero O(n) en inserción. Una lista enlazada da O(1) en inserción pero O(n) en búsqueda. El árbol de búsqueda binaria es la respuesta — pero tiene sus propias trampas.</a:t>
            </a:r>
            <a:endParaRPr/>
          </a:p>
        </p:txBody>
      </p:sp>
      <p:sp>
        <p:nvSpPr>
          <p:cNvPr id="29" name="Google Shape;2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 name="Google Shape;4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Árboles de decisión (DT) son un método de aprendizaje supervisado no paramétrico utilizado para clasificación y regresión. El objetivo es crear un modelo que prediga el valor de a variable objetivo mediante el aprendizaje de reglas de decisión simples inferidas a partir de los datos características. Un árbol puede verse como una aproximación constante por partes.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5" name="Google Shape;4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dc442f8a4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 name="Google Shape;64;g3dc442f8a48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error conceptual más común: verificar solo el hijo inmediato. En el árbol del ejemplo, si el hijo derecho de 2 fuera 7 en lugar de 4, el árbol parecería válido localmente (7&gt;2) pero violaría la propiedad globalmente (7 está en el subárbol izquierdo de 6 pero 7&gt;6). Buscar 7 arrancaría en 6, iría a la derecha hacia 8, y nunca encontraría el 7 que está en el subárbol izquierdo.</a:t>
            </a:r>
            <a:endParaRPr/>
          </a:p>
        </p:txBody>
      </p:sp>
      <p:sp>
        <p:nvSpPr>
          <p:cNvPr id="65" name="Google Shape;65;g3dc442f8a48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O(n) — visita exactamente n nodos, trabajo constante por nodo. Espacio O(h) por la pila de recursión — h es la altura del árbol. En un árbol balanceado esto es O(log n), en un árbol degenerado O(n). La conexión con sorting: inorder walk en un BST es esencialmente un O(n) sort, una vez que el árbol está construido.</a:t>
            </a:r>
            <a:endParaRPr/>
          </a:p>
        </p:txBody>
      </p:sp>
      <p:sp>
        <p:nvSpPr>
          <p:cNvPr id="103" name="Google Shape;10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Ambas operaciones son O(h) — el número de comparaciones es igual a la profundidad del nodo encontrado/insertado. En un árbol perfectamente balanceado h=O(log n). En el peor caso (datos insertados en orden), h=n y todo es O(n). Esta es la trampa del BST simple.</a:t>
            </a:r>
            <a:endParaRPr/>
          </a:p>
        </p:txBody>
      </p:sp>
      <p:sp>
        <p:nvSpPr>
          <p:cNvPr id="141" name="Google Shape;14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versión recursiva usa BinaryNode*&amp; (referencia a puntero) para poder modificar el puntero del padre directamente. Esto es más limpio que retornar el nuevo puntero. La versión iterativa evita el overhead de la pila de recursión — importante para árboles muy profundos donde el stack podría hacer overflow.</a:t>
            </a:r>
            <a:endParaRPr/>
          </a:p>
        </p:txBody>
      </p:sp>
      <p:sp>
        <p:nvSpPr>
          <p:cNvPr id="183" name="Google Shape;18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9a882fa791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g39a882fa791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versión recursiva usa BinaryNode*&amp; (referencia a puntero) para poder modificar el puntero del padre directamente. Esto es más limpio que retornar el nuevo puntero. La versión iterativa evita el overhead de la pila de recursión — importante para árboles muy profundos donde el stack podría hacer overflow.</a:t>
            </a:r>
            <a:endParaRPr/>
          </a:p>
        </p:txBody>
      </p:sp>
      <p:sp>
        <p:nvSpPr>
          <p:cNvPr id="206" name="Google Shape;206;g39a882fa791_0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error clásico es asumir que el sucesor es siempre el hijo derecho. Solo es cierto si el hijo derecho no tiene subárbol izquierdo. En el árbol del ejemplo, el sucesor de 4 no es 8 (el hijo derecho de 6) sino 6 — el primer ancestro cuyo camino hacia abajo pasó por la derecha. Esto se entiende mejor dibujando el árbol y trazando el inorder walk.</a:t>
            </a:r>
            <a:endParaRPr/>
          </a:p>
        </p:txBody>
      </p:sp>
      <p:sp>
        <p:nvSpPr>
          <p:cNvPr id="221" name="Google Shape;22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demostración visual es crucial aquí: dibujá el árbol {6,2,8,1,4} en el pizarrón y pedile a un estudiante que elimine el nodo 2. La mayoría va a intentar mover 4 o 1 al lugar de 2 sin pensar en el otro hijo. Cuando preguntas '¿y qué hacemos con el 1?' o '¿y qué hacemos con el 4?' empieza a aparecer el problema.</a:t>
            </a:r>
            <a:endParaRPr/>
          </a:p>
        </p:txBody>
      </p:sp>
      <p:sp>
        <p:nvSpPr>
          <p:cNvPr id="248" name="Google Shape;24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línea clave es t-&gt;element = findMin(t-&gt;right)-&gt;element seguido de remove(t-&gt;element, t-&gt;right). El segundo remove va a encontrar exactamente el nodo sucesor y lo va a eliminar como Caso 1 o 2. El nodo físico no se toca — solo se cambia el dato que contiene. Esto preserva todos los punteros del árbol intactos.</a:t>
            </a:r>
            <a:endParaRPr/>
          </a:p>
        </p:txBody>
      </p:sp>
      <p:sp>
        <p:nvSpPr>
          <p:cNvPr id="275" name="Google Shape;27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causa del árbol degenerado es siempre la misma: datos insertados en orden (ascendente o descendente). Cada nuevo elemento va siempre a la derecha (o siempre a la izquierda), creando una lista enlazada disfrazada de árbol. Para los tickets del CEO: si se insertan ordenados por fecha, el BST simple se degenera completamente.</a:t>
            </a:r>
            <a:endParaRPr/>
          </a:p>
        </p:txBody>
      </p:sp>
      <p:sp>
        <p:nvSpPr>
          <p:cNvPr id="299" name="Google Shape;29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distinción entre 'randomly built' y 'randomly chosen' es sutil pero importante. Es una clase completa de análisis probabilístico. Para el curso: la conclusión práctica es que BST simple no es suficiente cuando los datos llegan en orden predecible — que es casi siempre en producción. AVL y Red-Black existen para exactamente este problema.</a:t>
            </a:r>
            <a:endParaRPr/>
          </a:p>
        </p:txBody>
      </p:sp>
      <p:sp>
        <p:nvSpPr>
          <p:cNvPr id="353" name="Google Shape;35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1" name="Google Shape;39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2" name="Google Shape;43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error conceptual más común: verificar balance solo en la raíz. Un árbol puede estar balanceado en la raíz pero tener subramas completamente degeneradas. La condición AVL es LOCAL — debe mantenerse en cada nodo individualmente. El resultado GLOBAL (altura O(log n)) emerge de satisfacer esta condición local en todos lados.</a:t>
            </a:r>
            <a:endParaRPr/>
          </a:p>
        </p:txBody>
      </p:sp>
      <p:sp>
        <p:nvSpPr>
          <p:cNvPr id="433" name="Google Shape;433;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9" name="Google Shape;45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error más común: usar el valor del nodo insertado para identificar el caso en lugar del path geométrico. Si inserté un 7, no importa que sea 7 — importa si el path desde el nodo desbalanceado hacia abajo va Izquierda-Izquierda, Derecha-Derecha, etc. La identificación es puramente estructural.</a:t>
            </a:r>
            <a:endParaRPr/>
          </a:p>
        </p:txBody>
      </p:sp>
      <p:sp>
        <p:nvSpPr>
          <p:cNvPr id="460" name="Google Shape;46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8" name="Google Shape;50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punto más importante: la función retorna un puntero a la nueva raíz del subárbol, y el llamador DEBE asignarlo. t = rotateWithLeftChild(t). Si el llamador no asigna el resultado, el puntero desde el nodo padre sigue apuntando al viejo k2, y k1 (la nueva raíz) queda completamente desconectada del resto del árbol — Subtree Orphanage.</a:t>
            </a:r>
            <a:endParaRPr/>
          </a:p>
        </p:txBody>
      </p:sp>
      <p:sp>
        <p:nvSpPr>
          <p:cNvPr id="509" name="Google Shape;509;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1" name="Google Shape;551;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intuición del zig-zag: imaginar un brazo articulado. Si el codo está doblado, primero tenés que enderezar el codo (Paso 1) y luego levantar el brazo entero (Paso 2). Una sola rotación endereza el codo pero no levanta el brazo. Dos rotaciones en dirección opuesta primero enderezan, luego levantan.</a:t>
            </a:r>
            <a:endParaRPr/>
          </a:p>
        </p:txBody>
      </p:sp>
      <p:sp>
        <p:nvSpPr>
          <p:cNvPr id="552" name="Google Shape;552;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0" name="Google Shape;570;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teorema de altura máxima 1.44 log n es uno de los resultados más elegantes de la teoría de estructuras de datos. La demostración vía Fibonacci muestra que incluso el AVL tree más delgado posible crece solo logarítmicamente. El factor 1.44 es la constante exacta derivada de log(φ) donde φ es la razón áurea.</a:t>
            </a:r>
            <a:endParaRPr/>
          </a:p>
        </p:txBody>
      </p:sp>
      <p:sp>
        <p:nvSpPr>
          <p:cNvPr id="571" name="Google Shape;571;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7" name="Google Shape;59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8" name="Google Shape;598;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8" name="Google Shape;63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9" name="Google Shape;63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0" name="Google Shape;650;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Las propiedades 4 y 5 son las que hacen el trabajo pesado. La 4 limita qué tan 'rojo' puede ser un path. La 5 garantiza que todos los paths tienen la misma cantidad de nodos negros. Juntas implican que el path más largo (alternando rojo-negro) puede ser a lo sumo el doble del más corto (todos negros) — de ahí h ≤ 2 log n.</a:t>
            </a:r>
            <a:endParaRPr/>
          </a:p>
        </p:txBody>
      </p:sp>
      <p:sp>
        <p:nvSpPr>
          <p:cNvPr id="651" name="Google Shape;651;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3" name="Google Shape;693;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diferencia fundamental entre AVL y Red-Black en la práctica: AVL hace backtrack completo después de cada inserción para verificar y corregir el balance en cada nodo del camino. Red-Black puede terminar en O(1) rotaciones (máximo 2) y solo hace recoloreo en el resto del camino. Para cargas con muchas inserciones, RB es más eficiente.</a:t>
            </a:r>
            <a:endParaRPr/>
          </a:p>
        </p:txBody>
      </p:sp>
      <p:sp>
        <p:nvSpPr>
          <p:cNvPr id="694" name="Google Shape;694;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8" name="Google Shape;728;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9" name="Google Shape;729;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9" name="Google Shape;779;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Las tres órdenes de traversal tienen el mismo costo: O(n) tiempo, O(h) espacio. La elección depende del problema. La confusión más común: asumir que preorder o postorder en un BST produce output ordenado. Solo inorder garantiza orden ascendente. Preorder es la secuencia de inserción que reconstruiría el árbol original.</a:t>
            </a:r>
            <a:endParaRPr/>
          </a:p>
        </p:txBody>
      </p:sp>
      <p:sp>
        <p:nvSpPr>
          <p:cNvPr id="780" name="Google Shape;780;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0" name="Google Shape;820;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diferencia crítica entre Zig-Zig y Zig-Zag en Splay Trees es lo que hace que Splay Trees sean amortizadamente eficientes. Si el splay simplemente rotara x con su padre repetidamente (simple rotation-to-root), podría dejar el árbol igual de profundo que antes para otros nodos. El Zig-Zig específicamente acorta el path para otros nodos en la ruta.</a:t>
            </a:r>
            <a:endParaRPr/>
          </a:p>
        </p:txBody>
      </p:sp>
      <p:sp>
        <p:nvSpPr>
          <p:cNvPr id="821" name="Google Shape;821;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7" name="Google Shape;847;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caso Zig solo ocurre cuando x es hijo directo de la raíz. Es el caso terminal del proceso de splaying — solo se aplica una vez al final. En todos los demás casos, se aplica Zig-Zig o Zig-Zag para mover x dos niveles hacia arriba por iteración.</a:t>
            </a:r>
            <a:endParaRPr/>
          </a:p>
        </p:txBody>
      </p:sp>
      <p:sp>
        <p:nvSpPr>
          <p:cNvPr id="848" name="Google Shape;848;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3" name="Google Shape;893;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clave del Zig-Zig es que rota el ABUELO primero, luego el PADRE. Esto contrasta con la double rotation de AVL que rota el HIJO primero. El Zig-Zig tiene la propiedad de que aproximadamente la mitad de los nodos en el path de acceso terminan a profundidades menores. Esto es lo que da la garantía amortizada — una sola operación costosa 'compra' trabajo futuro barato.</a:t>
            </a:r>
            <a:endParaRPr/>
          </a:p>
        </p:txBody>
      </p:sp>
      <p:sp>
        <p:nvSpPr>
          <p:cNvPr id="894" name="Google Shape;894;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3" name="Google Shape;953;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Zig-Zag es mecánicamente idéntico al double rotation de AVL: primero rotar x con p (convierte zig-zag en línea), luego rotar x con g (reduce altura). La diferencia con AVL: en AVL el trigger es la diferencia de altura, en Splay el trigger es el acceso al nodo. El Zig-Zag no tiene la propiedad de acortar paths para otros nodos tanto como el Zig-Zig — por eso Zig-Zig es el caso más importante del análisis amortizado.</a:t>
            </a:r>
            <a:endParaRPr/>
          </a:p>
        </p:txBody>
      </p:sp>
      <p:sp>
        <p:nvSpPr>
          <p:cNvPr id="954" name="Google Shape;954;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3" name="Google Shape;1013;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Este slide es el núcleo conceptual de Splay Trees. La mayoría de los estudiantes entiende las rotaciones pero no entienden POR QUÉ el Zig-Zig rota el abuelo primero en lugar del padre. La respuesta está en el análisis potencial de Sleator y Tarjan (1985): rotar el abuelo primero es exactamente lo que permite probar que el potencial disminuye lo suficiente para garantizar O(log n) amortizado.</a:t>
            </a:r>
            <a:endParaRPr/>
          </a:p>
        </p:txBody>
      </p:sp>
      <p:sp>
        <p:nvSpPr>
          <p:cNvPr id="1014" name="Google Shape;1014;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8" name="Google Shape;1068;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Esta tabla es el resumen ejecutivo de la clase. El criterio de decisión práctico: si necesitás O(log n) garantizado con inserción y búsqueda balanceadas, usá std::map (Red-Black). Si las búsquedas son mucho más frecuentes que las inserciones y querés el path más corto posible, considerá AVL. Si hay fuerte localidad temporal (los mismos elementos se acceden repetidamente), considerá Splay.</a:t>
            </a:r>
            <a:endParaRPr/>
          </a:p>
        </p:txBody>
      </p:sp>
      <p:sp>
        <p:nvSpPr>
          <p:cNvPr id="1069" name="Google Shape;1069;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1" name="Google Shape;1171;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Respuestas esperadas: A → Splay Tree (localidad temporal fuerte, términos frecuentes migran a la raíz); B → AVL o Red-Black (datos ordenados → BST simple degenera); C → BST simple (datos llegan en orden mixto de eventos de tiempo, solo inserciones, búsquedas raras — la simplicidad gana); D → Red-Black (worst-case ≤ 2 rotaciones garantizado); E → AVL (carga única, búsquedas frecuentes, altura mínima 1.44 log n).</a:t>
            </a:r>
            <a:endParaRPr/>
          </a:p>
        </p:txBody>
      </p:sp>
      <p:sp>
        <p:nvSpPr>
          <p:cNvPr id="1172" name="Google Shape;1172;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6" name="Google Shape;1206;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7" name="Google Shape;1207;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5" name="Shape 1255"/>
        <p:cNvGrpSpPr/>
        <p:nvPr/>
      </p:nvGrpSpPr>
      <p:grpSpPr>
        <a:xfrm>
          <a:off x="0" y="0"/>
          <a:ext cx="0" cy="0"/>
          <a:chOff x="0" y="0"/>
          <a:chExt cx="0" cy="0"/>
        </a:xfrm>
      </p:grpSpPr>
      <p:sp>
        <p:nvSpPr>
          <p:cNvPr id="1256" name="Google Shape;1256;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7" name="Google Shape;1257;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CEO tiene lo que necesitaba: O(log n) garantizado en insert, search y delete. std::map internamente es un Red-Black tree. Maga sabía esto desde el principio — Ema tardó una clase entera en entender por qué. Los dos juntos pudieron explicarle al CEO que la solución estaba en el lenguaje desde siempre.</a:t>
            </a:r>
            <a:endParaRPr/>
          </a:p>
        </p:txBody>
      </p:sp>
      <p:sp>
        <p:nvSpPr>
          <p:cNvPr id="1258" name="Google Shape;1258;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4" name="Shape 1264"/>
        <p:cNvGrpSpPr/>
        <p:nvPr/>
      </p:nvGrpSpPr>
      <p:grpSpPr>
        <a:xfrm>
          <a:off x="0" y="0"/>
          <a:ext cx="0" cy="0"/>
          <a:chOff x="0" y="0"/>
          <a:chExt cx="0" cy="0"/>
        </a:xfrm>
      </p:grpSpPr>
      <p:sp>
        <p:nvSpPr>
          <p:cNvPr id="1265" name="Google Shape;1265;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6" name="Google Shape;1266;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Los tres takeaways corresponden a los tres errores más importantes. El primero cierra la trampa del BST property check local. El segundo cierra la trampa del BST simple para producción. El tercero es el insight más sofisticado — la diferencia entre Zig-Zig y Zig-Zag es exactamente lo que hace que Splay Trees tengan garantía amortizada.</a:t>
            </a:r>
            <a:endParaRPr/>
          </a:p>
        </p:txBody>
      </p:sp>
      <p:sp>
        <p:nvSpPr>
          <p:cNvPr id="1267" name="Google Shape;1267;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5" name="Google Shape;1285;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pregunta de reflexión conecta con índices de bases de datos — múltiples B-trees sobre distintos campos. La Pregunta 1 conecta directamente con el análisis de localidad temporal — después del warmup, los 100 elementos frecuentes están en los primeros ~7 niveles del Splay Tree. La Pregunta 2 conecta con por qué Red-Black reemplaza a AVL en la mayoría de las implementaciones de producción.</a:t>
            </a:r>
            <a:endParaRPr/>
          </a:p>
        </p:txBody>
      </p:sp>
      <p:sp>
        <p:nvSpPr>
          <p:cNvPr id="1286" name="Google Shape;1286;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8" name="Shape 1308"/>
        <p:cNvGrpSpPr/>
        <p:nvPr/>
      </p:nvGrpSpPr>
      <p:grpSpPr>
        <a:xfrm>
          <a:off x="0" y="0"/>
          <a:ext cx="0" cy="0"/>
          <a:chOff x="0" y="0"/>
          <a:chExt cx="0" cy="0"/>
        </a:xfrm>
      </p:grpSpPr>
      <p:sp>
        <p:nvSpPr>
          <p:cNvPr id="1309" name="Google Shape;130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0" name="Google Shape;131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Los cinco bloques progresan en complejidad de implementación y solidez de garantías. BST es la intuición base. AVL y Red-Black son las soluciones industriales. Traversals son operaciones fundamentales sobre cualquier árbol. Splay es el más sofisticado conceptualmente — amortizado sin balance explícito.</a:t>
            </a:r>
            <a:endParaRPr/>
          </a:p>
        </p:txBody>
      </p:sp>
      <p:sp>
        <p:nvSpPr>
          <p:cNvPr id="1311" name="Google Shape;131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F1A"/>
        </a:solidFill>
      </p:bgPr>
    </p:bg>
    <p:spTree>
      <p:nvGrpSpPr>
        <p:cNvPr id="15" name="Shape 15"/>
        <p:cNvGrpSpPr/>
        <p:nvPr/>
      </p:nvGrpSpPr>
      <p:grpSpPr>
        <a:xfrm>
          <a:off x="0" y="0"/>
          <a:ext cx="0" cy="0"/>
          <a:chOff x="0" y="0"/>
          <a:chExt cx="0" cy="0"/>
        </a:xfrm>
      </p:grpSpPr>
      <p:sp>
        <p:nvSpPr>
          <p:cNvPr id="16" name="Google Shape;16;p1"/>
          <p:cNvSpPr/>
          <p:nvPr/>
        </p:nvSpPr>
        <p:spPr>
          <a:xfrm>
            <a:off x="0" y="0"/>
            <a:ext cx="9144000" cy="73152"/>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137155" y="822950"/>
            <a:ext cx="8823900" cy="100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3200"/>
              <a:buFont typeface="Trebuchet MS"/>
              <a:buNone/>
            </a:pPr>
            <a:r>
              <a:rPr b="1" i="0" lang="en-US" sz="3200" u="none" cap="none" strike="noStrike">
                <a:solidFill>
                  <a:srgbClr val="F0F4FF"/>
                </a:solidFill>
                <a:latin typeface="Trebuchet MS"/>
                <a:ea typeface="Trebuchet MS"/>
                <a:cs typeface="Trebuchet MS"/>
                <a:sym typeface="Trebuchet MS"/>
              </a:rPr>
              <a:t>Algoritmos y</a:t>
            </a:r>
            <a:r>
              <a:rPr lang="en-US" sz="3200">
                <a:solidFill>
                  <a:schemeClr val="dk1"/>
                </a:solidFill>
                <a:latin typeface="Calibri"/>
                <a:ea typeface="Calibri"/>
                <a:cs typeface="Calibri"/>
                <a:sym typeface="Calibri"/>
              </a:rPr>
              <a:t> </a:t>
            </a:r>
            <a:r>
              <a:rPr b="1" i="0" lang="en-US" sz="3200" u="none" cap="none" strike="noStrike">
                <a:solidFill>
                  <a:srgbClr val="F0F4FF"/>
                </a:solidFill>
                <a:latin typeface="Trebuchet MS"/>
                <a:ea typeface="Trebuchet MS"/>
                <a:cs typeface="Trebuchet MS"/>
                <a:sym typeface="Trebuchet MS"/>
              </a:rPr>
              <a:t>Estructuras de Datos</a:t>
            </a:r>
            <a:endParaRPr b="0" i="0" sz="3200" u="none" cap="none" strike="noStrike">
              <a:solidFill>
                <a:schemeClr val="dk1"/>
              </a:solidFill>
              <a:latin typeface="Calibri"/>
              <a:ea typeface="Calibri"/>
              <a:cs typeface="Calibri"/>
              <a:sym typeface="Calibri"/>
            </a:endParaRPr>
          </a:p>
        </p:txBody>
      </p:sp>
      <p:sp>
        <p:nvSpPr>
          <p:cNvPr id="18" name="Google Shape;18;p1"/>
          <p:cNvSpPr/>
          <p:nvPr/>
        </p:nvSpPr>
        <p:spPr>
          <a:xfrm>
            <a:off x="137140" y="1828845"/>
            <a:ext cx="2377500" cy="366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137140" y="1947717"/>
            <a:ext cx="4297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4FF"/>
              </a:buClr>
              <a:buSzPts val="1800"/>
              <a:buFont typeface="Trebuchet MS"/>
              <a:buNone/>
            </a:pPr>
            <a:r>
              <a:rPr b="1" i="0" lang="en-US" sz="1800" u="none" cap="none" strike="noStrike">
                <a:solidFill>
                  <a:srgbClr val="00D4FF"/>
                </a:solidFill>
                <a:latin typeface="Trebuchet MS"/>
                <a:ea typeface="Trebuchet MS"/>
                <a:cs typeface="Trebuchet MS"/>
                <a:sym typeface="Trebuchet MS"/>
              </a:rPr>
              <a:t>Árboles de Búsqueda</a:t>
            </a:r>
            <a:endParaRPr b="0" i="0" sz="1800" u="none" cap="none" strike="noStrike">
              <a:solidFill>
                <a:schemeClr val="dk1"/>
              </a:solidFill>
              <a:latin typeface="Calibri"/>
              <a:ea typeface="Calibri"/>
              <a:cs typeface="Calibri"/>
              <a:sym typeface="Calibri"/>
            </a:endParaRPr>
          </a:p>
        </p:txBody>
      </p:sp>
      <p:sp>
        <p:nvSpPr>
          <p:cNvPr id="20" name="Google Shape;20;p1"/>
          <p:cNvSpPr/>
          <p:nvPr/>
        </p:nvSpPr>
        <p:spPr>
          <a:xfrm>
            <a:off x="137140" y="2441493"/>
            <a:ext cx="4297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1100"/>
              <a:buFont typeface="Calibri"/>
              <a:buNone/>
            </a:pPr>
            <a:r>
              <a:rPr b="0" i="1" lang="en-US" sz="1100" u="none" cap="none" strike="noStrike">
                <a:solidFill>
                  <a:srgbClr val="8892A4"/>
                </a:solidFill>
                <a:latin typeface="Calibri"/>
                <a:ea typeface="Calibri"/>
                <a:cs typeface="Calibri"/>
                <a:sym typeface="Calibri"/>
              </a:rPr>
              <a:t>BST · AVL · Red-Black · Traversals · Splay</a:t>
            </a:r>
            <a:endParaRPr b="0" i="0" sz="1100" u="none" cap="none" strike="noStrike">
              <a:solidFill>
                <a:schemeClr val="dk1"/>
              </a:solidFill>
              <a:latin typeface="Calibri"/>
              <a:ea typeface="Calibri"/>
              <a:cs typeface="Calibri"/>
              <a:sym typeface="Calibri"/>
            </a:endParaRPr>
          </a:p>
        </p:txBody>
      </p:sp>
      <p:sp>
        <p:nvSpPr>
          <p:cNvPr id="21" name="Google Shape;21;p1"/>
          <p:cNvSpPr/>
          <p:nvPr/>
        </p:nvSpPr>
        <p:spPr>
          <a:xfrm>
            <a:off x="137140" y="2862117"/>
            <a:ext cx="4297800" cy="86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1300"/>
              <a:buFont typeface="Calibri"/>
              <a:buNone/>
            </a:pPr>
            <a:r>
              <a:rPr b="0" i="0" lang="en-US" sz="1300" u="none" cap="none" strike="noStrike">
                <a:solidFill>
                  <a:srgbClr val="F0F4FF"/>
                </a:solidFill>
                <a:latin typeface="Calibri"/>
                <a:ea typeface="Calibri"/>
                <a:cs typeface="Calibri"/>
                <a:sym typeface="Calibri"/>
              </a:rPr>
              <a:t>El CEO quedó feliz con el sorting.</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300"/>
              <a:buFont typeface="Calibri"/>
              <a:buNone/>
            </a:pPr>
            <a:r>
              <a:rPr b="0" i="0" lang="en-US" sz="1300" u="none" cap="none" strike="noStrike">
                <a:solidFill>
                  <a:srgbClr val="F0F4FF"/>
                </a:solidFill>
                <a:latin typeface="Calibri"/>
                <a:ea typeface="Calibri"/>
                <a:cs typeface="Calibri"/>
                <a:sym typeface="Calibri"/>
              </a:rPr>
              <a:t>Ahora quiere búsqueda, inserción y eliminación</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300"/>
              <a:buFont typeface="Calibri"/>
              <a:buNone/>
            </a:pPr>
            <a:r>
              <a:rPr b="0" i="0" lang="en-US" sz="1300" u="none" cap="none" strike="noStrike">
                <a:solidFill>
                  <a:srgbClr val="F0F4FF"/>
                </a:solidFill>
                <a:latin typeface="Calibri"/>
                <a:ea typeface="Calibri"/>
                <a:cs typeface="Calibri"/>
                <a:sym typeface="Calibri"/>
              </a:rPr>
              <a:t>en O(log n) — todo al mismo tiempo.</a:t>
            </a:r>
            <a:endParaRPr b="0" i="0" sz="1300" u="none" cap="none" strike="noStrike">
              <a:solidFill>
                <a:schemeClr val="dk1"/>
              </a:solidFill>
              <a:latin typeface="Calibri"/>
              <a:ea typeface="Calibri"/>
              <a:cs typeface="Calibri"/>
              <a:sym typeface="Calibri"/>
            </a:endParaRPr>
          </a:p>
        </p:txBody>
      </p:sp>
      <p:sp>
        <p:nvSpPr>
          <p:cNvPr id="22" name="Google Shape;22;p1"/>
          <p:cNvSpPr/>
          <p:nvPr/>
        </p:nvSpPr>
        <p:spPr>
          <a:xfrm>
            <a:off x="4663440" y="3913632"/>
            <a:ext cx="42976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1000"/>
              <a:buFont typeface="Calibri"/>
              <a:buNone/>
            </a:pPr>
            <a:r>
              <a:rPr b="0" i="0" lang="en-US" sz="1000" u="none" cap="none" strike="noStrike">
                <a:solidFill>
                  <a:srgbClr val="8892A4"/>
                </a:solidFill>
                <a:latin typeface="Calibri"/>
                <a:ea typeface="Calibri"/>
                <a:cs typeface="Calibri"/>
                <a:sym typeface="Calibri"/>
              </a:rPr>
              <a:t>FCEFyN · UNC · 2026</a:t>
            </a:r>
            <a:endParaRPr b="0" i="0" sz="1000" u="none" cap="none" strike="noStrike">
              <a:solidFill>
                <a:schemeClr val="dk1"/>
              </a:solidFill>
              <a:latin typeface="Calibri"/>
              <a:ea typeface="Calibri"/>
              <a:cs typeface="Calibri"/>
              <a:sym typeface="Calibri"/>
            </a:endParaRPr>
          </a:p>
        </p:txBody>
      </p:sp>
      <p:sp>
        <p:nvSpPr>
          <p:cNvPr id="23" name="Google Shape;23;p1"/>
          <p:cNvSpPr/>
          <p:nvPr/>
        </p:nvSpPr>
        <p:spPr>
          <a:xfrm>
            <a:off x="4663440" y="4169664"/>
            <a:ext cx="42976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1000"/>
              <a:buFont typeface="Calibri"/>
              <a:buNone/>
            </a:pPr>
            <a:r>
              <a:rPr b="0" i="0" lang="en-US" sz="1000" u="none" cap="none" strike="noStrike">
                <a:solidFill>
                  <a:srgbClr val="8892A4"/>
                </a:solidFill>
                <a:latin typeface="Calibri"/>
                <a:ea typeface="Calibri"/>
                <a:cs typeface="Calibri"/>
                <a:sym typeface="Calibri"/>
              </a:rPr>
              <a:t>Ing. Valenzuela Gabriel</a:t>
            </a:r>
            <a:endParaRPr b="0" i="0" sz="1000" u="none" cap="none" strike="noStrike">
              <a:solidFill>
                <a:schemeClr val="dk1"/>
              </a:solidFill>
              <a:latin typeface="Calibri"/>
              <a:ea typeface="Calibri"/>
              <a:cs typeface="Calibri"/>
              <a:sym typeface="Calibri"/>
            </a:endParaRPr>
          </a:p>
        </p:txBody>
      </p:sp>
      <p:sp>
        <p:nvSpPr>
          <p:cNvPr id="24" name="Google Shape;24;p1"/>
          <p:cNvSpPr/>
          <p:nvPr/>
        </p:nvSpPr>
        <p:spPr>
          <a:xfrm>
            <a:off x="137160" y="4846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AED · Clase 7</a:t>
            </a:r>
            <a:endParaRPr b="0" i="0" sz="900" u="none" cap="none" strike="noStrike">
              <a:solidFill>
                <a:schemeClr val="dk1"/>
              </a:solidFill>
              <a:latin typeface="Calibri"/>
              <a:ea typeface="Calibri"/>
              <a:cs typeface="Calibri"/>
              <a:sym typeface="Calibri"/>
            </a:endParaRPr>
          </a:p>
        </p:txBody>
      </p:sp>
      <p:sp>
        <p:nvSpPr>
          <p:cNvPr id="25" name="Google Shape;25;p1"/>
          <p:cNvSpPr/>
          <p:nvPr/>
        </p:nvSpPr>
        <p:spPr>
          <a:xfrm>
            <a:off x="8503920" y="4846320"/>
            <a:ext cx="54864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F1A"/>
        </a:solidFill>
      </p:bgPr>
    </p:bg>
    <p:spTree>
      <p:nvGrpSpPr>
        <p:cNvPr id="30" name="Shape 30"/>
        <p:cNvGrpSpPr/>
        <p:nvPr/>
      </p:nvGrpSpPr>
      <p:grpSpPr>
        <a:xfrm>
          <a:off x="0" y="0"/>
          <a:ext cx="0" cy="0"/>
          <a:chOff x="0" y="0"/>
          <a:chExt cx="0" cy="0"/>
        </a:xfrm>
      </p:grpSpPr>
      <p:sp>
        <p:nvSpPr>
          <p:cNvPr id="31" name="Google Shape;31;p2"/>
          <p:cNvSpPr/>
          <p:nvPr/>
        </p:nvSpPr>
        <p:spPr>
          <a:xfrm>
            <a:off x="0" y="0"/>
            <a:ext cx="54864"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182880" y="137160"/>
            <a:ext cx="87782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2600"/>
              <a:buFont typeface="Trebuchet MS"/>
              <a:buNone/>
            </a:pPr>
            <a:r>
              <a:rPr b="1" i="0" lang="en-US" sz="2600" u="none" cap="none" strike="noStrike">
                <a:solidFill>
                  <a:srgbClr val="F0F4FF"/>
                </a:solidFill>
                <a:latin typeface="Trebuchet MS"/>
                <a:ea typeface="Trebuchet MS"/>
                <a:cs typeface="Trebuchet MS"/>
                <a:sym typeface="Trebuchet MS"/>
              </a:rPr>
              <a:t>El CEO volvió — esta vez con buenas y malas noticias</a:t>
            </a:r>
            <a:endParaRPr b="0" i="0" sz="2600" u="none" cap="none" strike="noStrike">
              <a:solidFill>
                <a:schemeClr val="dk1"/>
              </a:solidFill>
              <a:latin typeface="Calibri"/>
              <a:ea typeface="Calibri"/>
              <a:cs typeface="Calibri"/>
              <a:sym typeface="Calibri"/>
            </a:endParaRPr>
          </a:p>
        </p:txBody>
      </p:sp>
      <p:sp>
        <p:nvSpPr>
          <p:cNvPr id="33" name="Google Shape;33;p2"/>
          <p:cNvSpPr/>
          <p:nvPr/>
        </p:nvSpPr>
        <p:spPr>
          <a:xfrm>
            <a:off x="182880" y="749808"/>
            <a:ext cx="8778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1200"/>
              <a:buFont typeface="Calibri"/>
              <a:buNone/>
            </a:pPr>
            <a:r>
              <a:rPr b="0" i="1" lang="en-US" sz="1200" u="none" cap="none" strike="noStrike">
                <a:solidFill>
                  <a:srgbClr val="8892A4"/>
                </a:solidFill>
                <a:latin typeface="Calibri"/>
                <a:ea typeface="Calibri"/>
                <a:cs typeface="Calibri"/>
                <a:sym typeface="Calibri"/>
              </a:rPr>
              <a:t>Lunes 9:00am — Exodus Systems</a:t>
            </a:r>
            <a:endParaRPr b="0" i="0" sz="1200" u="none" cap="none" strike="noStrike">
              <a:solidFill>
                <a:schemeClr val="dk1"/>
              </a:solidFill>
              <a:latin typeface="Calibri"/>
              <a:ea typeface="Calibri"/>
              <a:cs typeface="Calibri"/>
              <a:sym typeface="Calibri"/>
            </a:endParaRPr>
          </a:p>
        </p:txBody>
      </p:sp>
      <p:sp>
        <p:nvSpPr>
          <p:cNvPr id="34" name="Google Shape;34;p2"/>
          <p:cNvSpPr/>
          <p:nvPr/>
        </p:nvSpPr>
        <p:spPr>
          <a:xfrm>
            <a:off x="182880" y="1024128"/>
            <a:ext cx="1463040" cy="27432"/>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4434840" y="1143000"/>
            <a:ext cx="4526280" cy="3566160"/>
          </a:xfrm>
          <a:prstGeom prst="rect">
            <a:avLst/>
          </a:prstGeom>
          <a:solidFill>
            <a:srgbClr val="1A2035"/>
          </a:solidFill>
          <a:ln cap="flat" cmpd="sng" w="9525">
            <a:solidFill>
              <a:srgbClr val="0891B2"/>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4572000" y="1298448"/>
            <a:ext cx="1249070" cy="256032"/>
          </a:xfrm>
          <a:prstGeom prst="roundRect">
            <a:avLst>
              <a:gd fmla="val 21429"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4572000" y="1298448"/>
            <a:ext cx="124907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LA SITUACIÓN</a:t>
            </a:r>
            <a:endParaRPr b="0" i="0" sz="800" u="none" cap="none" strike="noStrike">
              <a:solidFill>
                <a:schemeClr val="dk1"/>
              </a:solidFill>
              <a:latin typeface="Calibri"/>
              <a:ea typeface="Calibri"/>
              <a:cs typeface="Calibri"/>
              <a:sym typeface="Calibri"/>
            </a:endParaRPr>
          </a:p>
        </p:txBody>
      </p:sp>
      <p:sp>
        <p:nvSpPr>
          <p:cNvPr id="38" name="Google Shape;38;p2"/>
          <p:cNvSpPr/>
          <p:nvPr/>
        </p:nvSpPr>
        <p:spPr>
          <a:xfrm>
            <a:off x="4572000" y="1627632"/>
            <a:ext cx="4251960" cy="29443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0B981"/>
              </a:buClr>
              <a:buSzPts val="1150"/>
              <a:buFont typeface="Calibri"/>
              <a:buNone/>
            </a:pPr>
            <a:r>
              <a:rPr b="0" i="1" lang="en-US" sz="1150" u="none" cap="none" strike="noStrike">
                <a:solidFill>
                  <a:srgbClr val="10B981"/>
                </a:solidFill>
                <a:latin typeface="Calibri"/>
                <a:ea typeface="Calibri"/>
                <a:cs typeface="Calibri"/>
                <a:sym typeface="Calibri"/>
              </a:rPr>
              <a:t>"Las búsquedas son increíbles. 0.3 milisegundos."</a:t>
            </a:r>
            <a:br>
              <a:rPr b="0" i="1" lang="en-US" sz="1150" u="none" cap="none" strike="noStrike">
                <a:solidFill>
                  <a:srgbClr val="10B981"/>
                </a:solidFill>
                <a:latin typeface="Calibri"/>
                <a:ea typeface="Calibri"/>
                <a:cs typeface="Calibri"/>
                <a:sym typeface="Calibri"/>
              </a:rPr>
            </a:br>
            <a:br>
              <a:rPr b="0" i="1" lang="en-US" sz="1150" u="none" cap="none" strike="noStrike">
                <a:solidFill>
                  <a:srgbClr val="10B981"/>
                </a:solidFill>
                <a:latin typeface="Calibri"/>
                <a:ea typeface="Calibri"/>
                <a:cs typeface="Calibri"/>
                <a:sym typeface="Calibri"/>
              </a:rPr>
            </a:br>
            <a:r>
              <a:rPr b="0" i="1" lang="en-US" sz="1150" u="none" cap="none" strike="noStrike">
                <a:solidFill>
                  <a:srgbClr val="8892A4"/>
                </a:solidFill>
                <a:latin typeface="Calibri"/>
                <a:ea typeface="Calibri"/>
                <a:cs typeface="Calibri"/>
                <a:sym typeface="Calibri"/>
              </a:rPr>
              <a:t>Maga y Ema sonríen. El CEO levanta la mano.</a:t>
            </a:r>
            <a:br>
              <a:rPr b="0" i="1" lang="en-US" sz="1150" u="none" cap="none" strike="noStrike">
                <a:solidFill>
                  <a:srgbClr val="8892A4"/>
                </a:solidFill>
                <a:latin typeface="Calibri"/>
                <a:ea typeface="Calibri"/>
                <a:cs typeface="Calibri"/>
                <a:sym typeface="Calibri"/>
              </a:rPr>
            </a:br>
            <a:br>
              <a:rPr b="0" i="1" lang="en-US" sz="1150" u="none" cap="none" strike="noStrike">
                <a:solidFill>
                  <a:srgbClr val="8892A4"/>
                </a:solidFill>
                <a:latin typeface="Calibri"/>
                <a:ea typeface="Calibri"/>
                <a:cs typeface="Calibri"/>
                <a:sym typeface="Calibri"/>
              </a:rPr>
            </a:br>
            <a:r>
              <a:rPr b="0" i="0" lang="en-US" sz="1150" u="none" cap="none" strike="noStrike">
                <a:solidFill>
                  <a:srgbClr val="F0F4FF"/>
                </a:solidFill>
                <a:latin typeface="Calibri"/>
                <a:ea typeface="Calibri"/>
                <a:cs typeface="Calibri"/>
                <a:sym typeface="Calibri"/>
              </a:rPr>
              <a:t>"Pero hay un problema nuevo. Los tickets no son estáticos — se agregan 50.000 por día y se cierran otros 50.000. Con el array ordenado, cada inserción tarda O(n) para mantener el orden. Con 2 millones de tickets..."</a:t>
            </a:r>
            <a:br>
              <a:rPr b="0" i="0" lang="en-US" sz="1150" u="none" cap="none" strike="noStrike">
                <a:solidFill>
                  <a:srgbClr val="F0F4FF"/>
                </a:solidFill>
                <a:latin typeface="Calibri"/>
                <a:ea typeface="Calibri"/>
                <a:cs typeface="Calibri"/>
                <a:sym typeface="Calibri"/>
              </a:rPr>
            </a:br>
            <a:br>
              <a:rPr b="0" i="0" lang="en-US" sz="1150" u="none" cap="none" strike="noStrike">
                <a:solidFill>
                  <a:srgbClr val="F0F4FF"/>
                </a:solidFill>
                <a:latin typeface="Calibri"/>
                <a:ea typeface="Calibri"/>
                <a:cs typeface="Calibri"/>
                <a:sym typeface="Calibri"/>
              </a:rPr>
            </a:br>
            <a:r>
              <a:rPr b="0" i="1" lang="en-US" sz="1150" u="none" cap="none" strike="noStrike">
                <a:solidFill>
                  <a:srgbClr val="8892A4"/>
                </a:solidFill>
                <a:latin typeface="Calibri"/>
                <a:ea typeface="Calibri"/>
                <a:cs typeface="Calibri"/>
                <a:sym typeface="Calibri"/>
              </a:rPr>
              <a:t>Ema hace el cálculo en su cabeza y palidece.</a:t>
            </a:r>
            <a:endParaRPr b="0" i="0" sz="1150" u="none" cap="none" strike="noStrike">
              <a:solidFill>
                <a:schemeClr val="dk1"/>
              </a:solidFill>
              <a:latin typeface="Calibri"/>
              <a:ea typeface="Calibri"/>
              <a:cs typeface="Calibri"/>
              <a:sym typeface="Calibri"/>
            </a:endParaRPr>
          </a:p>
        </p:txBody>
      </p:sp>
      <p:sp>
        <p:nvSpPr>
          <p:cNvPr id="39" name="Google Shape;39;p2"/>
          <p:cNvSpPr/>
          <p:nvPr/>
        </p:nvSpPr>
        <p:spPr>
          <a:xfrm>
            <a:off x="137160" y="4846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AED · Clase 7 · Gancho</a:t>
            </a:r>
            <a:endParaRPr b="0" i="0" sz="900" u="none" cap="none" strike="noStrike">
              <a:solidFill>
                <a:schemeClr val="dk1"/>
              </a:solidFill>
              <a:latin typeface="Calibri"/>
              <a:ea typeface="Calibri"/>
              <a:cs typeface="Calibri"/>
              <a:sym typeface="Calibri"/>
            </a:endParaRPr>
          </a:p>
        </p:txBody>
      </p:sp>
      <p:sp>
        <p:nvSpPr>
          <p:cNvPr id="40" name="Google Shape;40;p2"/>
          <p:cNvSpPr/>
          <p:nvPr/>
        </p:nvSpPr>
        <p:spPr>
          <a:xfrm>
            <a:off x="8503920" y="4846320"/>
            <a:ext cx="54864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pic>
        <p:nvPicPr>
          <p:cNvPr id="41" name="Google Shape;41;p2"/>
          <p:cNvPicPr preferRelativeResize="0"/>
          <p:nvPr/>
        </p:nvPicPr>
        <p:blipFill>
          <a:blip r:embed="rId3">
            <a:alphaModFix/>
          </a:blip>
          <a:stretch>
            <a:fillRect/>
          </a:stretch>
        </p:blipFill>
        <p:spPr>
          <a:xfrm>
            <a:off x="207264" y="1810760"/>
            <a:ext cx="4075177" cy="227636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F1A"/>
        </a:solidFill>
      </p:bgPr>
    </p:bg>
    <p:spTree>
      <p:nvGrpSpPr>
        <p:cNvPr id="46" name="Shape 46"/>
        <p:cNvGrpSpPr/>
        <p:nvPr/>
      </p:nvGrpSpPr>
      <p:grpSpPr>
        <a:xfrm>
          <a:off x="0" y="0"/>
          <a:ext cx="0" cy="0"/>
          <a:chOff x="0" y="0"/>
          <a:chExt cx="0" cy="0"/>
        </a:xfrm>
      </p:grpSpPr>
      <p:sp>
        <p:nvSpPr>
          <p:cNvPr id="47" name="Google Shape;47;p4"/>
          <p:cNvSpPr/>
          <p:nvPr/>
        </p:nvSpPr>
        <p:spPr>
          <a:xfrm>
            <a:off x="0" y="0"/>
            <a:ext cx="54864"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a:off x="182880" y="137160"/>
            <a:ext cx="87782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2600"/>
              <a:buFont typeface="Trebuchet MS"/>
              <a:buNone/>
            </a:pPr>
            <a:r>
              <a:rPr b="1" lang="en-US" sz="2600">
                <a:solidFill>
                  <a:srgbClr val="F0F4FF"/>
                </a:solidFill>
                <a:latin typeface="Trebuchet MS"/>
                <a:ea typeface="Trebuchet MS"/>
                <a:cs typeface="Trebuchet MS"/>
                <a:sym typeface="Trebuchet MS"/>
              </a:rPr>
              <a:t>Qué es un árbol?</a:t>
            </a:r>
            <a:endParaRPr b="0" i="0" sz="2600" u="none" cap="none" strike="noStrike">
              <a:solidFill>
                <a:schemeClr val="dk1"/>
              </a:solidFill>
              <a:latin typeface="Calibri"/>
              <a:ea typeface="Calibri"/>
              <a:cs typeface="Calibri"/>
              <a:sym typeface="Calibri"/>
            </a:endParaRPr>
          </a:p>
        </p:txBody>
      </p:sp>
      <p:sp>
        <p:nvSpPr>
          <p:cNvPr id="49" name="Google Shape;49;p4"/>
          <p:cNvSpPr/>
          <p:nvPr/>
        </p:nvSpPr>
        <p:spPr>
          <a:xfrm>
            <a:off x="182880" y="749808"/>
            <a:ext cx="8778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1200"/>
              <a:buFont typeface="Calibri"/>
              <a:buNone/>
            </a:pPr>
            <a:r>
              <a:rPr i="1" lang="en-US" sz="1200">
                <a:solidFill>
                  <a:srgbClr val="8892A4"/>
                </a:solidFill>
                <a:latin typeface="Calibri"/>
                <a:ea typeface="Calibri"/>
                <a:cs typeface="Calibri"/>
                <a:sym typeface="Calibri"/>
              </a:rPr>
              <a:t>Ents 101</a:t>
            </a:r>
            <a:endParaRPr b="0" i="0" sz="1200" u="none" cap="none" strike="noStrike">
              <a:solidFill>
                <a:schemeClr val="dk1"/>
              </a:solidFill>
              <a:latin typeface="Calibri"/>
              <a:ea typeface="Calibri"/>
              <a:cs typeface="Calibri"/>
              <a:sym typeface="Calibri"/>
            </a:endParaRPr>
          </a:p>
        </p:txBody>
      </p:sp>
      <p:sp>
        <p:nvSpPr>
          <p:cNvPr id="50" name="Google Shape;50;p4"/>
          <p:cNvSpPr/>
          <p:nvPr/>
        </p:nvSpPr>
        <p:spPr>
          <a:xfrm>
            <a:off x="182880" y="1024128"/>
            <a:ext cx="1463040" cy="27432"/>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137160" y="1188720"/>
            <a:ext cx="4297680" cy="1417320"/>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74320" y="1325880"/>
            <a:ext cx="2014423" cy="256032"/>
          </a:xfrm>
          <a:prstGeom prst="roundRect">
            <a:avLst>
              <a:gd fmla="val 21429" name="adj"/>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a:off x="274320" y="1325880"/>
            <a:ext cx="2014423"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ANALOGIA — Biblioteca</a:t>
            </a:r>
            <a:endParaRPr b="0" i="0" sz="800" u="none" cap="none" strike="noStrike">
              <a:solidFill>
                <a:schemeClr val="dk1"/>
              </a:solidFill>
              <a:latin typeface="Calibri"/>
              <a:ea typeface="Calibri"/>
              <a:cs typeface="Calibri"/>
              <a:sym typeface="Calibri"/>
            </a:endParaRPr>
          </a:p>
        </p:txBody>
      </p:sp>
      <p:sp>
        <p:nvSpPr>
          <p:cNvPr id="54" name="Google Shape;54;p4"/>
          <p:cNvSpPr/>
          <p:nvPr/>
        </p:nvSpPr>
        <p:spPr>
          <a:xfrm>
            <a:off x="274320" y="1664208"/>
            <a:ext cx="4023360" cy="8503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lang="en-US" sz="1050">
                <a:solidFill>
                  <a:srgbClr val="F0F4FF"/>
                </a:solidFill>
                <a:latin typeface="Calibri"/>
                <a:ea typeface="Calibri"/>
                <a:cs typeface="Calibri"/>
                <a:sym typeface="Calibri"/>
              </a:rPr>
              <a:t>Un árbol de datos funciona de manera similar a un sistema de archivos jerárquico en un sistema operativo como UNIX o DOS</a:t>
            </a:r>
            <a:endParaRPr sz="1050">
              <a:solidFill>
                <a:srgbClr val="F0F4FF"/>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lang="en-US" sz="1050">
                <a:solidFill>
                  <a:srgbClr val="F0F4FF"/>
                </a:solidFill>
                <a:latin typeface="Calibri"/>
                <a:ea typeface="Calibri"/>
                <a:cs typeface="Calibri"/>
                <a:sym typeface="Calibri"/>
              </a:rPr>
              <a:t>. El directorio raíz (/) es el nodo principal; las carpetas son nodos internos que contienen subdirectorios (subárboles) o archivos, y los archivos finales son las hojas, ya que no pueden contener más elementos en su interior</a:t>
            </a:r>
            <a:endParaRPr sz="1050">
              <a:solidFill>
                <a:srgbClr val="F0F4FF"/>
              </a:solidFill>
              <a:latin typeface="Calibri"/>
              <a:ea typeface="Calibri"/>
              <a:cs typeface="Calibri"/>
              <a:sym typeface="Calibri"/>
            </a:endParaRPr>
          </a:p>
        </p:txBody>
      </p:sp>
      <p:sp>
        <p:nvSpPr>
          <p:cNvPr id="55" name="Google Shape;55;p4"/>
          <p:cNvSpPr/>
          <p:nvPr/>
        </p:nvSpPr>
        <p:spPr>
          <a:xfrm>
            <a:off x="137160" y="2670048"/>
            <a:ext cx="4297680" cy="2130552"/>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4"/>
          <p:cNvSpPr/>
          <p:nvPr/>
        </p:nvSpPr>
        <p:spPr>
          <a:xfrm>
            <a:off x="274320" y="2807208"/>
            <a:ext cx="1674266" cy="256032"/>
          </a:xfrm>
          <a:prstGeom prst="roundRect">
            <a:avLst>
              <a:gd fmla="val 21429" name="adj"/>
            </a:avLst>
          </a:prstGeom>
          <a:solidFill>
            <a:srgbClr val="10B981"/>
          </a:solidFill>
          <a:ln cap="flat" cmpd="sng" w="1270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p:nvPr/>
        </p:nvSpPr>
        <p:spPr>
          <a:xfrm>
            <a:off x="274320" y="2807208"/>
            <a:ext cx="1674266"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DEFINICION FORMAL</a:t>
            </a:r>
            <a:endParaRPr b="0" i="0" sz="800" u="none" cap="none" strike="noStrike">
              <a:solidFill>
                <a:schemeClr val="dk1"/>
              </a:solidFill>
              <a:latin typeface="Calibri"/>
              <a:ea typeface="Calibri"/>
              <a:cs typeface="Calibri"/>
              <a:sym typeface="Calibri"/>
            </a:endParaRPr>
          </a:p>
        </p:txBody>
      </p:sp>
      <p:sp>
        <p:nvSpPr>
          <p:cNvPr id="58" name="Google Shape;58;p4"/>
          <p:cNvSpPr/>
          <p:nvPr/>
        </p:nvSpPr>
        <p:spPr>
          <a:xfrm>
            <a:off x="274320" y="3145536"/>
            <a:ext cx="4023360" cy="1563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lang="en-US" sz="1050">
                <a:solidFill>
                  <a:schemeClr val="lt1"/>
                </a:solidFill>
                <a:latin typeface="Calibri"/>
                <a:ea typeface="Calibri"/>
                <a:cs typeface="Calibri"/>
                <a:sym typeface="Calibri"/>
              </a:rPr>
              <a:t>Un árbol es una colección de nodos que puede estar vacía; en caso de no estarlo, consiste en un nodo distinguido denominado </a:t>
            </a:r>
            <a:r>
              <a:rPr b="1" lang="en-US" sz="1050">
                <a:solidFill>
                  <a:schemeClr val="lt1"/>
                </a:solidFill>
                <a:latin typeface="Calibri"/>
                <a:ea typeface="Calibri"/>
                <a:cs typeface="Calibri"/>
                <a:sym typeface="Calibri"/>
              </a:rPr>
              <a:t>raíz</a:t>
            </a:r>
            <a:r>
              <a:rPr lang="en-US" sz="1050">
                <a:solidFill>
                  <a:schemeClr val="lt1"/>
                </a:solidFill>
                <a:latin typeface="Calibri"/>
                <a:ea typeface="Calibri"/>
                <a:cs typeface="Calibri"/>
                <a:sym typeface="Calibri"/>
              </a:rPr>
              <a:t> (r) y cero o más subárboles no vacíos (Tn) cuyas raíces están conectadas por una arista dirigida desde r.</a:t>
            </a:r>
            <a:endParaRPr sz="1050">
              <a:solidFill>
                <a:schemeClr val="lt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lang="en-US" sz="1050">
                <a:solidFill>
                  <a:schemeClr val="lt1"/>
                </a:solidFill>
                <a:latin typeface="Calibri"/>
                <a:ea typeface="Calibri"/>
                <a:cs typeface="Calibri"/>
                <a:sym typeface="Calibri"/>
              </a:rPr>
              <a:t>Desde una perspectiva de teoría de grafos, un árbol libre es un grafo acíclico y conexo. Un árbol con N nodos contiene siempre exactamente N−1 aristas, puesto que cada nodo, a excepción de la raíz, tiene exactamente un padre que lo conecta mediante una arista</a:t>
            </a:r>
            <a:endParaRPr sz="1050">
              <a:solidFill>
                <a:schemeClr val="lt1"/>
              </a:solidFill>
              <a:latin typeface="Calibri"/>
              <a:ea typeface="Calibri"/>
              <a:cs typeface="Calibri"/>
              <a:sym typeface="Calibri"/>
            </a:endParaRPr>
          </a:p>
        </p:txBody>
      </p:sp>
      <p:sp>
        <p:nvSpPr>
          <p:cNvPr id="59" name="Google Shape;59;p4"/>
          <p:cNvSpPr/>
          <p:nvPr/>
        </p:nvSpPr>
        <p:spPr>
          <a:xfrm>
            <a:off x="137160" y="4846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AED · T1 · </a:t>
            </a:r>
            <a:r>
              <a:rPr lang="en-US" sz="900">
                <a:solidFill>
                  <a:srgbClr val="8892A4"/>
                </a:solidFill>
                <a:latin typeface="Calibri"/>
                <a:ea typeface="Calibri"/>
                <a:cs typeface="Calibri"/>
                <a:sym typeface="Calibri"/>
              </a:rPr>
              <a:t>Definición</a:t>
            </a:r>
            <a:endParaRPr b="0" i="0" sz="900" u="none" cap="none" strike="noStrike">
              <a:solidFill>
                <a:schemeClr val="dk1"/>
              </a:solidFill>
              <a:latin typeface="Calibri"/>
              <a:ea typeface="Calibri"/>
              <a:cs typeface="Calibri"/>
              <a:sym typeface="Calibri"/>
            </a:endParaRPr>
          </a:p>
        </p:txBody>
      </p:sp>
      <p:sp>
        <p:nvSpPr>
          <p:cNvPr id="60" name="Google Shape;60;p4"/>
          <p:cNvSpPr/>
          <p:nvPr/>
        </p:nvSpPr>
        <p:spPr>
          <a:xfrm>
            <a:off x="8503920" y="4846320"/>
            <a:ext cx="54864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4 bis</a:t>
            </a:r>
            <a:endParaRPr b="0" i="0" sz="900" u="none" cap="none" strike="noStrike">
              <a:solidFill>
                <a:schemeClr val="dk1"/>
              </a:solidFill>
              <a:latin typeface="Calibri"/>
              <a:ea typeface="Calibri"/>
              <a:cs typeface="Calibri"/>
              <a:sym typeface="Calibri"/>
            </a:endParaRPr>
          </a:p>
        </p:txBody>
      </p:sp>
      <p:pic>
        <p:nvPicPr>
          <p:cNvPr id="61" name="Google Shape;61;p4"/>
          <p:cNvPicPr preferRelativeResize="0"/>
          <p:nvPr/>
        </p:nvPicPr>
        <p:blipFill rotWithShape="1">
          <a:blip r:embed="rId3">
            <a:alphaModFix/>
          </a:blip>
          <a:srcRect b="1990" l="0" r="0" t="0"/>
          <a:stretch/>
        </p:blipFill>
        <p:spPr>
          <a:xfrm>
            <a:off x="4517125" y="350925"/>
            <a:ext cx="4143876" cy="4724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F1A"/>
        </a:solidFill>
      </p:bgPr>
    </p:bg>
    <p:spTree>
      <p:nvGrpSpPr>
        <p:cNvPr id="66" name="Shape 66"/>
        <p:cNvGrpSpPr/>
        <p:nvPr/>
      </p:nvGrpSpPr>
      <p:grpSpPr>
        <a:xfrm>
          <a:off x="0" y="0"/>
          <a:ext cx="0" cy="0"/>
          <a:chOff x="0" y="0"/>
          <a:chExt cx="0" cy="0"/>
        </a:xfrm>
      </p:grpSpPr>
      <p:sp>
        <p:nvSpPr>
          <p:cNvPr id="67" name="Google Shape;67;g3dc442f8a48_0_0"/>
          <p:cNvSpPr/>
          <p:nvPr/>
        </p:nvSpPr>
        <p:spPr>
          <a:xfrm>
            <a:off x="0" y="0"/>
            <a:ext cx="54900"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g3dc442f8a48_0_0"/>
          <p:cNvSpPr/>
          <p:nvPr/>
        </p:nvSpPr>
        <p:spPr>
          <a:xfrm>
            <a:off x="182880" y="137160"/>
            <a:ext cx="8778300" cy="621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2600"/>
              <a:buFont typeface="Trebuchet MS"/>
              <a:buNone/>
            </a:pPr>
            <a:r>
              <a:rPr b="1" i="0" lang="en-US" sz="2600" u="none" cap="none" strike="noStrike">
                <a:solidFill>
                  <a:srgbClr val="F0F4FF"/>
                </a:solidFill>
                <a:latin typeface="Trebuchet MS"/>
                <a:ea typeface="Trebuchet MS"/>
                <a:cs typeface="Trebuchet MS"/>
                <a:sym typeface="Trebuchet MS"/>
              </a:rPr>
              <a:t>La BST Property — La regla que lo hace todo posible</a:t>
            </a:r>
            <a:endParaRPr b="0" i="0" sz="2600" u="none" cap="none" strike="noStrike">
              <a:solidFill>
                <a:schemeClr val="dk1"/>
              </a:solidFill>
              <a:latin typeface="Calibri"/>
              <a:ea typeface="Calibri"/>
              <a:cs typeface="Calibri"/>
              <a:sym typeface="Calibri"/>
            </a:endParaRPr>
          </a:p>
        </p:txBody>
      </p:sp>
      <p:sp>
        <p:nvSpPr>
          <p:cNvPr id="69" name="Google Shape;69;g3dc442f8a48_0_0"/>
          <p:cNvSpPr/>
          <p:nvPr/>
        </p:nvSpPr>
        <p:spPr>
          <a:xfrm>
            <a:off x="182880" y="749808"/>
            <a:ext cx="8778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1200"/>
              <a:buFont typeface="Calibri"/>
              <a:buNone/>
            </a:pPr>
            <a:r>
              <a:rPr b="0" i="1" lang="en-US" sz="1200" u="none" cap="none" strike="noStrike">
                <a:solidFill>
                  <a:srgbClr val="8892A4"/>
                </a:solidFill>
                <a:latin typeface="Calibri"/>
                <a:ea typeface="Calibri"/>
                <a:cs typeface="Calibri"/>
                <a:sym typeface="Calibri"/>
              </a:rPr>
              <a:t>Menor a la izquierda, mayor a la derecha — para todos los descendientes</a:t>
            </a:r>
            <a:endParaRPr b="0" i="0" sz="1200" u="none" cap="none" strike="noStrike">
              <a:solidFill>
                <a:schemeClr val="dk1"/>
              </a:solidFill>
              <a:latin typeface="Calibri"/>
              <a:ea typeface="Calibri"/>
              <a:cs typeface="Calibri"/>
              <a:sym typeface="Calibri"/>
            </a:endParaRPr>
          </a:p>
        </p:txBody>
      </p:sp>
      <p:sp>
        <p:nvSpPr>
          <p:cNvPr id="70" name="Google Shape;70;g3dc442f8a48_0_0"/>
          <p:cNvSpPr/>
          <p:nvPr/>
        </p:nvSpPr>
        <p:spPr>
          <a:xfrm>
            <a:off x="182880" y="1024128"/>
            <a:ext cx="1463100" cy="273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g3dc442f8a48_0_0"/>
          <p:cNvSpPr/>
          <p:nvPr/>
        </p:nvSpPr>
        <p:spPr>
          <a:xfrm>
            <a:off x="137160" y="1188720"/>
            <a:ext cx="4297800" cy="1417200"/>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g3dc442f8a48_0_0"/>
          <p:cNvSpPr/>
          <p:nvPr/>
        </p:nvSpPr>
        <p:spPr>
          <a:xfrm>
            <a:off x="274320" y="1325880"/>
            <a:ext cx="2014500" cy="255900"/>
          </a:xfrm>
          <a:prstGeom prst="roundRect">
            <a:avLst>
              <a:gd fmla="val 21429" name="adj"/>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g3dc442f8a48_0_0"/>
          <p:cNvSpPr/>
          <p:nvPr/>
        </p:nvSpPr>
        <p:spPr>
          <a:xfrm>
            <a:off x="274320" y="1325880"/>
            <a:ext cx="20145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ANALOGIA — Biblioteca</a:t>
            </a:r>
            <a:endParaRPr b="0" i="0" sz="800" u="none" cap="none" strike="noStrike">
              <a:solidFill>
                <a:schemeClr val="dk1"/>
              </a:solidFill>
              <a:latin typeface="Calibri"/>
              <a:ea typeface="Calibri"/>
              <a:cs typeface="Calibri"/>
              <a:sym typeface="Calibri"/>
            </a:endParaRPr>
          </a:p>
        </p:txBody>
      </p:sp>
      <p:sp>
        <p:nvSpPr>
          <p:cNvPr id="74" name="Google Shape;74;g3dc442f8a48_0_0"/>
          <p:cNvSpPr/>
          <p:nvPr/>
        </p:nvSpPr>
        <p:spPr>
          <a:xfrm>
            <a:off x="274320" y="1664208"/>
            <a:ext cx="4023300" cy="85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Es como un sistema de clasificación donde cada estante tiene un número divisor: todos los libros a la izquierda tienen número menor, todos a la derecha tienen número mayor. Podés encontrar cualquier libro sin revisar todos — simplemente seguís las señales en cada bifurcación. La trampa: la propiedad no es solo con el hijo inmediato, sino con todos los descendientes del subárbol.</a:t>
            </a:r>
            <a:endParaRPr b="0" i="0" sz="1050" u="none" cap="none" strike="noStrike">
              <a:solidFill>
                <a:schemeClr val="dk1"/>
              </a:solidFill>
              <a:latin typeface="Calibri"/>
              <a:ea typeface="Calibri"/>
              <a:cs typeface="Calibri"/>
              <a:sym typeface="Calibri"/>
            </a:endParaRPr>
          </a:p>
        </p:txBody>
      </p:sp>
      <p:sp>
        <p:nvSpPr>
          <p:cNvPr id="75" name="Google Shape;75;g3dc442f8a48_0_0"/>
          <p:cNvSpPr/>
          <p:nvPr/>
        </p:nvSpPr>
        <p:spPr>
          <a:xfrm>
            <a:off x="137160" y="2670048"/>
            <a:ext cx="4297800" cy="2130600"/>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g3dc442f8a48_0_0"/>
          <p:cNvSpPr/>
          <p:nvPr/>
        </p:nvSpPr>
        <p:spPr>
          <a:xfrm>
            <a:off x="274320" y="2807208"/>
            <a:ext cx="1674300" cy="255900"/>
          </a:xfrm>
          <a:prstGeom prst="roundRect">
            <a:avLst>
              <a:gd fmla="val 21429" name="adj"/>
            </a:avLst>
          </a:prstGeom>
          <a:solidFill>
            <a:srgbClr val="10B981"/>
          </a:solidFill>
          <a:ln cap="flat" cmpd="sng" w="1270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g3dc442f8a48_0_0"/>
          <p:cNvSpPr/>
          <p:nvPr/>
        </p:nvSpPr>
        <p:spPr>
          <a:xfrm>
            <a:off x="274320" y="2807208"/>
            <a:ext cx="16743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DEFINICION FORMAL</a:t>
            </a:r>
            <a:endParaRPr b="0" i="0" sz="800" u="none" cap="none" strike="noStrike">
              <a:solidFill>
                <a:schemeClr val="dk1"/>
              </a:solidFill>
              <a:latin typeface="Calibri"/>
              <a:ea typeface="Calibri"/>
              <a:cs typeface="Calibri"/>
              <a:sym typeface="Calibri"/>
            </a:endParaRPr>
          </a:p>
        </p:txBody>
      </p:sp>
      <p:sp>
        <p:nvSpPr>
          <p:cNvPr id="78" name="Google Shape;78;g3dc442f8a48_0_0"/>
          <p:cNvSpPr/>
          <p:nvPr/>
        </p:nvSpPr>
        <p:spPr>
          <a:xfrm>
            <a:off x="274320" y="3145536"/>
            <a:ext cx="4023300" cy="1563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Para cualquier nodo x en un BST:</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 Todo nodo y en el subárbol IZQUIERDO de x satisface: y.key ≤ x.key</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 Todo nodo y en el subárbol DERECHO de x satisface: y.key ≥ x.key</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Esta propiedad debe mantenerse recursivamente para TODOS los nodos del árbol — no solo entre padre e hijo inmediato. Es la condición que habilita búsqueda en O(h) sin recorrer toda la estructura.</a:t>
            </a:r>
            <a:endParaRPr b="0" i="0" sz="1050" u="none" cap="none" strike="noStrike">
              <a:solidFill>
                <a:schemeClr val="dk1"/>
              </a:solidFill>
              <a:latin typeface="Calibri"/>
              <a:ea typeface="Calibri"/>
              <a:cs typeface="Calibri"/>
              <a:sym typeface="Calibri"/>
            </a:endParaRPr>
          </a:p>
        </p:txBody>
      </p:sp>
      <p:sp>
        <p:nvSpPr>
          <p:cNvPr id="79" name="Google Shape;79;g3dc442f8a48_0_0"/>
          <p:cNvSpPr/>
          <p:nvPr/>
        </p:nvSpPr>
        <p:spPr>
          <a:xfrm>
            <a:off x="4572000" y="1188720"/>
            <a:ext cx="4389000" cy="3612000"/>
          </a:xfrm>
          <a:prstGeom prst="rect">
            <a:avLst/>
          </a:prstGeom>
          <a:solidFill>
            <a:srgbClr val="141829"/>
          </a:solidFill>
          <a:ln cap="flat" cmpd="sng" w="9525">
            <a:solidFill>
              <a:srgbClr val="0891B2"/>
            </a:solidFill>
            <a:prstDash val="solid"/>
            <a:round/>
            <a:headEnd len="sm" w="sm" type="none"/>
            <a:tailEnd len="sm" w="sm" type="none"/>
          </a:ln>
          <a:effectLst>
            <a:outerShdw blurRad="101600" rotWithShape="0" algn="bl" dir="8100000" dist="381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g3dc442f8a48_0_0"/>
          <p:cNvSpPr/>
          <p:nvPr/>
        </p:nvSpPr>
        <p:spPr>
          <a:xfrm>
            <a:off x="4709160" y="1344168"/>
            <a:ext cx="2014500" cy="255900"/>
          </a:xfrm>
          <a:prstGeom prst="roundRect">
            <a:avLst>
              <a:gd fmla="val 21429" name="adj"/>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g3dc442f8a48_0_0"/>
          <p:cNvSpPr/>
          <p:nvPr/>
        </p:nvSpPr>
        <p:spPr>
          <a:xfrm>
            <a:off x="4709160" y="1344168"/>
            <a:ext cx="20145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ÁRBOL {6, 2, 8, 1, 4}</a:t>
            </a:r>
            <a:endParaRPr b="0" i="0" sz="800" u="none" cap="none" strike="noStrike">
              <a:solidFill>
                <a:schemeClr val="dk1"/>
              </a:solidFill>
              <a:latin typeface="Calibri"/>
              <a:ea typeface="Calibri"/>
              <a:cs typeface="Calibri"/>
              <a:sym typeface="Calibri"/>
            </a:endParaRPr>
          </a:p>
        </p:txBody>
      </p:sp>
      <p:sp>
        <p:nvSpPr>
          <p:cNvPr id="82" name="Google Shape;82;g3dc442f8a48_0_0"/>
          <p:cNvSpPr/>
          <p:nvPr/>
        </p:nvSpPr>
        <p:spPr>
          <a:xfrm>
            <a:off x="6510528" y="1664208"/>
            <a:ext cx="512100" cy="512100"/>
          </a:xfrm>
          <a:prstGeom prst="ellipse">
            <a:avLst/>
          </a:prstGeom>
          <a:solidFill>
            <a:srgbClr val="1A2035"/>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g3dc442f8a48_0_0"/>
          <p:cNvSpPr/>
          <p:nvPr/>
        </p:nvSpPr>
        <p:spPr>
          <a:xfrm>
            <a:off x="6510528" y="1664208"/>
            <a:ext cx="512100" cy="51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D4FF"/>
              </a:buClr>
              <a:buSzPts val="1200"/>
              <a:buFont typeface="Consolas"/>
              <a:buNone/>
            </a:pPr>
            <a:r>
              <a:rPr b="1" i="0" lang="en-US" sz="1200" u="none" cap="none" strike="noStrike">
                <a:solidFill>
                  <a:srgbClr val="00D4FF"/>
                </a:solidFill>
                <a:latin typeface="Consolas"/>
                <a:ea typeface="Consolas"/>
                <a:cs typeface="Consolas"/>
                <a:sym typeface="Consolas"/>
              </a:rPr>
              <a:t>6</a:t>
            </a:r>
            <a:endParaRPr b="0" i="0" sz="1200" u="none" cap="none" strike="noStrike">
              <a:solidFill>
                <a:schemeClr val="dk1"/>
              </a:solidFill>
              <a:latin typeface="Calibri"/>
              <a:ea typeface="Calibri"/>
              <a:cs typeface="Calibri"/>
              <a:sym typeface="Calibri"/>
            </a:endParaRPr>
          </a:p>
        </p:txBody>
      </p:sp>
      <p:sp>
        <p:nvSpPr>
          <p:cNvPr id="84" name="Google Shape;84;g3dc442f8a48_0_0"/>
          <p:cNvSpPr/>
          <p:nvPr/>
        </p:nvSpPr>
        <p:spPr>
          <a:xfrm>
            <a:off x="5504688" y="2350008"/>
            <a:ext cx="512100" cy="512100"/>
          </a:xfrm>
          <a:prstGeom prst="ellipse">
            <a:avLst/>
          </a:prstGeom>
          <a:solidFill>
            <a:srgbClr val="1A2035"/>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g3dc442f8a48_0_0"/>
          <p:cNvSpPr/>
          <p:nvPr/>
        </p:nvSpPr>
        <p:spPr>
          <a:xfrm>
            <a:off x="5504688" y="2350008"/>
            <a:ext cx="512100" cy="51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1200"/>
              <a:buFont typeface="Consolas"/>
              <a:buNone/>
            </a:pPr>
            <a:r>
              <a:rPr b="1" i="0" lang="en-US" sz="1200" u="none" cap="none" strike="noStrike">
                <a:solidFill>
                  <a:srgbClr val="F0F4FF"/>
                </a:solidFill>
                <a:latin typeface="Consolas"/>
                <a:ea typeface="Consolas"/>
                <a:cs typeface="Consolas"/>
                <a:sym typeface="Consolas"/>
              </a:rPr>
              <a:t>2</a:t>
            </a:r>
            <a:endParaRPr b="0" i="0" sz="1200" u="none" cap="none" strike="noStrike">
              <a:solidFill>
                <a:schemeClr val="dk1"/>
              </a:solidFill>
              <a:latin typeface="Calibri"/>
              <a:ea typeface="Calibri"/>
              <a:cs typeface="Calibri"/>
              <a:sym typeface="Calibri"/>
            </a:endParaRPr>
          </a:p>
        </p:txBody>
      </p:sp>
      <p:sp>
        <p:nvSpPr>
          <p:cNvPr id="86" name="Google Shape;86;g3dc442f8a48_0_0"/>
          <p:cNvSpPr/>
          <p:nvPr/>
        </p:nvSpPr>
        <p:spPr>
          <a:xfrm>
            <a:off x="7516368" y="2350008"/>
            <a:ext cx="512100" cy="512100"/>
          </a:xfrm>
          <a:prstGeom prst="ellipse">
            <a:avLst/>
          </a:prstGeom>
          <a:solidFill>
            <a:srgbClr val="1A2035"/>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g3dc442f8a48_0_0"/>
          <p:cNvSpPr/>
          <p:nvPr/>
        </p:nvSpPr>
        <p:spPr>
          <a:xfrm>
            <a:off x="7516368" y="2350008"/>
            <a:ext cx="512100" cy="51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1200"/>
              <a:buFont typeface="Consolas"/>
              <a:buNone/>
            </a:pPr>
            <a:r>
              <a:rPr b="1" i="0" lang="en-US" sz="1200" u="none" cap="none" strike="noStrike">
                <a:solidFill>
                  <a:srgbClr val="F0F4FF"/>
                </a:solidFill>
                <a:latin typeface="Consolas"/>
                <a:ea typeface="Consolas"/>
                <a:cs typeface="Consolas"/>
                <a:sym typeface="Consolas"/>
              </a:rPr>
              <a:t>8</a:t>
            </a:r>
            <a:endParaRPr b="0" i="0" sz="1200" u="none" cap="none" strike="noStrike">
              <a:solidFill>
                <a:schemeClr val="dk1"/>
              </a:solidFill>
              <a:latin typeface="Calibri"/>
              <a:ea typeface="Calibri"/>
              <a:cs typeface="Calibri"/>
              <a:sym typeface="Calibri"/>
            </a:endParaRPr>
          </a:p>
        </p:txBody>
      </p:sp>
      <p:sp>
        <p:nvSpPr>
          <p:cNvPr id="88" name="Google Shape;88;g3dc442f8a48_0_0"/>
          <p:cNvSpPr/>
          <p:nvPr/>
        </p:nvSpPr>
        <p:spPr>
          <a:xfrm>
            <a:off x="4956048" y="3035808"/>
            <a:ext cx="512100" cy="512100"/>
          </a:xfrm>
          <a:prstGeom prst="ellipse">
            <a:avLst/>
          </a:prstGeom>
          <a:solidFill>
            <a:srgbClr val="1A2035"/>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g3dc442f8a48_0_0"/>
          <p:cNvSpPr/>
          <p:nvPr/>
        </p:nvSpPr>
        <p:spPr>
          <a:xfrm>
            <a:off x="4956048" y="3035808"/>
            <a:ext cx="512100" cy="51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1200"/>
              <a:buFont typeface="Consolas"/>
              <a:buNone/>
            </a:pPr>
            <a:r>
              <a:rPr b="1" i="0" lang="en-US" sz="1200" u="none" cap="none" strike="noStrike">
                <a:solidFill>
                  <a:srgbClr val="F0F4FF"/>
                </a:solidFill>
                <a:latin typeface="Consolas"/>
                <a:ea typeface="Consolas"/>
                <a:cs typeface="Consolas"/>
                <a:sym typeface="Consolas"/>
              </a:rPr>
              <a:t>1</a:t>
            </a:r>
            <a:endParaRPr b="0" i="0" sz="1200" u="none" cap="none" strike="noStrike">
              <a:solidFill>
                <a:schemeClr val="dk1"/>
              </a:solidFill>
              <a:latin typeface="Calibri"/>
              <a:ea typeface="Calibri"/>
              <a:cs typeface="Calibri"/>
              <a:sym typeface="Calibri"/>
            </a:endParaRPr>
          </a:p>
        </p:txBody>
      </p:sp>
      <p:sp>
        <p:nvSpPr>
          <p:cNvPr id="90" name="Google Shape;90;g3dc442f8a48_0_0"/>
          <p:cNvSpPr/>
          <p:nvPr/>
        </p:nvSpPr>
        <p:spPr>
          <a:xfrm>
            <a:off x="6053328" y="3035808"/>
            <a:ext cx="512100" cy="512100"/>
          </a:xfrm>
          <a:prstGeom prst="ellipse">
            <a:avLst/>
          </a:prstGeom>
          <a:solidFill>
            <a:srgbClr val="1A2035"/>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g3dc442f8a48_0_0"/>
          <p:cNvSpPr/>
          <p:nvPr/>
        </p:nvSpPr>
        <p:spPr>
          <a:xfrm>
            <a:off x="6053328" y="3035808"/>
            <a:ext cx="512100" cy="51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1200"/>
              <a:buFont typeface="Consolas"/>
              <a:buNone/>
            </a:pPr>
            <a:r>
              <a:rPr b="1" i="0" lang="en-US" sz="1200" u="none" cap="none" strike="noStrike">
                <a:solidFill>
                  <a:srgbClr val="F0F4FF"/>
                </a:solidFill>
                <a:latin typeface="Consolas"/>
                <a:ea typeface="Consolas"/>
                <a:cs typeface="Consolas"/>
                <a:sym typeface="Consolas"/>
              </a:rPr>
              <a:t>4</a:t>
            </a:r>
            <a:endParaRPr b="0" i="0" sz="1200" u="none" cap="none" strike="noStrike">
              <a:solidFill>
                <a:schemeClr val="dk1"/>
              </a:solidFill>
              <a:latin typeface="Calibri"/>
              <a:ea typeface="Calibri"/>
              <a:cs typeface="Calibri"/>
              <a:sym typeface="Calibri"/>
            </a:endParaRPr>
          </a:p>
        </p:txBody>
      </p:sp>
      <p:cxnSp>
        <p:nvCxnSpPr>
          <p:cNvPr id="92" name="Google Shape;92;g3dc442f8a48_0_0"/>
          <p:cNvCxnSpPr/>
          <p:nvPr/>
        </p:nvCxnSpPr>
        <p:spPr>
          <a:xfrm flipH="1">
            <a:off x="6016860" y="2176272"/>
            <a:ext cx="749700" cy="173700"/>
          </a:xfrm>
          <a:prstGeom prst="straightConnector1">
            <a:avLst/>
          </a:prstGeom>
          <a:noFill/>
          <a:ln cap="flat" cmpd="sng" w="15225">
            <a:solidFill>
              <a:srgbClr val="3D4A5C"/>
            </a:solidFill>
            <a:prstDash val="solid"/>
            <a:round/>
            <a:headEnd len="sm" w="sm" type="none"/>
            <a:tailEnd len="sm" w="sm" type="none"/>
          </a:ln>
        </p:spPr>
      </p:cxnSp>
      <p:cxnSp>
        <p:nvCxnSpPr>
          <p:cNvPr id="93" name="Google Shape;93;g3dc442f8a48_0_0"/>
          <p:cNvCxnSpPr/>
          <p:nvPr/>
        </p:nvCxnSpPr>
        <p:spPr>
          <a:xfrm>
            <a:off x="6766560" y="2176272"/>
            <a:ext cx="749700" cy="173700"/>
          </a:xfrm>
          <a:prstGeom prst="straightConnector1">
            <a:avLst/>
          </a:prstGeom>
          <a:noFill/>
          <a:ln cap="flat" cmpd="sng" w="15225">
            <a:solidFill>
              <a:srgbClr val="3D4A5C"/>
            </a:solidFill>
            <a:prstDash val="solid"/>
            <a:round/>
            <a:headEnd len="sm" w="sm" type="none"/>
            <a:tailEnd len="sm" w="sm" type="none"/>
          </a:ln>
        </p:spPr>
      </p:cxnSp>
      <p:cxnSp>
        <p:nvCxnSpPr>
          <p:cNvPr id="94" name="Google Shape;94;g3dc442f8a48_0_0"/>
          <p:cNvCxnSpPr/>
          <p:nvPr/>
        </p:nvCxnSpPr>
        <p:spPr>
          <a:xfrm flipH="1">
            <a:off x="5468220" y="2862072"/>
            <a:ext cx="292500" cy="173700"/>
          </a:xfrm>
          <a:prstGeom prst="straightConnector1">
            <a:avLst/>
          </a:prstGeom>
          <a:noFill/>
          <a:ln cap="flat" cmpd="sng" w="15225">
            <a:solidFill>
              <a:srgbClr val="3D4A5C"/>
            </a:solidFill>
            <a:prstDash val="solid"/>
            <a:round/>
            <a:headEnd len="sm" w="sm" type="none"/>
            <a:tailEnd len="sm" w="sm" type="none"/>
          </a:ln>
        </p:spPr>
      </p:cxnSp>
      <p:cxnSp>
        <p:nvCxnSpPr>
          <p:cNvPr id="95" name="Google Shape;95;g3dc442f8a48_0_0"/>
          <p:cNvCxnSpPr/>
          <p:nvPr/>
        </p:nvCxnSpPr>
        <p:spPr>
          <a:xfrm>
            <a:off x="5760720" y="2862072"/>
            <a:ext cx="292500" cy="173700"/>
          </a:xfrm>
          <a:prstGeom prst="straightConnector1">
            <a:avLst/>
          </a:prstGeom>
          <a:noFill/>
          <a:ln cap="flat" cmpd="sng" w="15225">
            <a:solidFill>
              <a:srgbClr val="3D4A5C"/>
            </a:solidFill>
            <a:prstDash val="solid"/>
            <a:round/>
            <a:headEnd len="sm" w="sm" type="none"/>
            <a:tailEnd len="sm" w="sm" type="none"/>
          </a:ln>
        </p:spPr>
      </p:cxnSp>
      <p:sp>
        <p:nvSpPr>
          <p:cNvPr id="96" name="Google Shape;96;g3dc442f8a48_0_0"/>
          <p:cNvSpPr/>
          <p:nvPr/>
        </p:nvSpPr>
        <p:spPr>
          <a:xfrm>
            <a:off x="4709160" y="3749040"/>
            <a:ext cx="4114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000"/>
              <a:buFont typeface="Consolas"/>
              <a:buNone/>
            </a:pPr>
            <a:r>
              <a:rPr b="1" i="0" lang="en-US" sz="1000" u="none" cap="none" strike="noStrike">
                <a:solidFill>
                  <a:srgbClr val="F59E0B"/>
                </a:solidFill>
                <a:latin typeface="Consolas"/>
                <a:ea typeface="Consolas"/>
                <a:cs typeface="Consolas"/>
                <a:sym typeface="Consolas"/>
              </a:rPr>
              <a:t>Búsqueda de 5:</a:t>
            </a:r>
            <a:endParaRPr b="0" i="0" sz="1000" u="none" cap="none" strike="noStrike">
              <a:solidFill>
                <a:schemeClr val="dk1"/>
              </a:solidFill>
              <a:latin typeface="Calibri"/>
              <a:ea typeface="Calibri"/>
              <a:cs typeface="Calibri"/>
              <a:sym typeface="Calibri"/>
            </a:endParaRPr>
          </a:p>
        </p:txBody>
      </p:sp>
      <p:sp>
        <p:nvSpPr>
          <p:cNvPr id="97" name="Google Shape;97;g3dc442f8a48_0_0"/>
          <p:cNvSpPr/>
          <p:nvPr/>
        </p:nvSpPr>
        <p:spPr>
          <a:xfrm>
            <a:off x="4709160" y="3977640"/>
            <a:ext cx="4114800" cy="71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50"/>
              <a:buFont typeface="Consolas"/>
              <a:buNone/>
            </a:pPr>
            <a:r>
              <a:rPr b="0" i="0" lang="en-US" sz="950" u="none" cap="none" strike="noStrike">
                <a:solidFill>
                  <a:srgbClr val="8892A4"/>
                </a:solidFill>
                <a:latin typeface="Consolas"/>
                <a:ea typeface="Consolas"/>
                <a:cs typeface="Consolas"/>
                <a:sym typeface="Consolas"/>
              </a:rPr>
              <a:t>6: 5&lt;6 → izquierda</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892A4"/>
              </a:buClr>
              <a:buSzPts val="950"/>
              <a:buFont typeface="Consolas"/>
              <a:buNone/>
            </a:pPr>
            <a:r>
              <a:rPr b="0" i="0" lang="en-US" sz="950" u="none" cap="none" strike="noStrike">
                <a:solidFill>
                  <a:srgbClr val="8892A4"/>
                </a:solidFill>
                <a:latin typeface="Consolas"/>
                <a:ea typeface="Consolas"/>
                <a:cs typeface="Consolas"/>
                <a:sym typeface="Consolas"/>
              </a:rPr>
              <a:t>2: 5&gt;2 → derecha</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892A4"/>
              </a:buClr>
              <a:buSzPts val="950"/>
              <a:buFont typeface="Consolas"/>
              <a:buNone/>
            </a:pPr>
            <a:r>
              <a:rPr b="0" i="0" lang="en-US" sz="950" u="none" cap="none" strike="noStrike">
                <a:solidFill>
                  <a:srgbClr val="8892A4"/>
                </a:solidFill>
                <a:latin typeface="Consolas"/>
                <a:ea typeface="Consolas"/>
                <a:cs typeface="Consolas"/>
                <a:sym typeface="Consolas"/>
              </a:rPr>
              <a:t>4: 5&gt;4 → derecha → NULL → no existe</a:t>
            </a:r>
            <a:endParaRPr b="0" i="0" sz="950" u="none" cap="none" strike="noStrike">
              <a:solidFill>
                <a:schemeClr val="dk1"/>
              </a:solidFill>
              <a:latin typeface="Calibri"/>
              <a:ea typeface="Calibri"/>
              <a:cs typeface="Calibri"/>
              <a:sym typeface="Calibri"/>
            </a:endParaRPr>
          </a:p>
        </p:txBody>
      </p:sp>
      <p:sp>
        <p:nvSpPr>
          <p:cNvPr id="98" name="Google Shape;98;g3dc442f8a48_0_0"/>
          <p:cNvSpPr/>
          <p:nvPr/>
        </p:nvSpPr>
        <p:spPr>
          <a:xfrm>
            <a:off x="137160" y="4846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AED · T1 · BST Property</a:t>
            </a:r>
            <a:endParaRPr b="0" i="0" sz="900" u="none" cap="none" strike="noStrike">
              <a:solidFill>
                <a:schemeClr val="dk1"/>
              </a:solidFill>
              <a:latin typeface="Calibri"/>
              <a:ea typeface="Calibri"/>
              <a:cs typeface="Calibri"/>
              <a:sym typeface="Calibri"/>
            </a:endParaRPr>
          </a:p>
        </p:txBody>
      </p:sp>
      <p:sp>
        <p:nvSpPr>
          <p:cNvPr id="99" name="Google Shape;99;g3dc442f8a48_0_0"/>
          <p:cNvSpPr/>
          <p:nvPr/>
        </p:nvSpPr>
        <p:spPr>
          <a:xfrm>
            <a:off x="8503920" y="4846320"/>
            <a:ext cx="5487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F1A"/>
        </a:solidFill>
      </p:bgPr>
    </p:bg>
    <p:spTree>
      <p:nvGrpSpPr>
        <p:cNvPr id="104" name="Shape 104"/>
        <p:cNvGrpSpPr/>
        <p:nvPr/>
      </p:nvGrpSpPr>
      <p:grpSpPr>
        <a:xfrm>
          <a:off x="0" y="0"/>
          <a:ext cx="0" cy="0"/>
          <a:chOff x="0" y="0"/>
          <a:chExt cx="0" cy="0"/>
        </a:xfrm>
      </p:grpSpPr>
      <p:sp>
        <p:nvSpPr>
          <p:cNvPr id="105" name="Google Shape;105;p5"/>
          <p:cNvSpPr/>
          <p:nvPr/>
        </p:nvSpPr>
        <p:spPr>
          <a:xfrm>
            <a:off x="0" y="0"/>
            <a:ext cx="54864"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
          <p:cNvSpPr/>
          <p:nvPr/>
        </p:nvSpPr>
        <p:spPr>
          <a:xfrm>
            <a:off x="182880" y="137160"/>
            <a:ext cx="87782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2600"/>
              <a:buFont typeface="Trebuchet MS"/>
              <a:buNone/>
            </a:pPr>
            <a:r>
              <a:rPr b="1" i="0" lang="en-US" sz="2600" u="none" cap="none" strike="noStrike">
                <a:solidFill>
                  <a:srgbClr val="F0F4FF"/>
                </a:solidFill>
                <a:latin typeface="Trebuchet MS"/>
                <a:ea typeface="Trebuchet MS"/>
                <a:cs typeface="Trebuchet MS"/>
                <a:sym typeface="Trebuchet MS"/>
              </a:rPr>
              <a:t>Inorder Tree Walk — La magia del sorted output</a:t>
            </a:r>
            <a:endParaRPr b="0" i="0" sz="2600" u="none" cap="none" strike="noStrike">
              <a:solidFill>
                <a:schemeClr val="dk1"/>
              </a:solidFill>
              <a:latin typeface="Calibri"/>
              <a:ea typeface="Calibri"/>
              <a:cs typeface="Calibri"/>
              <a:sym typeface="Calibri"/>
            </a:endParaRPr>
          </a:p>
        </p:txBody>
      </p:sp>
      <p:sp>
        <p:nvSpPr>
          <p:cNvPr id="107" name="Google Shape;107;p5"/>
          <p:cNvSpPr/>
          <p:nvPr/>
        </p:nvSpPr>
        <p:spPr>
          <a:xfrm>
            <a:off x="182880" y="749808"/>
            <a:ext cx="8778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1200"/>
              <a:buFont typeface="Calibri"/>
              <a:buNone/>
            </a:pPr>
            <a:r>
              <a:rPr b="0" i="1" lang="en-US" sz="1200" u="none" cap="none" strike="noStrike">
                <a:solidFill>
                  <a:srgbClr val="8892A4"/>
                </a:solidFill>
                <a:latin typeface="Calibri"/>
                <a:ea typeface="Calibri"/>
                <a:cs typeface="Calibri"/>
                <a:sym typeface="Calibri"/>
              </a:rPr>
              <a:t>Izquierda → Nodo → Derecha = output ordenado, siempre</a:t>
            </a:r>
            <a:endParaRPr b="0" i="0" sz="1200" u="none" cap="none" strike="noStrike">
              <a:solidFill>
                <a:schemeClr val="dk1"/>
              </a:solidFill>
              <a:latin typeface="Calibri"/>
              <a:ea typeface="Calibri"/>
              <a:cs typeface="Calibri"/>
              <a:sym typeface="Calibri"/>
            </a:endParaRPr>
          </a:p>
        </p:txBody>
      </p:sp>
      <p:sp>
        <p:nvSpPr>
          <p:cNvPr id="108" name="Google Shape;108;p5"/>
          <p:cNvSpPr/>
          <p:nvPr/>
        </p:nvSpPr>
        <p:spPr>
          <a:xfrm>
            <a:off x="182880" y="1024128"/>
            <a:ext cx="1463040" cy="27432"/>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
          <p:cNvSpPr/>
          <p:nvPr/>
        </p:nvSpPr>
        <p:spPr>
          <a:xfrm>
            <a:off x="137160" y="1188720"/>
            <a:ext cx="4297680" cy="1417320"/>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5"/>
          <p:cNvSpPr/>
          <p:nvPr/>
        </p:nvSpPr>
        <p:spPr>
          <a:xfrm>
            <a:off x="274320" y="1325880"/>
            <a:ext cx="2779776" cy="256032"/>
          </a:xfrm>
          <a:prstGeom prst="roundRect">
            <a:avLst>
              <a:gd fmla="val 21429" name="adj"/>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5"/>
          <p:cNvSpPr/>
          <p:nvPr/>
        </p:nvSpPr>
        <p:spPr>
          <a:xfrm>
            <a:off x="274320" y="1325880"/>
            <a:ext cx="2779776"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ANALOGIA — Galería cronológica</a:t>
            </a:r>
            <a:endParaRPr b="0" i="0" sz="800" u="none" cap="none" strike="noStrike">
              <a:solidFill>
                <a:schemeClr val="dk1"/>
              </a:solidFill>
              <a:latin typeface="Calibri"/>
              <a:ea typeface="Calibri"/>
              <a:cs typeface="Calibri"/>
              <a:sym typeface="Calibri"/>
            </a:endParaRPr>
          </a:p>
        </p:txBody>
      </p:sp>
      <p:sp>
        <p:nvSpPr>
          <p:cNvPr id="112" name="Google Shape;112;p5"/>
          <p:cNvSpPr/>
          <p:nvPr/>
        </p:nvSpPr>
        <p:spPr>
          <a:xfrm>
            <a:off x="274320" y="1664208"/>
            <a:ext cx="4023360" cy="8503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Es como un guía de galería que te lleva a ver las pinturas estrictamente en el año en que fueron pintadas, sin importar cómo están físicamente distribuidas en las salas. El recorrido específico (izquierda primero, luego el nodo, luego derecha) garantiza que visitás cada elemento exactamente en orden ascendente de clave.</a:t>
            </a:r>
            <a:endParaRPr b="0" i="0" sz="1050" u="none" cap="none" strike="noStrike">
              <a:solidFill>
                <a:schemeClr val="dk1"/>
              </a:solidFill>
              <a:latin typeface="Calibri"/>
              <a:ea typeface="Calibri"/>
              <a:cs typeface="Calibri"/>
              <a:sym typeface="Calibri"/>
            </a:endParaRPr>
          </a:p>
        </p:txBody>
      </p:sp>
      <p:sp>
        <p:nvSpPr>
          <p:cNvPr id="113" name="Google Shape;113;p5"/>
          <p:cNvSpPr/>
          <p:nvPr/>
        </p:nvSpPr>
        <p:spPr>
          <a:xfrm>
            <a:off x="137160" y="2670048"/>
            <a:ext cx="4297680" cy="2130552"/>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5"/>
          <p:cNvSpPr/>
          <p:nvPr/>
        </p:nvSpPr>
        <p:spPr>
          <a:xfrm>
            <a:off x="274320" y="2807208"/>
            <a:ext cx="1844345" cy="256032"/>
          </a:xfrm>
          <a:prstGeom prst="roundRect">
            <a:avLst>
              <a:gd fmla="val 21429" name="adj"/>
            </a:avLst>
          </a:prstGeom>
          <a:solidFill>
            <a:srgbClr val="10B981"/>
          </a:solidFill>
          <a:ln cap="flat" cmpd="sng" w="1270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5"/>
          <p:cNvSpPr/>
          <p:nvPr/>
        </p:nvSpPr>
        <p:spPr>
          <a:xfrm>
            <a:off x="274320" y="2807208"/>
            <a:ext cx="1844345"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LOS TRES RECORRIDOS</a:t>
            </a:r>
            <a:endParaRPr b="0" i="0" sz="800" u="none" cap="none" strike="noStrike">
              <a:solidFill>
                <a:schemeClr val="dk1"/>
              </a:solidFill>
              <a:latin typeface="Calibri"/>
              <a:ea typeface="Calibri"/>
              <a:cs typeface="Calibri"/>
              <a:sym typeface="Calibri"/>
            </a:endParaRPr>
          </a:p>
        </p:txBody>
      </p:sp>
      <p:sp>
        <p:nvSpPr>
          <p:cNvPr id="116" name="Google Shape;116;p5"/>
          <p:cNvSpPr/>
          <p:nvPr/>
        </p:nvSpPr>
        <p:spPr>
          <a:xfrm>
            <a:off x="274320" y="3145536"/>
            <a:ext cx="4023360" cy="1563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INORDER (L → Root → R): produce output en orden ascendente. Fundamental para BST.</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PREORDER (Root → L → R): visita el padre antes que los hijos. Útil para copiar árboles o listar directorios.</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POSTORDER (L → R → Root): visita los hijos antes que el padre. Útil para calcular alturas, tamaños, liberar memoria.</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Solo INORDER en un BST garantiza output ordenado.</a:t>
            </a:r>
            <a:endParaRPr b="0" i="0" sz="1050" u="none" cap="none" strike="noStrike">
              <a:solidFill>
                <a:schemeClr val="dk1"/>
              </a:solidFill>
              <a:latin typeface="Calibri"/>
              <a:ea typeface="Calibri"/>
              <a:cs typeface="Calibri"/>
              <a:sym typeface="Calibri"/>
            </a:endParaRPr>
          </a:p>
        </p:txBody>
      </p:sp>
      <p:sp>
        <p:nvSpPr>
          <p:cNvPr id="117" name="Google Shape;117;p5"/>
          <p:cNvSpPr/>
          <p:nvPr/>
        </p:nvSpPr>
        <p:spPr>
          <a:xfrm>
            <a:off x="4572000" y="1188720"/>
            <a:ext cx="4389120" cy="3611880"/>
          </a:xfrm>
          <a:prstGeom prst="rect">
            <a:avLst/>
          </a:prstGeom>
          <a:solidFill>
            <a:srgbClr val="141829"/>
          </a:solidFill>
          <a:ln cap="flat" cmpd="sng" w="9525">
            <a:solidFill>
              <a:srgbClr val="0891B2"/>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5"/>
          <p:cNvSpPr/>
          <p:nvPr/>
        </p:nvSpPr>
        <p:spPr>
          <a:xfrm>
            <a:off x="4709160" y="1344168"/>
            <a:ext cx="2524658" cy="256032"/>
          </a:xfrm>
          <a:prstGeom prst="roundRect">
            <a:avLst>
              <a:gd fmla="val 21429" name="adj"/>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5"/>
          <p:cNvSpPr/>
          <p:nvPr/>
        </p:nvSpPr>
        <p:spPr>
          <a:xfrm>
            <a:off x="4709160" y="1344168"/>
            <a:ext cx="2524658"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INORDER TRACE — {6,2,8,1,4}</a:t>
            </a:r>
            <a:endParaRPr b="0" i="0" sz="800" u="none" cap="none" strike="noStrike">
              <a:solidFill>
                <a:schemeClr val="dk1"/>
              </a:solidFill>
              <a:latin typeface="Calibri"/>
              <a:ea typeface="Calibri"/>
              <a:cs typeface="Calibri"/>
              <a:sym typeface="Calibri"/>
            </a:endParaRPr>
          </a:p>
        </p:txBody>
      </p:sp>
      <p:sp>
        <p:nvSpPr>
          <p:cNvPr id="120" name="Google Shape;120;p5"/>
          <p:cNvSpPr/>
          <p:nvPr/>
        </p:nvSpPr>
        <p:spPr>
          <a:xfrm>
            <a:off x="4709160" y="1737360"/>
            <a:ext cx="2743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onsolas"/>
              <a:buNone/>
            </a:pPr>
            <a:r>
              <a:rPr b="1" i="0" lang="en-US" sz="900" u="none" cap="none" strike="noStrike">
                <a:solidFill>
                  <a:srgbClr val="8892A4"/>
                </a:solidFill>
                <a:latin typeface="Consolas"/>
                <a:ea typeface="Consolas"/>
                <a:cs typeface="Consolas"/>
                <a:sym typeface="Consolas"/>
              </a:rPr>
              <a:t>1.</a:t>
            </a:r>
            <a:endParaRPr b="0" i="0" sz="900" u="none" cap="none" strike="noStrike">
              <a:solidFill>
                <a:schemeClr val="dk1"/>
              </a:solidFill>
              <a:latin typeface="Calibri"/>
              <a:ea typeface="Calibri"/>
              <a:cs typeface="Calibri"/>
              <a:sym typeface="Calibri"/>
            </a:endParaRPr>
          </a:p>
        </p:txBody>
      </p:sp>
      <p:sp>
        <p:nvSpPr>
          <p:cNvPr id="121" name="Google Shape;121;p5"/>
          <p:cNvSpPr/>
          <p:nvPr/>
        </p:nvSpPr>
        <p:spPr>
          <a:xfrm>
            <a:off x="5010912" y="1737360"/>
            <a:ext cx="3886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50"/>
              <a:buFont typeface="Consolas"/>
              <a:buNone/>
            </a:pPr>
            <a:r>
              <a:rPr b="0" i="0" lang="en-US" sz="950" u="none" cap="none" strike="noStrike">
                <a:solidFill>
                  <a:srgbClr val="8892A4"/>
                </a:solidFill>
                <a:latin typeface="Consolas"/>
                <a:ea typeface="Consolas"/>
                <a:cs typeface="Consolas"/>
                <a:sym typeface="Consolas"/>
              </a:rPr>
              <a:t>INORDER(6) → ir a izquierda(2)</a:t>
            </a:r>
            <a:endParaRPr b="0" i="0" sz="950" u="none" cap="none" strike="noStrike">
              <a:solidFill>
                <a:schemeClr val="dk1"/>
              </a:solidFill>
              <a:latin typeface="Calibri"/>
              <a:ea typeface="Calibri"/>
              <a:cs typeface="Calibri"/>
              <a:sym typeface="Calibri"/>
            </a:endParaRPr>
          </a:p>
        </p:txBody>
      </p:sp>
      <p:sp>
        <p:nvSpPr>
          <p:cNvPr id="122" name="Google Shape;122;p5"/>
          <p:cNvSpPr/>
          <p:nvPr/>
        </p:nvSpPr>
        <p:spPr>
          <a:xfrm>
            <a:off x="4709160" y="2121408"/>
            <a:ext cx="2743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onsolas"/>
              <a:buNone/>
            </a:pPr>
            <a:r>
              <a:rPr b="1" i="0" lang="en-US" sz="900" u="none" cap="none" strike="noStrike">
                <a:solidFill>
                  <a:srgbClr val="8892A4"/>
                </a:solidFill>
                <a:latin typeface="Consolas"/>
                <a:ea typeface="Consolas"/>
                <a:cs typeface="Consolas"/>
                <a:sym typeface="Consolas"/>
              </a:rPr>
              <a:t>2.</a:t>
            </a:r>
            <a:endParaRPr b="0" i="0" sz="900" u="none" cap="none" strike="noStrike">
              <a:solidFill>
                <a:schemeClr val="dk1"/>
              </a:solidFill>
              <a:latin typeface="Calibri"/>
              <a:ea typeface="Calibri"/>
              <a:cs typeface="Calibri"/>
              <a:sym typeface="Calibri"/>
            </a:endParaRPr>
          </a:p>
        </p:txBody>
      </p:sp>
      <p:sp>
        <p:nvSpPr>
          <p:cNvPr id="123" name="Google Shape;123;p5"/>
          <p:cNvSpPr/>
          <p:nvPr/>
        </p:nvSpPr>
        <p:spPr>
          <a:xfrm>
            <a:off x="5010912" y="2121408"/>
            <a:ext cx="3886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50"/>
              <a:buFont typeface="Consolas"/>
              <a:buNone/>
            </a:pPr>
            <a:r>
              <a:rPr b="0" i="0" lang="en-US" sz="950" u="none" cap="none" strike="noStrike">
                <a:solidFill>
                  <a:srgbClr val="8892A4"/>
                </a:solidFill>
                <a:latin typeface="Consolas"/>
                <a:ea typeface="Consolas"/>
                <a:cs typeface="Consolas"/>
                <a:sym typeface="Consolas"/>
              </a:rPr>
              <a:t>INORDER(2) → ir a izquierda(1)</a:t>
            </a:r>
            <a:endParaRPr b="0" i="0" sz="950" u="none" cap="none" strike="noStrike">
              <a:solidFill>
                <a:schemeClr val="dk1"/>
              </a:solidFill>
              <a:latin typeface="Calibri"/>
              <a:ea typeface="Calibri"/>
              <a:cs typeface="Calibri"/>
              <a:sym typeface="Calibri"/>
            </a:endParaRPr>
          </a:p>
        </p:txBody>
      </p:sp>
      <p:sp>
        <p:nvSpPr>
          <p:cNvPr id="124" name="Google Shape;124;p5"/>
          <p:cNvSpPr/>
          <p:nvPr/>
        </p:nvSpPr>
        <p:spPr>
          <a:xfrm>
            <a:off x="4709160" y="2505456"/>
            <a:ext cx="2743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900"/>
              <a:buFont typeface="Consolas"/>
              <a:buNone/>
            </a:pPr>
            <a:r>
              <a:rPr b="1" i="0" lang="en-US" sz="900" u="none" cap="none" strike="noStrike">
                <a:solidFill>
                  <a:srgbClr val="10B981"/>
                </a:solidFill>
                <a:latin typeface="Consolas"/>
                <a:ea typeface="Consolas"/>
                <a:cs typeface="Consolas"/>
                <a:sym typeface="Consolas"/>
              </a:rPr>
              <a:t>3.</a:t>
            </a:r>
            <a:endParaRPr b="0" i="0" sz="900" u="none" cap="none" strike="noStrike">
              <a:solidFill>
                <a:schemeClr val="dk1"/>
              </a:solidFill>
              <a:latin typeface="Calibri"/>
              <a:ea typeface="Calibri"/>
              <a:cs typeface="Calibri"/>
              <a:sym typeface="Calibri"/>
            </a:endParaRPr>
          </a:p>
        </p:txBody>
      </p:sp>
      <p:sp>
        <p:nvSpPr>
          <p:cNvPr id="125" name="Google Shape;125;p5"/>
          <p:cNvSpPr/>
          <p:nvPr/>
        </p:nvSpPr>
        <p:spPr>
          <a:xfrm>
            <a:off x="5010912" y="2505456"/>
            <a:ext cx="3886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950"/>
              <a:buFont typeface="Consolas"/>
              <a:buNone/>
            </a:pPr>
            <a:r>
              <a:rPr b="0" i="0" lang="en-US" sz="950" u="none" cap="none" strike="noStrike">
                <a:solidFill>
                  <a:srgbClr val="10B981"/>
                </a:solidFill>
                <a:latin typeface="Consolas"/>
                <a:ea typeface="Consolas"/>
                <a:cs typeface="Consolas"/>
                <a:sym typeface="Consolas"/>
              </a:rPr>
              <a:t>INORDER(1) → izq=NULL → PRINT 1</a:t>
            </a:r>
            <a:endParaRPr b="0" i="0" sz="950" u="none" cap="none" strike="noStrike">
              <a:solidFill>
                <a:schemeClr val="dk1"/>
              </a:solidFill>
              <a:latin typeface="Calibri"/>
              <a:ea typeface="Calibri"/>
              <a:cs typeface="Calibri"/>
              <a:sym typeface="Calibri"/>
            </a:endParaRPr>
          </a:p>
        </p:txBody>
      </p:sp>
      <p:sp>
        <p:nvSpPr>
          <p:cNvPr id="126" name="Google Shape;126;p5"/>
          <p:cNvSpPr/>
          <p:nvPr/>
        </p:nvSpPr>
        <p:spPr>
          <a:xfrm>
            <a:off x="4709160" y="2889504"/>
            <a:ext cx="2743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900"/>
              <a:buFont typeface="Consolas"/>
              <a:buNone/>
            </a:pPr>
            <a:r>
              <a:rPr b="1" i="0" lang="en-US" sz="900" u="none" cap="none" strike="noStrike">
                <a:solidFill>
                  <a:srgbClr val="10B981"/>
                </a:solidFill>
                <a:latin typeface="Consolas"/>
                <a:ea typeface="Consolas"/>
                <a:cs typeface="Consolas"/>
                <a:sym typeface="Consolas"/>
              </a:rPr>
              <a:t>4.</a:t>
            </a:r>
            <a:endParaRPr b="0" i="0" sz="900" u="none" cap="none" strike="noStrike">
              <a:solidFill>
                <a:schemeClr val="dk1"/>
              </a:solidFill>
              <a:latin typeface="Calibri"/>
              <a:ea typeface="Calibri"/>
              <a:cs typeface="Calibri"/>
              <a:sym typeface="Calibri"/>
            </a:endParaRPr>
          </a:p>
        </p:txBody>
      </p:sp>
      <p:sp>
        <p:nvSpPr>
          <p:cNvPr id="127" name="Google Shape;127;p5"/>
          <p:cNvSpPr/>
          <p:nvPr/>
        </p:nvSpPr>
        <p:spPr>
          <a:xfrm>
            <a:off x="5010912" y="2889504"/>
            <a:ext cx="3886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950"/>
              <a:buFont typeface="Consolas"/>
              <a:buNone/>
            </a:pPr>
            <a:r>
              <a:rPr b="0" i="0" lang="en-US" sz="950" u="none" cap="none" strike="noStrike">
                <a:solidFill>
                  <a:srgbClr val="10B981"/>
                </a:solidFill>
                <a:latin typeface="Consolas"/>
                <a:ea typeface="Consolas"/>
                <a:cs typeface="Consolas"/>
                <a:sym typeface="Consolas"/>
              </a:rPr>
              <a:t>Volver a 2 → PRINT 2</a:t>
            </a:r>
            <a:endParaRPr b="0" i="0" sz="950" u="none" cap="none" strike="noStrike">
              <a:solidFill>
                <a:schemeClr val="dk1"/>
              </a:solidFill>
              <a:latin typeface="Calibri"/>
              <a:ea typeface="Calibri"/>
              <a:cs typeface="Calibri"/>
              <a:sym typeface="Calibri"/>
            </a:endParaRPr>
          </a:p>
        </p:txBody>
      </p:sp>
      <p:sp>
        <p:nvSpPr>
          <p:cNvPr id="128" name="Google Shape;128;p5"/>
          <p:cNvSpPr/>
          <p:nvPr/>
        </p:nvSpPr>
        <p:spPr>
          <a:xfrm>
            <a:off x="4709160" y="3273552"/>
            <a:ext cx="2743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900"/>
              <a:buFont typeface="Consolas"/>
              <a:buNone/>
            </a:pPr>
            <a:r>
              <a:rPr b="1" i="0" lang="en-US" sz="900" u="none" cap="none" strike="noStrike">
                <a:solidFill>
                  <a:srgbClr val="10B981"/>
                </a:solidFill>
                <a:latin typeface="Consolas"/>
                <a:ea typeface="Consolas"/>
                <a:cs typeface="Consolas"/>
                <a:sym typeface="Consolas"/>
              </a:rPr>
              <a:t>5.</a:t>
            </a:r>
            <a:endParaRPr b="0" i="0" sz="900" u="none" cap="none" strike="noStrike">
              <a:solidFill>
                <a:schemeClr val="dk1"/>
              </a:solidFill>
              <a:latin typeface="Calibri"/>
              <a:ea typeface="Calibri"/>
              <a:cs typeface="Calibri"/>
              <a:sym typeface="Calibri"/>
            </a:endParaRPr>
          </a:p>
        </p:txBody>
      </p:sp>
      <p:sp>
        <p:nvSpPr>
          <p:cNvPr id="129" name="Google Shape;129;p5"/>
          <p:cNvSpPr/>
          <p:nvPr/>
        </p:nvSpPr>
        <p:spPr>
          <a:xfrm>
            <a:off x="5010912" y="3273552"/>
            <a:ext cx="3886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950"/>
              <a:buFont typeface="Consolas"/>
              <a:buNone/>
            </a:pPr>
            <a:r>
              <a:rPr b="0" i="0" lang="en-US" sz="950" u="none" cap="none" strike="noStrike">
                <a:solidFill>
                  <a:srgbClr val="10B981"/>
                </a:solidFill>
                <a:latin typeface="Consolas"/>
                <a:ea typeface="Consolas"/>
                <a:cs typeface="Consolas"/>
                <a:sym typeface="Consolas"/>
              </a:rPr>
              <a:t>INORDER(4) → PRINT 4</a:t>
            </a:r>
            <a:endParaRPr b="0" i="0" sz="950" u="none" cap="none" strike="noStrike">
              <a:solidFill>
                <a:schemeClr val="dk1"/>
              </a:solidFill>
              <a:latin typeface="Calibri"/>
              <a:ea typeface="Calibri"/>
              <a:cs typeface="Calibri"/>
              <a:sym typeface="Calibri"/>
            </a:endParaRPr>
          </a:p>
        </p:txBody>
      </p:sp>
      <p:sp>
        <p:nvSpPr>
          <p:cNvPr id="130" name="Google Shape;130;p5"/>
          <p:cNvSpPr/>
          <p:nvPr/>
        </p:nvSpPr>
        <p:spPr>
          <a:xfrm>
            <a:off x="4709160" y="3657600"/>
            <a:ext cx="2743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900"/>
              <a:buFont typeface="Consolas"/>
              <a:buNone/>
            </a:pPr>
            <a:r>
              <a:rPr b="1" i="0" lang="en-US" sz="900" u="none" cap="none" strike="noStrike">
                <a:solidFill>
                  <a:srgbClr val="10B981"/>
                </a:solidFill>
                <a:latin typeface="Consolas"/>
                <a:ea typeface="Consolas"/>
                <a:cs typeface="Consolas"/>
                <a:sym typeface="Consolas"/>
              </a:rPr>
              <a:t>6.</a:t>
            </a:r>
            <a:endParaRPr b="0" i="0" sz="900" u="none" cap="none" strike="noStrike">
              <a:solidFill>
                <a:schemeClr val="dk1"/>
              </a:solidFill>
              <a:latin typeface="Calibri"/>
              <a:ea typeface="Calibri"/>
              <a:cs typeface="Calibri"/>
              <a:sym typeface="Calibri"/>
            </a:endParaRPr>
          </a:p>
        </p:txBody>
      </p:sp>
      <p:sp>
        <p:nvSpPr>
          <p:cNvPr id="131" name="Google Shape;131;p5"/>
          <p:cNvSpPr/>
          <p:nvPr/>
        </p:nvSpPr>
        <p:spPr>
          <a:xfrm>
            <a:off x="5010912" y="3657600"/>
            <a:ext cx="3886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950"/>
              <a:buFont typeface="Consolas"/>
              <a:buNone/>
            </a:pPr>
            <a:r>
              <a:rPr b="0" i="0" lang="en-US" sz="950" u="none" cap="none" strike="noStrike">
                <a:solidFill>
                  <a:srgbClr val="10B981"/>
                </a:solidFill>
                <a:latin typeface="Consolas"/>
                <a:ea typeface="Consolas"/>
                <a:cs typeface="Consolas"/>
                <a:sym typeface="Consolas"/>
              </a:rPr>
              <a:t>Volver a 6 → PRINT 6</a:t>
            </a:r>
            <a:endParaRPr b="0" i="0" sz="950" u="none" cap="none" strike="noStrike">
              <a:solidFill>
                <a:schemeClr val="dk1"/>
              </a:solidFill>
              <a:latin typeface="Calibri"/>
              <a:ea typeface="Calibri"/>
              <a:cs typeface="Calibri"/>
              <a:sym typeface="Calibri"/>
            </a:endParaRPr>
          </a:p>
        </p:txBody>
      </p:sp>
      <p:sp>
        <p:nvSpPr>
          <p:cNvPr id="132" name="Google Shape;132;p5"/>
          <p:cNvSpPr/>
          <p:nvPr/>
        </p:nvSpPr>
        <p:spPr>
          <a:xfrm>
            <a:off x="4709160" y="4041648"/>
            <a:ext cx="2743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900"/>
              <a:buFont typeface="Consolas"/>
              <a:buNone/>
            </a:pPr>
            <a:r>
              <a:rPr b="1" i="0" lang="en-US" sz="900" u="none" cap="none" strike="noStrike">
                <a:solidFill>
                  <a:srgbClr val="10B981"/>
                </a:solidFill>
                <a:latin typeface="Consolas"/>
                <a:ea typeface="Consolas"/>
                <a:cs typeface="Consolas"/>
                <a:sym typeface="Consolas"/>
              </a:rPr>
              <a:t>7.</a:t>
            </a:r>
            <a:endParaRPr b="0" i="0" sz="900" u="none" cap="none" strike="noStrike">
              <a:solidFill>
                <a:schemeClr val="dk1"/>
              </a:solidFill>
              <a:latin typeface="Calibri"/>
              <a:ea typeface="Calibri"/>
              <a:cs typeface="Calibri"/>
              <a:sym typeface="Calibri"/>
            </a:endParaRPr>
          </a:p>
        </p:txBody>
      </p:sp>
      <p:sp>
        <p:nvSpPr>
          <p:cNvPr id="133" name="Google Shape;133;p5"/>
          <p:cNvSpPr/>
          <p:nvPr/>
        </p:nvSpPr>
        <p:spPr>
          <a:xfrm>
            <a:off x="5010912" y="4041648"/>
            <a:ext cx="3886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950"/>
              <a:buFont typeface="Consolas"/>
              <a:buNone/>
            </a:pPr>
            <a:r>
              <a:rPr b="0" i="0" lang="en-US" sz="950" u="none" cap="none" strike="noStrike">
                <a:solidFill>
                  <a:srgbClr val="10B981"/>
                </a:solidFill>
                <a:latin typeface="Consolas"/>
                <a:ea typeface="Consolas"/>
                <a:cs typeface="Consolas"/>
                <a:sym typeface="Consolas"/>
              </a:rPr>
              <a:t>INORDER(8) → PRINT 8</a:t>
            </a:r>
            <a:endParaRPr b="0" i="0" sz="950" u="none" cap="none" strike="noStrike">
              <a:solidFill>
                <a:schemeClr val="dk1"/>
              </a:solidFill>
              <a:latin typeface="Calibri"/>
              <a:ea typeface="Calibri"/>
              <a:cs typeface="Calibri"/>
              <a:sym typeface="Calibri"/>
            </a:endParaRPr>
          </a:p>
        </p:txBody>
      </p:sp>
      <p:sp>
        <p:nvSpPr>
          <p:cNvPr id="134" name="Google Shape;134;p5"/>
          <p:cNvSpPr/>
          <p:nvPr/>
        </p:nvSpPr>
        <p:spPr>
          <a:xfrm>
            <a:off x="4709160" y="4425696"/>
            <a:ext cx="2743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4FF"/>
              </a:buClr>
              <a:buSzPts val="900"/>
              <a:buFont typeface="Consolas"/>
              <a:buNone/>
            </a:pPr>
            <a:r>
              <a:rPr b="1" i="0" lang="en-US" sz="900" u="none" cap="none" strike="noStrike">
                <a:solidFill>
                  <a:srgbClr val="00D4FF"/>
                </a:solidFill>
                <a:latin typeface="Consolas"/>
                <a:ea typeface="Consolas"/>
                <a:cs typeface="Consolas"/>
                <a:sym typeface="Consolas"/>
              </a:rPr>
              <a:t>R.</a:t>
            </a:r>
            <a:endParaRPr b="0" i="0" sz="900" u="none" cap="none" strike="noStrike">
              <a:solidFill>
                <a:schemeClr val="dk1"/>
              </a:solidFill>
              <a:latin typeface="Calibri"/>
              <a:ea typeface="Calibri"/>
              <a:cs typeface="Calibri"/>
              <a:sym typeface="Calibri"/>
            </a:endParaRPr>
          </a:p>
        </p:txBody>
      </p:sp>
      <p:sp>
        <p:nvSpPr>
          <p:cNvPr id="135" name="Google Shape;135;p5"/>
          <p:cNvSpPr/>
          <p:nvPr/>
        </p:nvSpPr>
        <p:spPr>
          <a:xfrm>
            <a:off x="5010912" y="4425696"/>
            <a:ext cx="3886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4FF"/>
              </a:buClr>
              <a:buSzPts val="950"/>
              <a:buFont typeface="Consolas"/>
              <a:buNone/>
            </a:pPr>
            <a:r>
              <a:rPr b="0" i="0" lang="en-US" sz="950" u="none" cap="none" strike="noStrike">
                <a:solidFill>
                  <a:srgbClr val="00D4FF"/>
                </a:solidFill>
                <a:latin typeface="Consolas"/>
                <a:ea typeface="Consolas"/>
                <a:cs typeface="Consolas"/>
                <a:sym typeface="Consolas"/>
              </a:rPr>
              <a:t>Output: 1, 2, 4, 6, 8  ✓ ordenado</a:t>
            </a:r>
            <a:endParaRPr b="0" i="0" sz="950" u="none" cap="none" strike="noStrike">
              <a:solidFill>
                <a:schemeClr val="dk1"/>
              </a:solidFill>
              <a:latin typeface="Calibri"/>
              <a:ea typeface="Calibri"/>
              <a:cs typeface="Calibri"/>
              <a:sym typeface="Calibri"/>
            </a:endParaRPr>
          </a:p>
        </p:txBody>
      </p:sp>
      <p:sp>
        <p:nvSpPr>
          <p:cNvPr id="136" name="Google Shape;136;p5"/>
          <p:cNvSpPr/>
          <p:nvPr/>
        </p:nvSpPr>
        <p:spPr>
          <a:xfrm>
            <a:off x="137160" y="4846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AED · T1 · BST · Inorder</a:t>
            </a:r>
            <a:endParaRPr b="0" i="0" sz="900" u="none" cap="none" strike="noStrike">
              <a:solidFill>
                <a:schemeClr val="dk1"/>
              </a:solidFill>
              <a:latin typeface="Calibri"/>
              <a:ea typeface="Calibri"/>
              <a:cs typeface="Calibri"/>
              <a:sym typeface="Calibri"/>
            </a:endParaRPr>
          </a:p>
        </p:txBody>
      </p:sp>
      <p:sp>
        <p:nvSpPr>
          <p:cNvPr id="137" name="Google Shape;137;p5"/>
          <p:cNvSpPr/>
          <p:nvPr/>
        </p:nvSpPr>
        <p:spPr>
          <a:xfrm>
            <a:off x="8503920" y="4846320"/>
            <a:ext cx="54864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F1A"/>
        </a:solidFill>
      </p:bgPr>
    </p:bg>
    <p:spTree>
      <p:nvGrpSpPr>
        <p:cNvPr id="142" name="Shape 142"/>
        <p:cNvGrpSpPr/>
        <p:nvPr/>
      </p:nvGrpSpPr>
      <p:grpSpPr>
        <a:xfrm>
          <a:off x="0" y="0"/>
          <a:ext cx="0" cy="0"/>
          <a:chOff x="0" y="0"/>
          <a:chExt cx="0" cy="0"/>
        </a:xfrm>
      </p:grpSpPr>
      <p:sp>
        <p:nvSpPr>
          <p:cNvPr id="143" name="Google Shape;143;p6"/>
          <p:cNvSpPr/>
          <p:nvPr/>
        </p:nvSpPr>
        <p:spPr>
          <a:xfrm>
            <a:off x="0" y="0"/>
            <a:ext cx="54864"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6"/>
          <p:cNvSpPr/>
          <p:nvPr/>
        </p:nvSpPr>
        <p:spPr>
          <a:xfrm>
            <a:off x="182880" y="137160"/>
            <a:ext cx="87782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2600"/>
              <a:buFont typeface="Trebuchet MS"/>
              <a:buNone/>
            </a:pPr>
            <a:r>
              <a:rPr b="1" i="0" lang="en-US" sz="2600" u="none" cap="none" strike="noStrike">
                <a:solidFill>
                  <a:srgbClr val="F0F4FF"/>
                </a:solidFill>
                <a:latin typeface="Trebuchet MS"/>
                <a:ea typeface="Trebuchet MS"/>
                <a:cs typeface="Trebuchet MS"/>
                <a:sym typeface="Trebuchet MS"/>
              </a:rPr>
              <a:t>Búsqueda e Inserción en BST</a:t>
            </a:r>
            <a:endParaRPr b="0" i="0" sz="2600" u="none" cap="none" strike="noStrike">
              <a:solidFill>
                <a:schemeClr val="dk1"/>
              </a:solidFill>
              <a:latin typeface="Calibri"/>
              <a:ea typeface="Calibri"/>
              <a:cs typeface="Calibri"/>
              <a:sym typeface="Calibri"/>
            </a:endParaRPr>
          </a:p>
        </p:txBody>
      </p:sp>
      <p:sp>
        <p:nvSpPr>
          <p:cNvPr id="145" name="Google Shape;145;p6"/>
          <p:cNvSpPr/>
          <p:nvPr/>
        </p:nvSpPr>
        <p:spPr>
          <a:xfrm>
            <a:off x="182880" y="749808"/>
            <a:ext cx="8778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1200"/>
              <a:buFont typeface="Calibri"/>
              <a:buNone/>
            </a:pPr>
            <a:r>
              <a:rPr b="0" i="1" lang="en-US" sz="1200" u="none" cap="none" strike="noStrike">
                <a:solidFill>
                  <a:srgbClr val="8892A4"/>
                </a:solidFill>
                <a:latin typeface="Calibri"/>
                <a:ea typeface="Calibri"/>
                <a:cs typeface="Calibri"/>
                <a:sym typeface="Calibri"/>
              </a:rPr>
              <a:t>Ambas en O(h) — la altura lo decide todo</a:t>
            </a:r>
            <a:endParaRPr b="0" i="0" sz="1200" u="none" cap="none" strike="noStrike">
              <a:solidFill>
                <a:schemeClr val="dk1"/>
              </a:solidFill>
              <a:latin typeface="Calibri"/>
              <a:ea typeface="Calibri"/>
              <a:cs typeface="Calibri"/>
              <a:sym typeface="Calibri"/>
            </a:endParaRPr>
          </a:p>
        </p:txBody>
      </p:sp>
      <p:sp>
        <p:nvSpPr>
          <p:cNvPr id="146" name="Google Shape;146;p6"/>
          <p:cNvSpPr/>
          <p:nvPr/>
        </p:nvSpPr>
        <p:spPr>
          <a:xfrm>
            <a:off x="182880" y="1024128"/>
            <a:ext cx="1463040" cy="27432"/>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6"/>
          <p:cNvSpPr/>
          <p:nvPr/>
        </p:nvSpPr>
        <p:spPr>
          <a:xfrm>
            <a:off x="137160" y="1188720"/>
            <a:ext cx="4297680" cy="1600200"/>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6"/>
          <p:cNvSpPr/>
          <p:nvPr/>
        </p:nvSpPr>
        <p:spPr>
          <a:xfrm>
            <a:off x="274320" y="1325880"/>
            <a:ext cx="1334110" cy="256032"/>
          </a:xfrm>
          <a:prstGeom prst="roundRect">
            <a:avLst>
              <a:gd fmla="val 21429" name="adj"/>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6"/>
          <p:cNvSpPr/>
          <p:nvPr/>
        </p:nvSpPr>
        <p:spPr>
          <a:xfrm>
            <a:off x="274320" y="1325880"/>
            <a:ext cx="133411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SEARCH — O(h)</a:t>
            </a:r>
            <a:endParaRPr b="0" i="0" sz="800" u="none" cap="none" strike="noStrike">
              <a:solidFill>
                <a:schemeClr val="dk1"/>
              </a:solidFill>
              <a:latin typeface="Calibri"/>
              <a:ea typeface="Calibri"/>
              <a:cs typeface="Calibri"/>
              <a:sym typeface="Calibri"/>
            </a:endParaRPr>
          </a:p>
        </p:txBody>
      </p:sp>
      <p:sp>
        <p:nvSpPr>
          <p:cNvPr id="150" name="Google Shape;150;p6"/>
          <p:cNvSpPr/>
          <p:nvPr/>
        </p:nvSpPr>
        <p:spPr>
          <a:xfrm>
            <a:off x="274320" y="1664208"/>
            <a:ext cx="4023360" cy="10332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850" u="none" cap="none" strike="noStrike">
                <a:solidFill>
                  <a:srgbClr val="F0F4FF"/>
                </a:solidFill>
                <a:latin typeface="Calibri"/>
                <a:ea typeface="Calibri"/>
                <a:cs typeface="Calibri"/>
                <a:sym typeface="Calibri"/>
              </a:rPr>
              <a:t>SEARCH(T, k): comparar k con la raíz x.</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850" u="none" cap="none" strike="noStrike">
                <a:solidFill>
                  <a:srgbClr val="F0F4FF"/>
                </a:solidFill>
                <a:latin typeface="Calibri"/>
                <a:ea typeface="Calibri"/>
                <a:cs typeface="Calibri"/>
                <a:sym typeface="Calibri"/>
              </a:rPr>
              <a:t>• k == x.key → encontrado, retornar x</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850" u="none" cap="none" strike="noStrike">
                <a:solidFill>
                  <a:srgbClr val="F0F4FF"/>
                </a:solidFill>
                <a:latin typeface="Calibri"/>
                <a:ea typeface="Calibri"/>
                <a:cs typeface="Calibri"/>
                <a:sym typeface="Calibri"/>
              </a:rPr>
              <a:t>• k &lt; x.key → buscar recursivamente en x.left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850" u="none" cap="none" strike="noStrike">
                <a:solidFill>
                  <a:srgbClr val="F0F4FF"/>
                </a:solidFill>
                <a:latin typeface="Calibri"/>
                <a:ea typeface="Calibri"/>
                <a:cs typeface="Calibri"/>
                <a:sym typeface="Calibri"/>
              </a:rPr>
              <a:t>• k &gt; x.key → buscar recursivamente en x.right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850" u="none" cap="none" strike="noStrike">
                <a:solidFill>
                  <a:srgbClr val="F0F4FF"/>
                </a:solidFill>
                <a:latin typeface="Calibri"/>
                <a:ea typeface="Calibri"/>
                <a:cs typeface="Calibri"/>
                <a:sym typeface="Calibri"/>
              </a:rPr>
              <a:t>• llegamos a NIL → k no existe en el árbol</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850" u="none" cap="none" strike="noStrike">
                <a:solidFill>
                  <a:srgbClr val="F0F4FF"/>
                </a:solidFill>
                <a:latin typeface="Calibri"/>
                <a:ea typeface="Calibri"/>
                <a:cs typeface="Calibri"/>
                <a:sym typeface="Calibri"/>
              </a:rPr>
              <a:t>Cada comparación descarta exactamente la mitad del árbol restante (si el árbol es balanceado).</a:t>
            </a:r>
            <a:endParaRPr b="0" i="0" sz="850" u="none" cap="none" strike="noStrike">
              <a:solidFill>
                <a:schemeClr val="dk1"/>
              </a:solidFill>
              <a:latin typeface="Calibri"/>
              <a:ea typeface="Calibri"/>
              <a:cs typeface="Calibri"/>
              <a:sym typeface="Calibri"/>
            </a:endParaRPr>
          </a:p>
        </p:txBody>
      </p:sp>
      <p:sp>
        <p:nvSpPr>
          <p:cNvPr id="151" name="Google Shape;151;p6"/>
          <p:cNvSpPr/>
          <p:nvPr/>
        </p:nvSpPr>
        <p:spPr>
          <a:xfrm>
            <a:off x="137160" y="2852928"/>
            <a:ext cx="4297680" cy="1947672"/>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6"/>
          <p:cNvSpPr/>
          <p:nvPr/>
        </p:nvSpPr>
        <p:spPr>
          <a:xfrm>
            <a:off x="274320" y="2990088"/>
            <a:ext cx="1334110" cy="256032"/>
          </a:xfrm>
          <a:prstGeom prst="roundRect">
            <a:avLst>
              <a:gd fmla="val 21429" name="adj"/>
            </a:avLst>
          </a:prstGeom>
          <a:solidFill>
            <a:srgbClr val="10B981"/>
          </a:solidFill>
          <a:ln cap="flat" cmpd="sng" w="1270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6"/>
          <p:cNvSpPr/>
          <p:nvPr/>
        </p:nvSpPr>
        <p:spPr>
          <a:xfrm>
            <a:off x="274320" y="2990088"/>
            <a:ext cx="133411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INSERT — O(h)</a:t>
            </a:r>
            <a:endParaRPr b="0" i="0" sz="800" u="none" cap="none" strike="noStrike">
              <a:solidFill>
                <a:schemeClr val="dk1"/>
              </a:solidFill>
              <a:latin typeface="Calibri"/>
              <a:ea typeface="Calibri"/>
              <a:cs typeface="Calibri"/>
              <a:sym typeface="Calibri"/>
            </a:endParaRPr>
          </a:p>
        </p:txBody>
      </p:sp>
      <p:sp>
        <p:nvSpPr>
          <p:cNvPr id="154" name="Google Shape;154;p6"/>
          <p:cNvSpPr/>
          <p:nvPr/>
        </p:nvSpPr>
        <p:spPr>
          <a:xfrm>
            <a:off x="274320" y="3328416"/>
            <a:ext cx="4023360" cy="1380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INSERT(T, z): hacer SEARCH de z.key hasta llegar a NIL. En ese punto, z se inserta como hijo del último nodo visitado.</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Paso 1: descender hasta encontrar NIL siguiendo la BST property.</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Paso 2: el NIL se reemplaza con el nuevo nodo z.</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Paso 3: actualizar el puntero padre.</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Clave: la posición de inserción es única — si la BST property se mantiene, no hay ambigüedad de dónde va el nodo.</a:t>
            </a:r>
            <a:endParaRPr b="0" i="0" sz="1050" u="none" cap="none" strike="noStrike">
              <a:solidFill>
                <a:schemeClr val="dk1"/>
              </a:solidFill>
              <a:latin typeface="Calibri"/>
              <a:ea typeface="Calibri"/>
              <a:cs typeface="Calibri"/>
              <a:sym typeface="Calibri"/>
            </a:endParaRPr>
          </a:p>
        </p:txBody>
      </p:sp>
      <p:sp>
        <p:nvSpPr>
          <p:cNvPr id="155" name="Google Shape;155;p6"/>
          <p:cNvSpPr/>
          <p:nvPr/>
        </p:nvSpPr>
        <p:spPr>
          <a:xfrm>
            <a:off x="4572000" y="1188720"/>
            <a:ext cx="4389120" cy="3611880"/>
          </a:xfrm>
          <a:prstGeom prst="rect">
            <a:avLst/>
          </a:prstGeom>
          <a:solidFill>
            <a:srgbClr val="141829"/>
          </a:solidFill>
          <a:ln cap="flat" cmpd="sng" w="9525">
            <a:solidFill>
              <a:srgbClr val="0891B2"/>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6"/>
          <p:cNvSpPr/>
          <p:nvPr/>
        </p:nvSpPr>
        <p:spPr>
          <a:xfrm>
            <a:off x="4709160" y="1344168"/>
            <a:ext cx="2269541" cy="256032"/>
          </a:xfrm>
          <a:prstGeom prst="roundRect">
            <a:avLst>
              <a:gd fmla="val 21429" name="adj"/>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6"/>
          <p:cNvSpPr/>
          <p:nvPr/>
        </p:nvSpPr>
        <p:spPr>
          <a:xfrm>
            <a:off x="4709160" y="1344168"/>
            <a:ext cx="2269541"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INSERT(5) en {6,2,8,1,4}</a:t>
            </a:r>
            <a:endParaRPr b="0" i="0" sz="800" u="none" cap="none" strike="noStrike">
              <a:solidFill>
                <a:schemeClr val="dk1"/>
              </a:solidFill>
              <a:latin typeface="Calibri"/>
              <a:ea typeface="Calibri"/>
              <a:cs typeface="Calibri"/>
              <a:sym typeface="Calibri"/>
            </a:endParaRPr>
          </a:p>
        </p:txBody>
      </p:sp>
      <p:sp>
        <p:nvSpPr>
          <p:cNvPr id="158" name="Google Shape;158;p6"/>
          <p:cNvSpPr/>
          <p:nvPr/>
        </p:nvSpPr>
        <p:spPr>
          <a:xfrm>
            <a:off x="4709160" y="1664208"/>
            <a:ext cx="4114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1000"/>
              <a:buFont typeface="Calibri"/>
              <a:buNone/>
            </a:pPr>
            <a:r>
              <a:rPr b="1" i="0" lang="en-US" sz="1000" u="none" cap="none" strike="noStrike">
                <a:solidFill>
                  <a:srgbClr val="8892A4"/>
                </a:solidFill>
                <a:latin typeface="Calibri"/>
                <a:ea typeface="Calibri"/>
                <a:cs typeface="Calibri"/>
                <a:sym typeface="Calibri"/>
              </a:rPr>
              <a:t>Antes:</a:t>
            </a:r>
            <a:endParaRPr b="0" i="0" sz="1000" u="none" cap="none" strike="noStrike">
              <a:solidFill>
                <a:schemeClr val="dk1"/>
              </a:solidFill>
              <a:latin typeface="Calibri"/>
              <a:ea typeface="Calibri"/>
              <a:cs typeface="Calibri"/>
              <a:sym typeface="Calibri"/>
            </a:endParaRPr>
          </a:p>
        </p:txBody>
      </p:sp>
      <p:sp>
        <p:nvSpPr>
          <p:cNvPr id="159" name="Google Shape;159;p6"/>
          <p:cNvSpPr/>
          <p:nvPr/>
        </p:nvSpPr>
        <p:spPr>
          <a:xfrm>
            <a:off x="6547104" y="1865376"/>
            <a:ext cx="438912" cy="438912"/>
          </a:xfrm>
          <a:prstGeom prst="ellipse">
            <a:avLst/>
          </a:prstGeom>
          <a:solidFill>
            <a:srgbClr val="111526"/>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6"/>
          <p:cNvSpPr/>
          <p:nvPr/>
        </p:nvSpPr>
        <p:spPr>
          <a:xfrm>
            <a:off x="6547104" y="1865376"/>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1200"/>
              <a:buFont typeface="Consolas"/>
              <a:buNone/>
            </a:pPr>
            <a:r>
              <a:rPr b="1" i="0" lang="en-US" sz="1200" u="none" cap="none" strike="noStrike">
                <a:solidFill>
                  <a:srgbClr val="F0F4FF"/>
                </a:solidFill>
                <a:latin typeface="Consolas"/>
                <a:ea typeface="Consolas"/>
                <a:cs typeface="Consolas"/>
                <a:sym typeface="Consolas"/>
              </a:rPr>
              <a:t>6</a:t>
            </a:r>
            <a:endParaRPr b="0" i="0" sz="1200" u="none" cap="none" strike="noStrike">
              <a:solidFill>
                <a:schemeClr val="dk1"/>
              </a:solidFill>
              <a:latin typeface="Calibri"/>
              <a:ea typeface="Calibri"/>
              <a:cs typeface="Calibri"/>
              <a:sym typeface="Calibri"/>
            </a:endParaRPr>
          </a:p>
        </p:txBody>
      </p:sp>
      <p:sp>
        <p:nvSpPr>
          <p:cNvPr id="161" name="Google Shape;161;p6"/>
          <p:cNvSpPr/>
          <p:nvPr/>
        </p:nvSpPr>
        <p:spPr>
          <a:xfrm>
            <a:off x="5724144" y="2386584"/>
            <a:ext cx="438912" cy="438912"/>
          </a:xfrm>
          <a:prstGeom prst="ellipse">
            <a:avLst/>
          </a:prstGeom>
          <a:solidFill>
            <a:srgbClr val="111526"/>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6"/>
          <p:cNvSpPr/>
          <p:nvPr/>
        </p:nvSpPr>
        <p:spPr>
          <a:xfrm>
            <a:off x="5724144" y="2386584"/>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1200"/>
              <a:buFont typeface="Consolas"/>
              <a:buNone/>
            </a:pPr>
            <a:r>
              <a:rPr b="1" i="0" lang="en-US" sz="1200" u="none" cap="none" strike="noStrike">
                <a:solidFill>
                  <a:srgbClr val="F0F4FF"/>
                </a:solidFill>
                <a:latin typeface="Consolas"/>
                <a:ea typeface="Consolas"/>
                <a:cs typeface="Consolas"/>
                <a:sym typeface="Consolas"/>
              </a:rPr>
              <a:t>2</a:t>
            </a:r>
            <a:endParaRPr b="0" i="0" sz="1200" u="none" cap="none" strike="noStrike">
              <a:solidFill>
                <a:schemeClr val="dk1"/>
              </a:solidFill>
              <a:latin typeface="Calibri"/>
              <a:ea typeface="Calibri"/>
              <a:cs typeface="Calibri"/>
              <a:sym typeface="Calibri"/>
            </a:endParaRPr>
          </a:p>
        </p:txBody>
      </p:sp>
      <p:sp>
        <p:nvSpPr>
          <p:cNvPr id="163" name="Google Shape;163;p6"/>
          <p:cNvSpPr/>
          <p:nvPr/>
        </p:nvSpPr>
        <p:spPr>
          <a:xfrm>
            <a:off x="7370064" y="2386584"/>
            <a:ext cx="438912" cy="438912"/>
          </a:xfrm>
          <a:prstGeom prst="ellipse">
            <a:avLst/>
          </a:prstGeom>
          <a:solidFill>
            <a:srgbClr val="111526"/>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6"/>
          <p:cNvSpPr/>
          <p:nvPr/>
        </p:nvSpPr>
        <p:spPr>
          <a:xfrm>
            <a:off x="7370064" y="2386584"/>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1200"/>
              <a:buFont typeface="Consolas"/>
              <a:buNone/>
            </a:pPr>
            <a:r>
              <a:rPr b="1" i="0" lang="en-US" sz="1200" u="none" cap="none" strike="noStrike">
                <a:solidFill>
                  <a:srgbClr val="F0F4FF"/>
                </a:solidFill>
                <a:latin typeface="Consolas"/>
                <a:ea typeface="Consolas"/>
                <a:cs typeface="Consolas"/>
                <a:sym typeface="Consolas"/>
              </a:rPr>
              <a:t>8</a:t>
            </a:r>
            <a:endParaRPr b="0" i="0" sz="1200" u="none" cap="none" strike="noStrike">
              <a:solidFill>
                <a:schemeClr val="dk1"/>
              </a:solidFill>
              <a:latin typeface="Calibri"/>
              <a:ea typeface="Calibri"/>
              <a:cs typeface="Calibri"/>
              <a:sym typeface="Calibri"/>
            </a:endParaRPr>
          </a:p>
        </p:txBody>
      </p:sp>
      <p:sp>
        <p:nvSpPr>
          <p:cNvPr id="165" name="Google Shape;165;p6"/>
          <p:cNvSpPr/>
          <p:nvPr/>
        </p:nvSpPr>
        <p:spPr>
          <a:xfrm>
            <a:off x="5266944" y="2907792"/>
            <a:ext cx="438912" cy="438912"/>
          </a:xfrm>
          <a:prstGeom prst="ellipse">
            <a:avLst/>
          </a:prstGeom>
          <a:solidFill>
            <a:srgbClr val="111526"/>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6"/>
          <p:cNvSpPr/>
          <p:nvPr/>
        </p:nvSpPr>
        <p:spPr>
          <a:xfrm>
            <a:off x="5266944" y="2907792"/>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1200"/>
              <a:buFont typeface="Consolas"/>
              <a:buNone/>
            </a:pPr>
            <a:r>
              <a:rPr b="1" i="0" lang="en-US" sz="1200" u="none" cap="none" strike="noStrike">
                <a:solidFill>
                  <a:srgbClr val="F0F4FF"/>
                </a:solidFill>
                <a:latin typeface="Consolas"/>
                <a:ea typeface="Consolas"/>
                <a:cs typeface="Consolas"/>
                <a:sym typeface="Consolas"/>
              </a:rPr>
              <a:t>1</a:t>
            </a:r>
            <a:endParaRPr b="0" i="0" sz="1200" u="none" cap="none" strike="noStrike">
              <a:solidFill>
                <a:schemeClr val="dk1"/>
              </a:solidFill>
              <a:latin typeface="Calibri"/>
              <a:ea typeface="Calibri"/>
              <a:cs typeface="Calibri"/>
              <a:sym typeface="Calibri"/>
            </a:endParaRPr>
          </a:p>
        </p:txBody>
      </p:sp>
      <p:sp>
        <p:nvSpPr>
          <p:cNvPr id="167" name="Google Shape;167;p6"/>
          <p:cNvSpPr/>
          <p:nvPr/>
        </p:nvSpPr>
        <p:spPr>
          <a:xfrm>
            <a:off x="6181344" y="2907792"/>
            <a:ext cx="438912" cy="438912"/>
          </a:xfrm>
          <a:prstGeom prst="ellipse">
            <a:avLst/>
          </a:prstGeom>
          <a:solidFill>
            <a:srgbClr val="111526"/>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6"/>
          <p:cNvSpPr/>
          <p:nvPr/>
        </p:nvSpPr>
        <p:spPr>
          <a:xfrm>
            <a:off x="6181344" y="2907792"/>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1200"/>
              <a:buFont typeface="Consolas"/>
              <a:buNone/>
            </a:pPr>
            <a:r>
              <a:rPr b="1" i="0" lang="en-US" sz="1200" u="none" cap="none" strike="noStrike">
                <a:solidFill>
                  <a:srgbClr val="F0F4FF"/>
                </a:solidFill>
                <a:latin typeface="Consolas"/>
                <a:ea typeface="Consolas"/>
                <a:cs typeface="Consolas"/>
                <a:sym typeface="Consolas"/>
              </a:rPr>
              <a:t>4</a:t>
            </a:r>
            <a:endParaRPr b="0" i="0" sz="1200" u="none" cap="none" strike="noStrike">
              <a:solidFill>
                <a:schemeClr val="dk1"/>
              </a:solidFill>
              <a:latin typeface="Calibri"/>
              <a:ea typeface="Calibri"/>
              <a:cs typeface="Calibri"/>
              <a:sym typeface="Calibri"/>
            </a:endParaRPr>
          </a:p>
        </p:txBody>
      </p:sp>
      <p:cxnSp>
        <p:nvCxnSpPr>
          <p:cNvPr id="169" name="Google Shape;169;p6"/>
          <p:cNvCxnSpPr/>
          <p:nvPr/>
        </p:nvCxnSpPr>
        <p:spPr>
          <a:xfrm flipH="1">
            <a:off x="6163056" y="2304288"/>
            <a:ext cx="603504" cy="82296"/>
          </a:xfrm>
          <a:prstGeom prst="straightConnector1">
            <a:avLst/>
          </a:prstGeom>
          <a:noFill/>
          <a:ln cap="flat" cmpd="sng" w="15225">
            <a:solidFill>
              <a:srgbClr val="3D4A5C"/>
            </a:solidFill>
            <a:prstDash val="solid"/>
            <a:round/>
            <a:headEnd len="sm" w="sm" type="none"/>
            <a:tailEnd len="sm" w="sm" type="none"/>
          </a:ln>
        </p:spPr>
      </p:cxnSp>
      <p:cxnSp>
        <p:nvCxnSpPr>
          <p:cNvPr id="170" name="Google Shape;170;p6"/>
          <p:cNvCxnSpPr/>
          <p:nvPr/>
        </p:nvCxnSpPr>
        <p:spPr>
          <a:xfrm>
            <a:off x="6766560" y="2304288"/>
            <a:ext cx="603504" cy="82296"/>
          </a:xfrm>
          <a:prstGeom prst="straightConnector1">
            <a:avLst/>
          </a:prstGeom>
          <a:noFill/>
          <a:ln cap="flat" cmpd="sng" w="15225">
            <a:solidFill>
              <a:srgbClr val="3D4A5C"/>
            </a:solidFill>
            <a:prstDash val="solid"/>
            <a:round/>
            <a:headEnd len="sm" w="sm" type="none"/>
            <a:tailEnd len="sm" w="sm" type="none"/>
          </a:ln>
        </p:spPr>
      </p:cxnSp>
      <p:cxnSp>
        <p:nvCxnSpPr>
          <p:cNvPr id="171" name="Google Shape;171;p6"/>
          <p:cNvCxnSpPr/>
          <p:nvPr/>
        </p:nvCxnSpPr>
        <p:spPr>
          <a:xfrm flipH="1">
            <a:off x="5705856" y="2825496"/>
            <a:ext cx="237744" cy="82296"/>
          </a:xfrm>
          <a:prstGeom prst="straightConnector1">
            <a:avLst/>
          </a:prstGeom>
          <a:noFill/>
          <a:ln cap="flat" cmpd="sng" w="15225">
            <a:solidFill>
              <a:srgbClr val="3D4A5C"/>
            </a:solidFill>
            <a:prstDash val="solid"/>
            <a:round/>
            <a:headEnd len="sm" w="sm" type="none"/>
            <a:tailEnd len="sm" w="sm" type="none"/>
          </a:ln>
        </p:spPr>
      </p:cxnSp>
      <p:cxnSp>
        <p:nvCxnSpPr>
          <p:cNvPr id="172" name="Google Shape;172;p6"/>
          <p:cNvCxnSpPr/>
          <p:nvPr/>
        </p:nvCxnSpPr>
        <p:spPr>
          <a:xfrm>
            <a:off x="5943600" y="2825496"/>
            <a:ext cx="237744" cy="82296"/>
          </a:xfrm>
          <a:prstGeom prst="straightConnector1">
            <a:avLst/>
          </a:prstGeom>
          <a:noFill/>
          <a:ln cap="flat" cmpd="sng" w="15225">
            <a:solidFill>
              <a:srgbClr val="3D4A5C"/>
            </a:solidFill>
            <a:prstDash val="solid"/>
            <a:round/>
            <a:headEnd len="sm" w="sm" type="none"/>
            <a:tailEnd len="sm" w="sm" type="none"/>
          </a:ln>
        </p:spPr>
      </p:cxnSp>
      <p:sp>
        <p:nvSpPr>
          <p:cNvPr id="173" name="Google Shape;173;p6"/>
          <p:cNvSpPr/>
          <p:nvPr/>
        </p:nvSpPr>
        <p:spPr>
          <a:xfrm>
            <a:off x="4709160" y="3419856"/>
            <a:ext cx="4114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900"/>
              <a:buFont typeface="Consolas"/>
              <a:buNone/>
            </a:pPr>
            <a:r>
              <a:rPr b="0" i="0" lang="en-US" sz="900" u="none" cap="none" strike="noStrike">
                <a:solidFill>
                  <a:srgbClr val="F59E0B"/>
                </a:solidFill>
                <a:latin typeface="Consolas"/>
                <a:ea typeface="Consolas"/>
                <a:cs typeface="Consolas"/>
                <a:sym typeface="Consolas"/>
              </a:rPr>
              <a:t>5&gt;2, 5&gt;4 → hijo derecho de 4</a:t>
            </a:r>
            <a:endParaRPr b="0" i="0" sz="900" u="none" cap="none" strike="noStrike">
              <a:solidFill>
                <a:schemeClr val="dk1"/>
              </a:solidFill>
              <a:latin typeface="Calibri"/>
              <a:ea typeface="Calibri"/>
              <a:cs typeface="Calibri"/>
              <a:sym typeface="Calibri"/>
            </a:endParaRPr>
          </a:p>
        </p:txBody>
      </p:sp>
      <p:sp>
        <p:nvSpPr>
          <p:cNvPr id="174" name="Google Shape;174;p6"/>
          <p:cNvSpPr/>
          <p:nvPr/>
        </p:nvSpPr>
        <p:spPr>
          <a:xfrm>
            <a:off x="6821424" y="3419856"/>
            <a:ext cx="438912" cy="438912"/>
          </a:xfrm>
          <a:prstGeom prst="ellipse">
            <a:avLst/>
          </a:prstGeom>
          <a:solidFill>
            <a:srgbClr val="064E3B"/>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6"/>
          <p:cNvSpPr/>
          <p:nvPr/>
        </p:nvSpPr>
        <p:spPr>
          <a:xfrm>
            <a:off x="6821424" y="3419856"/>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B981"/>
              </a:buClr>
              <a:buSzPts val="1200"/>
              <a:buFont typeface="Consolas"/>
              <a:buNone/>
            </a:pPr>
            <a:r>
              <a:rPr b="1" i="0" lang="en-US" sz="1200" u="none" cap="none" strike="noStrike">
                <a:solidFill>
                  <a:srgbClr val="10B981"/>
                </a:solidFill>
                <a:latin typeface="Consolas"/>
                <a:ea typeface="Consolas"/>
                <a:cs typeface="Consolas"/>
                <a:sym typeface="Consolas"/>
              </a:rPr>
              <a:t>5</a:t>
            </a:r>
            <a:endParaRPr b="0" i="0" sz="1200" u="none" cap="none" strike="noStrike">
              <a:solidFill>
                <a:schemeClr val="dk1"/>
              </a:solidFill>
              <a:latin typeface="Calibri"/>
              <a:ea typeface="Calibri"/>
              <a:cs typeface="Calibri"/>
              <a:sym typeface="Calibri"/>
            </a:endParaRPr>
          </a:p>
        </p:txBody>
      </p:sp>
      <p:cxnSp>
        <p:nvCxnSpPr>
          <p:cNvPr id="176" name="Google Shape;176;p6"/>
          <p:cNvCxnSpPr/>
          <p:nvPr/>
        </p:nvCxnSpPr>
        <p:spPr>
          <a:xfrm>
            <a:off x="6400800" y="3346704"/>
            <a:ext cx="420624" cy="73152"/>
          </a:xfrm>
          <a:prstGeom prst="straightConnector1">
            <a:avLst/>
          </a:prstGeom>
          <a:noFill/>
          <a:ln cap="flat" cmpd="sng" w="15225">
            <a:solidFill>
              <a:srgbClr val="10B981"/>
            </a:solidFill>
            <a:prstDash val="solid"/>
            <a:round/>
            <a:headEnd len="sm" w="sm" type="none"/>
            <a:tailEnd len="sm" w="sm" type="none"/>
          </a:ln>
        </p:spPr>
      </p:cxnSp>
      <p:sp>
        <p:nvSpPr>
          <p:cNvPr id="177" name="Google Shape;177;p6"/>
          <p:cNvSpPr/>
          <p:nvPr/>
        </p:nvSpPr>
        <p:spPr>
          <a:xfrm>
            <a:off x="7269480" y="3538728"/>
            <a:ext cx="16459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900"/>
              <a:buFont typeface="Calibri"/>
              <a:buNone/>
            </a:pPr>
            <a:r>
              <a:rPr b="0" i="0" lang="en-US" sz="900" u="none" cap="none" strike="noStrike">
                <a:solidFill>
                  <a:srgbClr val="10B981"/>
                </a:solidFill>
                <a:latin typeface="Calibri"/>
                <a:ea typeface="Calibri"/>
                <a:cs typeface="Calibri"/>
                <a:sym typeface="Calibri"/>
              </a:rPr>
              <a:t>← nuevo nodo</a:t>
            </a:r>
            <a:endParaRPr b="0" i="0" sz="900" u="none" cap="none" strike="noStrike">
              <a:solidFill>
                <a:schemeClr val="dk1"/>
              </a:solidFill>
              <a:latin typeface="Calibri"/>
              <a:ea typeface="Calibri"/>
              <a:cs typeface="Calibri"/>
              <a:sym typeface="Calibri"/>
            </a:endParaRPr>
          </a:p>
        </p:txBody>
      </p:sp>
      <p:sp>
        <p:nvSpPr>
          <p:cNvPr id="178" name="Google Shape;178;p6"/>
          <p:cNvSpPr/>
          <p:nvPr/>
        </p:nvSpPr>
        <p:spPr>
          <a:xfrm>
            <a:off x="137160" y="4846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AED · T1 · BST · Search+Insert</a:t>
            </a:r>
            <a:endParaRPr b="0" i="0" sz="900" u="none" cap="none" strike="noStrike">
              <a:solidFill>
                <a:schemeClr val="dk1"/>
              </a:solidFill>
              <a:latin typeface="Calibri"/>
              <a:ea typeface="Calibri"/>
              <a:cs typeface="Calibri"/>
              <a:sym typeface="Calibri"/>
            </a:endParaRPr>
          </a:p>
        </p:txBody>
      </p:sp>
      <p:sp>
        <p:nvSpPr>
          <p:cNvPr id="179" name="Google Shape;179;p6"/>
          <p:cNvSpPr/>
          <p:nvPr/>
        </p:nvSpPr>
        <p:spPr>
          <a:xfrm>
            <a:off x="8503920" y="4846320"/>
            <a:ext cx="54864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F1A"/>
        </a:solidFill>
      </p:bgPr>
    </p:bg>
    <p:spTree>
      <p:nvGrpSpPr>
        <p:cNvPr id="184" name="Shape 184"/>
        <p:cNvGrpSpPr/>
        <p:nvPr/>
      </p:nvGrpSpPr>
      <p:grpSpPr>
        <a:xfrm>
          <a:off x="0" y="0"/>
          <a:ext cx="0" cy="0"/>
          <a:chOff x="0" y="0"/>
          <a:chExt cx="0" cy="0"/>
        </a:xfrm>
      </p:grpSpPr>
      <p:sp>
        <p:nvSpPr>
          <p:cNvPr id="185" name="Google Shape;185;p7"/>
          <p:cNvSpPr/>
          <p:nvPr/>
        </p:nvSpPr>
        <p:spPr>
          <a:xfrm>
            <a:off x="0" y="0"/>
            <a:ext cx="54864"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7"/>
          <p:cNvSpPr/>
          <p:nvPr/>
        </p:nvSpPr>
        <p:spPr>
          <a:xfrm>
            <a:off x="182880" y="137160"/>
            <a:ext cx="87782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2600"/>
              <a:buFont typeface="Trebuchet MS"/>
              <a:buNone/>
            </a:pPr>
            <a:r>
              <a:rPr b="1" i="0" lang="en-US" sz="2600" u="none" cap="none" strike="noStrike">
                <a:solidFill>
                  <a:srgbClr val="F0F4FF"/>
                </a:solidFill>
                <a:latin typeface="Trebuchet MS"/>
                <a:ea typeface="Trebuchet MS"/>
                <a:cs typeface="Trebuchet MS"/>
                <a:sym typeface="Trebuchet MS"/>
              </a:rPr>
              <a:t>Search e Insert en C++</a:t>
            </a:r>
            <a:endParaRPr b="0" i="0" sz="2600" u="none" cap="none" strike="noStrike">
              <a:solidFill>
                <a:schemeClr val="dk1"/>
              </a:solidFill>
              <a:latin typeface="Calibri"/>
              <a:ea typeface="Calibri"/>
              <a:cs typeface="Calibri"/>
              <a:sym typeface="Calibri"/>
            </a:endParaRPr>
          </a:p>
        </p:txBody>
      </p:sp>
      <p:sp>
        <p:nvSpPr>
          <p:cNvPr id="187" name="Google Shape;187;p7"/>
          <p:cNvSpPr/>
          <p:nvPr/>
        </p:nvSpPr>
        <p:spPr>
          <a:xfrm>
            <a:off x="182880" y="749808"/>
            <a:ext cx="8778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1200"/>
              <a:buFont typeface="Calibri"/>
              <a:buNone/>
            </a:pPr>
            <a:r>
              <a:rPr b="0" i="1" lang="en-US" sz="1200" u="none" cap="none" strike="noStrike">
                <a:solidFill>
                  <a:srgbClr val="8892A4"/>
                </a:solidFill>
                <a:latin typeface="Calibri"/>
                <a:ea typeface="Calibri"/>
                <a:cs typeface="Calibri"/>
                <a:sym typeface="Calibri"/>
              </a:rPr>
              <a:t>Implementación recursiva e iterativa</a:t>
            </a:r>
            <a:endParaRPr b="0" i="0" sz="1200" u="none" cap="none" strike="noStrike">
              <a:solidFill>
                <a:schemeClr val="dk1"/>
              </a:solidFill>
              <a:latin typeface="Calibri"/>
              <a:ea typeface="Calibri"/>
              <a:cs typeface="Calibri"/>
              <a:sym typeface="Calibri"/>
            </a:endParaRPr>
          </a:p>
        </p:txBody>
      </p:sp>
      <p:sp>
        <p:nvSpPr>
          <p:cNvPr id="188" name="Google Shape;188;p7"/>
          <p:cNvSpPr/>
          <p:nvPr/>
        </p:nvSpPr>
        <p:spPr>
          <a:xfrm>
            <a:off x="182880" y="1024128"/>
            <a:ext cx="1463040" cy="27432"/>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7"/>
          <p:cNvSpPr/>
          <p:nvPr/>
        </p:nvSpPr>
        <p:spPr>
          <a:xfrm>
            <a:off x="137160" y="1188720"/>
            <a:ext cx="4297680" cy="3657600"/>
          </a:xfrm>
          <a:prstGeom prst="rect">
            <a:avLst/>
          </a:prstGeom>
          <a:solidFill>
            <a:srgbClr val="111526"/>
          </a:solidFill>
          <a:ln cap="flat" cmpd="sng" w="9525">
            <a:solidFill>
              <a:srgbClr val="0891B2"/>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7"/>
          <p:cNvSpPr/>
          <p:nvPr/>
        </p:nvSpPr>
        <p:spPr>
          <a:xfrm>
            <a:off x="274320" y="1344168"/>
            <a:ext cx="1005840" cy="256032"/>
          </a:xfrm>
          <a:prstGeom prst="roundRect">
            <a:avLst>
              <a:gd fmla="val 21429" name="adj"/>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7"/>
          <p:cNvSpPr/>
          <p:nvPr/>
        </p:nvSpPr>
        <p:spPr>
          <a:xfrm>
            <a:off x="274320" y="1344168"/>
            <a:ext cx="1005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SEARCH</a:t>
            </a:r>
            <a:endParaRPr b="0" i="0" sz="800" u="none" cap="none" strike="noStrike">
              <a:solidFill>
                <a:schemeClr val="dk1"/>
              </a:solidFill>
              <a:latin typeface="Calibri"/>
              <a:ea typeface="Calibri"/>
              <a:cs typeface="Calibri"/>
              <a:sym typeface="Calibri"/>
            </a:endParaRPr>
          </a:p>
        </p:txBody>
      </p:sp>
      <p:sp>
        <p:nvSpPr>
          <p:cNvPr id="192" name="Google Shape;192;p7"/>
          <p:cNvSpPr/>
          <p:nvPr/>
        </p:nvSpPr>
        <p:spPr>
          <a:xfrm>
            <a:off x="274320" y="3941064"/>
            <a:ext cx="40233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p:txBody>
      </p:sp>
      <p:sp>
        <p:nvSpPr>
          <p:cNvPr id="193" name="Google Shape;193;p7"/>
          <p:cNvSpPr/>
          <p:nvPr/>
        </p:nvSpPr>
        <p:spPr>
          <a:xfrm>
            <a:off x="4572000" y="1188720"/>
            <a:ext cx="4389120" cy="1719072"/>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7"/>
          <p:cNvSpPr/>
          <p:nvPr/>
        </p:nvSpPr>
        <p:spPr>
          <a:xfrm>
            <a:off x="4709160" y="1325880"/>
            <a:ext cx="3885286" cy="256032"/>
          </a:xfrm>
          <a:prstGeom prst="roundRect">
            <a:avLst>
              <a:gd fmla="val 21429" name="adj"/>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7"/>
          <p:cNvSpPr/>
          <p:nvPr/>
        </p:nvSpPr>
        <p:spPr>
          <a:xfrm>
            <a:off x="4709160" y="1325880"/>
            <a:ext cx="3885286"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POR QUÉ BinaryNode*&amp; (referencia a puntero)</a:t>
            </a:r>
            <a:endParaRPr b="0" i="0" sz="800" u="none" cap="none" strike="noStrike">
              <a:solidFill>
                <a:schemeClr val="dk1"/>
              </a:solidFill>
              <a:latin typeface="Calibri"/>
              <a:ea typeface="Calibri"/>
              <a:cs typeface="Calibri"/>
              <a:sym typeface="Calibri"/>
            </a:endParaRPr>
          </a:p>
        </p:txBody>
      </p:sp>
      <p:sp>
        <p:nvSpPr>
          <p:cNvPr id="196" name="Google Shape;196;p7"/>
          <p:cNvSpPr/>
          <p:nvPr/>
        </p:nvSpPr>
        <p:spPr>
          <a:xfrm>
            <a:off x="4709160" y="1664208"/>
            <a:ext cx="4114800" cy="11521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El parámetro t es una referencia a puntero — no una copia. Esto permite que la función modifique directamente el puntero en el nodo padre cuando crea un nuevo nodo. Sin &amp;, la asignación t = new BinaryNode{...} solo modificaría la copia local y el árbol original no cambiaría. Esta es la forma idiomática en C++ de insertar sin retornar el nodo.</a:t>
            </a:r>
            <a:endParaRPr b="0" i="0" sz="1050" u="none" cap="none" strike="noStrike">
              <a:solidFill>
                <a:schemeClr val="dk1"/>
              </a:solidFill>
              <a:latin typeface="Calibri"/>
              <a:ea typeface="Calibri"/>
              <a:cs typeface="Calibri"/>
              <a:sym typeface="Calibri"/>
            </a:endParaRPr>
          </a:p>
        </p:txBody>
      </p:sp>
      <p:sp>
        <p:nvSpPr>
          <p:cNvPr id="197" name="Google Shape;197;p7"/>
          <p:cNvSpPr/>
          <p:nvPr/>
        </p:nvSpPr>
        <p:spPr>
          <a:xfrm>
            <a:off x="4572000" y="2971800"/>
            <a:ext cx="4389120" cy="1874520"/>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7"/>
          <p:cNvSpPr/>
          <p:nvPr/>
        </p:nvSpPr>
        <p:spPr>
          <a:xfrm>
            <a:off x="4709160" y="3108960"/>
            <a:ext cx="1334110" cy="256032"/>
          </a:xfrm>
          <a:prstGeom prst="roundRect">
            <a:avLst>
              <a:gd fmla="val 21429" name="adj"/>
            </a:avLst>
          </a:prstGeom>
          <a:solidFill>
            <a:srgbClr val="10B981"/>
          </a:solidFill>
          <a:ln cap="flat" cmpd="sng" w="1270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7"/>
          <p:cNvSpPr/>
          <p:nvPr/>
        </p:nvSpPr>
        <p:spPr>
          <a:xfrm>
            <a:off x="4709160" y="3108960"/>
            <a:ext cx="133411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COMPLEJIDADES</a:t>
            </a:r>
            <a:endParaRPr b="0" i="0" sz="800" u="none" cap="none" strike="noStrike">
              <a:solidFill>
                <a:schemeClr val="dk1"/>
              </a:solidFill>
              <a:latin typeface="Calibri"/>
              <a:ea typeface="Calibri"/>
              <a:cs typeface="Calibri"/>
              <a:sym typeface="Calibri"/>
            </a:endParaRPr>
          </a:p>
        </p:txBody>
      </p:sp>
      <p:sp>
        <p:nvSpPr>
          <p:cNvPr id="200" name="Google Shape;200;p7"/>
          <p:cNvSpPr/>
          <p:nvPr/>
        </p:nvSpPr>
        <p:spPr>
          <a:xfrm>
            <a:off x="4709160" y="3447288"/>
            <a:ext cx="4114800" cy="13075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850" u="none" cap="none" strike="noStrike">
                <a:solidFill>
                  <a:srgbClr val="F0F4FF"/>
                </a:solidFill>
                <a:latin typeface="Calibri"/>
                <a:ea typeface="Calibri"/>
                <a:cs typeface="Calibri"/>
                <a:sym typeface="Calibri"/>
              </a:rPr>
              <a:t>Search: O(h) tiempo, O(h) espacio (pila de recursión)</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850" u="none" cap="none" strike="noStrike">
                <a:solidFill>
                  <a:srgbClr val="F0F4FF"/>
                </a:solidFill>
                <a:latin typeface="Calibri"/>
                <a:ea typeface="Calibri"/>
                <a:cs typeface="Calibri"/>
                <a:sym typeface="Calibri"/>
              </a:rPr>
              <a:t>Insert: O(h) tiempo, O(h) espacio</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850" u="none" cap="none" strike="noStrike">
                <a:solidFill>
                  <a:srgbClr val="F0F4FF"/>
                </a:solidFill>
                <a:latin typeface="Calibri"/>
                <a:ea typeface="Calibri"/>
                <a:cs typeface="Calibri"/>
                <a:sym typeface="Calibri"/>
              </a:rPr>
              <a:t>Iterativo evita overhead de recursión:</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850" u="none" cap="none" strike="noStrike">
                <a:solidFill>
                  <a:srgbClr val="F0F4FF"/>
                </a:solidFill>
                <a:latin typeface="Calibri"/>
                <a:ea typeface="Calibri"/>
                <a:cs typeface="Calibri"/>
                <a:sym typeface="Calibri"/>
              </a:rPr>
              <a:t>while (t != nullptr) {</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850" u="none" cap="none" strike="noStrike">
                <a:solidFill>
                  <a:srgbClr val="F0F4FF"/>
                </a:solidFill>
                <a:latin typeface="Calibri"/>
                <a:ea typeface="Calibri"/>
                <a:cs typeface="Calibri"/>
                <a:sym typeface="Calibri"/>
              </a:rPr>
              <a:t>  if (x &lt; t-&gt;element) t = t-&gt;left;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850" u="none" cap="none" strike="noStrike">
                <a:solidFill>
                  <a:srgbClr val="F0F4FF"/>
                </a:solidFill>
                <a:latin typeface="Calibri"/>
                <a:ea typeface="Calibri"/>
                <a:cs typeface="Calibri"/>
                <a:sym typeface="Calibri"/>
              </a:rPr>
              <a:t>  else if (t-&gt;element &lt; x) t = t-&gt;right;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850" u="none" cap="none" strike="noStrike">
                <a:solidFill>
                  <a:srgbClr val="F0F4FF"/>
                </a:solidFill>
                <a:latin typeface="Calibri"/>
                <a:ea typeface="Calibri"/>
                <a:cs typeface="Calibri"/>
                <a:sym typeface="Calibri"/>
              </a:rPr>
              <a:t>  else return; // encontrado</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850" u="none" cap="none" strike="noStrike">
                <a:solidFill>
                  <a:srgbClr val="F0F4FF"/>
                </a:solidFill>
                <a:latin typeface="Calibri"/>
                <a:ea typeface="Calibri"/>
                <a:cs typeface="Calibri"/>
                <a:sym typeface="Calibri"/>
              </a:rPr>
              <a: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850" u="none" cap="none" strike="noStrike">
                <a:solidFill>
                  <a:srgbClr val="F0F4FF"/>
                </a:solidFill>
                <a:latin typeface="Calibri"/>
                <a:ea typeface="Calibri"/>
                <a:cs typeface="Calibri"/>
                <a:sym typeface="Calibri"/>
              </a:rPr>
              <a:t>// t-&gt;parent-&gt;left = new Node(x)</a:t>
            </a:r>
            <a:endParaRPr b="0" i="0" sz="850" u="none" cap="none" strike="noStrike">
              <a:solidFill>
                <a:schemeClr val="dk1"/>
              </a:solidFill>
              <a:latin typeface="Calibri"/>
              <a:ea typeface="Calibri"/>
              <a:cs typeface="Calibri"/>
              <a:sym typeface="Calibri"/>
            </a:endParaRPr>
          </a:p>
        </p:txBody>
      </p:sp>
      <p:sp>
        <p:nvSpPr>
          <p:cNvPr id="201" name="Google Shape;201;p7"/>
          <p:cNvSpPr/>
          <p:nvPr/>
        </p:nvSpPr>
        <p:spPr>
          <a:xfrm>
            <a:off x="8503920" y="4846320"/>
            <a:ext cx="54864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sp>
        <p:nvSpPr>
          <p:cNvPr id="202" name="Google Shape;202;p7"/>
          <p:cNvSpPr txBox="1"/>
          <p:nvPr/>
        </p:nvSpPr>
        <p:spPr>
          <a:xfrm>
            <a:off x="176238" y="1664200"/>
            <a:ext cx="4219500" cy="31362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US" sz="650">
                <a:solidFill>
                  <a:srgbClr val="FF7B72"/>
                </a:solidFill>
                <a:highlight>
                  <a:srgbClr val="121314"/>
                </a:highlight>
                <a:latin typeface="Courier New"/>
                <a:ea typeface="Courier New"/>
                <a:cs typeface="Courier New"/>
                <a:sym typeface="Courier New"/>
              </a:rPr>
              <a:t>template</a:t>
            </a:r>
            <a:r>
              <a:rPr lang="en-US" sz="650">
                <a:solidFill>
                  <a:srgbClr val="BBBEBF"/>
                </a:solidFill>
                <a:highlight>
                  <a:srgbClr val="121314"/>
                </a:highlight>
                <a:latin typeface="Courier New"/>
                <a:ea typeface="Courier New"/>
                <a:cs typeface="Courier New"/>
                <a:sym typeface="Courier New"/>
              </a:rPr>
              <a:t>&lt;</a:t>
            </a:r>
            <a:r>
              <a:rPr lang="en-US" sz="650">
                <a:solidFill>
                  <a:srgbClr val="FF7B72"/>
                </a:solidFill>
                <a:highlight>
                  <a:srgbClr val="121314"/>
                </a:highlight>
                <a:latin typeface="Courier New"/>
                <a:ea typeface="Courier New"/>
                <a:cs typeface="Courier New"/>
                <a:sym typeface="Courier New"/>
              </a:rPr>
              <a:t>typename</a:t>
            </a:r>
            <a:r>
              <a:rPr lang="en-US" sz="650">
                <a:solidFill>
                  <a:srgbClr val="BBBEBF"/>
                </a:solidFill>
                <a:highlight>
                  <a:srgbClr val="121314"/>
                </a:highlight>
                <a:latin typeface="Courier New"/>
                <a:ea typeface="Courier New"/>
                <a:cs typeface="Courier New"/>
                <a:sym typeface="Courier New"/>
              </a:rPr>
              <a:t> </a:t>
            </a:r>
            <a:r>
              <a:rPr lang="en-US" sz="650">
                <a:solidFill>
                  <a:srgbClr val="4EC9B0"/>
                </a:solidFill>
                <a:highlight>
                  <a:srgbClr val="121314"/>
                </a:highlight>
                <a:latin typeface="Courier New"/>
                <a:ea typeface="Courier New"/>
                <a:cs typeface="Courier New"/>
                <a:sym typeface="Courier New"/>
              </a:rPr>
              <a:t>Comparable</a:t>
            </a:r>
            <a:r>
              <a:rPr lang="en-US" sz="650">
                <a:solidFill>
                  <a:srgbClr val="BBBEBF"/>
                </a:solidFill>
                <a:highlight>
                  <a:srgbClr val="121314"/>
                </a:highlight>
                <a:latin typeface="Courier New"/>
                <a:ea typeface="Courier New"/>
                <a:cs typeface="Courier New"/>
                <a:sym typeface="Courier New"/>
              </a:rPr>
              <a:t>&gt;</a:t>
            </a:r>
            <a:endParaRPr sz="6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650">
                <a:solidFill>
                  <a:srgbClr val="4EC9B0"/>
                </a:solidFill>
                <a:highlight>
                  <a:srgbClr val="121314"/>
                </a:highlight>
                <a:latin typeface="Courier New"/>
                <a:ea typeface="Courier New"/>
                <a:cs typeface="Courier New"/>
                <a:sym typeface="Courier New"/>
              </a:rPr>
              <a:t>BinaryNode</a:t>
            </a:r>
            <a:r>
              <a:rPr lang="en-US" sz="650">
                <a:solidFill>
                  <a:srgbClr val="BBBEBF"/>
                </a:solidFill>
                <a:highlight>
                  <a:srgbClr val="121314"/>
                </a:highlight>
                <a:latin typeface="Courier New"/>
                <a:ea typeface="Courier New"/>
                <a:cs typeface="Courier New"/>
                <a:sym typeface="Courier New"/>
              </a:rPr>
              <a:t>&lt;</a:t>
            </a:r>
            <a:r>
              <a:rPr lang="en-US" sz="650">
                <a:solidFill>
                  <a:srgbClr val="4EC9B0"/>
                </a:solidFill>
                <a:highlight>
                  <a:srgbClr val="121314"/>
                </a:highlight>
                <a:latin typeface="Courier New"/>
                <a:ea typeface="Courier New"/>
                <a:cs typeface="Courier New"/>
                <a:sym typeface="Courier New"/>
              </a:rPr>
              <a:t>Comparable</a:t>
            </a:r>
            <a:r>
              <a:rPr lang="en-US" sz="650">
                <a:solidFill>
                  <a:srgbClr val="BBBEBF"/>
                </a:solidFill>
                <a:highlight>
                  <a:srgbClr val="121314"/>
                </a:highlight>
                <a:latin typeface="Courier New"/>
                <a:ea typeface="Courier New"/>
                <a:cs typeface="Courier New"/>
                <a:sym typeface="Courier New"/>
              </a:rPr>
              <a:t>&gt;</a:t>
            </a:r>
            <a:r>
              <a:rPr lang="en-US" sz="650">
                <a:solidFill>
                  <a:srgbClr val="569CD6"/>
                </a:solidFill>
                <a:highlight>
                  <a:srgbClr val="121314"/>
                </a:highlight>
                <a:latin typeface="Courier New"/>
                <a:ea typeface="Courier New"/>
                <a:cs typeface="Courier New"/>
                <a:sym typeface="Courier New"/>
              </a:rPr>
              <a:t>*</a:t>
            </a:r>
            <a:r>
              <a:rPr lang="en-US" sz="650">
                <a:solidFill>
                  <a:srgbClr val="BBBEBF"/>
                </a:solidFill>
                <a:highlight>
                  <a:srgbClr val="121314"/>
                </a:highlight>
                <a:latin typeface="Courier New"/>
                <a:ea typeface="Courier New"/>
                <a:cs typeface="Courier New"/>
                <a:sym typeface="Courier New"/>
              </a:rPr>
              <a:t> </a:t>
            </a:r>
            <a:r>
              <a:rPr lang="en-US" sz="650">
                <a:solidFill>
                  <a:srgbClr val="D2A8FF"/>
                </a:solidFill>
                <a:highlight>
                  <a:srgbClr val="121314"/>
                </a:highlight>
                <a:latin typeface="Courier New"/>
                <a:ea typeface="Courier New"/>
                <a:cs typeface="Courier New"/>
                <a:sym typeface="Courier New"/>
              </a:rPr>
              <a:t>search</a:t>
            </a:r>
            <a:r>
              <a:rPr lang="en-US" sz="650">
                <a:solidFill>
                  <a:srgbClr val="BBBEBF"/>
                </a:solidFill>
                <a:highlight>
                  <a:srgbClr val="121314"/>
                </a:highlight>
                <a:latin typeface="Courier New"/>
                <a:ea typeface="Courier New"/>
                <a:cs typeface="Courier New"/>
                <a:sym typeface="Courier New"/>
              </a:rPr>
              <a:t>(</a:t>
            </a:r>
            <a:r>
              <a:rPr lang="en-US" sz="650">
                <a:solidFill>
                  <a:srgbClr val="4EC9B0"/>
                </a:solidFill>
                <a:highlight>
                  <a:srgbClr val="121314"/>
                </a:highlight>
                <a:latin typeface="Courier New"/>
                <a:ea typeface="Courier New"/>
                <a:cs typeface="Courier New"/>
                <a:sym typeface="Courier New"/>
              </a:rPr>
              <a:t>BinaryNode</a:t>
            </a:r>
            <a:r>
              <a:rPr lang="en-US" sz="650">
                <a:solidFill>
                  <a:srgbClr val="BBBEBF"/>
                </a:solidFill>
                <a:highlight>
                  <a:srgbClr val="121314"/>
                </a:highlight>
                <a:latin typeface="Courier New"/>
                <a:ea typeface="Courier New"/>
                <a:cs typeface="Courier New"/>
                <a:sym typeface="Courier New"/>
              </a:rPr>
              <a:t>&lt;</a:t>
            </a:r>
            <a:r>
              <a:rPr lang="en-US" sz="650">
                <a:solidFill>
                  <a:srgbClr val="4EC9B0"/>
                </a:solidFill>
                <a:highlight>
                  <a:srgbClr val="121314"/>
                </a:highlight>
                <a:latin typeface="Courier New"/>
                <a:ea typeface="Courier New"/>
                <a:cs typeface="Courier New"/>
                <a:sym typeface="Courier New"/>
              </a:rPr>
              <a:t>Comparable</a:t>
            </a:r>
            <a:r>
              <a:rPr lang="en-US" sz="650">
                <a:solidFill>
                  <a:srgbClr val="BBBEBF"/>
                </a:solidFill>
                <a:highlight>
                  <a:srgbClr val="121314"/>
                </a:highlight>
                <a:latin typeface="Courier New"/>
                <a:ea typeface="Courier New"/>
                <a:cs typeface="Courier New"/>
                <a:sym typeface="Courier New"/>
              </a:rPr>
              <a:t>&gt;</a:t>
            </a:r>
            <a:r>
              <a:rPr lang="en-US" sz="650">
                <a:solidFill>
                  <a:srgbClr val="569CD6"/>
                </a:solidFill>
                <a:highlight>
                  <a:srgbClr val="121314"/>
                </a:highlight>
                <a:latin typeface="Courier New"/>
                <a:ea typeface="Courier New"/>
                <a:cs typeface="Courier New"/>
                <a:sym typeface="Courier New"/>
              </a:rPr>
              <a:t>*</a:t>
            </a:r>
            <a:r>
              <a:rPr lang="en-US" sz="650">
                <a:solidFill>
                  <a:srgbClr val="BBBEBF"/>
                </a:solidFill>
                <a:highlight>
                  <a:srgbClr val="121314"/>
                </a:highlight>
                <a:latin typeface="Courier New"/>
                <a:ea typeface="Courier New"/>
                <a:cs typeface="Courier New"/>
                <a:sym typeface="Courier New"/>
              </a:rPr>
              <a:t> </a:t>
            </a:r>
            <a:r>
              <a:rPr lang="en-US" sz="650">
                <a:solidFill>
                  <a:srgbClr val="FFA657"/>
                </a:solidFill>
                <a:highlight>
                  <a:srgbClr val="121314"/>
                </a:highlight>
                <a:latin typeface="Courier New"/>
                <a:ea typeface="Courier New"/>
                <a:cs typeface="Courier New"/>
                <a:sym typeface="Courier New"/>
              </a:rPr>
              <a:t>node</a:t>
            </a:r>
            <a:r>
              <a:rPr lang="en-US" sz="650">
                <a:solidFill>
                  <a:srgbClr val="BBBEBF"/>
                </a:solidFill>
                <a:highlight>
                  <a:srgbClr val="121314"/>
                </a:highlight>
                <a:latin typeface="Courier New"/>
                <a:ea typeface="Courier New"/>
                <a:cs typeface="Courier New"/>
                <a:sym typeface="Courier New"/>
              </a:rPr>
              <a:t>, </a:t>
            </a:r>
            <a:r>
              <a:rPr lang="en-US" sz="650">
                <a:solidFill>
                  <a:srgbClr val="569CD6"/>
                </a:solidFill>
                <a:highlight>
                  <a:srgbClr val="121314"/>
                </a:highlight>
                <a:latin typeface="Courier New"/>
                <a:ea typeface="Courier New"/>
                <a:cs typeface="Courier New"/>
                <a:sym typeface="Courier New"/>
              </a:rPr>
              <a:t>const</a:t>
            </a:r>
            <a:r>
              <a:rPr lang="en-US" sz="650">
                <a:solidFill>
                  <a:srgbClr val="BBBEBF"/>
                </a:solidFill>
                <a:highlight>
                  <a:srgbClr val="121314"/>
                </a:highlight>
                <a:latin typeface="Courier New"/>
                <a:ea typeface="Courier New"/>
                <a:cs typeface="Courier New"/>
                <a:sym typeface="Courier New"/>
              </a:rPr>
              <a:t> </a:t>
            </a:r>
            <a:r>
              <a:rPr lang="en-US" sz="650">
                <a:solidFill>
                  <a:srgbClr val="4EC9B0"/>
                </a:solidFill>
                <a:highlight>
                  <a:srgbClr val="121314"/>
                </a:highlight>
                <a:latin typeface="Courier New"/>
                <a:ea typeface="Courier New"/>
                <a:cs typeface="Courier New"/>
                <a:sym typeface="Courier New"/>
              </a:rPr>
              <a:t>Comparable</a:t>
            </a:r>
            <a:r>
              <a:rPr lang="en-US" sz="650">
                <a:solidFill>
                  <a:srgbClr val="569CD6"/>
                </a:solidFill>
                <a:highlight>
                  <a:srgbClr val="121314"/>
                </a:highlight>
                <a:latin typeface="Courier New"/>
                <a:ea typeface="Courier New"/>
                <a:cs typeface="Courier New"/>
                <a:sym typeface="Courier New"/>
              </a:rPr>
              <a:t>&amp;</a:t>
            </a:r>
            <a:r>
              <a:rPr lang="en-US" sz="650">
                <a:solidFill>
                  <a:srgbClr val="BBBEBF"/>
                </a:solidFill>
                <a:highlight>
                  <a:srgbClr val="121314"/>
                </a:highlight>
                <a:latin typeface="Courier New"/>
                <a:ea typeface="Courier New"/>
                <a:cs typeface="Courier New"/>
                <a:sym typeface="Courier New"/>
              </a:rPr>
              <a:t> </a:t>
            </a:r>
            <a:r>
              <a:rPr lang="en-US" sz="650">
                <a:solidFill>
                  <a:srgbClr val="FFA657"/>
                </a:solidFill>
                <a:highlight>
                  <a:srgbClr val="121314"/>
                </a:highlight>
                <a:latin typeface="Courier New"/>
                <a:ea typeface="Courier New"/>
                <a:cs typeface="Courier New"/>
                <a:sym typeface="Courier New"/>
              </a:rPr>
              <a:t>value</a:t>
            </a:r>
            <a:r>
              <a:rPr lang="en-US" sz="650">
                <a:solidFill>
                  <a:srgbClr val="BBBEBF"/>
                </a:solidFill>
                <a:highlight>
                  <a:srgbClr val="121314"/>
                </a:highlight>
                <a:latin typeface="Courier New"/>
                <a:ea typeface="Courier New"/>
                <a:cs typeface="Courier New"/>
                <a:sym typeface="Courier New"/>
              </a:rPr>
              <a:t>)</a:t>
            </a:r>
            <a:endParaRPr sz="6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650">
                <a:solidFill>
                  <a:srgbClr val="BBBEBF"/>
                </a:solidFill>
                <a:highlight>
                  <a:srgbClr val="121314"/>
                </a:highlight>
                <a:latin typeface="Courier New"/>
                <a:ea typeface="Courier New"/>
                <a:cs typeface="Courier New"/>
                <a:sym typeface="Courier New"/>
              </a:rPr>
              <a:t>{</a:t>
            </a:r>
            <a:endParaRPr sz="6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650">
                <a:solidFill>
                  <a:srgbClr val="BBBEBF"/>
                </a:solidFill>
                <a:highlight>
                  <a:srgbClr val="121314"/>
                </a:highlight>
                <a:latin typeface="Courier New"/>
                <a:ea typeface="Courier New"/>
                <a:cs typeface="Courier New"/>
                <a:sym typeface="Courier New"/>
              </a:rPr>
              <a:t>   </a:t>
            </a:r>
            <a:r>
              <a:rPr lang="en-US" sz="650">
                <a:solidFill>
                  <a:srgbClr val="C586C0"/>
                </a:solidFill>
                <a:highlight>
                  <a:srgbClr val="121314"/>
                </a:highlight>
                <a:latin typeface="Courier New"/>
                <a:ea typeface="Courier New"/>
                <a:cs typeface="Courier New"/>
                <a:sym typeface="Courier New"/>
              </a:rPr>
              <a:t>while</a:t>
            </a:r>
            <a:r>
              <a:rPr lang="en-US" sz="650">
                <a:solidFill>
                  <a:srgbClr val="BBBEBF"/>
                </a:solidFill>
                <a:highlight>
                  <a:srgbClr val="121314"/>
                </a:highlight>
                <a:latin typeface="Courier New"/>
                <a:ea typeface="Courier New"/>
                <a:cs typeface="Courier New"/>
                <a:sym typeface="Courier New"/>
              </a:rPr>
              <a:t> (</a:t>
            </a:r>
            <a:r>
              <a:rPr lang="en-US" sz="650">
                <a:solidFill>
                  <a:srgbClr val="FFA657"/>
                </a:solidFill>
                <a:highlight>
                  <a:srgbClr val="121314"/>
                </a:highlight>
                <a:latin typeface="Courier New"/>
                <a:ea typeface="Courier New"/>
                <a:cs typeface="Courier New"/>
                <a:sym typeface="Courier New"/>
              </a:rPr>
              <a:t>node</a:t>
            </a:r>
            <a:r>
              <a:rPr lang="en-US" sz="650">
                <a:solidFill>
                  <a:srgbClr val="BBBEBF"/>
                </a:solidFill>
                <a:highlight>
                  <a:srgbClr val="121314"/>
                </a:highlight>
                <a:latin typeface="Courier New"/>
                <a:ea typeface="Courier New"/>
                <a:cs typeface="Courier New"/>
                <a:sym typeface="Courier New"/>
              </a:rPr>
              <a:t> </a:t>
            </a:r>
            <a:r>
              <a:rPr lang="en-US" sz="650">
                <a:solidFill>
                  <a:srgbClr val="D4D4D4"/>
                </a:solidFill>
                <a:highlight>
                  <a:srgbClr val="121314"/>
                </a:highlight>
                <a:latin typeface="Courier New"/>
                <a:ea typeface="Courier New"/>
                <a:cs typeface="Courier New"/>
                <a:sym typeface="Courier New"/>
              </a:rPr>
              <a:t>!=</a:t>
            </a:r>
            <a:r>
              <a:rPr lang="en-US" sz="650">
                <a:solidFill>
                  <a:srgbClr val="BBBEBF"/>
                </a:solidFill>
                <a:highlight>
                  <a:srgbClr val="121314"/>
                </a:highlight>
                <a:latin typeface="Courier New"/>
                <a:ea typeface="Courier New"/>
                <a:cs typeface="Courier New"/>
                <a:sym typeface="Courier New"/>
              </a:rPr>
              <a:t> </a:t>
            </a:r>
            <a:r>
              <a:rPr lang="en-US" sz="650">
                <a:solidFill>
                  <a:srgbClr val="569CD6"/>
                </a:solidFill>
                <a:highlight>
                  <a:srgbClr val="121314"/>
                </a:highlight>
                <a:latin typeface="Courier New"/>
                <a:ea typeface="Courier New"/>
                <a:cs typeface="Courier New"/>
                <a:sym typeface="Courier New"/>
              </a:rPr>
              <a:t>nullptr</a:t>
            </a:r>
            <a:r>
              <a:rPr lang="en-US" sz="650">
                <a:solidFill>
                  <a:srgbClr val="BBBEBF"/>
                </a:solidFill>
                <a:highlight>
                  <a:srgbClr val="121314"/>
                </a:highlight>
                <a:latin typeface="Courier New"/>
                <a:ea typeface="Courier New"/>
                <a:cs typeface="Courier New"/>
                <a:sym typeface="Courier New"/>
              </a:rPr>
              <a:t>)</a:t>
            </a:r>
            <a:endParaRPr sz="6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650">
                <a:solidFill>
                  <a:srgbClr val="BBBEBF"/>
                </a:solidFill>
                <a:highlight>
                  <a:srgbClr val="121314"/>
                </a:highlight>
                <a:latin typeface="Courier New"/>
                <a:ea typeface="Courier New"/>
                <a:cs typeface="Courier New"/>
                <a:sym typeface="Courier New"/>
              </a:rPr>
              <a:t>   </a:t>
            </a:r>
            <a:r>
              <a:rPr lang="en-US" sz="650">
                <a:solidFill>
                  <a:srgbClr val="C9D1D9"/>
                </a:solidFill>
                <a:highlight>
                  <a:srgbClr val="121314"/>
                </a:highlight>
                <a:latin typeface="Courier New"/>
                <a:ea typeface="Courier New"/>
                <a:cs typeface="Courier New"/>
                <a:sym typeface="Courier New"/>
              </a:rPr>
              <a:t>{</a:t>
            </a:r>
            <a:endParaRPr sz="6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650">
                <a:solidFill>
                  <a:srgbClr val="C9D1D9"/>
                </a:solidFill>
                <a:highlight>
                  <a:srgbClr val="121314"/>
                </a:highlight>
                <a:latin typeface="Courier New"/>
                <a:ea typeface="Courier New"/>
                <a:cs typeface="Courier New"/>
                <a:sym typeface="Courier New"/>
              </a:rPr>
              <a:t>       </a:t>
            </a:r>
            <a:r>
              <a:rPr lang="en-US" sz="650">
                <a:solidFill>
                  <a:srgbClr val="C586C0"/>
                </a:solidFill>
                <a:highlight>
                  <a:srgbClr val="121314"/>
                </a:highlight>
                <a:latin typeface="Courier New"/>
                <a:ea typeface="Courier New"/>
                <a:cs typeface="Courier New"/>
                <a:sym typeface="Courier New"/>
              </a:rPr>
              <a:t>if</a:t>
            </a:r>
            <a:r>
              <a:rPr lang="en-US" sz="650">
                <a:solidFill>
                  <a:srgbClr val="C9D1D9"/>
                </a:solidFill>
                <a:highlight>
                  <a:srgbClr val="121314"/>
                </a:highlight>
                <a:latin typeface="Courier New"/>
                <a:ea typeface="Courier New"/>
                <a:cs typeface="Courier New"/>
                <a:sym typeface="Courier New"/>
              </a:rPr>
              <a:t> (</a:t>
            </a:r>
            <a:r>
              <a:rPr lang="en-US" sz="650">
                <a:solidFill>
                  <a:srgbClr val="FFA657"/>
                </a:solidFill>
                <a:highlight>
                  <a:srgbClr val="121314"/>
                </a:highlight>
                <a:latin typeface="Courier New"/>
                <a:ea typeface="Courier New"/>
                <a:cs typeface="Courier New"/>
                <a:sym typeface="Courier New"/>
              </a:rPr>
              <a:t>value</a:t>
            </a:r>
            <a:r>
              <a:rPr lang="en-US" sz="650">
                <a:solidFill>
                  <a:srgbClr val="C9D1D9"/>
                </a:solidFill>
                <a:highlight>
                  <a:srgbClr val="121314"/>
                </a:highlight>
                <a:latin typeface="Courier New"/>
                <a:ea typeface="Courier New"/>
                <a:cs typeface="Courier New"/>
                <a:sym typeface="Courier New"/>
              </a:rPr>
              <a:t> </a:t>
            </a:r>
            <a:r>
              <a:rPr lang="en-US" sz="650">
                <a:solidFill>
                  <a:srgbClr val="D4D4D4"/>
                </a:solidFill>
                <a:highlight>
                  <a:srgbClr val="121314"/>
                </a:highlight>
                <a:latin typeface="Courier New"/>
                <a:ea typeface="Courier New"/>
                <a:cs typeface="Courier New"/>
                <a:sym typeface="Courier New"/>
              </a:rPr>
              <a:t>&lt;</a:t>
            </a:r>
            <a:r>
              <a:rPr lang="en-US" sz="650">
                <a:solidFill>
                  <a:srgbClr val="C9D1D9"/>
                </a:solidFill>
                <a:highlight>
                  <a:srgbClr val="121314"/>
                </a:highlight>
                <a:latin typeface="Courier New"/>
                <a:ea typeface="Courier New"/>
                <a:cs typeface="Courier New"/>
                <a:sym typeface="Courier New"/>
              </a:rPr>
              <a:t> </a:t>
            </a:r>
            <a:r>
              <a:rPr lang="en-US" sz="650">
                <a:solidFill>
                  <a:srgbClr val="FFA657"/>
                </a:solidFill>
                <a:highlight>
                  <a:srgbClr val="121314"/>
                </a:highlight>
                <a:latin typeface="Courier New"/>
                <a:ea typeface="Courier New"/>
                <a:cs typeface="Courier New"/>
                <a:sym typeface="Courier New"/>
              </a:rPr>
              <a:t>node</a:t>
            </a:r>
            <a:r>
              <a:rPr lang="en-US" sz="650">
                <a:solidFill>
                  <a:srgbClr val="C9D1D9"/>
                </a:solidFill>
                <a:highlight>
                  <a:srgbClr val="121314"/>
                </a:highlight>
                <a:latin typeface="Courier New"/>
                <a:ea typeface="Courier New"/>
                <a:cs typeface="Courier New"/>
                <a:sym typeface="Courier New"/>
              </a:rPr>
              <a:t>-&gt;element)</a:t>
            </a:r>
            <a:endParaRPr sz="6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650">
                <a:solidFill>
                  <a:srgbClr val="C9D1D9"/>
                </a:solidFill>
                <a:highlight>
                  <a:srgbClr val="121314"/>
                </a:highlight>
                <a:latin typeface="Courier New"/>
                <a:ea typeface="Courier New"/>
                <a:cs typeface="Courier New"/>
                <a:sym typeface="Courier New"/>
              </a:rPr>
              <a:t>       {</a:t>
            </a:r>
            <a:endParaRPr sz="6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650">
                <a:solidFill>
                  <a:srgbClr val="C9D1D9"/>
                </a:solidFill>
                <a:highlight>
                  <a:srgbClr val="121314"/>
                </a:highlight>
                <a:latin typeface="Courier New"/>
                <a:ea typeface="Courier New"/>
                <a:cs typeface="Courier New"/>
                <a:sym typeface="Courier New"/>
              </a:rPr>
              <a:t>           </a:t>
            </a:r>
            <a:r>
              <a:rPr lang="en-US" sz="650">
                <a:solidFill>
                  <a:srgbClr val="FFA657"/>
                </a:solidFill>
                <a:highlight>
                  <a:srgbClr val="121314"/>
                </a:highlight>
                <a:latin typeface="Courier New"/>
                <a:ea typeface="Courier New"/>
                <a:cs typeface="Courier New"/>
                <a:sym typeface="Courier New"/>
              </a:rPr>
              <a:t>node</a:t>
            </a:r>
            <a:r>
              <a:rPr lang="en-US" sz="650">
                <a:solidFill>
                  <a:srgbClr val="C9D1D9"/>
                </a:solidFill>
                <a:highlight>
                  <a:srgbClr val="121314"/>
                </a:highlight>
                <a:latin typeface="Courier New"/>
                <a:ea typeface="Courier New"/>
                <a:cs typeface="Courier New"/>
                <a:sym typeface="Courier New"/>
              </a:rPr>
              <a:t> </a:t>
            </a:r>
            <a:r>
              <a:rPr lang="en-US" sz="650">
                <a:solidFill>
                  <a:srgbClr val="D4D4D4"/>
                </a:solidFill>
                <a:highlight>
                  <a:srgbClr val="121314"/>
                </a:highlight>
                <a:latin typeface="Courier New"/>
                <a:ea typeface="Courier New"/>
                <a:cs typeface="Courier New"/>
                <a:sym typeface="Courier New"/>
              </a:rPr>
              <a:t>=</a:t>
            </a:r>
            <a:r>
              <a:rPr lang="en-US" sz="650">
                <a:solidFill>
                  <a:srgbClr val="C9D1D9"/>
                </a:solidFill>
                <a:highlight>
                  <a:srgbClr val="121314"/>
                </a:highlight>
                <a:latin typeface="Courier New"/>
                <a:ea typeface="Courier New"/>
                <a:cs typeface="Courier New"/>
                <a:sym typeface="Courier New"/>
              </a:rPr>
              <a:t> node-&gt;left;</a:t>
            </a:r>
            <a:endParaRPr sz="6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650">
                <a:solidFill>
                  <a:srgbClr val="C9D1D9"/>
                </a:solidFill>
                <a:highlight>
                  <a:srgbClr val="121314"/>
                </a:highlight>
                <a:latin typeface="Courier New"/>
                <a:ea typeface="Courier New"/>
                <a:cs typeface="Courier New"/>
                <a:sym typeface="Courier New"/>
              </a:rPr>
              <a:t>       }</a:t>
            </a:r>
            <a:endParaRPr sz="6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650">
                <a:solidFill>
                  <a:srgbClr val="C9D1D9"/>
                </a:solidFill>
                <a:highlight>
                  <a:srgbClr val="121314"/>
                </a:highlight>
                <a:latin typeface="Courier New"/>
                <a:ea typeface="Courier New"/>
                <a:cs typeface="Courier New"/>
                <a:sym typeface="Courier New"/>
              </a:rPr>
              <a:t>       </a:t>
            </a:r>
            <a:r>
              <a:rPr lang="en-US" sz="650">
                <a:solidFill>
                  <a:srgbClr val="C586C0"/>
                </a:solidFill>
                <a:highlight>
                  <a:srgbClr val="121314"/>
                </a:highlight>
                <a:latin typeface="Courier New"/>
                <a:ea typeface="Courier New"/>
                <a:cs typeface="Courier New"/>
                <a:sym typeface="Courier New"/>
              </a:rPr>
              <a:t>else</a:t>
            </a:r>
            <a:r>
              <a:rPr lang="en-US" sz="650">
                <a:solidFill>
                  <a:srgbClr val="C9D1D9"/>
                </a:solidFill>
                <a:highlight>
                  <a:srgbClr val="121314"/>
                </a:highlight>
                <a:latin typeface="Courier New"/>
                <a:ea typeface="Courier New"/>
                <a:cs typeface="Courier New"/>
                <a:sym typeface="Courier New"/>
              </a:rPr>
              <a:t> </a:t>
            </a:r>
            <a:r>
              <a:rPr lang="en-US" sz="650">
                <a:solidFill>
                  <a:srgbClr val="C586C0"/>
                </a:solidFill>
                <a:highlight>
                  <a:srgbClr val="121314"/>
                </a:highlight>
                <a:latin typeface="Courier New"/>
                <a:ea typeface="Courier New"/>
                <a:cs typeface="Courier New"/>
                <a:sym typeface="Courier New"/>
              </a:rPr>
              <a:t>if</a:t>
            </a:r>
            <a:r>
              <a:rPr lang="en-US" sz="650">
                <a:solidFill>
                  <a:srgbClr val="C9D1D9"/>
                </a:solidFill>
                <a:highlight>
                  <a:srgbClr val="121314"/>
                </a:highlight>
                <a:latin typeface="Courier New"/>
                <a:ea typeface="Courier New"/>
                <a:cs typeface="Courier New"/>
                <a:sym typeface="Courier New"/>
              </a:rPr>
              <a:t> (</a:t>
            </a:r>
            <a:r>
              <a:rPr lang="en-US" sz="650">
                <a:solidFill>
                  <a:srgbClr val="FFA657"/>
                </a:solidFill>
                <a:highlight>
                  <a:srgbClr val="121314"/>
                </a:highlight>
                <a:latin typeface="Courier New"/>
                <a:ea typeface="Courier New"/>
                <a:cs typeface="Courier New"/>
                <a:sym typeface="Courier New"/>
              </a:rPr>
              <a:t>node</a:t>
            </a:r>
            <a:r>
              <a:rPr lang="en-US" sz="650">
                <a:solidFill>
                  <a:srgbClr val="C9D1D9"/>
                </a:solidFill>
                <a:highlight>
                  <a:srgbClr val="121314"/>
                </a:highlight>
                <a:latin typeface="Courier New"/>
                <a:ea typeface="Courier New"/>
                <a:cs typeface="Courier New"/>
                <a:sym typeface="Courier New"/>
              </a:rPr>
              <a:t>-&gt;element </a:t>
            </a:r>
            <a:r>
              <a:rPr lang="en-US" sz="650">
                <a:solidFill>
                  <a:srgbClr val="D4D4D4"/>
                </a:solidFill>
                <a:highlight>
                  <a:srgbClr val="121314"/>
                </a:highlight>
                <a:latin typeface="Courier New"/>
                <a:ea typeface="Courier New"/>
                <a:cs typeface="Courier New"/>
                <a:sym typeface="Courier New"/>
              </a:rPr>
              <a:t>&lt;</a:t>
            </a:r>
            <a:r>
              <a:rPr lang="en-US" sz="650">
                <a:solidFill>
                  <a:srgbClr val="C9D1D9"/>
                </a:solidFill>
                <a:highlight>
                  <a:srgbClr val="121314"/>
                </a:highlight>
                <a:latin typeface="Courier New"/>
                <a:ea typeface="Courier New"/>
                <a:cs typeface="Courier New"/>
                <a:sym typeface="Courier New"/>
              </a:rPr>
              <a:t> </a:t>
            </a:r>
            <a:r>
              <a:rPr lang="en-US" sz="650">
                <a:solidFill>
                  <a:srgbClr val="FFA657"/>
                </a:solidFill>
                <a:highlight>
                  <a:srgbClr val="121314"/>
                </a:highlight>
                <a:latin typeface="Courier New"/>
                <a:ea typeface="Courier New"/>
                <a:cs typeface="Courier New"/>
                <a:sym typeface="Courier New"/>
              </a:rPr>
              <a:t>value</a:t>
            </a:r>
            <a:r>
              <a:rPr lang="en-US" sz="650">
                <a:solidFill>
                  <a:srgbClr val="C9D1D9"/>
                </a:solidFill>
                <a:highlight>
                  <a:srgbClr val="121314"/>
                </a:highlight>
                <a:latin typeface="Courier New"/>
                <a:ea typeface="Courier New"/>
                <a:cs typeface="Courier New"/>
                <a:sym typeface="Courier New"/>
              </a:rPr>
              <a:t>)</a:t>
            </a:r>
            <a:endParaRPr sz="6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650">
                <a:solidFill>
                  <a:srgbClr val="C9D1D9"/>
                </a:solidFill>
                <a:highlight>
                  <a:srgbClr val="121314"/>
                </a:highlight>
                <a:latin typeface="Courier New"/>
                <a:ea typeface="Courier New"/>
                <a:cs typeface="Courier New"/>
                <a:sym typeface="Courier New"/>
              </a:rPr>
              <a:t>       {</a:t>
            </a:r>
            <a:endParaRPr sz="6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650">
                <a:solidFill>
                  <a:srgbClr val="C9D1D9"/>
                </a:solidFill>
                <a:highlight>
                  <a:srgbClr val="121314"/>
                </a:highlight>
                <a:latin typeface="Courier New"/>
                <a:ea typeface="Courier New"/>
                <a:cs typeface="Courier New"/>
                <a:sym typeface="Courier New"/>
              </a:rPr>
              <a:t>           </a:t>
            </a:r>
            <a:r>
              <a:rPr lang="en-US" sz="650">
                <a:solidFill>
                  <a:srgbClr val="FFA657"/>
                </a:solidFill>
                <a:highlight>
                  <a:srgbClr val="121314"/>
                </a:highlight>
                <a:latin typeface="Courier New"/>
                <a:ea typeface="Courier New"/>
                <a:cs typeface="Courier New"/>
                <a:sym typeface="Courier New"/>
              </a:rPr>
              <a:t>node</a:t>
            </a:r>
            <a:r>
              <a:rPr lang="en-US" sz="650">
                <a:solidFill>
                  <a:srgbClr val="C9D1D9"/>
                </a:solidFill>
                <a:highlight>
                  <a:srgbClr val="121314"/>
                </a:highlight>
                <a:latin typeface="Courier New"/>
                <a:ea typeface="Courier New"/>
                <a:cs typeface="Courier New"/>
                <a:sym typeface="Courier New"/>
              </a:rPr>
              <a:t> </a:t>
            </a:r>
            <a:r>
              <a:rPr lang="en-US" sz="650">
                <a:solidFill>
                  <a:srgbClr val="D4D4D4"/>
                </a:solidFill>
                <a:highlight>
                  <a:srgbClr val="121314"/>
                </a:highlight>
                <a:latin typeface="Courier New"/>
                <a:ea typeface="Courier New"/>
                <a:cs typeface="Courier New"/>
                <a:sym typeface="Courier New"/>
              </a:rPr>
              <a:t>=</a:t>
            </a:r>
            <a:r>
              <a:rPr lang="en-US" sz="650">
                <a:solidFill>
                  <a:srgbClr val="C9D1D9"/>
                </a:solidFill>
                <a:highlight>
                  <a:srgbClr val="121314"/>
                </a:highlight>
                <a:latin typeface="Courier New"/>
                <a:ea typeface="Courier New"/>
                <a:cs typeface="Courier New"/>
                <a:sym typeface="Courier New"/>
              </a:rPr>
              <a:t> node-&gt;right;</a:t>
            </a:r>
            <a:endParaRPr sz="6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650">
                <a:solidFill>
                  <a:srgbClr val="C9D1D9"/>
                </a:solidFill>
                <a:highlight>
                  <a:srgbClr val="121314"/>
                </a:highlight>
                <a:latin typeface="Courier New"/>
                <a:ea typeface="Courier New"/>
                <a:cs typeface="Courier New"/>
                <a:sym typeface="Courier New"/>
              </a:rPr>
              <a:t>       }</a:t>
            </a:r>
            <a:endParaRPr sz="6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650">
                <a:solidFill>
                  <a:srgbClr val="C9D1D9"/>
                </a:solidFill>
                <a:highlight>
                  <a:srgbClr val="121314"/>
                </a:highlight>
                <a:latin typeface="Courier New"/>
                <a:ea typeface="Courier New"/>
                <a:cs typeface="Courier New"/>
                <a:sym typeface="Courier New"/>
              </a:rPr>
              <a:t>       </a:t>
            </a:r>
            <a:r>
              <a:rPr lang="en-US" sz="650">
                <a:solidFill>
                  <a:srgbClr val="C586C0"/>
                </a:solidFill>
                <a:highlight>
                  <a:srgbClr val="121314"/>
                </a:highlight>
                <a:latin typeface="Courier New"/>
                <a:ea typeface="Courier New"/>
                <a:cs typeface="Courier New"/>
                <a:sym typeface="Courier New"/>
              </a:rPr>
              <a:t>else</a:t>
            </a:r>
            <a:endParaRPr sz="650">
              <a:solidFill>
                <a:srgbClr val="C586C0"/>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650">
                <a:solidFill>
                  <a:srgbClr val="C9D1D9"/>
                </a:solidFill>
                <a:highlight>
                  <a:srgbClr val="121314"/>
                </a:highlight>
                <a:latin typeface="Courier New"/>
                <a:ea typeface="Courier New"/>
                <a:cs typeface="Courier New"/>
                <a:sym typeface="Courier New"/>
              </a:rPr>
              <a:t>       {</a:t>
            </a:r>
            <a:endParaRPr sz="6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650">
                <a:solidFill>
                  <a:srgbClr val="C9D1D9"/>
                </a:solidFill>
                <a:highlight>
                  <a:srgbClr val="121314"/>
                </a:highlight>
                <a:latin typeface="Courier New"/>
                <a:ea typeface="Courier New"/>
                <a:cs typeface="Courier New"/>
                <a:sym typeface="Courier New"/>
              </a:rPr>
              <a:t>           </a:t>
            </a:r>
            <a:r>
              <a:rPr lang="en-US" sz="650">
                <a:solidFill>
                  <a:srgbClr val="C586C0"/>
                </a:solidFill>
                <a:highlight>
                  <a:srgbClr val="121314"/>
                </a:highlight>
                <a:latin typeface="Courier New"/>
                <a:ea typeface="Courier New"/>
                <a:cs typeface="Courier New"/>
                <a:sym typeface="Courier New"/>
              </a:rPr>
              <a:t>return</a:t>
            </a:r>
            <a:r>
              <a:rPr lang="en-US" sz="650">
                <a:solidFill>
                  <a:srgbClr val="C9D1D9"/>
                </a:solidFill>
                <a:highlight>
                  <a:srgbClr val="121314"/>
                </a:highlight>
                <a:latin typeface="Courier New"/>
                <a:ea typeface="Courier New"/>
                <a:cs typeface="Courier New"/>
                <a:sym typeface="Courier New"/>
              </a:rPr>
              <a:t> node;</a:t>
            </a:r>
            <a:endParaRPr sz="6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650">
                <a:solidFill>
                  <a:srgbClr val="C9D1D9"/>
                </a:solidFill>
                <a:highlight>
                  <a:srgbClr val="121314"/>
                </a:highlight>
                <a:latin typeface="Courier New"/>
                <a:ea typeface="Courier New"/>
                <a:cs typeface="Courier New"/>
                <a:sym typeface="Courier New"/>
              </a:rPr>
              <a:t>       }</a:t>
            </a:r>
            <a:endParaRPr sz="6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650">
                <a:solidFill>
                  <a:srgbClr val="C9D1D9"/>
                </a:solidFill>
                <a:highlight>
                  <a:srgbClr val="121314"/>
                </a:highlight>
                <a:latin typeface="Courier New"/>
                <a:ea typeface="Courier New"/>
                <a:cs typeface="Courier New"/>
                <a:sym typeface="Courier New"/>
              </a:rPr>
              <a:t>   }</a:t>
            </a:r>
            <a:endParaRPr sz="6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6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650">
                <a:solidFill>
                  <a:srgbClr val="BBBEBF"/>
                </a:solidFill>
                <a:highlight>
                  <a:srgbClr val="121314"/>
                </a:highlight>
                <a:latin typeface="Courier New"/>
                <a:ea typeface="Courier New"/>
                <a:cs typeface="Courier New"/>
                <a:sym typeface="Courier New"/>
              </a:rPr>
              <a:t>   </a:t>
            </a:r>
            <a:r>
              <a:rPr lang="en-US" sz="650">
                <a:solidFill>
                  <a:srgbClr val="C586C0"/>
                </a:solidFill>
                <a:highlight>
                  <a:srgbClr val="121314"/>
                </a:highlight>
                <a:latin typeface="Courier New"/>
                <a:ea typeface="Courier New"/>
                <a:cs typeface="Courier New"/>
                <a:sym typeface="Courier New"/>
              </a:rPr>
              <a:t>return</a:t>
            </a:r>
            <a:r>
              <a:rPr lang="en-US" sz="650">
                <a:solidFill>
                  <a:srgbClr val="BBBEBF"/>
                </a:solidFill>
                <a:highlight>
                  <a:srgbClr val="121314"/>
                </a:highlight>
                <a:latin typeface="Courier New"/>
                <a:ea typeface="Courier New"/>
                <a:cs typeface="Courier New"/>
                <a:sym typeface="Courier New"/>
              </a:rPr>
              <a:t> </a:t>
            </a:r>
            <a:r>
              <a:rPr lang="en-US" sz="650">
                <a:solidFill>
                  <a:srgbClr val="569CD6"/>
                </a:solidFill>
                <a:highlight>
                  <a:srgbClr val="121314"/>
                </a:highlight>
                <a:latin typeface="Courier New"/>
                <a:ea typeface="Courier New"/>
                <a:cs typeface="Courier New"/>
                <a:sym typeface="Courier New"/>
              </a:rPr>
              <a:t>nullptr</a:t>
            </a:r>
            <a:r>
              <a:rPr lang="en-US" sz="650">
                <a:solidFill>
                  <a:srgbClr val="BBBEBF"/>
                </a:solidFill>
                <a:highlight>
                  <a:srgbClr val="121314"/>
                </a:highlight>
                <a:latin typeface="Courier New"/>
                <a:ea typeface="Courier New"/>
                <a:cs typeface="Courier New"/>
                <a:sym typeface="Courier New"/>
              </a:rPr>
              <a:t>;</a:t>
            </a:r>
            <a:endParaRPr sz="6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650">
                <a:solidFill>
                  <a:srgbClr val="BBBEBF"/>
                </a:solidFill>
                <a:highlight>
                  <a:srgbClr val="121314"/>
                </a:highlight>
                <a:latin typeface="Courier New"/>
                <a:ea typeface="Courier New"/>
                <a:cs typeface="Courier New"/>
                <a:sym typeface="Courier New"/>
              </a:rPr>
              <a:t>}</a:t>
            </a:r>
            <a:endParaRPr sz="650">
              <a:solidFill>
                <a:srgbClr val="BBBEBF"/>
              </a:solidFill>
              <a:highlight>
                <a:srgbClr val="121314"/>
              </a:highlight>
              <a:latin typeface="Courier New"/>
              <a:ea typeface="Courier New"/>
              <a:cs typeface="Courier New"/>
              <a:sym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F1A"/>
        </a:solidFill>
      </p:bgPr>
    </p:bg>
    <p:spTree>
      <p:nvGrpSpPr>
        <p:cNvPr id="207" name="Shape 207"/>
        <p:cNvGrpSpPr/>
        <p:nvPr/>
      </p:nvGrpSpPr>
      <p:grpSpPr>
        <a:xfrm>
          <a:off x="0" y="0"/>
          <a:ext cx="0" cy="0"/>
          <a:chOff x="0" y="0"/>
          <a:chExt cx="0" cy="0"/>
        </a:xfrm>
      </p:grpSpPr>
      <p:sp>
        <p:nvSpPr>
          <p:cNvPr id="208" name="Google Shape;208;g39a882fa791_0_7"/>
          <p:cNvSpPr/>
          <p:nvPr/>
        </p:nvSpPr>
        <p:spPr>
          <a:xfrm>
            <a:off x="0" y="0"/>
            <a:ext cx="54900"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g39a882fa791_0_7"/>
          <p:cNvSpPr/>
          <p:nvPr/>
        </p:nvSpPr>
        <p:spPr>
          <a:xfrm>
            <a:off x="182880" y="137160"/>
            <a:ext cx="8778300" cy="621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2600"/>
              <a:buFont typeface="Trebuchet MS"/>
              <a:buNone/>
            </a:pPr>
            <a:r>
              <a:rPr b="1" i="0" lang="en-US" sz="2600" u="none" cap="none" strike="noStrike">
                <a:solidFill>
                  <a:srgbClr val="F0F4FF"/>
                </a:solidFill>
                <a:latin typeface="Trebuchet MS"/>
                <a:ea typeface="Trebuchet MS"/>
                <a:cs typeface="Trebuchet MS"/>
                <a:sym typeface="Trebuchet MS"/>
              </a:rPr>
              <a:t>Search e Insert en C++</a:t>
            </a:r>
            <a:endParaRPr b="0" i="0" sz="2600" u="none" cap="none" strike="noStrike">
              <a:solidFill>
                <a:schemeClr val="dk1"/>
              </a:solidFill>
              <a:latin typeface="Calibri"/>
              <a:ea typeface="Calibri"/>
              <a:cs typeface="Calibri"/>
              <a:sym typeface="Calibri"/>
            </a:endParaRPr>
          </a:p>
        </p:txBody>
      </p:sp>
      <p:sp>
        <p:nvSpPr>
          <p:cNvPr id="210" name="Google Shape;210;g39a882fa791_0_7"/>
          <p:cNvSpPr/>
          <p:nvPr/>
        </p:nvSpPr>
        <p:spPr>
          <a:xfrm>
            <a:off x="182880" y="749808"/>
            <a:ext cx="8778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1200"/>
              <a:buFont typeface="Calibri"/>
              <a:buNone/>
            </a:pPr>
            <a:r>
              <a:rPr b="0" i="1" lang="en-US" sz="1200" u="none" cap="none" strike="noStrike">
                <a:solidFill>
                  <a:srgbClr val="8892A4"/>
                </a:solidFill>
                <a:latin typeface="Calibri"/>
                <a:ea typeface="Calibri"/>
                <a:cs typeface="Calibri"/>
                <a:sym typeface="Calibri"/>
              </a:rPr>
              <a:t>Implementación recursiva e iterativa</a:t>
            </a:r>
            <a:endParaRPr b="0" i="0" sz="1200" u="none" cap="none" strike="noStrike">
              <a:solidFill>
                <a:schemeClr val="dk1"/>
              </a:solidFill>
              <a:latin typeface="Calibri"/>
              <a:ea typeface="Calibri"/>
              <a:cs typeface="Calibri"/>
              <a:sym typeface="Calibri"/>
            </a:endParaRPr>
          </a:p>
        </p:txBody>
      </p:sp>
      <p:sp>
        <p:nvSpPr>
          <p:cNvPr id="211" name="Google Shape;211;g39a882fa791_0_7"/>
          <p:cNvSpPr/>
          <p:nvPr/>
        </p:nvSpPr>
        <p:spPr>
          <a:xfrm>
            <a:off x="182880" y="1024128"/>
            <a:ext cx="1463100" cy="273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g39a882fa791_0_7"/>
          <p:cNvSpPr/>
          <p:nvPr/>
        </p:nvSpPr>
        <p:spPr>
          <a:xfrm>
            <a:off x="137140" y="1188725"/>
            <a:ext cx="8778300" cy="3657600"/>
          </a:xfrm>
          <a:prstGeom prst="rect">
            <a:avLst/>
          </a:prstGeom>
          <a:solidFill>
            <a:srgbClr val="111526"/>
          </a:solidFill>
          <a:ln cap="flat" cmpd="sng" w="9525">
            <a:solidFill>
              <a:srgbClr val="0891B2"/>
            </a:solidFill>
            <a:prstDash val="solid"/>
            <a:round/>
            <a:headEnd len="sm" w="sm" type="none"/>
            <a:tailEnd len="sm" w="sm" type="none"/>
          </a:ln>
          <a:effectLst>
            <a:outerShdw blurRad="101600" rotWithShape="0" algn="bl" dir="8100000" dist="381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g39a882fa791_0_7"/>
          <p:cNvSpPr/>
          <p:nvPr/>
        </p:nvSpPr>
        <p:spPr>
          <a:xfrm>
            <a:off x="274320" y="1344168"/>
            <a:ext cx="1005900" cy="255900"/>
          </a:xfrm>
          <a:prstGeom prst="roundRect">
            <a:avLst>
              <a:gd fmla="val 21429" name="adj"/>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g39a882fa791_0_7"/>
          <p:cNvSpPr/>
          <p:nvPr/>
        </p:nvSpPr>
        <p:spPr>
          <a:xfrm>
            <a:off x="274320" y="1344168"/>
            <a:ext cx="10059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lang="en-US" sz="800">
                <a:solidFill>
                  <a:srgbClr val="FFFFFF"/>
                </a:solidFill>
                <a:latin typeface="Calibri"/>
                <a:ea typeface="Calibri"/>
                <a:cs typeface="Calibri"/>
                <a:sym typeface="Calibri"/>
              </a:rPr>
              <a:t>INSERT</a:t>
            </a:r>
            <a:endParaRPr b="0" i="0" sz="800" u="none" cap="none" strike="noStrike">
              <a:solidFill>
                <a:schemeClr val="dk1"/>
              </a:solidFill>
              <a:latin typeface="Calibri"/>
              <a:ea typeface="Calibri"/>
              <a:cs typeface="Calibri"/>
              <a:sym typeface="Calibri"/>
            </a:endParaRPr>
          </a:p>
        </p:txBody>
      </p:sp>
      <p:sp>
        <p:nvSpPr>
          <p:cNvPr id="215" name="Google Shape;215;g39a882fa791_0_7"/>
          <p:cNvSpPr/>
          <p:nvPr/>
        </p:nvSpPr>
        <p:spPr>
          <a:xfrm>
            <a:off x="274320" y="3941064"/>
            <a:ext cx="40233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p:txBody>
      </p:sp>
      <p:sp>
        <p:nvSpPr>
          <p:cNvPr id="216" name="Google Shape;216;g39a882fa791_0_7"/>
          <p:cNvSpPr/>
          <p:nvPr/>
        </p:nvSpPr>
        <p:spPr>
          <a:xfrm>
            <a:off x="8503920" y="4846320"/>
            <a:ext cx="5487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sp>
        <p:nvSpPr>
          <p:cNvPr id="217" name="Google Shape;217;g39a882fa791_0_7"/>
          <p:cNvSpPr txBox="1"/>
          <p:nvPr/>
        </p:nvSpPr>
        <p:spPr>
          <a:xfrm>
            <a:off x="182850" y="1654175"/>
            <a:ext cx="8778300" cy="32721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US" sz="650">
                <a:solidFill>
                  <a:srgbClr val="FF7B72"/>
                </a:solidFill>
                <a:highlight>
                  <a:srgbClr val="121314"/>
                </a:highlight>
                <a:latin typeface="Courier New"/>
                <a:ea typeface="Courier New"/>
                <a:cs typeface="Courier New"/>
                <a:sym typeface="Courier New"/>
              </a:rPr>
              <a:t>template</a:t>
            </a:r>
            <a:r>
              <a:rPr lang="en-US" sz="650">
                <a:solidFill>
                  <a:srgbClr val="BBBEBF"/>
                </a:solidFill>
                <a:highlight>
                  <a:srgbClr val="121314"/>
                </a:highlight>
                <a:latin typeface="Courier New"/>
                <a:ea typeface="Courier New"/>
                <a:cs typeface="Courier New"/>
                <a:sym typeface="Courier New"/>
              </a:rPr>
              <a:t>&lt;</a:t>
            </a:r>
            <a:r>
              <a:rPr lang="en-US" sz="650">
                <a:solidFill>
                  <a:srgbClr val="FF7B72"/>
                </a:solidFill>
                <a:highlight>
                  <a:srgbClr val="121314"/>
                </a:highlight>
                <a:latin typeface="Courier New"/>
                <a:ea typeface="Courier New"/>
                <a:cs typeface="Courier New"/>
                <a:sym typeface="Courier New"/>
              </a:rPr>
              <a:t>typename</a:t>
            </a:r>
            <a:r>
              <a:rPr lang="en-US" sz="650">
                <a:solidFill>
                  <a:srgbClr val="BBBEBF"/>
                </a:solidFill>
                <a:highlight>
                  <a:srgbClr val="121314"/>
                </a:highlight>
                <a:latin typeface="Courier New"/>
                <a:ea typeface="Courier New"/>
                <a:cs typeface="Courier New"/>
                <a:sym typeface="Courier New"/>
              </a:rPr>
              <a:t> </a:t>
            </a:r>
            <a:r>
              <a:rPr lang="en-US" sz="650">
                <a:solidFill>
                  <a:srgbClr val="4EC9B0"/>
                </a:solidFill>
                <a:highlight>
                  <a:srgbClr val="121314"/>
                </a:highlight>
                <a:latin typeface="Courier New"/>
                <a:ea typeface="Courier New"/>
                <a:cs typeface="Courier New"/>
                <a:sym typeface="Courier New"/>
              </a:rPr>
              <a:t>Comparable</a:t>
            </a:r>
            <a:r>
              <a:rPr lang="en-US" sz="650">
                <a:solidFill>
                  <a:srgbClr val="BBBEBF"/>
                </a:solidFill>
                <a:highlight>
                  <a:srgbClr val="121314"/>
                </a:highlight>
                <a:latin typeface="Courier New"/>
                <a:ea typeface="Courier New"/>
                <a:cs typeface="Courier New"/>
                <a:sym typeface="Courier New"/>
              </a:rPr>
              <a:t>&gt;</a:t>
            </a:r>
            <a:endParaRPr sz="6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650">
                <a:solidFill>
                  <a:srgbClr val="FF7B72"/>
                </a:solidFill>
                <a:highlight>
                  <a:srgbClr val="121314"/>
                </a:highlight>
                <a:latin typeface="Courier New"/>
                <a:ea typeface="Courier New"/>
                <a:cs typeface="Courier New"/>
                <a:sym typeface="Courier New"/>
              </a:rPr>
              <a:t>void</a:t>
            </a:r>
            <a:r>
              <a:rPr lang="en-US" sz="650">
                <a:solidFill>
                  <a:srgbClr val="BBBEBF"/>
                </a:solidFill>
                <a:highlight>
                  <a:srgbClr val="121314"/>
                </a:highlight>
                <a:latin typeface="Courier New"/>
                <a:ea typeface="Courier New"/>
                <a:cs typeface="Courier New"/>
                <a:sym typeface="Courier New"/>
              </a:rPr>
              <a:t> </a:t>
            </a:r>
            <a:r>
              <a:rPr lang="en-US" sz="650">
                <a:solidFill>
                  <a:srgbClr val="D2A8FF"/>
                </a:solidFill>
                <a:highlight>
                  <a:srgbClr val="121314"/>
                </a:highlight>
                <a:latin typeface="Courier New"/>
                <a:ea typeface="Courier New"/>
                <a:cs typeface="Courier New"/>
                <a:sym typeface="Courier New"/>
              </a:rPr>
              <a:t>insert</a:t>
            </a:r>
            <a:r>
              <a:rPr lang="en-US" sz="650">
                <a:solidFill>
                  <a:srgbClr val="BBBEBF"/>
                </a:solidFill>
                <a:highlight>
                  <a:srgbClr val="121314"/>
                </a:highlight>
                <a:latin typeface="Courier New"/>
                <a:ea typeface="Courier New"/>
                <a:cs typeface="Courier New"/>
                <a:sym typeface="Courier New"/>
              </a:rPr>
              <a:t>(</a:t>
            </a:r>
            <a:r>
              <a:rPr lang="en-US" sz="650">
                <a:solidFill>
                  <a:srgbClr val="569CD6"/>
                </a:solidFill>
                <a:highlight>
                  <a:srgbClr val="121314"/>
                </a:highlight>
                <a:latin typeface="Courier New"/>
                <a:ea typeface="Courier New"/>
                <a:cs typeface="Courier New"/>
                <a:sym typeface="Courier New"/>
              </a:rPr>
              <a:t>const</a:t>
            </a:r>
            <a:r>
              <a:rPr lang="en-US" sz="650">
                <a:solidFill>
                  <a:srgbClr val="BBBEBF"/>
                </a:solidFill>
                <a:highlight>
                  <a:srgbClr val="121314"/>
                </a:highlight>
                <a:latin typeface="Courier New"/>
                <a:ea typeface="Courier New"/>
                <a:cs typeface="Courier New"/>
                <a:sym typeface="Courier New"/>
              </a:rPr>
              <a:t> </a:t>
            </a:r>
            <a:r>
              <a:rPr lang="en-US" sz="650">
                <a:solidFill>
                  <a:srgbClr val="4EC9B0"/>
                </a:solidFill>
                <a:highlight>
                  <a:srgbClr val="121314"/>
                </a:highlight>
                <a:latin typeface="Courier New"/>
                <a:ea typeface="Courier New"/>
                <a:cs typeface="Courier New"/>
                <a:sym typeface="Courier New"/>
              </a:rPr>
              <a:t>Comparable</a:t>
            </a:r>
            <a:r>
              <a:rPr lang="en-US" sz="650">
                <a:solidFill>
                  <a:srgbClr val="569CD6"/>
                </a:solidFill>
                <a:highlight>
                  <a:srgbClr val="121314"/>
                </a:highlight>
                <a:latin typeface="Courier New"/>
                <a:ea typeface="Courier New"/>
                <a:cs typeface="Courier New"/>
                <a:sym typeface="Courier New"/>
              </a:rPr>
              <a:t>&amp;</a:t>
            </a:r>
            <a:r>
              <a:rPr lang="en-US" sz="650">
                <a:solidFill>
                  <a:srgbClr val="BBBEBF"/>
                </a:solidFill>
                <a:highlight>
                  <a:srgbClr val="121314"/>
                </a:highlight>
                <a:latin typeface="Courier New"/>
                <a:ea typeface="Courier New"/>
                <a:cs typeface="Courier New"/>
                <a:sym typeface="Courier New"/>
              </a:rPr>
              <a:t> </a:t>
            </a:r>
            <a:r>
              <a:rPr lang="en-US" sz="650">
                <a:solidFill>
                  <a:srgbClr val="FFA657"/>
                </a:solidFill>
                <a:highlight>
                  <a:srgbClr val="121314"/>
                </a:highlight>
                <a:latin typeface="Courier New"/>
                <a:ea typeface="Courier New"/>
                <a:cs typeface="Courier New"/>
                <a:sym typeface="Courier New"/>
              </a:rPr>
              <a:t>value</a:t>
            </a:r>
            <a:r>
              <a:rPr lang="en-US" sz="650">
                <a:solidFill>
                  <a:srgbClr val="BBBEBF"/>
                </a:solidFill>
                <a:highlight>
                  <a:srgbClr val="121314"/>
                </a:highlight>
                <a:latin typeface="Courier New"/>
                <a:ea typeface="Courier New"/>
                <a:cs typeface="Courier New"/>
                <a:sym typeface="Courier New"/>
              </a:rPr>
              <a:t>, </a:t>
            </a:r>
            <a:r>
              <a:rPr lang="en-US" sz="650">
                <a:solidFill>
                  <a:srgbClr val="4EC9B0"/>
                </a:solidFill>
                <a:highlight>
                  <a:srgbClr val="121314"/>
                </a:highlight>
                <a:latin typeface="Courier New"/>
                <a:ea typeface="Courier New"/>
                <a:cs typeface="Courier New"/>
                <a:sym typeface="Courier New"/>
              </a:rPr>
              <a:t>BinaryNode</a:t>
            </a:r>
            <a:r>
              <a:rPr lang="en-US" sz="650">
                <a:solidFill>
                  <a:srgbClr val="BBBEBF"/>
                </a:solidFill>
                <a:highlight>
                  <a:srgbClr val="121314"/>
                </a:highlight>
                <a:latin typeface="Courier New"/>
                <a:ea typeface="Courier New"/>
                <a:cs typeface="Courier New"/>
                <a:sym typeface="Courier New"/>
              </a:rPr>
              <a:t>&lt;</a:t>
            </a:r>
            <a:r>
              <a:rPr lang="en-US" sz="650">
                <a:solidFill>
                  <a:srgbClr val="4EC9B0"/>
                </a:solidFill>
                <a:highlight>
                  <a:srgbClr val="121314"/>
                </a:highlight>
                <a:latin typeface="Courier New"/>
                <a:ea typeface="Courier New"/>
                <a:cs typeface="Courier New"/>
                <a:sym typeface="Courier New"/>
              </a:rPr>
              <a:t>Comparable</a:t>
            </a:r>
            <a:r>
              <a:rPr lang="en-US" sz="650">
                <a:solidFill>
                  <a:srgbClr val="BBBEBF"/>
                </a:solidFill>
                <a:highlight>
                  <a:srgbClr val="121314"/>
                </a:highlight>
                <a:latin typeface="Courier New"/>
                <a:ea typeface="Courier New"/>
                <a:cs typeface="Courier New"/>
                <a:sym typeface="Courier New"/>
              </a:rPr>
              <a:t>&gt;</a:t>
            </a:r>
            <a:r>
              <a:rPr lang="en-US" sz="650">
                <a:solidFill>
                  <a:srgbClr val="569CD6"/>
                </a:solidFill>
                <a:highlight>
                  <a:srgbClr val="121314"/>
                </a:highlight>
                <a:latin typeface="Courier New"/>
                <a:ea typeface="Courier New"/>
                <a:cs typeface="Courier New"/>
                <a:sym typeface="Courier New"/>
              </a:rPr>
              <a:t>*&amp;</a:t>
            </a:r>
            <a:r>
              <a:rPr lang="en-US" sz="650">
                <a:solidFill>
                  <a:srgbClr val="BBBEBF"/>
                </a:solidFill>
                <a:highlight>
                  <a:srgbClr val="121314"/>
                </a:highlight>
                <a:latin typeface="Courier New"/>
                <a:ea typeface="Courier New"/>
                <a:cs typeface="Courier New"/>
                <a:sym typeface="Courier New"/>
              </a:rPr>
              <a:t> </a:t>
            </a:r>
            <a:r>
              <a:rPr lang="en-US" sz="650">
                <a:solidFill>
                  <a:srgbClr val="FFA657"/>
                </a:solidFill>
                <a:highlight>
                  <a:srgbClr val="121314"/>
                </a:highlight>
                <a:latin typeface="Courier New"/>
                <a:ea typeface="Courier New"/>
                <a:cs typeface="Courier New"/>
                <a:sym typeface="Courier New"/>
              </a:rPr>
              <a:t>node</a:t>
            </a:r>
            <a:r>
              <a:rPr lang="en-US" sz="650">
                <a:solidFill>
                  <a:srgbClr val="BBBEBF"/>
                </a:solidFill>
                <a:highlight>
                  <a:srgbClr val="121314"/>
                </a:highlight>
                <a:latin typeface="Courier New"/>
                <a:ea typeface="Courier New"/>
                <a:cs typeface="Courier New"/>
                <a:sym typeface="Courier New"/>
              </a:rPr>
              <a:t>)</a:t>
            </a:r>
            <a:endParaRPr sz="6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650">
                <a:solidFill>
                  <a:srgbClr val="BBBEBF"/>
                </a:solidFill>
                <a:highlight>
                  <a:srgbClr val="121314"/>
                </a:highlight>
                <a:latin typeface="Courier New"/>
                <a:ea typeface="Courier New"/>
                <a:cs typeface="Courier New"/>
                <a:sym typeface="Courier New"/>
              </a:rPr>
              <a:t>{</a:t>
            </a:r>
            <a:endParaRPr sz="6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650">
                <a:solidFill>
                  <a:srgbClr val="BBBEBF"/>
                </a:solidFill>
                <a:highlight>
                  <a:srgbClr val="121314"/>
                </a:highlight>
                <a:latin typeface="Courier New"/>
                <a:ea typeface="Courier New"/>
                <a:cs typeface="Courier New"/>
                <a:sym typeface="Courier New"/>
              </a:rPr>
              <a:t>   </a:t>
            </a:r>
            <a:r>
              <a:rPr lang="en-US" sz="650">
                <a:solidFill>
                  <a:srgbClr val="C586C0"/>
                </a:solidFill>
                <a:highlight>
                  <a:srgbClr val="121314"/>
                </a:highlight>
                <a:latin typeface="Courier New"/>
                <a:ea typeface="Courier New"/>
                <a:cs typeface="Courier New"/>
                <a:sym typeface="Courier New"/>
              </a:rPr>
              <a:t>if</a:t>
            </a:r>
            <a:r>
              <a:rPr lang="en-US" sz="650">
                <a:solidFill>
                  <a:srgbClr val="BBBEBF"/>
                </a:solidFill>
                <a:highlight>
                  <a:srgbClr val="121314"/>
                </a:highlight>
                <a:latin typeface="Courier New"/>
                <a:ea typeface="Courier New"/>
                <a:cs typeface="Courier New"/>
                <a:sym typeface="Courier New"/>
              </a:rPr>
              <a:t> (</a:t>
            </a:r>
            <a:r>
              <a:rPr lang="en-US" sz="650">
                <a:solidFill>
                  <a:srgbClr val="FFA657"/>
                </a:solidFill>
                <a:highlight>
                  <a:srgbClr val="121314"/>
                </a:highlight>
                <a:latin typeface="Courier New"/>
                <a:ea typeface="Courier New"/>
                <a:cs typeface="Courier New"/>
                <a:sym typeface="Courier New"/>
              </a:rPr>
              <a:t>node</a:t>
            </a:r>
            <a:r>
              <a:rPr lang="en-US" sz="650">
                <a:solidFill>
                  <a:srgbClr val="BBBEBF"/>
                </a:solidFill>
                <a:highlight>
                  <a:srgbClr val="121314"/>
                </a:highlight>
                <a:latin typeface="Courier New"/>
                <a:ea typeface="Courier New"/>
                <a:cs typeface="Courier New"/>
                <a:sym typeface="Courier New"/>
              </a:rPr>
              <a:t> </a:t>
            </a:r>
            <a:r>
              <a:rPr lang="en-US" sz="650">
                <a:solidFill>
                  <a:srgbClr val="D4D4D4"/>
                </a:solidFill>
                <a:highlight>
                  <a:srgbClr val="121314"/>
                </a:highlight>
                <a:latin typeface="Courier New"/>
                <a:ea typeface="Courier New"/>
                <a:cs typeface="Courier New"/>
                <a:sym typeface="Courier New"/>
              </a:rPr>
              <a:t>==</a:t>
            </a:r>
            <a:r>
              <a:rPr lang="en-US" sz="650">
                <a:solidFill>
                  <a:srgbClr val="BBBEBF"/>
                </a:solidFill>
                <a:highlight>
                  <a:srgbClr val="121314"/>
                </a:highlight>
                <a:latin typeface="Courier New"/>
                <a:ea typeface="Courier New"/>
                <a:cs typeface="Courier New"/>
                <a:sym typeface="Courier New"/>
              </a:rPr>
              <a:t> </a:t>
            </a:r>
            <a:r>
              <a:rPr lang="en-US" sz="650">
                <a:solidFill>
                  <a:srgbClr val="569CD6"/>
                </a:solidFill>
                <a:highlight>
                  <a:srgbClr val="121314"/>
                </a:highlight>
                <a:latin typeface="Courier New"/>
                <a:ea typeface="Courier New"/>
                <a:cs typeface="Courier New"/>
                <a:sym typeface="Courier New"/>
              </a:rPr>
              <a:t>nullptr</a:t>
            </a:r>
            <a:r>
              <a:rPr lang="en-US" sz="650">
                <a:solidFill>
                  <a:srgbClr val="BBBEBF"/>
                </a:solidFill>
                <a:highlight>
                  <a:srgbClr val="121314"/>
                </a:highlight>
                <a:latin typeface="Courier New"/>
                <a:ea typeface="Courier New"/>
                <a:cs typeface="Courier New"/>
                <a:sym typeface="Courier New"/>
              </a:rPr>
              <a:t>)</a:t>
            </a:r>
            <a:endParaRPr sz="6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650">
                <a:solidFill>
                  <a:srgbClr val="BBBEBF"/>
                </a:solidFill>
                <a:highlight>
                  <a:srgbClr val="121314"/>
                </a:highlight>
                <a:latin typeface="Courier New"/>
                <a:ea typeface="Courier New"/>
                <a:cs typeface="Courier New"/>
                <a:sym typeface="Courier New"/>
              </a:rPr>
              <a:t>   </a:t>
            </a:r>
            <a:r>
              <a:rPr lang="en-US" sz="650">
                <a:solidFill>
                  <a:srgbClr val="C9D1D9"/>
                </a:solidFill>
                <a:highlight>
                  <a:srgbClr val="121314"/>
                </a:highlight>
                <a:latin typeface="Courier New"/>
                <a:ea typeface="Courier New"/>
                <a:cs typeface="Courier New"/>
                <a:sym typeface="Courier New"/>
              </a:rPr>
              <a:t>{</a:t>
            </a:r>
            <a:endParaRPr sz="6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650">
                <a:solidFill>
                  <a:srgbClr val="C9D1D9"/>
                </a:solidFill>
                <a:highlight>
                  <a:srgbClr val="121314"/>
                </a:highlight>
                <a:latin typeface="Courier New"/>
                <a:ea typeface="Courier New"/>
                <a:cs typeface="Courier New"/>
                <a:sym typeface="Courier New"/>
              </a:rPr>
              <a:t>       node </a:t>
            </a:r>
            <a:r>
              <a:rPr lang="en-US" sz="650">
                <a:solidFill>
                  <a:srgbClr val="D4D4D4"/>
                </a:solidFill>
                <a:highlight>
                  <a:srgbClr val="121314"/>
                </a:highlight>
                <a:latin typeface="Courier New"/>
                <a:ea typeface="Courier New"/>
                <a:cs typeface="Courier New"/>
                <a:sym typeface="Courier New"/>
              </a:rPr>
              <a:t>=</a:t>
            </a:r>
            <a:r>
              <a:rPr lang="en-US" sz="650">
                <a:solidFill>
                  <a:srgbClr val="C9D1D9"/>
                </a:solidFill>
                <a:highlight>
                  <a:srgbClr val="121314"/>
                </a:highlight>
                <a:latin typeface="Courier New"/>
                <a:ea typeface="Courier New"/>
                <a:cs typeface="Courier New"/>
                <a:sym typeface="Courier New"/>
              </a:rPr>
              <a:t> </a:t>
            </a:r>
            <a:r>
              <a:rPr lang="en-US" sz="650">
                <a:solidFill>
                  <a:srgbClr val="C586C0"/>
                </a:solidFill>
                <a:highlight>
                  <a:srgbClr val="121314"/>
                </a:highlight>
                <a:latin typeface="Courier New"/>
                <a:ea typeface="Courier New"/>
                <a:cs typeface="Courier New"/>
                <a:sym typeface="Courier New"/>
              </a:rPr>
              <a:t>new</a:t>
            </a:r>
            <a:r>
              <a:rPr lang="en-US" sz="650">
                <a:solidFill>
                  <a:srgbClr val="C9D1D9"/>
                </a:solidFill>
                <a:highlight>
                  <a:srgbClr val="121314"/>
                </a:highlight>
                <a:latin typeface="Courier New"/>
                <a:ea typeface="Courier New"/>
                <a:cs typeface="Courier New"/>
                <a:sym typeface="Courier New"/>
              </a:rPr>
              <a:t> BinaryNode</a:t>
            </a:r>
            <a:r>
              <a:rPr lang="en-US" sz="650">
                <a:solidFill>
                  <a:srgbClr val="D4D4D4"/>
                </a:solidFill>
                <a:highlight>
                  <a:srgbClr val="121314"/>
                </a:highlight>
                <a:latin typeface="Courier New"/>
                <a:ea typeface="Courier New"/>
                <a:cs typeface="Courier New"/>
                <a:sym typeface="Courier New"/>
              </a:rPr>
              <a:t>&lt;</a:t>
            </a:r>
            <a:r>
              <a:rPr lang="en-US" sz="650">
                <a:solidFill>
                  <a:srgbClr val="C9D1D9"/>
                </a:solidFill>
                <a:highlight>
                  <a:srgbClr val="121314"/>
                </a:highlight>
                <a:latin typeface="Courier New"/>
                <a:ea typeface="Courier New"/>
                <a:cs typeface="Courier New"/>
                <a:sym typeface="Courier New"/>
              </a:rPr>
              <a:t>Comparable</a:t>
            </a:r>
            <a:r>
              <a:rPr lang="en-US" sz="650">
                <a:solidFill>
                  <a:srgbClr val="D4D4D4"/>
                </a:solidFill>
                <a:highlight>
                  <a:srgbClr val="121314"/>
                </a:highlight>
                <a:latin typeface="Courier New"/>
                <a:ea typeface="Courier New"/>
                <a:cs typeface="Courier New"/>
                <a:sym typeface="Courier New"/>
              </a:rPr>
              <a:t>&gt;</a:t>
            </a:r>
            <a:r>
              <a:rPr lang="en-US" sz="650">
                <a:solidFill>
                  <a:srgbClr val="C9D1D9"/>
                </a:solidFill>
                <a:highlight>
                  <a:srgbClr val="121314"/>
                </a:highlight>
                <a:latin typeface="Courier New"/>
                <a:ea typeface="Courier New"/>
                <a:cs typeface="Courier New"/>
                <a:sym typeface="Courier New"/>
              </a:rPr>
              <a:t> {value, </a:t>
            </a:r>
            <a:r>
              <a:rPr lang="en-US" sz="650">
                <a:solidFill>
                  <a:srgbClr val="569CD6"/>
                </a:solidFill>
                <a:highlight>
                  <a:srgbClr val="121314"/>
                </a:highlight>
                <a:latin typeface="Courier New"/>
                <a:ea typeface="Courier New"/>
                <a:cs typeface="Courier New"/>
                <a:sym typeface="Courier New"/>
              </a:rPr>
              <a:t>nullptr</a:t>
            </a:r>
            <a:r>
              <a:rPr lang="en-US" sz="650">
                <a:solidFill>
                  <a:srgbClr val="C9D1D9"/>
                </a:solidFill>
                <a:highlight>
                  <a:srgbClr val="121314"/>
                </a:highlight>
                <a:latin typeface="Courier New"/>
                <a:ea typeface="Courier New"/>
                <a:cs typeface="Courier New"/>
                <a:sym typeface="Courier New"/>
              </a:rPr>
              <a:t>, </a:t>
            </a:r>
            <a:r>
              <a:rPr lang="en-US" sz="650">
                <a:solidFill>
                  <a:srgbClr val="569CD6"/>
                </a:solidFill>
                <a:highlight>
                  <a:srgbClr val="121314"/>
                </a:highlight>
                <a:latin typeface="Courier New"/>
                <a:ea typeface="Courier New"/>
                <a:cs typeface="Courier New"/>
                <a:sym typeface="Courier New"/>
              </a:rPr>
              <a:t>nullptr</a:t>
            </a:r>
            <a:r>
              <a:rPr lang="en-US" sz="650">
                <a:solidFill>
                  <a:srgbClr val="C9D1D9"/>
                </a:solidFill>
                <a:highlight>
                  <a:srgbClr val="121314"/>
                </a:highlight>
                <a:latin typeface="Courier New"/>
                <a:ea typeface="Courier New"/>
                <a:cs typeface="Courier New"/>
                <a:sym typeface="Courier New"/>
              </a:rPr>
              <a:t>};</a:t>
            </a:r>
            <a:endParaRPr sz="6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650">
                <a:solidFill>
                  <a:srgbClr val="C9D1D9"/>
                </a:solidFill>
                <a:highlight>
                  <a:srgbClr val="121314"/>
                </a:highlight>
                <a:latin typeface="Courier New"/>
                <a:ea typeface="Courier New"/>
                <a:cs typeface="Courier New"/>
                <a:sym typeface="Courier New"/>
              </a:rPr>
              <a:t>       </a:t>
            </a:r>
            <a:r>
              <a:rPr lang="en-US" sz="650">
                <a:solidFill>
                  <a:srgbClr val="C586C0"/>
                </a:solidFill>
                <a:highlight>
                  <a:srgbClr val="121314"/>
                </a:highlight>
                <a:latin typeface="Courier New"/>
                <a:ea typeface="Courier New"/>
                <a:cs typeface="Courier New"/>
                <a:sym typeface="Courier New"/>
              </a:rPr>
              <a:t>return</a:t>
            </a:r>
            <a:r>
              <a:rPr lang="en-US" sz="650">
                <a:solidFill>
                  <a:srgbClr val="C9D1D9"/>
                </a:solidFill>
                <a:highlight>
                  <a:srgbClr val="121314"/>
                </a:highlight>
                <a:latin typeface="Courier New"/>
                <a:ea typeface="Courier New"/>
                <a:cs typeface="Courier New"/>
                <a:sym typeface="Courier New"/>
              </a:rPr>
              <a:t>;</a:t>
            </a:r>
            <a:endParaRPr sz="6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650">
                <a:solidFill>
                  <a:srgbClr val="C9D1D9"/>
                </a:solidFill>
                <a:highlight>
                  <a:srgbClr val="121314"/>
                </a:highlight>
                <a:latin typeface="Courier New"/>
                <a:ea typeface="Courier New"/>
                <a:cs typeface="Courier New"/>
                <a:sym typeface="Courier New"/>
              </a:rPr>
              <a:t>   }</a:t>
            </a:r>
            <a:endParaRPr sz="6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6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650">
                <a:solidFill>
                  <a:srgbClr val="BBBEBF"/>
                </a:solidFill>
                <a:highlight>
                  <a:srgbClr val="121314"/>
                </a:highlight>
                <a:latin typeface="Courier New"/>
                <a:ea typeface="Courier New"/>
                <a:cs typeface="Courier New"/>
                <a:sym typeface="Courier New"/>
              </a:rPr>
              <a:t>   </a:t>
            </a:r>
            <a:r>
              <a:rPr lang="en-US" sz="650">
                <a:solidFill>
                  <a:srgbClr val="C586C0"/>
                </a:solidFill>
                <a:highlight>
                  <a:srgbClr val="121314"/>
                </a:highlight>
                <a:latin typeface="Courier New"/>
                <a:ea typeface="Courier New"/>
                <a:cs typeface="Courier New"/>
                <a:sym typeface="Courier New"/>
              </a:rPr>
              <a:t>if</a:t>
            </a:r>
            <a:r>
              <a:rPr lang="en-US" sz="650">
                <a:solidFill>
                  <a:srgbClr val="BBBEBF"/>
                </a:solidFill>
                <a:highlight>
                  <a:srgbClr val="121314"/>
                </a:highlight>
                <a:latin typeface="Courier New"/>
                <a:ea typeface="Courier New"/>
                <a:cs typeface="Courier New"/>
                <a:sym typeface="Courier New"/>
              </a:rPr>
              <a:t> (</a:t>
            </a:r>
            <a:r>
              <a:rPr lang="en-US" sz="650">
                <a:solidFill>
                  <a:srgbClr val="FFA657"/>
                </a:solidFill>
                <a:highlight>
                  <a:srgbClr val="121314"/>
                </a:highlight>
                <a:latin typeface="Courier New"/>
                <a:ea typeface="Courier New"/>
                <a:cs typeface="Courier New"/>
                <a:sym typeface="Courier New"/>
              </a:rPr>
              <a:t>value</a:t>
            </a:r>
            <a:r>
              <a:rPr lang="en-US" sz="650">
                <a:solidFill>
                  <a:srgbClr val="BBBEBF"/>
                </a:solidFill>
                <a:highlight>
                  <a:srgbClr val="121314"/>
                </a:highlight>
                <a:latin typeface="Courier New"/>
                <a:ea typeface="Courier New"/>
                <a:cs typeface="Courier New"/>
                <a:sym typeface="Courier New"/>
              </a:rPr>
              <a:t> </a:t>
            </a:r>
            <a:r>
              <a:rPr lang="en-US" sz="650">
                <a:solidFill>
                  <a:srgbClr val="D4D4D4"/>
                </a:solidFill>
                <a:highlight>
                  <a:srgbClr val="121314"/>
                </a:highlight>
                <a:latin typeface="Courier New"/>
                <a:ea typeface="Courier New"/>
                <a:cs typeface="Courier New"/>
                <a:sym typeface="Courier New"/>
              </a:rPr>
              <a:t>&lt;</a:t>
            </a:r>
            <a:r>
              <a:rPr lang="en-US" sz="650">
                <a:solidFill>
                  <a:srgbClr val="BBBEBF"/>
                </a:solidFill>
                <a:highlight>
                  <a:srgbClr val="121314"/>
                </a:highlight>
                <a:latin typeface="Courier New"/>
                <a:ea typeface="Courier New"/>
                <a:cs typeface="Courier New"/>
                <a:sym typeface="Courier New"/>
              </a:rPr>
              <a:t> </a:t>
            </a:r>
            <a:r>
              <a:rPr lang="en-US" sz="650">
                <a:solidFill>
                  <a:srgbClr val="FFA657"/>
                </a:solidFill>
                <a:highlight>
                  <a:srgbClr val="121314"/>
                </a:highlight>
                <a:latin typeface="Courier New"/>
                <a:ea typeface="Courier New"/>
                <a:cs typeface="Courier New"/>
                <a:sym typeface="Courier New"/>
              </a:rPr>
              <a:t>node</a:t>
            </a:r>
            <a:r>
              <a:rPr lang="en-US" sz="650">
                <a:solidFill>
                  <a:srgbClr val="BBBEBF"/>
                </a:solidFill>
                <a:highlight>
                  <a:srgbClr val="121314"/>
                </a:highlight>
                <a:latin typeface="Courier New"/>
                <a:ea typeface="Courier New"/>
                <a:cs typeface="Courier New"/>
                <a:sym typeface="Courier New"/>
              </a:rPr>
              <a:t>-&gt;</a:t>
            </a:r>
            <a:r>
              <a:rPr lang="en-US" sz="650">
                <a:solidFill>
                  <a:srgbClr val="C9D1D9"/>
                </a:solidFill>
                <a:highlight>
                  <a:srgbClr val="121314"/>
                </a:highlight>
                <a:latin typeface="Courier New"/>
                <a:ea typeface="Courier New"/>
                <a:cs typeface="Courier New"/>
                <a:sym typeface="Courier New"/>
              </a:rPr>
              <a:t>element</a:t>
            </a:r>
            <a:r>
              <a:rPr lang="en-US" sz="650">
                <a:solidFill>
                  <a:srgbClr val="BBBEBF"/>
                </a:solidFill>
                <a:highlight>
                  <a:srgbClr val="121314"/>
                </a:highlight>
                <a:latin typeface="Courier New"/>
                <a:ea typeface="Courier New"/>
                <a:cs typeface="Courier New"/>
                <a:sym typeface="Courier New"/>
              </a:rPr>
              <a:t>)</a:t>
            </a:r>
            <a:endParaRPr sz="6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650">
                <a:solidFill>
                  <a:srgbClr val="BBBEBF"/>
                </a:solidFill>
                <a:highlight>
                  <a:srgbClr val="121314"/>
                </a:highlight>
                <a:latin typeface="Courier New"/>
                <a:ea typeface="Courier New"/>
                <a:cs typeface="Courier New"/>
                <a:sym typeface="Courier New"/>
              </a:rPr>
              <a:t>   </a:t>
            </a:r>
            <a:r>
              <a:rPr lang="en-US" sz="650">
                <a:solidFill>
                  <a:srgbClr val="C9D1D9"/>
                </a:solidFill>
                <a:highlight>
                  <a:srgbClr val="121314"/>
                </a:highlight>
                <a:latin typeface="Courier New"/>
                <a:ea typeface="Courier New"/>
                <a:cs typeface="Courier New"/>
                <a:sym typeface="Courier New"/>
              </a:rPr>
              <a:t>{</a:t>
            </a:r>
            <a:endParaRPr sz="6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650">
                <a:solidFill>
                  <a:srgbClr val="C9D1D9"/>
                </a:solidFill>
                <a:highlight>
                  <a:srgbClr val="121314"/>
                </a:highlight>
                <a:latin typeface="Courier New"/>
                <a:ea typeface="Courier New"/>
                <a:cs typeface="Courier New"/>
                <a:sym typeface="Courier New"/>
              </a:rPr>
              <a:t>       </a:t>
            </a:r>
            <a:r>
              <a:rPr lang="en-US" sz="650">
                <a:solidFill>
                  <a:srgbClr val="D2A8FF"/>
                </a:solidFill>
                <a:highlight>
                  <a:srgbClr val="121314"/>
                </a:highlight>
                <a:latin typeface="Courier New"/>
                <a:ea typeface="Courier New"/>
                <a:cs typeface="Courier New"/>
                <a:sym typeface="Courier New"/>
              </a:rPr>
              <a:t>insert</a:t>
            </a:r>
            <a:r>
              <a:rPr lang="en-US" sz="650">
                <a:solidFill>
                  <a:srgbClr val="C9D1D9"/>
                </a:solidFill>
                <a:highlight>
                  <a:srgbClr val="121314"/>
                </a:highlight>
                <a:latin typeface="Courier New"/>
                <a:ea typeface="Courier New"/>
                <a:cs typeface="Courier New"/>
                <a:sym typeface="Courier New"/>
              </a:rPr>
              <a:t>(</a:t>
            </a:r>
            <a:r>
              <a:rPr lang="en-US" sz="650">
                <a:solidFill>
                  <a:srgbClr val="FFA657"/>
                </a:solidFill>
                <a:highlight>
                  <a:srgbClr val="121314"/>
                </a:highlight>
                <a:latin typeface="Courier New"/>
                <a:ea typeface="Courier New"/>
                <a:cs typeface="Courier New"/>
                <a:sym typeface="Courier New"/>
              </a:rPr>
              <a:t>value</a:t>
            </a:r>
            <a:r>
              <a:rPr lang="en-US" sz="650">
                <a:solidFill>
                  <a:srgbClr val="C9D1D9"/>
                </a:solidFill>
                <a:highlight>
                  <a:srgbClr val="121314"/>
                </a:highlight>
                <a:latin typeface="Courier New"/>
                <a:ea typeface="Courier New"/>
                <a:cs typeface="Courier New"/>
                <a:sym typeface="Courier New"/>
              </a:rPr>
              <a:t>, node-&gt;left);</a:t>
            </a:r>
            <a:endParaRPr sz="6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650">
                <a:solidFill>
                  <a:srgbClr val="C9D1D9"/>
                </a:solidFill>
                <a:highlight>
                  <a:srgbClr val="121314"/>
                </a:highlight>
                <a:latin typeface="Courier New"/>
                <a:ea typeface="Courier New"/>
                <a:cs typeface="Courier New"/>
                <a:sym typeface="Courier New"/>
              </a:rPr>
              <a:t>       </a:t>
            </a:r>
            <a:r>
              <a:rPr lang="en-US" sz="650">
                <a:solidFill>
                  <a:srgbClr val="C586C0"/>
                </a:solidFill>
                <a:highlight>
                  <a:srgbClr val="121314"/>
                </a:highlight>
                <a:latin typeface="Courier New"/>
                <a:ea typeface="Courier New"/>
                <a:cs typeface="Courier New"/>
                <a:sym typeface="Courier New"/>
              </a:rPr>
              <a:t>return</a:t>
            </a:r>
            <a:r>
              <a:rPr lang="en-US" sz="650">
                <a:solidFill>
                  <a:srgbClr val="C9D1D9"/>
                </a:solidFill>
                <a:highlight>
                  <a:srgbClr val="121314"/>
                </a:highlight>
                <a:latin typeface="Courier New"/>
                <a:ea typeface="Courier New"/>
                <a:cs typeface="Courier New"/>
                <a:sym typeface="Courier New"/>
              </a:rPr>
              <a:t>;</a:t>
            </a:r>
            <a:endParaRPr sz="6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650">
                <a:solidFill>
                  <a:srgbClr val="C9D1D9"/>
                </a:solidFill>
                <a:highlight>
                  <a:srgbClr val="121314"/>
                </a:highlight>
                <a:latin typeface="Courier New"/>
                <a:ea typeface="Courier New"/>
                <a:cs typeface="Courier New"/>
                <a:sym typeface="Courier New"/>
              </a:rPr>
              <a:t>   }</a:t>
            </a:r>
            <a:endParaRPr sz="6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6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650">
                <a:solidFill>
                  <a:srgbClr val="BBBEBF"/>
                </a:solidFill>
                <a:highlight>
                  <a:srgbClr val="121314"/>
                </a:highlight>
                <a:latin typeface="Courier New"/>
                <a:ea typeface="Courier New"/>
                <a:cs typeface="Courier New"/>
                <a:sym typeface="Courier New"/>
              </a:rPr>
              <a:t>   </a:t>
            </a:r>
            <a:r>
              <a:rPr lang="en-US" sz="650">
                <a:solidFill>
                  <a:srgbClr val="C586C0"/>
                </a:solidFill>
                <a:highlight>
                  <a:srgbClr val="121314"/>
                </a:highlight>
                <a:latin typeface="Courier New"/>
                <a:ea typeface="Courier New"/>
                <a:cs typeface="Courier New"/>
                <a:sym typeface="Courier New"/>
              </a:rPr>
              <a:t>if</a:t>
            </a:r>
            <a:r>
              <a:rPr lang="en-US" sz="650">
                <a:solidFill>
                  <a:srgbClr val="BBBEBF"/>
                </a:solidFill>
                <a:highlight>
                  <a:srgbClr val="121314"/>
                </a:highlight>
                <a:latin typeface="Courier New"/>
                <a:ea typeface="Courier New"/>
                <a:cs typeface="Courier New"/>
                <a:sym typeface="Courier New"/>
              </a:rPr>
              <a:t> (</a:t>
            </a:r>
            <a:r>
              <a:rPr lang="en-US" sz="650">
                <a:solidFill>
                  <a:srgbClr val="FFA657"/>
                </a:solidFill>
                <a:highlight>
                  <a:srgbClr val="121314"/>
                </a:highlight>
                <a:latin typeface="Courier New"/>
                <a:ea typeface="Courier New"/>
                <a:cs typeface="Courier New"/>
                <a:sym typeface="Courier New"/>
              </a:rPr>
              <a:t>node</a:t>
            </a:r>
            <a:r>
              <a:rPr lang="en-US" sz="650">
                <a:solidFill>
                  <a:srgbClr val="BBBEBF"/>
                </a:solidFill>
                <a:highlight>
                  <a:srgbClr val="121314"/>
                </a:highlight>
                <a:latin typeface="Courier New"/>
                <a:ea typeface="Courier New"/>
                <a:cs typeface="Courier New"/>
                <a:sym typeface="Courier New"/>
              </a:rPr>
              <a:t>-&gt;</a:t>
            </a:r>
            <a:r>
              <a:rPr lang="en-US" sz="650">
                <a:solidFill>
                  <a:srgbClr val="C9D1D9"/>
                </a:solidFill>
                <a:highlight>
                  <a:srgbClr val="121314"/>
                </a:highlight>
                <a:latin typeface="Courier New"/>
                <a:ea typeface="Courier New"/>
                <a:cs typeface="Courier New"/>
                <a:sym typeface="Courier New"/>
              </a:rPr>
              <a:t>element</a:t>
            </a:r>
            <a:r>
              <a:rPr lang="en-US" sz="650">
                <a:solidFill>
                  <a:srgbClr val="BBBEBF"/>
                </a:solidFill>
                <a:highlight>
                  <a:srgbClr val="121314"/>
                </a:highlight>
                <a:latin typeface="Courier New"/>
                <a:ea typeface="Courier New"/>
                <a:cs typeface="Courier New"/>
                <a:sym typeface="Courier New"/>
              </a:rPr>
              <a:t> </a:t>
            </a:r>
            <a:r>
              <a:rPr lang="en-US" sz="650">
                <a:solidFill>
                  <a:srgbClr val="D4D4D4"/>
                </a:solidFill>
                <a:highlight>
                  <a:srgbClr val="121314"/>
                </a:highlight>
                <a:latin typeface="Courier New"/>
                <a:ea typeface="Courier New"/>
                <a:cs typeface="Courier New"/>
                <a:sym typeface="Courier New"/>
              </a:rPr>
              <a:t>&lt;</a:t>
            </a:r>
            <a:r>
              <a:rPr lang="en-US" sz="650">
                <a:solidFill>
                  <a:srgbClr val="BBBEBF"/>
                </a:solidFill>
                <a:highlight>
                  <a:srgbClr val="121314"/>
                </a:highlight>
                <a:latin typeface="Courier New"/>
                <a:ea typeface="Courier New"/>
                <a:cs typeface="Courier New"/>
                <a:sym typeface="Courier New"/>
              </a:rPr>
              <a:t> </a:t>
            </a:r>
            <a:r>
              <a:rPr lang="en-US" sz="650">
                <a:solidFill>
                  <a:srgbClr val="FFA657"/>
                </a:solidFill>
                <a:highlight>
                  <a:srgbClr val="121314"/>
                </a:highlight>
                <a:latin typeface="Courier New"/>
                <a:ea typeface="Courier New"/>
                <a:cs typeface="Courier New"/>
                <a:sym typeface="Courier New"/>
              </a:rPr>
              <a:t>value</a:t>
            </a:r>
            <a:r>
              <a:rPr lang="en-US" sz="650">
                <a:solidFill>
                  <a:srgbClr val="BBBEBF"/>
                </a:solidFill>
                <a:highlight>
                  <a:srgbClr val="121314"/>
                </a:highlight>
                <a:latin typeface="Courier New"/>
                <a:ea typeface="Courier New"/>
                <a:cs typeface="Courier New"/>
                <a:sym typeface="Courier New"/>
              </a:rPr>
              <a:t>)</a:t>
            </a:r>
            <a:endParaRPr sz="6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650">
                <a:solidFill>
                  <a:srgbClr val="BBBEBF"/>
                </a:solidFill>
                <a:highlight>
                  <a:srgbClr val="121314"/>
                </a:highlight>
                <a:latin typeface="Courier New"/>
                <a:ea typeface="Courier New"/>
                <a:cs typeface="Courier New"/>
                <a:sym typeface="Courier New"/>
              </a:rPr>
              <a:t>   </a:t>
            </a:r>
            <a:r>
              <a:rPr lang="en-US" sz="650">
                <a:solidFill>
                  <a:srgbClr val="C9D1D9"/>
                </a:solidFill>
                <a:highlight>
                  <a:srgbClr val="121314"/>
                </a:highlight>
                <a:latin typeface="Courier New"/>
                <a:ea typeface="Courier New"/>
                <a:cs typeface="Courier New"/>
                <a:sym typeface="Courier New"/>
              </a:rPr>
              <a:t>{</a:t>
            </a:r>
            <a:endParaRPr sz="6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650">
                <a:solidFill>
                  <a:srgbClr val="C9D1D9"/>
                </a:solidFill>
                <a:highlight>
                  <a:srgbClr val="121314"/>
                </a:highlight>
                <a:latin typeface="Courier New"/>
                <a:ea typeface="Courier New"/>
                <a:cs typeface="Courier New"/>
                <a:sym typeface="Courier New"/>
              </a:rPr>
              <a:t>       </a:t>
            </a:r>
            <a:r>
              <a:rPr lang="en-US" sz="650">
                <a:solidFill>
                  <a:srgbClr val="D2A8FF"/>
                </a:solidFill>
                <a:highlight>
                  <a:srgbClr val="121314"/>
                </a:highlight>
                <a:latin typeface="Courier New"/>
                <a:ea typeface="Courier New"/>
                <a:cs typeface="Courier New"/>
                <a:sym typeface="Courier New"/>
              </a:rPr>
              <a:t>insert</a:t>
            </a:r>
            <a:r>
              <a:rPr lang="en-US" sz="650">
                <a:solidFill>
                  <a:srgbClr val="C9D1D9"/>
                </a:solidFill>
                <a:highlight>
                  <a:srgbClr val="121314"/>
                </a:highlight>
                <a:latin typeface="Courier New"/>
                <a:ea typeface="Courier New"/>
                <a:cs typeface="Courier New"/>
                <a:sym typeface="Courier New"/>
              </a:rPr>
              <a:t>(</a:t>
            </a:r>
            <a:r>
              <a:rPr lang="en-US" sz="650">
                <a:solidFill>
                  <a:srgbClr val="FFA657"/>
                </a:solidFill>
                <a:highlight>
                  <a:srgbClr val="121314"/>
                </a:highlight>
                <a:latin typeface="Courier New"/>
                <a:ea typeface="Courier New"/>
                <a:cs typeface="Courier New"/>
                <a:sym typeface="Courier New"/>
              </a:rPr>
              <a:t>value</a:t>
            </a:r>
            <a:r>
              <a:rPr lang="en-US" sz="650">
                <a:solidFill>
                  <a:srgbClr val="C9D1D9"/>
                </a:solidFill>
                <a:highlight>
                  <a:srgbClr val="121314"/>
                </a:highlight>
                <a:latin typeface="Courier New"/>
                <a:ea typeface="Courier New"/>
                <a:cs typeface="Courier New"/>
                <a:sym typeface="Courier New"/>
              </a:rPr>
              <a:t>, node-&gt;right);</a:t>
            </a:r>
            <a:endParaRPr sz="6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650">
                <a:solidFill>
                  <a:srgbClr val="C9D1D9"/>
                </a:solidFill>
                <a:highlight>
                  <a:srgbClr val="121314"/>
                </a:highlight>
                <a:latin typeface="Courier New"/>
                <a:ea typeface="Courier New"/>
                <a:cs typeface="Courier New"/>
                <a:sym typeface="Courier New"/>
              </a:rPr>
              <a:t>       </a:t>
            </a:r>
            <a:r>
              <a:rPr lang="en-US" sz="650">
                <a:solidFill>
                  <a:srgbClr val="C586C0"/>
                </a:solidFill>
                <a:highlight>
                  <a:srgbClr val="121314"/>
                </a:highlight>
                <a:latin typeface="Courier New"/>
                <a:ea typeface="Courier New"/>
                <a:cs typeface="Courier New"/>
                <a:sym typeface="Courier New"/>
              </a:rPr>
              <a:t>return</a:t>
            </a:r>
            <a:r>
              <a:rPr lang="en-US" sz="650">
                <a:solidFill>
                  <a:srgbClr val="C9D1D9"/>
                </a:solidFill>
                <a:highlight>
                  <a:srgbClr val="121314"/>
                </a:highlight>
                <a:latin typeface="Courier New"/>
                <a:ea typeface="Courier New"/>
                <a:cs typeface="Courier New"/>
                <a:sym typeface="Courier New"/>
              </a:rPr>
              <a:t>;</a:t>
            </a:r>
            <a:endParaRPr sz="6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650">
                <a:solidFill>
                  <a:srgbClr val="C9D1D9"/>
                </a:solidFill>
                <a:highlight>
                  <a:srgbClr val="121314"/>
                </a:highlight>
                <a:latin typeface="Courier New"/>
                <a:ea typeface="Courier New"/>
                <a:cs typeface="Courier New"/>
                <a:sym typeface="Courier New"/>
              </a:rPr>
              <a:t>   }</a:t>
            </a:r>
            <a:endParaRPr sz="6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6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650">
                <a:solidFill>
                  <a:srgbClr val="8B949E"/>
                </a:solidFill>
                <a:highlight>
                  <a:srgbClr val="121314"/>
                </a:highlight>
                <a:latin typeface="Courier New"/>
                <a:ea typeface="Courier New"/>
                <a:cs typeface="Courier New"/>
                <a:sym typeface="Courier New"/>
              </a:rPr>
              <a:t>   // Duplicado: no se inserta.</a:t>
            </a:r>
            <a:endParaRPr sz="650">
              <a:solidFill>
                <a:srgbClr val="8B949E"/>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650">
                <a:solidFill>
                  <a:srgbClr val="BBBEBF"/>
                </a:solidFill>
                <a:highlight>
                  <a:srgbClr val="121314"/>
                </a:highlight>
                <a:latin typeface="Courier New"/>
                <a:ea typeface="Courier New"/>
                <a:cs typeface="Courier New"/>
                <a:sym typeface="Courier New"/>
              </a:rPr>
              <a:t>}</a:t>
            </a:r>
            <a:endParaRPr sz="650">
              <a:solidFill>
                <a:srgbClr val="BBBEBF"/>
              </a:solidFill>
              <a:highlight>
                <a:srgbClr val="121314"/>
              </a:highlight>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F1A"/>
        </a:solidFill>
      </p:bgPr>
    </p:bg>
    <p:spTree>
      <p:nvGrpSpPr>
        <p:cNvPr id="222" name="Shape 222"/>
        <p:cNvGrpSpPr/>
        <p:nvPr/>
      </p:nvGrpSpPr>
      <p:grpSpPr>
        <a:xfrm>
          <a:off x="0" y="0"/>
          <a:ext cx="0" cy="0"/>
          <a:chOff x="0" y="0"/>
          <a:chExt cx="0" cy="0"/>
        </a:xfrm>
      </p:grpSpPr>
      <p:sp>
        <p:nvSpPr>
          <p:cNvPr id="223" name="Google Shape;223;p8"/>
          <p:cNvSpPr/>
          <p:nvPr/>
        </p:nvSpPr>
        <p:spPr>
          <a:xfrm>
            <a:off x="0" y="0"/>
            <a:ext cx="54864"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8"/>
          <p:cNvSpPr/>
          <p:nvPr/>
        </p:nvSpPr>
        <p:spPr>
          <a:xfrm>
            <a:off x="182880" y="137160"/>
            <a:ext cx="87782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2600"/>
              <a:buFont typeface="Trebuchet MS"/>
              <a:buNone/>
            </a:pPr>
            <a:r>
              <a:rPr b="1" i="0" lang="en-US" sz="2600" u="none" cap="none" strike="noStrike">
                <a:solidFill>
                  <a:srgbClr val="F0F4FF"/>
                </a:solidFill>
                <a:latin typeface="Trebuchet MS"/>
                <a:ea typeface="Trebuchet MS"/>
                <a:cs typeface="Trebuchet MS"/>
                <a:sym typeface="Trebuchet MS"/>
              </a:rPr>
              <a:t>Successor y Predecessor</a:t>
            </a:r>
            <a:endParaRPr b="0" i="0" sz="2600" u="none" cap="none" strike="noStrike">
              <a:solidFill>
                <a:schemeClr val="dk1"/>
              </a:solidFill>
              <a:latin typeface="Calibri"/>
              <a:ea typeface="Calibri"/>
              <a:cs typeface="Calibri"/>
              <a:sym typeface="Calibri"/>
            </a:endParaRPr>
          </a:p>
        </p:txBody>
      </p:sp>
      <p:sp>
        <p:nvSpPr>
          <p:cNvPr id="225" name="Google Shape;225;p8"/>
          <p:cNvSpPr/>
          <p:nvPr/>
        </p:nvSpPr>
        <p:spPr>
          <a:xfrm>
            <a:off x="182880" y="749808"/>
            <a:ext cx="8778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1200"/>
              <a:buFont typeface="Calibri"/>
              <a:buNone/>
            </a:pPr>
            <a:r>
              <a:rPr b="0" i="1" lang="en-US" sz="1200" u="none" cap="none" strike="noStrike">
                <a:solidFill>
                  <a:srgbClr val="8892A4"/>
                </a:solidFill>
                <a:latin typeface="Calibri"/>
                <a:ea typeface="Calibri"/>
                <a:cs typeface="Calibri"/>
                <a:sym typeface="Calibri"/>
              </a:rPr>
              <a:t>El vecino ordenado — fundamental para Delete</a:t>
            </a:r>
            <a:endParaRPr b="0" i="0" sz="1200" u="none" cap="none" strike="noStrike">
              <a:solidFill>
                <a:schemeClr val="dk1"/>
              </a:solidFill>
              <a:latin typeface="Calibri"/>
              <a:ea typeface="Calibri"/>
              <a:cs typeface="Calibri"/>
              <a:sym typeface="Calibri"/>
            </a:endParaRPr>
          </a:p>
        </p:txBody>
      </p:sp>
      <p:sp>
        <p:nvSpPr>
          <p:cNvPr id="226" name="Google Shape;226;p8"/>
          <p:cNvSpPr/>
          <p:nvPr/>
        </p:nvSpPr>
        <p:spPr>
          <a:xfrm>
            <a:off x="182880" y="1024128"/>
            <a:ext cx="1463040" cy="27432"/>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8"/>
          <p:cNvSpPr/>
          <p:nvPr/>
        </p:nvSpPr>
        <p:spPr>
          <a:xfrm>
            <a:off x="137160" y="1188720"/>
            <a:ext cx="4297680" cy="1417320"/>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8"/>
          <p:cNvSpPr/>
          <p:nvPr/>
        </p:nvSpPr>
        <p:spPr>
          <a:xfrm>
            <a:off x="274320" y="1325880"/>
            <a:ext cx="2014423" cy="256032"/>
          </a:xfrm>
          <a:prstGeom prst="roundRect">
            <a:avLst>
              <a:gd fmla="val 21429" name="adj"/>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8"/>
          <p:cNvSpPr/>
          <p:nvPr/>
        </p:nvSpPr>
        <p:spPr>
          <a:xfrm>
            <a:off x="274320" y="1325880"/>
            <a:ext cx="2014423"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ANALOGIA — Relay Race</a:t>
            </a:r>
            <a:endParaRPr b="0" i="0" sz="800" u="none" cap="none" strike="noStrike">
              <a:solidFill>
                <a:schemeClr val="dk1"/>
              </a:solidFill>
              <a:latin typeface="Calibri"/>
              <a:ea typeface="Calibri"/>
              <a:cs typeface="Calibri"/>
              <a:sym typeface="Calibri"/>
            </a:endParaRPr>
          </a:p>
        </p:txBody>
      </p:sp>
      <p:sp>
        <p:nvSpPr>
          <p:cNvPr id="230" name="Google Shape;230;p8"/>
          <p:cNvSpPr/>
          <p:nvPr/>
        </p:nvSpPr>
        <p:spPr>
          <a:xfrm>
            <a:off x="274320" y="1664208"/>
            <a:ext cx="4023360" cy="8503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El sucesor es la persona esperando en la próxima estación de la carrera para tomar la posta en la secuencia ordenada. No siempre es el hijo directo — puede estar en lo profundo de un subárbol o alto en un ancestro. El predecesor es exactamente lo inverso: el que entregó la posta antes.</a:t>
            </a:r>
            <a:endParaRPr b="0" i="0" sz="1050" u="none" cap="none" strike="noStrike">
              <a:solidFill>
                <a:schemeClr val="dk1"/>
              </a:solidFill>
              <a:latin typeface="Calibri"/>
              <a:ea typeface="Calibri"/>
              <a:cs typeface="Calibri"/>
              <a:sym typeface="Calibri"/>
            </a:endParaRPr>
          </a:p>
        </p:txBody>
      </p:sp>
      <p:sp>
        <p:nvSpPr>
          <p:cNvPr id="231" name="Google Shape;231;p8"/>
          <p:cNvSpPr/>
          <p:nvPr/>
        </p:nvSpPr>
        <p:spPr>
          <a:xfrm>
            <a:off x="137160" y="2670048"/>
            <a:ext cx="4297680" cy="2130552"/>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8"/>
          <p:cNvSpPr/>
          <p:nvPr/>
        </p:nvSpPr>
        <p:spPr>
          <a:xfrm>
            <a:off x="274320" y="2807208"/>
            <a:ext cx="2524658" cy="256032"/>
          </a:xfrm>
          <a:prstGeom prst="roundRect">
            <a:avLst>
              <a:gd fmla="val 21429" name="adj"/>
            </a:avLst>
          </a:prstGeom>
          <a:solidFill>
            <a:srgbClr val="10B981"/>
          </a:solidFill>
          <a:ln cap="flat" cmpd="sng" w="1270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8"/>
          <p:cNvSpPr/>
          <p:nvPr/>
        </p:nvSpPr>
        <p:spPr>
          <a:xfrm>
            <a:off x="274320" y="2807208"/>
            <a:ext cx="2524658"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DOS CASOS PARA SUCCESSOR(x)</a:t>
            </a:r>
            <a:endParaRPr b="0" i="0" sz="800" u="none" cap="none" strike="noStrike">
              <a:solidFill>
                <a:schemeClr val="dk1"/>
              </a:solidFill>
              <a:latin typeface="Calibri"/>
              <a:ea typeface="Calibri"/>
              <a:cs typeface="Calibri"/>
              <a:sym typeface="Calibri"/>
            </a:endParaRPr>
          </a:p>
        </p:txBody>
      </p:sp>
      <p:sp>
        <p:nvSpPr>
          <p:cNvPr id="234" name="Google Shape;234;p8"/>
          <p:cNvSpPr/>
          <p:nvPr/>
        </p:nvSpPr>
        <p:spPr>
          <a:xfrm>
            <a:off x="274320" y="3145536"/>
            <a:ext cx="4023360" cy="1563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CASO 1 — x tiene subárbol derecho:</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El sucesor es el nodo con la clave MÍNIMA del subárbol derecho. Seguir left-pointers desde x.right hasta llegar a NULL.</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CASO 2 — x NO tiene subárbol derecho:</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Subir por los ancestros hasta encontrar el primer ancestro y tal que x esté en el subárbol IZQUIERDO de y. Ese y es el sucesor.</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Ejemplo: sucesor de 4 en {6,2,8,1,4} = 6 (subir hasta el primer ancestro cuyo hijo izq es también ancestro de 4).</a:t>
            </a:r>
            <a:endParaRPr b="0" i="0" sz="1050" u="none" cap="none" strike="noStrike">
              <a:solidFill>
                <a:schemeClr val="dk1"/>
              </a:solidFill>
              <a:latin typeface="Calibri"/>
              <a:ea typeface="Calibri"/>
              <a:cs typeface="Calibri"/>
              <a:sym typeface="Calibri"/>
            </a:endParaRPr>
          </a:p>
        </p:txBody>
      </p:sp>
      <p:sp>
        <p:nvSpPr>
          <p:cNvPr id="235" name="Google Shape;235;p8"/>
          <p:cNvSpPr/>
          <p:nvPr/>
        </p:nvSpPr>
        <p:spPr>
          <a:xfrm>
            <a:off x="4572000" y="1188720"/>
            <a:ext cx="4389120" cy="1417320"/>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8"/>
          <p:cNvSpPr/>
          <p:nvPr/>
        </p:nvSpPr>
        <p:spPr>
          <a:xfrm>
            <a:off x="4709160" y="1325880"/>
            <a:ext cx="1419149" cy="256032"/>
          </a:xfrm>
          <a:prstGeom prst="roundRect">
            <a:avLst>
              <a:gd fmla="val 21429"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8"/>
          <p:cNvSpPr/>
          <p:nvPr/>
        </p:nvSpPr>
        <p:spPr>
          <a:xfrm>
            <a:off x="4709160" y="1325880"/>
            <a:ext cx="1419149"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PREDECESSOR(x)</a:t>
            </a:r>
            <a:endParaRPr b="0" i="0" sz="800" u="none" cap="none" strike="noStrike">
              <a:solidFill>
                <a:schemeClr val="dk1"/>
              </a:solidFill>
              <a:latin typeface="Calibri"/>
              <a:ea typeface="Calibri"/>
              <a:cs typeface="Calibri"/>
              <a:sym typeface="Calibri"/>
            </a:endParaRPr>
          </a:p>
        </p:txBody>
      </p:sp>
      <p:sp>
        <p:nvSpPr>
          <p:cNvPr id="238" name="Google Shape;238;p8"/>
          <p:cNvSpPr/>
          <p:nvPr/>
        </p:nvSpPr>
        <p:spPr>
          <a:xfrm>
            <a:off x="4709160" y="1664208"/>
            <a:ext cx="4114800" cy="8503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Exactamente simétrico al sucesor:</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 Si x tiene subárbol IZQUIERDO → el predecesor es el MÁXIMO del subárbol izquierdo (seguir right-pointers desde x.left hasta NULL).</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 Si x NO tiene subárbol izquierdo → subir hasta el primer ancestro y tal que x esté en el subárbol DERECHO de y.</a:t>
            </a:r>
            <a:endParaRPr b="0" i="0" sz="1050" u="none" cap="none" strike="noStrike">
              <a:solidFill>
                <a:schemeClr val="dk1"/>
              </a:solidFill>
              <a:latin typeface="Calibri"/>
              <a:ea typeface="Calibri"/>
              <a:cs typeface="Calibri"/>
              <a:sym typeface="Calibri"/>
            </a:endParaRPr>
          </a:p>
        </p:txBody>
      </p:sp>
      <p:sp>
        <p:nvSpPr>
          <p:cNvPr id="239" name="Google Shape;239;p8"/>
          <p:cNvSpPr/>
          <p:nvPr/>
        </p:nvSpPr>
        <p:spPr>
          <a:xfrm>
            <a:off x="4572000" y="2670048"/>
            <a:ext cx="4389120" cy="2130552"/>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8"/>
          <p:cNvSpPr/>
          <p:nvPr/>
        </p:nvSpPr>
        <p:spPr>
          <a:xfrm>
            <a:off x="4709160" y="2807208"/>
            <a:ext cx="1674266" cy="256032"/>
          </a:xfrm>
          <a:prstGeom prst="roundRect">
            <a:avLst>
              <a:gd fmla="val 21429" name="adj"/>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8"/>
          <p:cNvSpPr/>
          <p:nvPr/>
        </p:nvSpPr>
        <p:spPr>
          <a:xfrm>
            <a:off x="4709160" y="2807208"/>
            <a:ext cx="1674266"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¿POR QUÉ IMPORTA?</a:t>
            </a:r>
            <a:endParaRPr b="0" i="0" sz="800" u="none" cap="none" strike="noStrike">
              <a:solidFill>
                <a:schemeClr val="dk1"/>
              </a:solidFill>
              <a:latin typeface="Calibri"/>
              <a:ea typeface="Calibri"/>
              <a:cs typeface="Calibri"/>
              <a:sym typeface="Calibri"/>
            </a:endParaRPr>
          </a:p>
        </p:txBody>
      </p:sp>
      <p:sp>
        <p:nvSpPr>
          <p:cNvPr id="242" name="Google Shape;242;p8"/>
          <p:cNvSpPr/>
          <p:nvPr/>
        </p:nvSpPr>
        <p:spPr>
          <a:xfrm>
            <a:off x="4709160" y="3145536"/>
            <a:ext cx="4114800" cy="1563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El sucesor es el corazón de la operación DELETE con dos hijos: cuando eliminás un nodo que tiene dos hijos, lo reemplazás con su sucesor (que tiene como máximo UN hijo) y luego eliminás el sucesor original.</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El sucesor de x en un BST es el nodo con la clave más pequeña mayor que x.key. Por definición, si x tiene sucesor en su subárbol derecho, ese sucesor NO tiene hijo izquierdo (de lo contrario ese hijo sería más pequeño y sería el verdadero sucesor).</a:t>
            </a:r>
            <a:endParaRPr b="0" i="0" sz="1050" u="none" cap="none" strike="noStrike">
              <a:solidFill>
                <a:schemeClr val="dk1"/>
              </a:solidFill>
              <a:latin typeface="Calibri"/>
              <a:ea typeface="Calibri"/>
              <a:cs typeface="Calibri"/>
              <a:sym typeface="Calibri"/>
            </a:endParaRPr>
          </a:p>
        </p:txBody>
      </p:sp>
      <p:sp>
        <p:nvSpPr>
          <p:cNvPr id="243" name="Google Shape;243;p8"/>
          <p:cNvSpPr/>
          <p:nvPr/>
        </p:nvSpPr>
        <p:spPr>
          <a:xfrm>
            <a:off x="137160" y="4846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AED · T1 · BST · Successor</a:t>
            </a:r>
            <a:endParaRPr b="0" i="0" sz="900" u="none" cap="none" strike="noStrike">
              <a:solidFill>
                <a:schemeClr val="dk1"/>
              </a:solidFill>
              <a:latin typeface="Calibri"/>
              <a:ea typeface="Calibri"/>
              <a:cs typeface="Calibri"/>
              <a:sym typeface="Calibri"/>
            </a:endParaRPr>
          </a:p>
        </p:txBody>
      </p:sp>
      <p:sp>
        <p:nvSpPr>
          <p:cNvPr id="244" name="Google Shape;244;p8"/>
          <p:cNvSpPr/>
          <p:nvPr/>
        </p:nvSpPr>
        <p:spPr>
          <a:xfrm>
            <a:off x="8503920" y="4846320"/>
            <a:ext cx="54864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F1A"/>
        </a:solidFill>
      </p:bgPr>
    </p:bg>
    <p:spTree>
      <p:nvGrpSpPr>
        <p:cNvPr id="249" name="Shape 249"/>
        <p:cNvGrpSpPr/>
        <p:nvPr/>
      </p:nvGrpSpPr>
      <p:grpSpPr>
        <a:xfrm>
          <a:off x="0" y="0"/>
          <a:ext cx="0" cy="0"/>
          <a:chOff x="0" y="0"/>
          <a:chExt cx="0" cy="0"/>
        </a:xfrm>
      </p:grpSpPr>
      <p:sp>
        <p:nvSpPr>
          <p:cNvPr id="250" name="Google Shape;250;p9"/>
          <p:cNvSpPr/>
          <p:nvPr/>
        </p:nvSpPr>
        <p:spPr>
          <a:xfrm>
            <a:off x="0" y="0"/>
            <a:ext cx="54864"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9"/>
          <p:cNvSpPr/>
          <p:nvPr/>
        </p:nvSpPr>
        <p:spPr>
          <a:xfrm>
            <a:off x="182880" y="137160"/>
            <a:ext cx="87782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2600"/>
              <a:buFont typeface="Trebuchet MS"/>
              <a:buNone/>
            </a:pPr>
            <a:r>
              <a:rPr b="1" i="0" lang="en-US" sz="2600" u="none" cap="none" strike="noStrike">
                <a:solidFill>
                  <a:srgbClr val="F0F4FF"/>
                </a:solidFill>
                <a:latin typeface="Trebuchet MS"/>
                <a:ea typeface="Trebuchet MS"/>
                <a:cs typeface="Trebuchet MS"/>
                <a:sym typeface="Trebuchet MS"/>
              </a:rPr>
              <a:t>Delete — El caso difícil: nodo con dos hijos</a:t>
            </a:r>
            <a:endParaRPr b="0" i="0" sz="2600" u="none" cap="none" strike="noStrike">
              <a:solidFill>
                <a:schemeClr val="dk1"/>
              </a:solidFill>
              <a:latin typeface="Calibri"/>
              <a:ea typeface="Calibri"/>
              <a:cs typeface="Calibri"/>
              <a:sym typeface="Calibri"/>
            </a:endParaRPr>
          </a:p>
        </p:txBody>
      </p:sp>
      <p:sp>
        <p:nvSpPr>
          <p:cNvPr id="252" name="Google Shape;252;p9"/>
          <p:cNvSpPr/>
          <p:nvPr/>
        </p:nvSpPr>
        <p:spPr>
          <a:xfrm>
            <a:off x="182880" y="749808"/>
            <a:ext cx="8778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1200"/>
              <a:buFont typeface="Calibri"/>
              <a:buNone/>
            </a:pPr>
            <a:r>
              <a:rPr b="0" i="1" lang="en-US" sz="1200" u="none" cap="none" strike="noStrike">
                <a:solidFill>
                  <a:srgbClr val="8892A4"/>
                </a:solidFill>
                <a:latin typeface="Calibri"/>
                <a:ea typeface="Calibri"/>
                <a:cs typeface="Calibri"/>
                <a:sym typeface="Calibri"/>
              </a:rPr>
              <a:t>Por qué no podés simplemente mover un hijo arriba</a:t>
            </a:r>
            <a:endParaRPr b="0" i="0" sz="1200" u="none" cap="none" strike="noStrike">
              <a:solidFill>
                <a:schemeClr val="dk1"/>
              </a:solidFill>
              <a:latin typeface="Calibri"/>
              <a:ea typeface="Calibri"/>
              <a:cs typeface="Calibri"/>
              <a:sym typeface="Calibri"/>
            </a:endParaRPr>
          </a:p>
        </p:txBody>
      </p:sp>
      <p:sp>
        <p:nvSpPr>
          <p:cNvPr id="253" name="Google Shape;253;p9"/>
          <p:cNvSpPr/>
          <p:nvPr/>
        </p:nvSpPr>
        <p:spPr>
          <a:xfrm>
            <a:off x="182880" y="1024128"/>
            <a:ext cx="1463040" cy="27432"/>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9"/>
          <p:cNvSpPr/>
          <p:nvPr/>
        </p:nvSpPr>
        <p:spPr>
          <a:xfrm>
            <a:off x="137160" y="1188720"/>
            <a:ext cx="4297680" cy="1325880"/>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9"/>
          <p:cNvSpPr/>
          <p:nvPr/>
        </p:nvSpPr>
        <p:spPr>
          <a:xfrm>
            <a:off x="274320" y="1325880"/>
            <a:ext cx="2269541" cy="256032"/>
          </a:xfrm>
          <a:prstGeom prst="roundRect">
            <a:avLst>
              <a:gd fmla="val 21429" name="adj"/>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9"/>
          <p:cNvSpPr/>
          <p:nvPr/>
        </p:nvSpPr>
        <p:spPr>
          <a:xfrm>
            <a:off x="274320" y="1325880"/>
            <a:ext cx="2269541"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LOS TRES CASOS DE DELETE</a:t>
            </a:r>
            <a:endParaRPr b="0" i="0" sz="800" u="none" cap="none" strike="noStrike">
              <a:solidFill>
                <a:schemeClr val="dk1"/>
              </a:solidFill>
              <a:latin typeface="Calibri"/>
              <a:ea typeface="Calibri"/>
              <a:cs typeface="Calibri"/>
              <a:sym typeface="Calibri"/>
            </a:endParaRPr>
          </a:p>
        </p:txBody>
      </p:sp>
      <p:sp>
        <p:nvSpPr>
          <p:cNvPr id="257" name="Google Shape;257;p9"/>
          <p:cNvSpPr/>
          <p:nvPr/>
        </p:nvSpPr>
        <p:spPr>
          <a:xfrm>
            <a:off x="274320" y="1664208"/>
            <a:ext cx="4023360" cy="7589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CASO 1 — Sin hijos (hoja): simplemente eliminar, apuntar el padre a NULL.</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CASO 2 — Un hijo: bypass del nodo, conectar el padre directamente al único hijo. Igual que en una linked list.</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CASO 3 — Dos hijos: el único caso no trivial. Requiere usar el sucesor.</a:t>
            </a:r>
            <a:endParaRPr b="0" i="0" sz="1050" u="none" cap="none" strike="noStrike">
              <a:solidFill>
                <a:schemeClr val="dk1"/>
              </a:solidFill>
              <a:latin typeface="Calibri"/>
              <a:ea typeface="Calibri"/>
              <a:cs typeface="Calibri"/>
              <a:sym typeface="Calibri"/>
            </a:endParaRPr>
          </a:p>
        </p:txBody>
      </p:sp>
      <p:sp>
        <p:nvSpPr>
          <p:cNvPr id="258" name="Google Shape;258;p9"/>
          <p:cNvSpPr/>
          <p:nvPr/>
        </p:nvSpPr>
        <p:spPr>
          <a:xfrm>
            <a:off x="137160" y="2578608"/>
            <a:ext cx="4297680" cy="2221992"/>
          </a:xfrm>
          <a:prstGeom prst="rect">
            <a:avLst/>
          </a:prstGeom>
          <a:solidFill>
            <a:srgbClr val="141829"/>
          </a:solidFill>
          <a:ln cap="flat" cmpd="sng" w="9525">
            <a:solidFill>
              <a:srgbClr val="0891B2"/>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9"/>
          <p:cNvSpPr/>
          <p:nvPr/>
        </p:nvSpPr>
        <p:spPr>
          <a:xfrm>
            <a:off x="274320" y="2734056"/>
            <a:ext cx="3034894" cy="256032"/>
          </a:xfrm>
          <a:prstGeom prst="roundRect">
            <a:avLst>
              <a:gd fmla="val 21429" name="adj"/>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9"/>
          <p:cNvSpPr/>
          <p:nvPr/>
        </p:nvSpPr>
        <p:spPr>
          <a:xfrm>
            <a:off x="274320" y="2734056"/>
            <a:ext cx="3034894"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CASO 3 — DELETE(2) en {6,2,8,1,4}</a:t>
            </a:r>
            <a:endParaRPr b="0" i="0" sz="800" u="none" cap="none" strike="noStrike">
              <a:solidFill>
                <a:schemeClr val="dk1"/>
              </a:solidFill>
              <a:latin typeface="Calibri"/>
              <a:ea typeface="Calibri"/>
              <a:cs typeface="Calibri"/>
              <a:sym typeface="Calibri"/>
            </a:endParaRPr>
          </a:p>
        </p:txBody>
      </p:sp>
      <p:sp>
        <p:nvSpPr>
          <p:cNvPr id="261" name="Google Shape;261;p9"/>
          <p:cNvSpPr/>
          <p:nvPr/>
        </p:nvSpPr>
        <p:spPr>
          <a:xfrm>
            <a:off x="274320" y="3063240"/>
            <a:ext cx="4023360" cy="1618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000"/>
              <a:buFont typeface="Calibri"/>
              <a:buNone/>
            </a:pPr>
            <a:r>
              <a:rPr b="1" i="0" lang="en-US" sz="1000" u="none" cap="none" strike="noStrike">
                <a:solidFill>
                  <a:srgbClr val="EF4444"/>
                </a:solidFill>
                <a:latin typeface="Calibri"/>
                <a:ea typeface="Calibri"/>
                <a:cs typeface="Calibri"/>
                <a:sym typeface="Calibri"/>
              </a:rPr>
              <a:t>Problema: </a:t>
            </a:r>
            <a:r>
              <a:rPr b="0" i="0" lang="en-US" sz="1000" u="none" cap="none" strike="noStrike">
                <a:solidFill>
                  <a:srgbClr val="F0F4FF"/>
                </a:solidFill>
                <a:latin typeface="Calibri"/>
                <a:ea typeface="Calibri"/>
                <a:cs typeface="Calibri"/>
                <a:sym typeface="Calibri"/>
              </a:rPr>
              <a:t>el nodo 2 tiene dos hijos (1 y 4). Si movés 1 arriba, ¿dónde queda 4? Si movés 4 arriba, ¿dónde queda 1?</a:t>
            </a:r>
            <a:br>
              <a:rPr b="0" i="0" lang="en-US" sz="1000" u="none" cap="none" strike="noStrike">
                <a:solidFill>
                  <a:srgbClr val="F0F4FF"/>
                </a:solidFill>
                <a:latin typeface="Calibri"/>
                <a:ea typeface="Calibri"/>
                <a:cs typeface="Calibri"/>
                <a:sym typeface="Calibri"/>
              </a:rPr>
            </a:br>
            <a:br>
              <a:rPr b="0" i="0" lang="en-US" sz="1000" u="none" cap="none" strike="noStrike">
                <a:solidFill>
                  <a:srgbClr val="F0F4FF"/>
                </a:solidFill>
                <a:latin typeface="Calibri"/>
                <a:ea typeface="Calibri"/>
                <a:cs typeface="Calibri"/>
                <a:sym typeface="Calibri"/>
              </a:rPr>
            </a:br>
            <a:r>
              <a:rPr b="1" i="0" lang="en-US" sz="1000" u="none" cap="none" strike="noStrike">
                <a:solidFill>
                  <a:srgbClr val="10B981"/>
                </a:solidFill>
                <a:latin typeface="Calibri"/>
                <a:ea typeface="Calibri"/>
                <a:cs typeface="Calibri"/>
                <a:sym typeface="Calibri"/>
              </a:rPr>
              <a:t>Solución — reemplazar con el sucesor:</a:t>
            </a:r>
            <a:br>
              <a:rPr b="1" i="0" lang="en-US" sz="1000" u="none" cap="none" strike="noStrike">
                <a:solidFill>
                  <a:srgbClr val="10B981"/>
                </a:solidFill>
                <a:latin typeface="Calibri"/>
                <a:ea typeface="Calibri"/>
                <a:cs typeface="Calibri"/>
                <a:sym typeface="Calibri"/>
              </a:rPr>
            </a:br>
            <a:r>
              <a:rPr b="0" i="0" lang="en-US" sz="1000" u="none" cap="none" strike="noStrike">
                <a:solidFill>
                  <a:srgbClr val="F0F4FF"/>
                </a:solidFill>
                <a:latin typeface="Calibri"/>
                <a:ea typeface="Calibri"/>
                <a:cs typeface="Calibri"/>
                <a:sym typeface="Calibri"/>
              </a:rPr>
              <a:t>1. Encontrar el sucesor de 2 → es 4 (mínimo del subárbol derecho).</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00"/>
              <a:buFont typeface="Calibri"/>
              <a:buNone/>
            </a:pPr>
            <a:r>
              <a:rPr b="0" i="0" lang="en-US" sz="1000" u="none" cap="none" strike="noStrike">
                <a:solidFill>
                  <a:srgbClr val="F0F4FF"/>
                </a:solidFill>
                <a:latin typeface="Calibri"/>
                <a:ea typeface="Calibri"/>
                <a:cs typeface="Calibri"/>
                <a:sym typeface="Calibri"/>
              </a:rPr>
              <a:t>2. Copiar la clave 4 al nodo donde estaba 2.</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00"/>
              <a:buFont typeface="Calibri"/>
              <a:buNone/>
            </a:pPr>
            <a:r>
              <a:rPr b="0" i="0" lang="en-US" sz="1000" u="none" cap="none" strike="noStrike">
                <a:solidFill>
                  <a:srgbClr val="F0F4FF"/>
                </a:solidFill>
                <a:latin typeface="Calibri"/>
                <a:ea typeface="Calibri"/>
                <a:cs typeface="Calibri"/>
                <a:sym typeface="Calibri"/>
              </a:rPr>
              <a:t>3. Eliminar el nodo original 4 (que tiene a lo sumo UN hijo).</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00"/>
              <a:buFont typeface="Calibri"/>
              <a:buNone/>
            </a:pPr>
            <a:r>
              <a:rPr b="0" i="0" lang="en-US" sz="1000" u="none" cap="none" strike="noStrike">
                <a:solidFill>
                  <a:srgbClr val="F0F4FF"/>
                </a:solidFill>
                <a:latin typeface="Calibri"/>
                <a:ea typeface="Calibri"/>
                <a:cs typeface="Calibri"/>
                <a:sym typeface="Calibri"/>
              </a:rPr>
              <a:t>Resultado: árbol con {6,4,8,1} — BST property preservada.</a:t>
            </a:r>
            <a:endParaRPr b="0" i="0" sz="1000" u="none" cap="none" strike="noStrike">
              <a:solidFill>
                <a:schemeClr val="dk1"/>
              </a:solidFill>
              <a:latin typeface="Calibri"/>
              <a:ea typeface="Calibri"/>
              <a:cs typeface="Calibri"/>
              <a:sym typeface="Calibri"/>
            </a:endParaRPr>
          </a:p>
        </p:txBody>
      </p:sp>
      <p:sp>
        <p:nvSpPr>
          <p:cNvPr id="262" name="Google Shape;262;p9"/>
          <p:cNvSpPr/>
          <p:nvPr/>
        </p:nvSpPr>
        <p:spPr>
          <a:xfrm>
            <a:off x="4572000" y="1188720"/>
            <a:ext cx="4389120" cy="1325880"/>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9"/>
          <p:cNvSpPr/>
          <p:nvPr/>
        </p:nvSpPr>
        <p:spPr>
          <a:xfrm>
            <a:off x="4709160" y="1325880"/>
            <a:ext cx="3034894" cy="256032"/>
          </a:xfrm>
          <a:prstGeom prst="roundRect">
            <a:avLst>
              <a:gd fmla="val 21429" name="adj"/>
            </a:avLst>
          </a:prstGeom>
          <a:solidFill>
            <a:srgbClr val="10B981"/>
          </a:solidFill>
          <a:ln cap="flat" cmpd="sng" w="1270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9"/>
          <p:cNvSpPr/>
          <p:nvPr/>
        </p:nvSpPr>
        <p:spPr>
          <a:xfrm>
            <a:off x="4709160" y="1325880"/>
            <a:ext cx="3034894"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POR QUÉ EL SUCESOR TIENE ≤ 1 HIJO</a:t>
            </a:r>
            <a:endParaRPr b="0" i="0" sz="800" u="none" cap="none" strike="noStrike">
              <a:solidFill>
                <a:schemeClr val="dk1"/>
              </a:solidFill>
              <a:latin typeface="Calibri"/>
              <a:ea typeface="Calibri"/>
              <a:cs typeface="Calibri"/>
              <a:sym typeface="Calibri"/>
            </a:endParaRPr>
          </a:p>
        </p:txBody>
      </p:sp>
      <p:sp>
        <p:nvSpPr>
          <p:cNvPr id="265" name="Google Shape;265;p9"/>
          <p:cNvSpPr/>
          <p:nvPr/>
        </p:nvSpPr>
        <p:spPr>
          <a:xfrm>
            <a:off x="4709160" y="1664208"/>
            <a:ext cx="4114800" cy="7589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El sucesor de x es el MÍNIMO del subárbol derecho. Un mínimo, por definición, no tiene hijo izquierdo: si tuviera hijo izquierdo, ese hijo sería más pequeño y no sería el mínimo. Por lo tanto, el sucesor siempre tiene a lo sumo un hijo (el derecho), lo que lo convierte en un Caso 1 o Caso 2 — triviales.</a:t>
            </a:r>
            <a:endParaRPr b="0" i="0" sz="1050" u="none" cap="none" strike="noStrike">
              <a:solidFill>
                <a:schemeClr val="dk1"/>
              </a:solidFill>
              <a:latin typeface="Calibri"/>
              <a:ea typeface="Calibri"/>
              <a:cs typeface="Calibri"/>
              <a:sym typeface="Calibri"/>
            </a:endParaRPr>
          </a:p>
        </p:txBody>
      </p:sp>
      <p:sp>
        <p:nvSpPr>
          <p:cNvPr id="266" name="Google Shape;266;p9"/>
          <p:cNvSpPr/>
          <p:nvPr/>
        </p:nvSpPr>
        <p:spPr>
          <a:xfrm>
            <a:off x="4572000" y="2578608"/>
            <a:ext cx="4389120" cy="2221992"/>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9"/>
          <p:cNvSpPr/>
          <p:nvPr/>
        </p:nvSpPr>
        <p:spPr>
          <a:xfrm>
            <a:off x="4709160" y="2715768"/>
            <a:ext cx="1589227" cy="256032"/>
          </a:xfrm>
          <a:prstGeom prst="roundRect">
            <a:avLst>
              <a:gd fmla="val 21429" name="adj"/>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9"/>
          <p:cNvSpPr/>
          <p:nvPr/>
        </p:nvSpPr>
        <p:spPr>
          <a:xfrm>
            <a:off x="4709160" y="2715768"/>
            <a:ext cx="1589227"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EL ERROR CLÁSICO</a:t>
            </a:r>
            <a:endParaRPr b="0" i="0" sz="800" u="none" cap="none" strike="noStrike">
              <a:solidFill>
                <a:schemeClr val="dk1"/>
              </a:solidFill>
              <a:latin typeface="Calibri"/>
              <a:ea typeface="Calibri"/>
              <a:cs typeface="Calibri"/>
              <a:sym typeface="Calibri"/>
            </a:endParaRPr>
          </a:p>
        </p:txBody>
      </p:sp>
      <p:sp>
        <p:nvSpPr>
          <p:cNvPr id="269" name="Google Shape;269;p9"/>
          <p:cNvSpPr/>
          <p:nvPr/>
        </p:nvSpPr>
        <p:spPr>
          <a:xfrm>
            <a:off x="4709160" y="3054096"/>
            <a:ext cx="4114800" cy="16550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Simplemente mover el subárbol derecho al lugar del nodo eliminado:</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 INCORRECTO:</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parent-&gt;left = node-&gt;right;</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 node-&gt;left queda huérfano</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Esto hace que todo el subárbol izquierdo del nodo eliminado (en el ejemplo, el nodo 1) pierda toda conexión con el árbol — memory leak garantizado y datos inaccesibles para siempre. La integridad de la estructura se rompe permanentemente.</a:t>
            </a:r>
            <a:endParaRPr b="0" i="0" sz="1050" u="none" cap="none" strike="noStrike">
              <a:solidFill>
                <a:schemeClr val="dk1"/>
              </a:solidFill>
              <a:latin typeface="Calibri"/>
              <a:ea typeface="Calibri"/>
              <a:cs typeface="Calibri"/>
              <a:sym typeface="Calibri"/>
            </a:endParaRPr>
          </a:p>
        </p:txBody>
      </p:sp>
      <p:sp>
        <p:nvSpPr>
          <p:cNvPr id="270" name="Google Shape;270;p9"/>
          <p:cNvSpPr/>
          <p:nvPr/>
        </p:nvSpPr>
        <p:spPr>
          <a:xfrm>
            <a:off x="137160" y="4846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AED · T1 · BST · Delete</a:t>
            </a:r>
            <a:endParaRPr b="0" i="0" sz="900" u="none" cap="none" strike="noStrike">
              <a:solidFill>
                <a:schemeClr val="dk1"/>
              </a:solidFill>
              <a:latin typeface="Calibri"/>
              <a:ea typeface="Calibri"/>
              <a:cs typeface="Calibri"/>
              <a:sym typeface="Calibri"/>
            </a:endParaRPr>
          </a:p>
        </p:txBody>
      </p:sp>
      <p:sp>
        <p:nvSpPr>
          <p:cNvPr id="271" name="Google Shape;271;p9"/>
          <p:cNvSpPr/>
          <p:nvPr/>
        </p:nvSpPr>
        <p:spPr>
          <a:xfrm>
            <a:off x="8503920" y="4846320"/>
            <a:ext cx="54864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F1A"/>
        </a:solidFill>
      </p:bgPr>
    </p:bg>
    <p:spTree>
      <p:nvGrpSpPr>
        <p:cNvPr id="276" name="Shape 276"/>
        <p:cNvGrpSpPr/>
        <p:nvPr/>
      </p:nvGrpSpPr>
      <p:grpSpPr>
        <a:xfrm>
          <a:off x="0" y="0"/>
          <a:ext cx="0" cy="0"/>
          <a:chOff x="0" y="0"/>
          <a:chExt cx="0" cy="0"/>
        </a:xfrm>
      </p:grpSpPr>
      <p:sp>
        <p:nvSpPr>
          <p:cNvPr id="277" name="Google Shape;277;p10"/>
          <p:cNvSpPr/>
          <p:nvPr/>
        </p:nvSpPr>
        <p:spPr>
          <a:xfrm>
            <a:off x="0" y="0"/>
            <a:ext cx="54864"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0"/>
          <p:cNvSpPr/>
          <p:nvPr/>
        </p:nvSpPr>
        <p:spPr>
          <a:xfrm>
            <a:off x="182880" y="137160"/>
            <a:ext cx="87782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2600"/>
              <a:buFont typeface="Trebuchet MS"/>
              <a:buNone/>
            </a:pPr>
            <a:r>
              <a:rPr b="1" i="0" lang="en-US" sz="2600" u="none" cap="none" strike="noStrike">
                <a:solidFill>
                  <a:srgbClr val="F0F4FF"/>
                </a:solidFill>
                <a:latin typeface="Trebuchet MS"/>
                <a:ea typeface="Trebuchet MS"/>
                <a:cs typeface="Trebuchet MS"/>
                <a:sym typeface="Trebuchet MS"/>
              </a:rPr>
              <a:t>Delete en C++ — Los tres casos implementados</a:t>
            </a:r>
            <a:endParaRPr b="0" i="0" sz="2600" u="none" cap="none" strike="noStrike">
              <a:solidFill>
                <a:schemeClr val="dk1"/>
              </a:solidFill>
              <a:latin typeface="Calibri"/>
              <a:ea typeface="Calibri"/>
              <a:cs typeface="Calibri"/>
              <a:sym typeface="Calibri"/>
            </a:endParaRPr>
          </a:p>
        </p:txBody>
      </p:sp>
      <p:sp>
        <p:nvSpPr>
          <p:cNvPr id="279" name="Google Shape;279;p10"/>
          <p:cNvSpPr/>
          <p:nvPr/>
        </p:nvSpPr>
        <p:spPr>
          <a:xfrm>
            <a:off x="182880" y="1024128"/>
            <a:ext cx="1463040" cy="27432"/>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0"/>
          <p:cNvSpPr/>
          <p:nvPr/>
        </p:nvSpPr>
        <p:spPr>
          <a:xfrm>
            <a:off x="137160" y="1188720"/>
            <a:ext cx="5029200" cy="3657600"/>
          </a:xfrm>
          <a:prstGeom prst="rect">
            <a:avLst/>
          </a:prstGeom>
          <a:solidFill>
            <a:srgbClr val="111526"/>
          </a:solidFill>
          <a:ln cap="flat" cmpd="sng" w="9525">
            <a:solidFill>
              <a:srgbClr val="0891B2"/>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0"/>
          <p:cNvSpPr/>
          <p:nvPr/>
        </p:nvSpPr>
        <p:spPr>
          <a:xfrm>
            <a:off x="274320" y="1344168"/>
            <a:ext cx="1504188" cy="256032"/>
          </a:xfrm>
          <a:prstGeom prst="roundRect">
            <a:avLst>
              <a:gd fmla="val 21429" name="adj"/>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0"/>
          <p:cNvSpPr/>
          <p:nvPr/>
        </p:nvSpPr>
        <p:spPr>
          <a:xfrm>
            <a:off x="274320" y="1344168"/>
            <a:ext cx="1504188"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CÓDIGO — DELETE</a:t>
            </a:r>
            <a:endParaRPr b="0" i="0" sz="800" u="none" cap="none" strike="noStrike">
              <a:solidFill>
                <a:schemeClr val="dk1"/>
              </a:solidFill>
              <a:latin typeface="Calibri"/>
              <a:ea typeface="Calibri"/>
              <a:cs typeface="Calibri"/>
              <a:sym typeface="Calibri"/>
            </a:endParaRPr>
          </a:p>
        </p:txBody>
      </p:sp>
      <p:sp>
        <p:nvSpPr>
          <p:cNvPr id="283" name="Google Shape;283;p10"/>
          <p:cNvSpPr/>
          <p:nvPr/>
        </p:nvSpPr>
        <p:spPr>
          <a:xfrm>
            <a:off x="274320" y="5422392"/>
            <a:ext cx="475488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900"/>
              <a:buFont typeface="Consolas"/>
              <a:buNone/>
            </a:pPr>
            <a:r>
              <a:rPr b="0" i="0" lang="en-US" sz="900" u="none" cap="none" strike="noStrike">
                <a:solidFill>
                  <a:srgbClr val="F0F4FF"/>
                </a:solidFill>
                <a:latin typeface="Consolas"/>
                <a:ea typeface="Consolas"/>
                <a:cs typeface="Consolas"/>
                <a:sym typeface="Consolas"/>
              </a:rPr>
              <a:t>  }</a:t>
            </a:r>
            <a:endParaRPr b="0" i="0" sz="900" u="none" cap="none" strike="noStrike">
              <a:solidFill>
                <a:schemeClr val="dk1"/>
              </a:solidFill>
              <a:latin typeface="Calibri"/>
              <a:ea typeface="Calibri"/>
              <a:cs typeface="Calibri"/>
              <a:sym typeface="Calibri"/>
            </a:endParaRPr>
          </a:p>
        </p:txBody>
      </p:sp>
      <p:sp>
        <p:nvSpPr>
          <p:cNvPr id="284" name="Google Shape;284;p10"/>
          <p:cNvSpPr/>
          <p:nvPr/>
        </p:nvSpPr>
        <p:spPr>
          <a:xfrm>
            <a:off x="274320" y="5669280"/>
            <a:ext cx="475488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900"/>
              <a:buFont typeface="Consolas"/>
              <a:buNone/>
            </a:pPr>
            <a:r>
              <a:rPr b="0" i="0" lang="en-US" sz="900" u="none" cap="none" strike="noStrike">
                <a:solidFill>
                  <a:srgbClr val="F0F4FF"/>
                </a:solidFill>
                <a:latin typeface="Consolas"/>
                <a:ea typeface="Consolas"/>
                <a:cs typeface="Consolas"/>
                <a:sym typeface="Consolas"/>
              </a:rPr>
              <a:t>}</a:t>
            </a:r>
            <a:endParaRPr b="0" i="0" sz="900" u="none" cap="none" strike="noStrike">
              <a:solidFill>
                <a:schemeClr val="dk1"/>
              </a:solidFill>
              <a:latin typeface="Calibri"/>
              <a:ea typeface="Calibri"/>
              <a:cs typeface="Calibri"/>
              <a:sym typeface="Calibri"/>
            </a:endParaRPr>
          </a:p>
        </p:txBody>
      </p:sp>
      <p:sp>
        <p:nvSpPr>
          <p:cNvPr id="285" name="Google Shape;285;p10"/>
          <p:cNvSpPr/>
          <p:nvPr/>
        </p:nvSpPr>
        <p:spPr>
          <a:xfrm>
            <a:off x="5349240" y="1188720"/>
            <a:ext cx="3611880" cy="1828800"/>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0"/>
          <p:cNvSpPr/>
          <p:nvPr/>
        </p:nvSpPr>
        <p:spPr>
          <a:xfrm>
            <a:off x="5486400" y="1325880"/>
            <a:ext cx="1334110" cy="256032"/>
          </a:xfrm>
          <a:prstGeom prst="roundRect">
            <a:avLst>
              <a:gd fmla="val 21429" name="adj"/>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0"/>
          <p:cNvSpPr/>
          <p:nvPr/>
        </p:nvSpPr>
        <p:spPr>
          <a:xfrm>
            <a:off x="5486400" y="1325880"/>
            <a:ext cx="133411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COMPLEJIDADES</a:t>
            </a:r>
            <a:endParaRPr b="0" i="0" sz="800" u="none" cap="none" strike="noStrike">
              <a:solidFill>
                <a:schemeClr val="dk1"/>
              </a:solidFill>
              <a:latin typeface="Calibri"/>
              <a:ea typeface="Calibri"/>
              <a:cs typeface="Calibri"/>
              <a:sym typeface="Calibri"/>
            </a:endParaRPr>
          </a:p>
        </p:txBody>
      </p:sp>
      <p:sp>
        <p:nvSpPr>
          <p:cNvPr id="288" name="Google Shape;288;p10"/>
          <p:cNvSpPr/>
          <p:nvPr/>
        </p:nvSpPr>
        <p:spPr>
          <a:xfrm>
            <a:off x="5486400" y="1664208"/>
            <a:ext cx="3337560" cy="12618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Time: O(h) — descender hasta el nodo + encontrar sucesor (también O(h))</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Space: O(h) — pila de recursión</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Total: O(h). En árbol balanceado → O(log n). En árbol degenerado → O(n).</a:t>
            </a:r>
            <a:endParaRPr b="0" i="0" sz="1050" u="none" cap="none" strike="noStrike">
              <a:solidFill>
                <a:schemeClr val="dk1"/>
              </a:solidFill>
              <a:latin typeface="Calibri"/>
              <a:ea typeface="Calibri"/>
              <a:cs typeface="Calibri"/>
              <a:sym typeface="Calibri"/>
            </a:endParaRPr>
          </a:p>
        </p:txBody>
      </p:sp>
      <p:sp>
        <p:nvSpPr>
          <p:cNvPr id="289" name="Google Shape;289;p10"/>
          <p:cNvSpPr/>
          <p:nvPr/>
        </p:nvSpPr>
        <p:spPr>
          <a:xfrm>
            <a:off x="5349240" y="3081528"/>
            <a:ext cx="3611880" cy="1764792"/>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0"/>
          <p:cNvSpPr/>
          <p:nvPr/>
        </p:nvSpPr>
        <p:spPr>
          <a:xfrm>
            <a:off x="5486400" y="3218688"/>
            <a:ext cx="2524658" cy="256032"/>
          </a:xfrm>
          <a:prstGeom prst="roundRect">
            <a:avLst>
              <a:gd fmla="val 21429" name="adj"/>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0"/>
          <p:cNvSpPr/>
          <p:nvPr/>
        </p:nvSpPr>
        <p:spPr>
          <a:xfrm>
            <a:off x="5486400" y="3218688"/>
            <a:ext cx="2524658"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LAZY DELETION — ALTERNATIVA</a:t>
            </a:r>
            <a:endParaRPr b="0" i="0" sz="800" u="none" cap="none" strike="noStrike">
              <a:solidFill>
                <a:schemeClr val="dk1"/>
              </a:solidFill>
              <a:latin typeface="Calibri"/>
              <a:ea typeface="Calibri"/>
              <a:cs typeface="Calibri"/>
              <a:sym typeface="Calibri"/>
            </a:endParaRPr>
          </a:p>
        </p:txBody>
      </p:sp>
      <p:sp>
        <p:nvSpPr>
          <p:cNvPr id="292" name="Google Shape;292;p10"/>
          <p:cNvSpPr/>
          <p:nvPr/>
        </p:nvSpPr>
        <p:spPr>
          <a:xfrm>
            <a:off x="5486400" y="3557016"/>
            <a:ext cx="3337560" cy="11978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En lugar de eliminar físicamente, marcar el nodo como 'deleted' con un flag booleano. El nodo permanece en el árbol pero se ignora en búsquedas.</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Ventaja: delete en O(1).</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Desventaja: el árbol crece indefinidamente, la memoria no se libera. Solo viable cuando las eliminaciones son raras.</a:t>
            </a:r>
            <a:endParaRPr b="0" i="0" sz="1050" u="none" cap="none" strike="noStrike">
              <a:solidFill>
                <a:schemeClr val="dk1"/>
              </a:solidFill>
              <a:latin typeface="Calibri"/>
              <a:ea typeface="Calibri"/>
              <a:cs typeface="Calibri"/>
              <a:sym typeface="Calibri"/>
            </a:endParaRPr>
          </a:p>
        </p:txBody>
      </p:sp>
      <p:sp>
        <p:nvSpPr>
          <p:cNvPr id="293" name="Google Shape;293;p10"/>
          <p:cNvSpPr/>
          <p:nvPr/>
        </p:nvSpPr>
        <p:spPr>
          <a:xfrm>
            <a:off x="137160" y="4846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AED · T1 · BST · Delete código</a:t>
            </a:r>
            <a:endParaRPr b="0" i="0" sz="900" u="none" cap="none" strike="noStrike">
              <a:solidFill>
                <a:schemeClr val="dk1"/>
              </a:solidFill>
              <a:latin typeface="Calibri"/>
              <a:ea typeface="Calibri"/>
              <a:cs typeface="Calibri"/>
              <a:sym typeface="Calibri"/>
            </a:endParaRPr>
          </a:p>
        </p:txBody>
      </p:sp>
      <p:sp>
        <p:nvSpPr>
          <p:cNvPr id="294" name="Google Shape;294;p10"/>
          <p:cNvSpPr/>
          <p:nvPr/>
        </p:nvSpPr>
        <p:spPr>
          <a:xfrm>
            <a:off x="8503920" y="4846320"/>
            <a:ext cx="54864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10</a:t>
            </a:r>
            <a:endParaRPr b="0" i="0" sz="900" u="none" cap="none" strike="noStrike">
              <a:solidFill>
                <a:schemeClr val="dk1"/>
              </a:solidFill>
              <a:latin typeface="Calibri"/>
              <a:ea typeface="Calibri"/>
              <a:cs typeface="Calibri"/>
              <a:sym typeface="Calibri"/>
            </a:endParaRPr>
          </a:p>
        </p:txBody>
      </p:sp>
      <p:sp>
        <p:nvSpPr>
          <p:cNvPr id="295" name="Google Shape;295;p10"/>
          <p:cNvSpPr txBox="1"/>
          <p:nvPr/>
        </p:nvSpPr>
        <p:spPr>
          <a:xfrm>
            <a:off x="182875" y="1581900"/>
            <a:ext cx="4983300" cy="31680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US" sz="450">
                <a:solidFill>
                  <a:srgbClr val="FF7B72"/>
                </a:solidFill>
                <a:highlight>
                  <a:srgbClr val="121314"/>
                </a:highlight>
                <a:latin typeface="Courier New"/>
                <a:ea typeface="Courier New"/>
                <a:cs typeface="Courier New"/>
                <a:sym typeface="Courier New"/>
              </a:rPr>
              <a:t>template</a:t>
            </a:r>
            <a:r>
              <a:rPr lang="en-US" sz="450">
                <a:solidFill>
                  <a:srgbClr val="BBBEBF"/>
                </a:solidFill>
                <a:highlight>
                  <a:srgbClr val="121314"/>
                </a:highlight>
                <a:latin typeface="Courier New"/>
                <a:ea typeface="Courier New"/>
                <a:cs typeface="Courier New"/>
                <a:sym typeface="Courier New"/>
              </a:rPr>
              <a:t>&lt;</a:t>
            </a:r>
            <a:r>
              <a:rPr lang="en-US" sz="450">
                <a:solidFill>
                  <a:srgbClr val="FF7B72"/>
                </a:solidFill>
                <a:highlight>
                  <a:srgbClr val="121314"/>
                </a:highlight>
                <a:latin typeface="Courier New"/>
                <a:ea typeface="Courier New"/>
                <a:cs typeface="Courier New"/>
                <a:sym typeface="Courier New"/>
              </a:rPr>
              <a:t>typename</a:t>
            </a:r>
            <a:r>
              <a:rPr lang="en-US" sz="450">
                <a:solidFill>
                  <a:srgbClr val="BBBEBF"/>
                </a:solidFill>
                <a:highlight>
                  <a:srgbClr val="121314"/>
                </a:highlight>
                <a:latin typeface="Courier New"/>
                <a:ea typeface="Courier New"/>
                <a:cs typeface="Courier New"/>
                <a:sym typeface="Courier New"/>
              </a:rPr>
              <a:t> </a:t>
            </a:r>
            <a:r>
              <a:rPr lang="en-US" sz="450">
                <a:solidFill>
                  <a:srgbClr val="4EC9B0"/>
                </a:solidFill>
                <a:highlight>
                  <a:srgbClr val="121314"/>
                </a:highlight>
                <a:latin typeface="Courier New"/>
                <a:ea typeface="Courier New"/>
                <a:cs typeface="Courier New"/>
                <a:sym typeface="Courier New"/>
              </a:rPr>
              <a:t>Comparable</a:t>
            </a:r>
            <a:r>
              <a:rPr lang="en-US" sz="450">
                <a:solidFill>
                  <a:srgbClr val="BBBEBF"/>
                </a:solidFill>
                <a:highlight>
                  <a:srgbClr val="121314"/>
                </a:highlight>
                <a:latin typeface="Courier New"/>
                <a:ea typeface="Courier New"/>
                <a:cs typeface="Courier New"/>
                <a:sym typeface="Courier New"/>
              </a:rPr>
              <a:t>&gt;</a:t>
            </a:r>
            <a:endParaRPr sz="4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450">
                <a:solidFill>
                  <a:srgbClr val="FF7B72"/>
                </a:solidFill>
                <a:highlight>
                  <a:srgbClr val="121314"/>
                </a:highlight>
                <a:latin typeface="Courier New"/>
                <a:ea typeface="Courier New"/>
                <a:cs typeface="Courier New"/>
                <a:sym typeface="Courier New"/>
              </a:rPr>
              <a:t>void</a:t>
            </a:r>
            <a:r>
              <a:rPr lang="en-US" sz="450">
                <a:solidFill>
                  <a:srgbClr val="BBBEBF"/>
                </a:solidFill>
                <a:highlight>
                  <a:srgbClr val="121314"/>
                </a:highlight>
                <a:latin typeface="Courier New"/>
                <a:ea typeface="Courier New"/>
                <a:cs typeface="Courier New"/>
                <a:sym typeface="Courier New"/>
              </a:rPr>
              <a:t> </a:t>
            </a:r>
            <a:r>
              <a:rPr lang="en-US" sz="450">
                <a:solidFill>
                  <a:srgbClr val="D2A8FF"/>
                </a:solidFill>
                <a:highlight>
                  <a:srgbClr val="121314"/>
                </a:highlight>
                <a:latin typeface="Courier New"/>
                <a:ea typeface="Courier New"/>
                <a:cs typeface="Courier New"/>
                <a:sym typeface="Courier New"/>
              </a:rPr>
              <a:t>remove</a:t>
            </a:r>
            <a:r>
              <a:rPr lang="en-US" sz="450">
                <a:solidFill>
                  <a:srgbClr val="BBBEBF"/>
                </a:solidFill>
                <a:highlight>
                  <a:srgbClr val="121314"/>
                </a:highlight>
                <a:latin typeface="Courier New"/>
                <a:ea typeface="Courier New"/>
                <a:cs typeface="Courier New"/>
                <a:sym typeface="Courier New"/>
              </a:rPr>
              <a:t>(</a:t>
            </a:r>
            <a:r>
              <a:rPr lang="en-US" sz="450">
                <a:solidFill>
                  <a:srgbClr val="569CD6"/>
                </a:solidFill>
                <a:highlight>
                  <a:srgbClr val="121314"/>
                </a:highlight>
                <a:latin typeface="Courier New"/>
                <a:ea typeface="Courier New"/>
                <a:cs typeface="Courier New"/>
                <a:sym typeface="Courier New"/>
              </a:rPr>
              <a:t>const</a:t>
            </a:r>
            <a:r>
              <a:rPr lang="en-US" sz="450">
                <a:solidFill>
                  <a:srgbClr val="BBBEBF"/>
                </a:solidFill>
                <a:highlight>
                  <a:srgbClr val="121314"/>
                </a:highlight>
                <a:latin typeface="Courier New"/>
                <a:ea typeface="Courier New"/>
                <a:cs typeface="Courier New"/>
                <a:sym typeface="Courier New"/>
              </a:rPr>
              <a:t> </a:t>
            </a:r>
            <a:r>
              <a:rPr lang="en-US" sz="450">
                <a:solidFill>
                  <a:srgbClr val="4EC9B0"/>
                </a:solidFill>
                <a:highlight>
                  <a:srgbClr val="121314"/>
                </a:highlight>
                <a:latin typeface="Courier New"/>
                <a:ea typeface="Courier New"/>
                <a:cs typeface="Courier New"/>
                <a:sym typeface="Courier New"/>
              </a:rPr>
              <a:t>Comparable</a:t>
            </a:r>
            <a:r>
              <a:rPr lang="en-US" sz="450">
                <a:solidFill>
                  <a:srgbClr val="569CD6"/>
                </a:solidFill>
                <a:highlight>
                  <a:srgbClr val="121314"/>
                </a:highlight>
                <a:latin typeface="Courier New"/>
                <a:ea typeface="Courier New"/>
                <a:cs typeface="Courier New"/>
                <a:sym typeface="Courier New"/>
              </a:rPr>
              <a:t>&amp;</a:t>
            </a:r>
            <a:r>
              <a:rPr lang="en-US" sz="450">
                <a:solidFill>
                  <a:srgbClr val="BBBEBF"/>
                </a:solidFill>
                <a:highlight>
                  <a:srgbClr val="121314"/>
                </a:highlight>
                <a:latin typeface="Courier New"/>
                <a:ea typeface="Courier New"/>
                <a:cs typeface="Courier New"/>
                <a:sym typeface="Courier New"/>
              </a:rPr>
              <a:t> </a:t>
            </a:r>
            <a:r>
              <a:rPr lang="en-US" sz="450">
                <a:solidFill>
                  <a:srgbClr val="FFA657"/>
                </a:solidFill>
                <a:highlight>
                  <a:srgbClr val="121314"/>
                </a:highlight>
                <a:latin typeface="Courier New"/>
                <a:ea typeface="Courier New"/>
                <a:cs typeface="Courier New"/>
                <a:sym typeface="Courier New"/>
              </a:rPr>
              <a:t>value</a:t>
            </a:r>
            <a:r>
              <a:rPr lang="en-US" sz="450">
                <a:solidFill>
                  <a:srgbClr val="BBBEBF"/>
                </a:solidFill>
                <a:highlight>
                  <a:srgbClr val="121314"/>
                </a:highlight>
                <a:latin typeface="Courier New"/>
                <a:ea typeface="Courier New"/>
                <a:cs typeface="Courier New"/>
                <a:sym typeface="Courier New"/>
              </a:rPr>
              <a:t>, </a:t>
            </a:r>
            <a:r>
              <a:rPr lang="en-US" sz="450">
                <a:solidFill>
                  <a:srgbClr val="4EC9B0"/>
                </a:solidFill>
                <a:highlight>
                  <a:srgbClr val="121314"/>
                </a:highlight>
                <a:latin typeface="Courier New"/>
                <a:ea typeface="Courier New"/>
                <a:cs typeface="Courier New"/>
                <a:sym typeface="Courier New"/>
              </a:rPr>
              <a:t>BinaryNode</a:t>
            </a:r>
            <a:r>
              <a:rPr lang="en-US" sz="450">
                <a:solidFill>
                  <a:srgbClr val="BBBEBF"/>
                </a:solidFill>
                <a:highlight>
                  <a:srgbClr val="121314"/>
                </a:highlight>
                <a:latin typeface="Courier New"/>
                <a:ea typeface="Courier New"/>
                <a:cs typeface="Courier New"/>
                <a:sym typeface="Courier New"/>
              </a:rPr>
              <a:t>&lt;</a:t>
            </a:r>
            <a:r>
              <a:rPr lang="en-US" sz="450">
                <a:solidFill>
                  <a:srgbClr val="4EC9B0"/>
                </a:solidFill>
                <a:highlight>
                  <a:srgbClr val="121314"/>
                </a:highlight>
                <a:latin typeface="Courier New"/>
                <a:ea typeface="Courier New"/>
                <a:cs typeface="Courier New"/>
                <a:sym typeface="Courier New"/>
              </a:rPr>
              <a:t>Comparable</a:t>
            </a:r>
            <a:r>
              <a:rPr lang="en-US" sz="450">
                <a:solidFill>
                  <a:srgbClr val="BBBEBF"/>
                </a:solidFill>
                <a:highlight>
                  <a:srgbClr val="121314"/>
                </a:highlight>
                <a:latin typeface="Courier New"/>
                <a:ea typeface="Courier New"/>
                <a:cs typeface="Courier New"/>
                <a:sym typeface="Courier New"/>
              </a:rPr>
              <a:t>&gt;</a:t>
            </a:r>
            <a:r>
              <a:rPr lang="en-US" sz="450">
                <a:solidFill>
                  <a:srgbClr val="569CD6"/>
                </a:solidFill>
                <a:highlight>
                  <a:srgbClr val="121314"/>
                </a:highlight>
                <a:latin typeface="Courier New"/>
                <a:ea typeface="Courier New"/>
                <a:cs typeface="Courier New"/>
                <a:sym typeface="Courier New"/>
              </a:rPr>
              <a:t>*&amp;</a:t>
            </a:r>
            <a:r>
              <a:rPr lang="en-US" sz="450">
                <a:solidFill>
                  <a:srgbClr val="BBBEBF"/>
                </a:solidFill>
                <a:highlight>
                  <a:srgbClr val="121314"/>
                </a:highlight>
                <a:latin typeface="Courier New"/>
                <a:ea typeface="Courier New"/>
                <a:cs typeface="Courier New"/>
                <a:sym typeface="Courier New"/>
              </a:rPr>
              <a:t> </a:t>
            </a:r>
            <a:r>
              <a:rPr lang="en-US" sz="450">
                <a:solidFill>
                  <a:srgbClr val="FFA657"/>
                </a:solidFill>
                <a:highlight>
                  <a:srgbClr val="121314"/>
                </a:highlight>
                <a:latin typeface="Courier New"/>
                <a:ea typeface="Courier New"/>
                <a:cs typeface="Courier New"/>
                <a:sym typeface="Courier New"/>
              </a:rPr>
              <a:t>node</a:t>
            </a:r>
            <a:r>
              <a:rPr lang="en-US" sz="450">
                <a:solidFill>
                  <a:srgbClr val="BBBEBF"/>
                </a:solidFill>
                <a:highlight>
                  <a:srgbClr val="121314"/>
                </a:highlight>
                <a:latin typeface="Courier New"/>
                <a:ea typeface="Courier New"/>
                <a:cs typeface="Courier New"/>
                <a:sym typeface="Courier New"/>
              </a:rPr>
              <a:t>)</a:t>
            </a:r>
            <a:endParaRPr sz="4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450">
                <a:solidFill>
                  <a:srgbClr val="BBBEBF"/>
                </a:solidFill>
                <a:highlight>
                  <a:srgbClr val="121314"/>
                </a:highlight>
                <a:latin typeface="Courier New"/>
                <a:ea typeface="Courier New"/>
                <a:cs typeface="Courier New"/>
                <a:sym typeface="Courier New"/>
              </a:rPr>
              <a:t>{</a:t>
            </a:r>
            <a:endParaRPr sz="4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450">
                <a:solidFill>
                  <a:srgbClr val="BBBEBF"/>
                </a:solidFill>
                <a:highlight>
                  <a:srgbClr val="121314"/>
                </a:highlight>
                <a:latin typeface="Courier New"/>
                <a:ea typeface="Courier New"/>
                <a:cs typeface="Courier New"/>
                <a:sym typeface="Courier New"/>
              </a:rPr>
              <a:t>   </a:t>
            </a:r>
            <a:r>
              <a:rPr lang="en-US" sz="450">
                <a:solidFill>
                  <a:srgbClr val="C586C0"/>
                </a:solidFill>
                <a:highlight>
                  <a:srgbClr val="121314"/>
                </a:highlight>
                <a:latin typeface="Courier New"/>
                <a:ea typeface="Courier New"/>
                <a:cs typeface="Courier New"/>
                <a:sym typeface="Courier New"/>
              </a:rPr>
              <a:t>if</a:t>
            </a:r>
            <a:r>
              <a:rPr lang="en-US" sz="450">
                <a:solidFill>
                  <a:srgbClr val="BBBEBF"/>
                </a:solidFill>
                <a:highlight>
                  <a:srgbClr val="121314"/>
                </a:highlight>
                <a:latin typeface="Courier New"/>
                <a:ea typeface="Courier New"/>
                <a:cs typeface="Courier New"/>
                <a:sym typeface="Courier New"/>
              </a:rPr>
              <a:t> (</a:t>
            </a:r>
            <a:r>
              <a:rPr lang="en-US" sz="450">
                <a:solidFill>
                  <a:srgbClr val="FFA657"/>
                </a:solidFill>
                <a:highlight>
                  <a:srgbClr val="121314"/>
                </a:highlight>
                <a:latin typeface="Courier New"/>
                <a:ea typeface="Courier New"/>
                <a:cs typeface="Courier New"/>
                <a:sym typeface="Courier New"/>
              </a:rPr>
              <a:t>node</a:t>
            </a:r>
            <a:r>
              <a:rPr lang="en-US" sz="450">
                <a:solidFill>
                  <a:srgbClr val="BBBEBF"/>
                </a:solidFill>
                <a:highlight>
                  <a:srgbClr val="121314"/>
                </a:highlight>
                <a:latin typeface="Courier New"/>
                <a:ea typeface="Courier New"/>
                <a:cs typeface="Courier New"/>
                <a:sym typeface="Courier New"/>
              </a:rPr>
              <a:t> </a:t>
            </a:r>
            <a:r>
              <a:rPr lang="en-US" sz="450">
                <a:solidFill>
                  <a:srgbClr val="D4D4D4"/>
                </a:solidFill>
                <a:highlight>
                  <a:srgbClr val="121314"/>
                </a:highlight>
                <a:latin typeface="Courier New"/>
                <a:ea typeface="Courier New"/>
                <a:cs typeface="Courier New"/>
                <a:sym typeface="Courier New"/>
              </a:rPr>
              <a:t>==</a:t>
            </a:r>
            <a:r>
              <a:rPr lang="en-US" sz="450">
                <a:solidFill>
                  <a:srgbClr val="BBBEBF"/>
                </a:solidFill>
                <a:highlight>
                  <a:srgbClr val="121314"/>
                </a:highlight>
                <a:latin typeface="Courier New"/>
                <a:ea typeface="Courier New"/>
                <a:cs typeface="Courier New"/>
                <a:sym typeface="Courier New"/>
              </a:rPr>
              <a:t> </a:t>
            </a:r>
            <a:r>
              <a:rPr lang="en-US" sz="450">
                <a:solidFill>
                  <a:srgbClr val="569CD6"/>
                </a:solidFill>
                <a:highlight>
                  <a:srgbClr val="121314"/>
                </a:highlight>
                <a:latin typeface="Courier New"/>
                <a:ea typeface="Courier New"/>
                <a:cs typeface="Courier New"/>
                <a:sym typeface="Courier New"/>
              </a:rPr>
              <a:t>nullptr</a:t>
            </a:r>
            <a:r>
              <a:rPr lang="en-US" sz="450">
                <a:solidFill>
                  <a:srgbClr val="BBBEBF"/>
                </a:solidFill>
                <a:highlight>
                  <a:srgbClr val="121314"/>
                </a:highlight>
                <a:latin typeface="Courier New"/>
                <a:ea typeface="Courier New"/>
                <a:cs typeface="Courier New"/>
                <a:sym typeface="Courier New"/>
              </a:rPr>
              <a:t>)</a:t>
            </a:r>
            <a:endParaRPr sz="4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450">
                <a:solidFill>
                  <a:srgbClr val="BBBEBF"/>
                </a:solidFill>
                <a:highlight>
                  <a:srgbClr val="121314"/>
                </a:highlight>
                <a:latin typeface="Courier New"/>
                <a:ea typeface="Courier New"/>
                <a:cs typeface="Courier New"/>
                <a:sym typeface="Courier New"/>
              </a:rPr>
              <a:t>   </a:t>
            </a:r>
            <a:r>
              <a:rPr lang="en-US" sz="450">
                <a:solidFill>
                  <a:srgbClr val="C9D1D9"/>
                </a:solidFill>
                <a:highlight>
                  <a:srgbClr val="121314"/>
                </a:highlight>
                <a:latin typeface="Courier New"/>
                <a:ea typeface="Courier New"/>
                <a:cs typeface="Courier New"/>
                <a:sym typeface="Courier New"/>
              </a:rPr>
              <a:t>{</a:t>
            </a:r>
            <a:endParaRPr sz="4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450">
                <a:solidFill>
                  <a:srgbClr val="C9D1D9"/>
                </a:solidFill>
                <a:highlight>
                  <a:srgbClr val="121314"/>
                </a:highlight>
                <a:latin typeface="Courier New"/>
                <a:ea typeface="Courier New"/>
                <a:cs typeface="Courier New"/>
                <a:sym typeface="Courier New"/>
              </a:rPr>
              <a:t>       </a:t>
            </a:r>
            <a:r>
              <a:rPr lang="en-US" sz="450">
                <a:solidFill>
                  <a:srgbClr val="C586C0"/>
                </a:solidFill>
                <a:highlight>
                  <a:srgbClr val="121314"/>
                </a:highlight>
                <a:latin typeface="Courier New"/>
                <a:ea typeface="Courier New"/>
                <a:cs typeface="Courier New"/>
                <a:sym typeface="Courier New"/>
              </a:rPr>
              <a:t>return</a:t>
            </a:r>
            <a:r>
              <a:rPr lang="en-US" sz="450">
                <a:solidFill>
                  <a:srgbClr val="C9D1D9"/>
                </a:solidFill>
                <a:highlight>
                  <a:srgbClr val="121314"/>
                </a:highlight>
                <a:latin typeface="Courier New"/>
                <a:ea typeface="Courier New"/>
                <a:cs typeface="Courier New"/>
                <a:sym typeface="Courier New"/>
              </a:rPr>
              <a:t>;</a:t>
            </a:r>
            <a:endParaRPr sz="4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450">
                <a:solidFill>
                  <a:srgbClr val="C9D1D9"/>
                </a:solidFill>
                <a:highlight>
                  <a:srgbClr val="121314"/>
                </a:highlight>
                <a:latin typeface="Courier New"/>
                <a:ea typeface="Courier New"/>
                <a:cs typeface="Courier New"/>
                <a:sym typeface="Courier New"/>
              </a:rPr>
              <a:t>   }</a:t>
            </a:r>
            <a:endParaRPr sz="4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4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450">
                <a:solidFill>
                  <a:srgbClr val="BBBEBF"/>
                </a:solidFill>
                <a:highlight>
                  <a:srgbClr val="121314"/>
                </a:highlight>
                <a:latin typeface="Courier New"/>
                <a:ea typeface="Courier New"/>
                <a:cs typeface="Courier New"/>
                <a:sym typeface="Courier New"/>
              </a:rPr>
              <a:t>   </a:t>
            </a:r>
            <a:r>
              <a:rPr lang="en-US" sz="450">
                <a:solidFill>
                  <a:srgbClr val="C586C0"/>
                </a:solidFill>
                <a:highlight>
                  <a:srgbClr val="121314"/>
                </a:highlight>
                <a:latin typeface="Courier New"/>
                <a:ea typeface="Courier New"/>
                <a:cs typeface="Courier New"/>
                <a:sym typeface="Courier New"/>
              </a:rPr>
              <a:t>if</a:t>
            </a:r>
            <a:r>
              <a:rPr lang="en-US" sz="450">
                <a:solidFill>
                  <a:srgbClr val="BBBEBF"/>
                </a:solidFill>
                <a:highlight>
                  <a:srgbClr val="121314"/>
                </a:highlight>
                <a:latin typeface="Courier New"/>
                <a:ea typeface="Courier New"/>
                <a:cs typeface="Courier New"/>
                <a:sym typeface="Courier New"/>
              </a:rPr>
              <a:t> (</a:t>
            </a:r>
            <a:r>
              <a:rPr lang="en-US" sz="450">
                <a:solidFill>
                  <a:srgbClr val="FFA657"/>
                </a:solidFill>
                <a:highlight>
                  <a:srgbClr val="121314"/>
                </a:highlight>
                <a:latin typeface="Courier New"/>
                <a:ea typeface="Courier New"/>
                <a:cs typeface="Courier New"/>
                <a:sym typeface="Courier New"/>
              </a:rPr>
              <a:t>value</a:t>
            </a:r>
            <a:r>
              <a:rPr lang="en-US" sz="450">
                <a:solidFill>
                  <a:srgbClr val="BBBEBF"/>
                </a:solidFill>
                <a:highlight>
                  <a:srgbClr val="121314"/>
                </a:highlight>
                <a:latin typeface="Courier New"/>
                <a:ea typeface="Courier New"/>
                <a:cs typeface="Courier New"/>
                <a:sym typeface="Courier New"/>
              </a:rPr>
              <a:t> </a:t>
            </a:r>
            <a:r>
              <a:rPr lang="en-US" sz="450">
                <a:solidFill>
                  <a:srgbClr val="D4D4D4"/>
                </a:solidFill>
                <a:highlight>
                  <a:srgbClr val="121314"/>
                </a:highlight>
                <a:latin typeface="Courier New"/>
                <a:ea typeface="Courier New"/>
                <a:cs typeface="Courier New"/>
                <a:sym typeface="Courier New"/>
              </a:rPr>
              <a:t>&lt;</a:t>
            </a:r>
            <a:r>
              <a:rPr lang="en-US" sz="450">
                <a:solidFill>
                  <a:srgbClr val="BBBEBF"/>
                </a:solidFill>
                <a:highlight>
                  <a:srgbClr val="121314"/>
                </a:highlight>
                <a:latin typeface="Courier New"/>
                <a:ea typeface="Courier New"/>
                <a:cs typeface="Courier New"/>
                <a:sym typeface="Courier New"/>
              </a:rPr>
              <a:t> </a:t>
            </a:r>
            <a:r>
              <a:rPr lang="en-US" sz="450">
                <a:solidFill>
                  <a:srgbClr val="FFA657"/>
                </a:solidFill>
                <a:highlight>
                  <a:srgbClr val="121314"/>
                </a:highlight>
                <a:latin typeface="Courier New"/>
                <a:ea typeface="Courier New"/>
                <a:cs typeface="Courier New"/>
                <a:sym typeface="Courier New"/>
              </a:rPr>
              <a:t>node</a:t>
            </a:r>
            <a:r>
              <a:rPr lang="en-US" sz="450">
                <a:solidFill>
                  <a:srgbClr val="BBBEBF"/>
                </a:solidFill>
                <a:highlight>
                  <a:srgbClr val="121314"/>
                </a:highlight>
                <a:latin typeface="Courier New"/>
                <a:ea typeface="Courier New"/>
                <a:cs typeface="Courier New"/>
                <a:sym typeface="Courier New"/>
              </a:rPr>
              <a:t>-&gt;</a:t>
            </a:r>
            <a:r>
              <a:rPr lang="en-US" sz="450">
                <a:solidFill>
                  <a:srgbClr val="C9D1D9"/>
                </a:solidFill>
                <a:highlight>
                  <a:srgbClr val="121314"/>
                </a:highlight>
                <a:latin typeface="Courier New"/>
                <a:ea typeface="Courier New"/>
                <a:cs typeface="Courier New"/>
                <a:sym typeface="Courier New"/>
              </a:rPr>
              <a:t>element</a:t>
            </a:r>
            <a:r>
              <a:rPr lang="en-US" sz="450">
                <a:solidFill>
                  <a:srgbClr val="BBBEBF"/>
                </a:solidFill>
                <a:highlight>
                  <a:srgbClr val="121314"/>
                </a:highlight>
                <a:latin typeface="Courier New"/>
                <a:ea typeface="Courier New"/>
                <a:cs typeface="Courier New"/>
                <a:sym typeface="Courier New"/>
              </a:rPr>
              <a:t>)</a:t>
            </a:r>
            <a:endParaRPr sz="4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450">
                <a:solidFill>
                  <a:srgbClr val="BBBEBF"/>
                </a:solidFill>
                <a:highlight>
                  <a:srgbClr val="121314"/>
                </a:highlight>
                <a:latin typeface="Courier New"/>
                <a:ea typeface="Courier New"/>
                <a:cs typeface="Courier New"/>
                <a:sym typeface="Courier New"/>
              </a:rPr>
              <a:t>   </a:t>
            </a:r>
            <a:r>
              <a:rPr lang="en-US" sz="450">
                <a:solidFill>
                  <a:srgbClr val="C9D1D9"/>
                </a:solidFill>
                <a:highlight>
                  <a:srgbClr val="121314"/>
                </a:highlight>
                <a:latin typeface="Courier New"/>
                <a:ea typeface="Courier New"/>
                <a:cs typeface="Courier New"/>
                <a:sym typeface="Courier New"/>
              </a:rPr>
              <a:t>{</a:t>
            </a:r>
            <a:endParaRPr sz="4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450">
                <a:solidFill>
                  <a:srgbClr val="C9D1D9"/>
                </a:solidFill>
                <a:highlight>
                  <a:srgbClr val="121314"/>
                </a:highlight>
                <a:latin typeface="Courier New"/>
                <a:ea typeface="Courier New"/>
                <a:cs typeface="Courier New"/>
                <a:sym typeface="Courier New"/>
              </a:rPr>
              <a:t>       </a:t>
            </a:r>
            <a:r>
              <a:rPr lang="en-US" sz="450">
                <a:solidFill>
                  <a:srgbClr val="D2A8FF"/>
                </a:solidFill>
                <a:highlight>
                  <a:srgbClr val="121314"/>
                </a:highlight>
                <a:latin typeface="Courier New"/>
                <a:ea typeface="Courier New"/>
                <a:cs typeface="Courier New"/>
                <a:sym typeface="Courier New"/>
              </a:rPr>
              <a:t>remove</a:t>
            </a:r>
            <a:r>
              <a:rPr lang="en-US" sz="450">
                <a:solidFill>
                  <a:srgbClr val="C9D1D9"/>
                </a:solidFill>
                <a:highlight>
                  <a:srgbClr val="121314"/>
                </a:highlight>
                <a:latin typeface="Courier New"/>
                <a:ea typeface="Courier New"/>
                <a:cs typeface="Courier New"/>
                <a:sym typeface="Courier New"/>
              </a:rPr>
              <a:t>(</a:t>
            </a:r>
            <a:r>
              <a:rPr lang="en-US" sz="450">
                <a:solidFill>
                  <a:srgbClr val="FFA657"/>
                </a:solidFill>
                <a:highlight>
                  <a:srgbClr val="121314"/>
                </a:highlight>
                <a:latin typeface="Courier New"/>
                <a:ea typeface="Courier New"/>
                <a:cs typeface="Courier New"/>
                <a:sym typeface="Courier New"/>
              </a:rPr>
              <a:t>value</a:t>
            </a:r>
            <a:r>
              <a:rPr lang="en-US" sz="450">
                <a:solidFill>
                  <a:srgbClr val="C9D1D9"/>
                </a:solidFill>
                <a:highlight>
                  <a:srgbClr val="121314"/>
                </a:highlight>
                <a:latin typeface="Courier New"/>
                <a:ea typeface="Courier New"/>
                <a:cs typeface="Courier New"/>
                <a:sym typeface="Courier New"/>
              </a:rPr>
              <a:t>, node-&gt;left);</a:t>
            </a:r>
            <a:endParaRPr sz="4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450">
                <a:solidFill>
                  <a:srgbClr val="C9D1D9"/>
                </a:solidFill>
                <a:highlight>
                  <a:srgbClr val="121314"/>
                </a:highlight>
                <a:latin typeface="Courier New"/>
                <a:ea typeface="Courier New"/>
                <a:cs typeface="Courier New"/>
                <a:sym typeface="Courier New"/>
              </a:rPr>
              <a:t>       </a:t>
            </a:r>
            <a:r>
              <a:rPr lang="en-US" sz="450">
                <a:solidFill>
                  <a:srgbClr val="C586C0"/>
                </a:solidFill>
                <a:highlight>
                  <a:srgbClr val="121314"/>
                </a:highlight>
                <a:latin typeface="Courier New"/>
                <a:ea typeface="Courier New"/>
                <a:cs typeface="Courier New"/>
                <a:sym typeface="Courier New"/>
              </a:rPr>
              <a:t>return</a:t>
            </a:r>
            <a:r>
              <a:rPr lang="en-US" sz="450">
                <a:solidFill>
                  <a:srgbClr val="C9D1D9"/>
                </a:solidFill>
                <a:highlight>
                  <a:srgbClr val="121314"/>
                </a:highlight>
                <a:latin typeface="Courier New"/>
                <a:ea typeface="Courier New"/>
                <a:cs typeface="Courier New"/>
                <a:sym typeface="Courier New"/>
              </a:rPr>
              <a:t>;</a:t>
            </a:r>
            <a:endParaRPr sz="4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450">
                <a:solidFill>
                  <a:srgbClr val="C9D1D9"/>
                </a:solidFill>
                <a:highlight>
                  <a:srgbClr val="121314"/>
                </a:highlight>
                <a:latin typeface="Courier New"/>
                <a:ea typeface="Courier New"/>
                <a:cs typeface="Courier New"/>
                <a:sym typeface="Courier New"/>
              </a:rPr>
              <a:t>   }</a:t>
            </a:r>
            <a:endParaRPr sz="4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4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450">
                <a:solidFill>
                  <a:srgbClr val="BBBEBF"/>
                </a:solidFill>
                <a:highlight>
                  <a:srgbClr val="121314"/>
                </a:highlight>
                <a:latin typeface="Courier New"/>
                <a:ea typeface="Courier New"/>
                <a:cs typeface="Courier New"/>
                <a:sym typeface="Courier New"/>
              </a:rPr>
              <a:t>   </a:t>
            </a:r>
            <a:r>
              <a:rPr lang="en-US" sz="450">
                <a:solidFill>
                  <a:srgbClr val="C586C0"/>
                </a:solidFill>
                <a:highlight>
                  <a:srgbClr val="121314"/>
                </a:highlight>
                <a:latin typeface="Courier New"/>
                <a:ea typeface="Courier New"/>
                <a:cs typeface="Courier New"/>
                <a:sym typeface="Courier New"/>
              </a:rPr>
              <a:t>if</a:t>
            </a:r>
            <a:r>
              <a:rPr lang="en-US" sz="450">
                <a:solidFill>
                  <a:srgbClr val="BBBEBF"/>
                </a:solidFill>
                <a:highlight>
                  <a:srgbClr val="121314"/>
                </a:highlight>
                <a:latin typeface="Courier New"/>
                <a:ea typeface="Courier New"/>
                <a:cs typeface="Courier New"/>
                <a:sym typeface="Courier New"/>
              </a:rPr>
              <a:t> (</a:t>
            </a:r>
            <a:r>
              <a:rPr lang="en-US" sz="450">
                <a:solidFill>
                  <a:srgbClr val="FFA657"/>
                </a:solidFill>
                <a:highlight>
                  <a:srgbClr val="121314"/>
                </a:highlight>
                <a:latin typeface="Courier New"/>
                <a:ea typeface="Courier New"/>
                <a:cs typeface="Courier New"/>
                <a:sym typeface="Courier New"/>
              </a:rPr>
              <a:t>node</a:t>
            </a:r>
            <a:r>
              <a:rPr lang="en-US" sz="450">
                <a:solidFill>
                  <a:srgbClr val="BBBEBF"/>
                </a:solidFill>
                <a:highlight>
                  <a:srgbClr val="121314"/>
                </a:highlight>
                <a:latin typeface="Courier New"/>
                <a:ea typeface="Courier New"/>
                <a:cs typeface="Courier New"/>
                <a:sym typeface="Courier New"/>
              </a:rPr>
              <a:t>-&gt;</a:t>
            </a:r>
            <a:r>
              <a:rPr lang="en-US" sz="450">
                <a:solidFill>
                  <a:srgbClr val="C9D1D9"/>
                </a:solidFill>
                <a:highlight>
                  <a:srgbClr val="121314"/>
                </a:highlight>
                <a:latin typeface="Courier New"/>
                <a:ea typeface="Courier New"/>
                <a:cs typeface="Courier New"/>
                <a:sym typeface="Courier New"/>
              </a:rPr>
              <a:t>element</a:t>
            </a:r>
            <a:r>
              <a:rPr lang="en-US" sz="450">
                <a:solidFill>
                  <a:srgbClr val="BBBEBF"/>
                </a:solidFill>
                <a:highlight>
                  <a:srgbClr val="121314"/>
                </a:highlight>
                <a:latin typeface="Courier New"/>
                <a:ea typeface="Courier New"/>
                <a:cs typeface="Courier New"/>
                <a:sym typeface="Courier New"/>
              </a:rPr>
              <a:t> </a:t>
            </a:r>
            <a:r>
              <a:rPr lang="en-US" sz="450">
                <a:solidFill>
                  <a:srgbClr val="D4D4D4"/>
                </a:solidFill>
                <a:highlight>
                  <a:srgbClr val="121314"/>
                </a:highlight>
                <a:latin typeface="Courier New"/>
                <a:ea typeface="Courier New"/>
                <a:cs typeface="Courier New"/>
                <a:sym typeface="Courier New"/>
              </a:rPr>
              <a:t>&lt;</a:t>
            </a:r>
            <a:r>
              <a:rPr lang="en-US" sz="450">
                <a:solidFill>
                  <a:srgbClr val="BBBEBF"/>
                </a:solidFill>
                <a:highlight>
                  <a:srgbClr val="121314"/>
                </a:highlight>
                <a:latin typeface="Courier New"/>
                <a:ea typeface="Courier New"/>
                <a:cs typeface="Courier New"/>
                <a:sym typeface="Courier New"/>
              </a:rPr>
              <a:t> </a:t>
            </a:r>
            <a:r>
              <a:rPr lang="en-US" sz="450">
                <a:solidFill>
                  <a:srgbClr val="FFA657"/>
                </a:solidFill>
                <a:highlight>
                  <a:srgbClr val="121314"/>
                </a:highlight>
                <a:latin typeface="Courier New"/>
                <a:ea typeface="Courier New"/>
                <a:cs typeface="Courier New"/>
                <a:sym typeface="Courier New"/>
              </a:rPr>
              <a:t>value</a:t>
            </a:r>
            <a:r>
              <a:rPr lang="en-US" sz="450">
                <a:solidFill>
                  <a:srgbClr val="BBBEBF"/>
                </a:solidFill>
                <a:highlight>
                  <a:srgbClr val="121314"/>
                </a:highlight>
                <a:latin typeface="Courier New"/>
                <a:ea typeface="Courier New"/>
                <a:cs typeface="Courier New"/>
                <a:sym typeface="Courier New"/>
              </a:rPr>
              <a:t>)</a:t>
            </a:r>
            <a:endParaRPr sz="4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450">
                <a:solidFill>
                  <a:srgbClr val="BBBEBF"/>
                </a:solidFill>
                <a:highlight>
                  <a:srgbClr val="121314"/>
                </a:highlight>
                <a:latin typeface="Courier New"/>
                <a:ea typeface="Courier New"/>
                <a:cs typeface="Courier New"/>
                <a:sym typeface="Courier New"/>
              </a:rPr>
              <a:t>   </a:t>
            </a:r>
            <a:r>
              <a:rPr lang="en-US" sz="450">
                <a:solidFill>
                  <a:srgbClr val="C9D1D9"/>
                </a:solidFill>
                <a:highlight>
                  <a:srgbClr val="121314"/>
                </a:highlight>
                <a:latin typeface="Courier New"/>
                <a:ea typeface="Courier New"/>
                <a:cs typeface="Courier New"/>
                <a:sym typeface="Courier New"/>
              </a:rPr>
              <a:t>{</a:t>
            </a:r>
            <a:endParaRPr sz="4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450">
                <a:solidFill>
                  <a:srgbClr val="C9D1D9"/>
                </a:solidFill>
                <a:highlight>
                  <a:srgbClr val="121314"/>
                </a:highlight>
                <a:latin typeface="Courier New"/>
                <a:ea typeface="Courier New"/>
                <a:cs typeface="Courier New"/>
                <a:sym typeface="Courier New"/>
              </a:rPr>
              <a:t>       </a:t>
            </a:r>
            <a:r>
              <a:rPr lang="en-US" sz="450">
                <a:solidFill>
                  <a:srgbClr val="D2A8FF"/>
                </a:solidFill>
                <a:highlight>
                  <a:srgbClr val="121314"/>
                </a:highlight>
                <a:latin typeface="Courier New"/>
                <a:ea typeface="Courier New"/>
                <a:cs typeface="Courier New"/>
                <a:sym typeface="Courier New"/>
              </a:rPr>
              <a:t>remove</a:t>
            </a:r>
            <a:r>
              <a:rPr lang="en-US" sz="450">
                <a:solidFill>
                  <a:srgbClr val="C9D1D9"/>
                </a:solidFill>
                <a:highlight>
                  <a:srgbClr val="121314"/>
                </a:highlight>
                <a:latin typeface="Courier New"/>
                <a:ea typeface="Courier New"/>
                <a:cs typeface="Courier New"/>
                <a:sym typeface="Courier New"/>
              </a:rPr>
              <a:t>(</a:t>
            </a:r>
            <a:r>
              <a:rPr lang="en-US" sz="450">
                <a:solidFill>
                  <a:srgbClr val="FFA657"/>
                </a:solidFill>
                <a:highlight>
                  <a:srgbClr val="121314"/>
                </a:highlight>
                <a:latin typeface="Courier New"/>
                <a:ea typeface="Courier New"/>
                <a:cs typeface="Courier New"/>
                <a:sym typeface="Courier New"/>
              </a:rPr>
              <a:t>value</a:t>
            </a:r>
            <a:r>
              <a:rPr lang="en-US" sz="450">
                <a:solidFill>
                  <a:srgbClr val="C9D1D9"/>
                </a:solidFill>
                <a:highlight>
                  <a:srgbClr val="121314"/>
                </a:highlight>
                <a:latin typeface="Courier New"/>
                <a:ea typeface="Courier New"/>
                <a:cs typeface="Courier New"/>
                <a:sym typeface="Courier New"/>
              </a:rPr>
              <a:t>, node-&gt;right);</a:t>
            </a:r>
            <a:endParaRPr sz="4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450">
                <a:solidFill>
                  <a:srgbClr val="C9D1D9"/>
                </a:solidFill>
                <a:highlight>
                  <a:srgbClr val="121314"/>
                </a:highlight>
                <a:latin typeface="Courier New"/>
                <a:ea typeface="Courier New"/>
                <a:cs typeface="Courier New"/>
                <a:sym typeface="Courier New"/>
              </a:rPr>
              <a:t>       </a:t>
            </a:r>
            <a:r>
              <a:rPr lang="en-US" sz="450">
                <a:solidFill>
                  <a:srgbClr val="C586C0"/>
                </a:solidFill>
                <a:highlight>
                  <a:srgbClr val="121314"/>
                </a:highlight>
                <a:latin typeface="Courier New"/>
                <a:ea typeface="Courier New"/>
                <a:cs typeface="Courier New"/>
                <a:sym typeface="Courier New"/>
              </a:rPr>
              <a:t>return</a:t>
            </a:r>
            <a:r>
              <a:rPr lang="en-US" sz="450">
                <a:solidFill>
                  <a:srgbClr val="C9D1D9"/>
                </a:solidFill>
                <a:highlight>
                  <a:srgbClr val="121314"/>
                </a:highlight>
                <a:latin typeface="Courier New"/>
                <a:ea typeface="Courier New"/>
                <a:cs typeface="Courier New"/>
                <a:sym typeface="Courier New"/>
              </a:rPr>
              <a:t>;</a:t>
            </a:r>
            <a:endParaRPr sz="4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450">
                <a:solidFill>
                  <a:srgbClr val="C9D1D9"/>
                </a:solidFill>
                <a:highlight>
                  <a:srgbClr val="121314"/>
                </a:highlight>
                <a:latin typeface="Courier New"/>
                <a:ea typeface="Courier New"/>
                <a:cs typeface="Courier New"/>
                <a:sym typeface="Courier New"/>
              </a:rPr>
              <a:t>   }</a:t>
            </a:r>
            <a:endParaRPr sz="4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4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450">
                <a:solidFill>
                  <a:srgbClr val="BBBEBF"/>
                </a:solidFill>
                <a:highlight>
                  <a:srgbClr val="121314"/>
                </a:highlight>
                <a:latin typeface="Courier New"/>
                <a:ea typeface="Courier New"/>
                <a:cs typeface="Courier New"/>
                <a:sym typeface="Courier New"/>
              </a:rPr>
              <a:t>   </a:t>
            </a:r>
            <a:r>
              <a:rPr lang="en-US" sz="450">
                <a:solidFill>
                  <a:srgbClr val="C586C0"/>
                </a:solidFill>
                <a:highlight>
                  <a:srgbClr val="121314"/>
                </a:highlight>
                <a:latin typeface="Courier New"/>
                <a:ea typeface="Courier New"/>
                <a:cs typeface="Courier New"/>
                <a:sym typeface="Courier New"/>
              </a:rPr>
              <a:t>if</a:t>
            </a:r>
            <a:r>
              <a:rPr lang="en-US" sz="450">
                <a:solidFill>
                  <a:srgbClr val="BBBEBF"/>
                </a:solidFill>
                <a:highlight>
                  <a:srgbClr val="121314"/>
                </a:highlight>
                <a:latin typeface="Courier New"/>
                <a:ea typeface="Courier New"/>
                <a:cs typeface="Courier New"/>
                <a:sym typeface="Courier New"/>
              </a:rPr>
              <a:t> (</a:t>
            </a:r>
            <a:r>
              <a:rPr lang="en-US" sz="450">
                <a:solidFill>
                  <a:srgbClr val="FFA657"/>
                </a:solidFill>
                <a:highlight>
                  <a:srgbClr val="121314"/>
                </a:highlight>
                <a:latin typeface="Courier New"/>
                <a:ea typeface="Courier New"/>
                <a:cs typeface="Courier New"/>
                <a:sym typeface="Courier New"/>
              </a:rPr>
              <a:t>node</a:t>
            </a:r>
            <a:r>
              <a:rPr lang="en-US" sz="450">
                <a:solidFill>
                  <a:srgbClr val="BBBEBF"/>
                </a:solidFill>
                <a:highlight>
                  <a:srgbClr val="121314"/>
                </a:highlight>
                <a:latin typeface="Courier New"/>
                <a:ea typeface="Courier New"/>
                <a:cs typeface="Courier New"/>
                <a:sym typeface="Courier New"/>
              </a:rPr>
              <a:t>-&gt;</a:t>
            </a:r>
            <a:r>
              <a:rPr lang="en-US" sz="450">
                <a:solidFill>
                  <a:srgbClr val="C9D1D9"/>
                </a:solidFill>
                <a:highlight>
                  <a:srgbClr val="121314"/>
                </a:highlight>
                <a:latin typeface="Courier New"/>
                <a:ea typeface="Courier New"/>
                <a:cs typeface="Courier New"/>
                <a:sym typeface="Courier New"/>
              </a:rPr>
              <a:t>left</a:t>
            </a:r>
            <a:r>
              <a:rPr lang="en-US" sz="450">
                <a:solidFill>
                  <a:srgbClr val="BBBEBF"/>
                </a:solidFill>
                <a:highlight>
                  <a:srgbClr val="121314"/>
                </a:highlight>
                <a:latin typeface="Courier New"/>
                <a:ea typeface="Courier New"/>
                <a:cs typeface="Courier New"/>
                <a:sym typeface="Courier New"/>
              </a:rPr>
              <a:t> </a:t>
            </a:r>
            <a:r>
              <a:rPr lang="en-US" sz="450">
                <a:solidFill>
                  <a:srgbClr val="D4D4D4"/>
                </a:solidFill>
                <a:highlight>
                  <a:srgbClr val="121314"/>
                </a:highlight>
                <a:latin typeface="Courier New"/>
                <a:ea typeface="Courier New"/>
                <a:cs typeface="Courier New"/>
                <a:sym typeface="Courier New"/>
              </a:rPr>
              <a:t>!=</a:t>
            </a:r>
            <a:r>
              <a:rPr lang="en-US" sz="450">
                <a:solidFill>
                  <a:srgbClr val="BBBEBF"/>
                </a:solidFill>
                <a:highlight>
                  <a:srgbClr val="121314"/>
                </a:highlight>
                <a:latin typeface="Courier New"/>
                <a:ea typeface="Courier New"/>
                <a:cs typeface="Courier New"/>
                <a:sym typeface="Courier New"/>
              </a:rPr>
              <a:t> </a:t>
            </a:r>
            <a:r>
              <a:rPr lang="en-US" sz="450">
                <a:solidFill>
                  <a:srgbClr val="569CD6"/>
                </a:solidFill>
                <a:highlight>
                  <a:srgbClr val="121314"/>
                </a:highlight>
                <a:latin typeface="Courier New"/>
                <a:ea typeface="Courier New"/>
                <a:cs typeface="Courier New"/>
                <a:sym typeface="Courier New"/>
              </a:rPr>
              <a:t>nullptr</a:t>
            </a:r>
            <a:r>
              <a:rPr lang="en-US" sz="450">
                <a:solidFill>
                  <a:srgbClr val="BBBEBF"/>
                </a:solidFill>
                <a:highlight>
                  <a:srgbClr val="121314"/>
                </a:highlight>
                <a:latin typeface="Courier New"/>
                <a:ea typeface="Courier New"/>
                <a:cs typeface="Courier New"/>
                <a:sym typeface="Courier New"/>
              </a:rPr>
              <a:t> </a:t>
            </a:r>
            <a:r>
              <a:rPr lang="en-US" sz="450">
                <a:solidFill>
                  <a:srgbClr val="D4D4D4"/>
                </a:solidFill>
                <a:highlight>
                  <a:srgbClr val="121314"/>
                </a:highlight>
                <a:latin typeface="Courier New"/>
                <a:ea typeface="Courier New"/>
                <a:cs typeface="Courier New"/>
                <a:sym typeface="Courier New"/>
              </a:rPr>
              <a:t>&amp;&amp;</a:t>
            </a:r>
            <a:r>
              <a:rPr lang="en-US" sz="450">
                <a:solidFill>
                  <a:srgbClr val="BBBEBF"/>
                </a:solidFill>
                <a:highlight>
                  <a:srgbClr val="121314"/>
                </a:highlight>
                <a:latin typeface="Courier New"/>
                <a:ea typeface="Courier New"/>
                <a:cs typeface="Courier New"/>
                <a:sym typeface="Courier New"/>
              </a:rPr>
              <a:t> </a:t>
            </a:r>
            <a:r>
              <a:rPr lang="en-US" sz="450">
                <a:solidFill>
                  <a:srgbClr val="C9D1D9"/>
                </a:solidFill>
                <a:highlight>
                  <a:srgbClr val="121314"/>
                </a:highlight>
                <a:latin typeface="Courier New"/>
                <a:ea typeface="Courier New"/>
                <a:cs typeface="Courier New"/>
                <a:sym typeface="Courier New"/>
              </a:rPr>
              <a:t>node</a:t>
            </a:r>
            <a:r>
              <a:rPr lang="en-US" sz="450">
                <a:solidFill>
                  <a:srgbClr val="BBBEBF"/>
                </a:solidFill>
                <a:highlight>
                  <a:srgbClr val="121314"/>
                </a:highlight>
                <a:latin typeface="Courier New"/>
                <a:ea typeface="Courier New"/>
                <a:cs typeface="Courier New"/>
                <a:sym typeface="Courier New"/>
              </a:rPr>
              <a:t>-&gt;</a:t>
            </a:r>
            <a:r>
              <a:rPr lang="en-US" sz="450">
                <a:solidFill>
                  <a:srgbClr val="C9D1D9"/>
                </a:solidFill>
                <a:highlight>
                  <a:srgbClr val="121314"/>
                </a:highlight>
                <a:latin typeface="Courier New"/>
                <a:ea typeface="Courier New"/>
                <a:cs typeface="Courier New"/>
                <a:sym typeface="Courier New"/>
              </a:rPr>
              <a:t>right</a:t>
            </a:r>
            <a:r>
              <a:rPr lang="en-US" sz="450">
                <a:solidFill>
                  <a:srgbClr val="BBBEBF"/>
                </a:solidFill>
                <a:highlight>
                  <a:srgbClr val="121314"/>
                </a:highlight>
                <a:latin typeface="Courier New"/>
                <a:ea typeface="Courier New"/>
                <a:cs typeface="Courier New"/>
                <a:sym typeface="Courier New"/>
              </a:rPr>
              <a:t> </a:t>
            </a:r>
            <a:r>
              <a:rPr lang="en-US" sz="450">
                <a:solidFill>
                  <a:srgbClr val="D4D4D4"/>
                </a:solidFill>
                <a:highlight>
                  <a:srgbClr val="121314"/>
                </a:highlight>
                <a:latin typeface="Courier New"/>
                <a:ea typeface="Courier New"/>
                <a:cs typeface="Courier New"/>
                <a:sym typeface="Courier New"/>
              </a:rPr>
              <a:t>!=</a:t>
            </a:r>
            <a:r>
              <a:rPr lang="en-US" sz="450">
                <a:solidFill>
                  <a:srgbClr val="BBBEBF"/>
                </a:solidFill>
                <a:highlight>
                  <a:srgbClr val="121314"/>
                </a:highlight>
                <a:latin typeface="Courier New"/>
                <a:ea typeface="Courier New"/>
                <a:cs typeface="Courier New"/>
                <a:sym typeface="Courier New"/>
              </a:rPr>
              <a:t> </a:t>
            </a:r>
            <a:r>
              <a:rPr lang="en-US" sz="450">
                <a:solidFill>
                  <a:srgbClr val="569CD6"/>
                </a:solidFill>
                <a:highlight>
                  <a:srgbClr val="121314"/>
                </a:highlight>
                <a:latin typeface="Courier New"/>
                <a:ea typeface="Courier New"/>
                <a:cs typeface="Courier New"/>
                <a:sym typeface="Courier New"/>
              </a:rPr>
              <a:t>nullptr</a:t>
            </a:r>
            <a:r>
              <a:rPr lang="en-US" sz="450">
                <a:solidFill>
                  <a:srgbClr val="BBBEBF"/>
                </a:solidFill>
                <a:highlight>
                  <a:srgbClr val="121314"/>
                </a:highlight>
                <a:latin typeface="Courier New"/>
                <a:ea typeface="Courier New"/>
                <a:cs typeface="Courier New"/>
                <a:sym typeface="Courier New"/>
              </a:rPr>
              <a:t>)</a:t>
            </a:r>
            <a:endParaRPr sz="4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450">
                <a:solidFill>
                  <a:srgbClr val="BBBEBF"/>
                </a:solidFill>
                <a:highlight>
                  <a:srgbClr val="121314"/>
                </a:highlight>
                <a:latin typeface="Courier New"/>
                <a:ea typeface="Courier New"/>
                <a:cs typeface="Courier New"/>
                <a:sym typeface="Courier New"/>
              </a:rPr>
              <a:t>   </a:t>
            </a:r>
            <a:r>
              <a:rPr lang="en-US" sz="450">
                <a:solidFill>
                  <a:srgbClr val="C9D1D9"/>
                </a:solidFill>
                <a:highlight>
                  <a:srgbClr val="121314"/>
                </a:highlight>
                <a:latin typeface="Courier New"/>
                <a:ea typeface="Courier New"/>
                <a:cs typeface="Courier New"/>
                <a:sym typeface="Courier New"/>
              </a:rPr>
              <a:t>{</a:t>
            </a:r>
            <a:endParaRPr sz="4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450">
                <a:solidFill>
                  <a:srgbClr val="C9D1D9"/>
                </a:solidFill>
                <a:highlight>
                  <a:srgbClr val="121314"/>
                </a:highlight>
                <a:latin typeface="Courier New"/>
                <a:ea typeface="Courier New"/>
                <a:cs typeface="Courier New"/>
                <a:sym typeface="Courier New"/>
              </a:rPr>
              <a:t>       </a:t>
            </a:r>
            <a:r>
              <a:rPr lang="en-US" sz="450">
                <a:solidFill>
                  <a:srgbClr val="FFA657"/>
                </a:solidFill>
                <a:highlight>
                  <a:srgbClr val="121314"/>
                </a:highlight>
                <a:latin typeface="Courier New"/>
                <a:ea typeface="Courier New"/>
                <a:cs typeface="Courier New"/>
                <a:sym typeface="Courier New"/>
              </a:rPr>
              <a:t>node</a:t>
            </a:r>
            <a:r>
              <a:rPr lang="en-US" sz="450">
                <a:solidFill>
                  <a:srgbClr val="C9D1D9"/>
                </a:solidFill>
                <a:highlight>
                  <a:srgbClr val="121314"/>
                </a:highlight>
                <a:latin typeface="Courier New"/>
                <a:ea typeface="Courier New"/>
                <a:cs typeface="Courier New"/>
                <a:sym typeface="Courier New"/>
              </a:rPr>
              <a:t>-&gt;element </a:t>
            </a:r>
            <a:r>
              <a:rPr lang="en-US" sz="450">
                <a:solidFill>
                  <a:srgbClr val="D4D4D4"/>
                </a:solidFill>
                <a:highlight>
                  <a:srgbClr val="121314"/>
                </a:highlight>
                <a:latin typeface="Courier New"/>
                <a:ea typeface="Courier New"/>
                <a:cs typeface="Courier New"/>
                <a:sym typeface="Courier New"/>
              </a:rPr>
              <a:t>=</a:t>
            </a:r>
            <a:r>
              <a:rPr lang="en-US" sz="450">
                <a:solidFill>
                  <a:srgbClr val="C9D1D9"/>
                </a:solidFill>
                <a:highlight>
                  <a:srgbClr val="121314"/>
                </a:highlight>
                <a:latin typeface="Courier New"/>
                <a:ea typeface="Courier New"/>
                <a:cs typeface="Courier New"/>
                <a:sym typeface="Courier New"/>
              </a:rPr>
              <a:t> </a:t>
            </a:r>
            <a:r>
              <a:rPr lang="en-US" sz="450">
                <a:solidFill>
                  <a:srgbClr val="D2A8FF"/>
                </a:solidFill>
                <a:highlight>
                  <a:srgbClr val="121314"/>
                </a:highlight>
                <a:latin typeface="Courier New"/>
                <a:ea typeface="Courier New"/>
                <a:cs typeface="Courier New"/>
                <a:sym typeface="Courier New"/>
              </a:rPr>
              <a:t>findMin</a:t>
            </a:r>
            <a:r>
              <a:rPr lang="en-US" sz="450">
                <a:solidFill>
                  <a:srgbClr val="C9D1D9"/>
                </a:solidFill>
                <a:highlight>
                  <a:srgbClr val="121314"/>
                </a:highlight>
                <a:latin typeface="Courier New"/>
                <a:ea typeface="Courier New"/>
                <a:cs typeface="Courier New"/>
                <a:sym typeface="Courier New"/>
              </a:rPr>
              <a:t>(node-&gt;right)-&gt;element;</a:t>
            </a:r>
            <a:endParaRPr sz="4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450">
                <a:solidFill>
                  <a:srgbClr val="C9D1D9"/>
                </a:solidFill>
                <a:highlight>
                  <a:srgbClr val="121314"/>
                </a:highlight>
                <a:latin typeface="Courier New"/>
                <a:ea typeface="Courier New"/>
                <a:cs typeface="Courier New"/>
                <a:sym typeface="Courier New"/>
              </a:rPr>
              <a:t>       </a:t>
            </a:r>
            <a:r>
              <a:rPr lang="en-US" sz="450">
                <a:solidFill>
                  <a:srgbClr val="D2A8FF"/>
                </a:solidFill>
                <a:highlight>
                  <a:srgbClr val="121314"/>
                </a:highlight>
                <a:latin typeface="Courier New"/>
                <a:ea typeface="Courier New"/>
                <a:cs typeface="Courier New"/>
                <a:sym typeface="Courier New"/>
              </a:rPr>
              <a:t>remove</a:t>
            </a:r>
            <a:r>
              <a:rPr lang="en-US" sz="450">
                <a:solidFill>
                  <a:srgbClr val="C9D1D9"/>
                </a:solidFill>
                <a:highlight>
                  <a:srgbClr val="121314"/>
                </a:highlight>
                <a:latin typeface="Courier New"/>
                <a:ea typeface="Courier New"/>
                <a:cs typeface="Courier New"/>
                <a:sym typeface="Courier New"/>
              </a:rPr>
              <a:t>(node-&gt;element, node-&gt;right);</a:t>
            </a:r>
            <a:endParaRPr sz="4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450">
                <a:solidFill>
                  <a:srgbClr val="C9D1D9"/>
                </a:solidFill>
                <a:highlight>
                  <a:srgbClr val="121314"/>
                </a:highlight>
                <a:latin typeface="Courier New"/>
                <a:ea typeface="Courier New"/>
                <a:cs typeface="Courier New"/>
                <a:sym typeface="Courier New"/>
              </a:rPr>
              <a:t>       </a:t>
            </a:r>
            <a:r>
              <a:rPr lang="en-US" sz="450">
                <a:solidFill>
                  <a:srgbClr val="C586C0"/>
                </a:solidFill>
                <a:highlight>
                  <a:srgbClr val="121314"/>
                </a:highlight>
                <a:latin typeface="Courier New"/>
                <a:ea typeface="Courier New"/>
                <a:cs typeface="Courier New"/>
                <a:sym typeface="Courier New"/>
              </a:rPr>
              <a:t>return</a:t>
            </a:r>
            <a:r>
              <a:rPr lang="en-US" sz="450">
                <a:solidFill>
                  <a:srgbClr val="C9D1D9"/>
                </a:solidFill>
                <a:highlight>
                  <a:srgbClr val="121314"/>
                </a:highlight>
                <a:latin typeface="Courier New"/>
                <a:ea typeface="Courier New"/>
                <a:cs typeface="Courier New"/>
                <a:sym typeface="Courier New"/>
              </a:rPr>
              <a:t>;</a:t>
            </a:r>
            <a:endParaRPr sz="4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450">
                <a:solidFill>
                  <a:srgbClr val="C9D1D9"/>
                </a:solidFill>
                <a:highlight>
                  <a:srgbClr val="121314"/>
                </a:highlight>
                <a:latin typeface="Courier New"/>
                <a:ea typeface="Courier New"/>
                <a:cs typeface="Courier New"/>
                <a:sym typeface="Courier New"/>
              </a:rPr>
              <a:t>   }</a:t>
            </a:r>
            <a:endParaRPr sz="450">
              <a:solidFill>
                <a:srgbClr val="C9D1D9"/>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4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450">
                <a:solidFill>
                  <a:srgbClr val="BBBEBF"/>
                </a:solidFill>
                <a:highlight>
                  <a:srgbClr val="121314"/>
                </a:highlight>
                <a:latin typeface="Courier New"/>
                <a:ea typeface="Courier New"/>
                <a:cs typeface="Courier New"/>
                <a:sym typeface="Courier New"/>
              </a:rPr>
              <a:t>   BinaryNode</a:t>
            </a:r>
            <a:r>
              <a:rPr lang="en-US" sz="450">
                <a:solidFill>
                  <a:srgbClr val="D4D4D4"/>
                </a:solidFill>
                <a:highlight>
                  <a:srgbClr val="121314"/>
                </a:highlight>
                <a:latin typeface="Courier New"/>
                <a:ea typeface="Courier New"/>
                <a:cs typeface="Courier New"/>
                <a:sym typeface="Courier New"/>
              </a:rPr>
              <a:t>&lt;</a:t>
            </a:r>
            <a:r>
              <a:rPr lang="en-US" sz="450">
                <a:solidFill>
                  <a:srgbClr val="BBBEBF"/>
                </a:solidFill>
                <a:highlight>
                  <a:srgbClr val="121314"/>
                </a:highlight>
                <a:latin typeface="Courier New"/>
                <a:ea typeface="Courier New"/>
                <a:cs typeface="Courier New"/>
                <a:sym typeface="Courier New"/>
              </a:rPr>
              <a:t>Comparable</a:t>
            </a:r>
            <a:r>
              <a:rPr lang="en-US" sz="450">
                <a:solidFill>
                  <a:srgbClr val="D4D4D4"/>
                </a:solidFill>
                <a:highlight>
                  <a:srgbClr val="121314"/>
                </a:highlight>
                <a:latin typeface="Courier New"/>
                <a:ea typeface="Courier New"/>
                <a:cs typeface="Courier New"/>
                <a:sym typeface="Courier New"/>
              </a:rPr>
              <a:t>&gt;*</a:t>
            </a:r>
            <a:r>
              <a:rPr lang="en-US" sz="450">
                <a:solidFill>
                  <a:srgbClr val="BBBEBF"/>
                </a:solidFill>
                <a:highlight>
                  <a:srgbClr val="121314"/>
                </a:highlight>
                <a:latin typeface="Courier New"/>
                <a:ea typeface="Courier New"/>
                <a:cs typeface="Courier New"/>
                <a:sym typeface="Courier New"/>
              </a:rPr>
              <a:t> </a:t>
            </a:r>
            <a:r>
              <a:rPr lang="en-US" sz="450">
                <a:solidFill>
                  <a:srgbClr val="C9D1D9"/>
                </a:solidFill>
                <a:highlight>
                  <a:srgbClr val="121314"/>
                </a:highlight>
                <a:latin typeface="Courier New"/>
                <a:ea typeface="Courier New"/>
                <a:cs typeface="Courier New"/>
                <a:sym typeface="Courier New"/>
              </a:rPr>
              <a:t>nodeToDelete</a:t>
            </a:r>
            <a:r>
              <a:rPr lang="en-US" sz="450">
                <a:solidFill>
                  <a:srgbClr val="BBBEBF"/>
                </a:solidFill>
                <a:highlight>
                  <a:srgbClr val="121314"/>
                </a:highlight>
                <a:latin typeface="Courier New"/>
                <a:ea typeface="Courier New"/>
                <a:cs typeface="Courier New"/>
                <a:sym typeface="Courier New"/>
              </a:rPr>
              <a:t> </a:t>
            </a:r>
            <a:r>
              <a:rPr lang="en-US" sz="450">
                <a:solidFill>
                  <a:srgbClr val="D4D4D4"/>
                </a:solidFill>
                <a:highlight>
                  <a:srgbClr val="121314"/>
                </a:highlight>
                <a:latin typeface="Courier New"/>
                <a:ea typeface="Courier New"/>
                <a:cs typeface="Courier New"/>
                <a:sym typeface="Courier New"/>
              </a:rPr>
              <a:t>=</a:t>
            </a:r>
            <a:r>
              <a:rPr lang="en-US" sz="450">
                <a:solidFill>
                  <a:srgbClr val="BBBEBF"/>
                </a:solidFill>
                <a:highlight>
                  <a:srgbClr val="121314"/>
                </a:highlight>
                <a:latin typeface="Courier New"/>
                <a:ea typeface="Courier New"/>
                <a:cs typeface="Courier New"/>
                <a:sym typeface="Courier New"/>
              </a:rPr>
              <a:t> node;</a:t>
            </a:r>
            <a:endParaRPr sz="4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450">
                <a:solidFill>
                  <a:srgbClr val="BBBEBF"/>
                </a:solidFill>
                <a:highlight>
                  <a:srgbClr val="121314"/>
                </a:highlight>
                <a:latin typeface="Courier New"/>
                <a:ea typeface="Courier New"/>
                <a:cs typeface="Courier New"/>
                <a:sym typeface="Courier New"/>
              </a:rPr>
              <a:t>   </a:t>
            </a:r>
            <a:r>
              <a:rPr lang="en-US" sz="450">
                <a:solidFill>
                  <a:srgbClr val="FFA657"/>
                </a:solidFill>
                <a:highlight>
                  <a:srgbClr val="121314"/>
                </a:highlight>
                <a:latin typeface="Courier New"/>
                <a:ea typeface="Courier New"/>
                <a:cs typeface="Courier New"/>
                <a:sym typeface="Courier New"/>
              </a:rPr>
              <a:t>node</a:t>
            </a:r>
            <a:r>
              <a:rPr lang="en-US" sz="450">
                <a:solidFill>
                  <a:srgbClr val="BBBEBF"/>
                </a:solidFill>
                <a:highlight>
                  <a:srgbClr val="121314"/>
                </a:highlight>
                <a:latin typeface="Courier New"/>
                <a:ea typeface="Courier New"/>
                <a:cs typeface="Courier New"/>
                <a:sym typeface="Courier New"/>
              </a:rPr>
              <a:t> </a:t>
            </a:r>
            <a:r>
              <a:rPr lang="en-US" sz="450">
                <a:solidFill>
                  <a:srgbClr val="D4D4D4"/>
                </a:solidFill>
                <a:highlight>
                  <a:srgbClr val="121314"/>
                </a:highlight>
                <a:latin typeface="Courier New"/>
                <a:ea typeface="Courier New"/>
                <a:cs typeface="Courier New"/>
                <a:sym typeface="Courier New"/>
              </a:rPr>
              <a:t>=</a:t>
            </a:r>
            <a:r>
              <a:rPr lang="en-US" sz="450">
                <a:solidFill>
                  <a:srgbClr val="BBBEBF"/>
                </a:solidFill>
                <a:highlight>
                  <a:srgbClr val="121314"/>
                </a:highlight>
                <a:latin typeface="Courier New"/>
                <a:ea typeface="Courier New"/>
                <a:cs typeface="Courier New"/>
                <a:sym typeface="Courier New"/>
              </a:rPr>
              <a:t> (</a:t>
            </a:r>
            <a:r>
              <a:rPr lang="en-US" sz="450">
                <a:solidFill>
                  <a:srgbClr val="FFA657"/>
                </a:solidFill>
                <a:highlight>
                  <a:srgbClr val="121314"/>
                </a:highlight>
                <a:latin typeface="Courier New"/>
                <a:ea typeface="Courier New"/>
                <a:cs typeface="Courier New"/>
                <a:sym typeface="Courier New"/>
              </a:rPr>
              <a:t>node</a:t>
            </a:r>
            <a:r>
              <a:rPr lang="en-US" sz="450">
                <a:solidFill>
                  <a:srgbClr val="BBBEBF"/>
                </a:solidFill>
                <a:highlight>
                  <a:srgbClr val="121314"/>
                </a:highlight>
                <a:latin typeface="Courier New"/>
                <a:ea typeface="Courier New"/>
                <a:cs typeface="Courier New"/>
                <a:sym typeface="Courier New"/>
              </a:rPr>
              <a:t>-&gt;</a:t>
            </a:r>
            <a:r>
              <a:rPr lang="en-US" sz="450">
                <a:solidFill>
                  <a:srgbClr val="C9D1D9"/>
                </a:solidFill>
                <a:highlight>
                  <a:srgbClr val="121314"/>
                </a:highlight>
                <a:latin typeface="Courier New"/>
                <a:ea typeface="Courier New"/>
                <a:cs typeface="Courier New"/>
                <a:sym typeface="Courier New"/>
              </a:rPr>
              <a:t>left</a:t>
            </a:r>
            <a:r>
              <a:rPr lang="en-US" sz="450">
                <a:solidFill>
                  <a:srgbClr val="BBBEBF"/>
                </a:solidFill>
                <a:highlight>
                  <a:srgbClr val="121314"/>
                </a:highlight>
                <a:latin typeface="Courier New"/>
                <a:ea typeface="Courier New"/>
                <a:cs typeface="Courier New"/>
                <a:sym typeface="Courier New"/>
              </a:rPr>
              <a:t> </a:t>
            </a:r>
            <a:r>
              <a:rPr lang="en-US" sz="450">
                <a:solidFill>
                  <a:srgbClr val="D4D4D4"/>
                </a:solidFill>
                <a:highlight>
                  <a:srgbClr val="121314"/>
                </a:highlight>
                <a:latin typeface="Courier New"/>
                <a:ea typeface="Courier New"/>
                <a:cs typeface="Courier New"/>
                <a:sym typeface="Courier New"/>
              </a:rPr>
              <a:t>!=</a:t>
            </a:r>
            <a:r>
              <a:rPr lang="en-US" sz="450">
                <a:solidFill>
                  <a:srgbClr val="BBBEBF"/>
                </a:solidFill>
                <a:highlight>
                  <a:srgbClr val="121314"/>
                </a:highlight>
                <a:latin typeface="Courier New"/>
                <a:ea typeface="Courier New"/>
                <a:cs typeface="Courier New"/>
                <a:sym typeface="Courier New"/>
              </a:rPr>
              <a:t> </a:t>
            </a:r>
            <a:r>
              <a:rPr lang="en-US" sz="450">
                <a:solidFill>
                  <a:srgbClr val="569CD6"/>
                </a:solidFill>
                <a:highlight>
                  <a:srgbClr val="121314"/>
                </a:highlight>
                <a:latin typeface="Courier New"/>
                <a:ea typeface="Courier New"/>
                <a:cs typeface="Courier New"/>
                <a:sym typeface="Courier New"/>
              </a:rPr>
              <a:t>nullptr</a:t>
            </a:r>
            <a:r>
              <a:rPr lang="en-US" sz="450">
                <a:solidFill>
                  <a:srgbClr val="BBBEBF"/>
                </a:solidFill>
                <a:highlight>
                  <a:srgbClr val="121314"/>
                </a:highlight>
                <a:latin typeface="Courier New"/>
                <a:ea typeface="Courier New"/>
                <a:cs typeface="Courier New"/>
                <a:sym typeface="Courier New"/>
              </a:rPr>
              <a:t>) </a:t>
            </a:r>
            <a:r>
              <a:rPr lang="en-US" sz="450">
                <a:solidFill>
                  <a:srgbClr val="D4D4D4"/>
                </a:solidFill>
                <a:highlight>
                  <a:srgbClr val="121314"/>
                </a:highlight>
                <a:latin typeface="Courier New"/>
                <a:ea typeface="Courier New"/>
                <a:cs typeface="Courier New"/>
                <a:sym typeface="Courier New"/>
              </a:rPr>
              <a:t>?</a:t>
            </a:r>
            <a:r>
              <a:rPr lang="en-US" sz="450">
                <a:solidFill>
                  <a:srgbClr val="BBBEBF"/>
                </a:solidFill>
                <a:highlight>
                  <a:srgbClr val="121314"/>
                </a:highlight>
                <a:latin typeface="Courier New"/>
                <a:ea typeface="Courier New"/>
                <a:cs typeface="Courier New"/>
                <a:sym typeface="Courier New"/>
              </a:rPr>
              <a:t> </a:t>
            </a:r>
            <a:r>
              <a:rPr lang="en-US" sz="450">
                <a:solidFill>
                  <a:srgbClr val="C9D1D9"/>
                </a:solidFill>
                <a:highlight>
                  <a:srgbClr val="121314"/>
                </a:highlight>
                <a:latin typeface="Courier New"/>
                <a:ea typeface="Courier New"/>
                <a:cs typeface="Courier New"/>
                <a:sym typeface="Courier New"/>
              </a:rPr>
              <a:t>node</a:t>
            </a:r>
            <a:r>
              <a:rPr lang="en-US" sz="450">
                <a:solidFill>
                  <a:srgbClr val="BBBEBF"/>
                </a:solidFill>
                <a:highlight>
                  <a:srgbClr val="121314"/>
                </a:highlight>
                <a:latin typeface="Courier New"/>
                <a:ea typeface="Courier New"/>
                <a:cs typeface="Courier New"/>
                <a:sym typeface="Courier New"/>
              </a:rPr>
              <a:t>-&gt;</a:t>
            </a:r>
            <a:r>
              <a:rPr lang="en-US" sz="450">
                <a:solidFill>
                  <a:srgbClr val="C9D1D9"/>
                </a:solidFill>
                <a:highlight>
                  <a:srgbClr val="121314"/>
                </a:highlight>
                <a:latin typeface="Courier New"/>
                <a:ea typeface="Courier New"/>
                <a:cs typeface="Courier New"/>
                <a:sym typeface="Courier New"/>
              </a:rPr>
              <a:t>left</a:t>
            </a:r>
            <a:r>
              <a:rPr lang="en-US" sz="450">
                <a:solidFill>
                  <a:srgbClr val="BBBEBF"/>
                </a:solidFill>
                <a:highlight>
                  <a:srgbClr val="121314"/>
                </a:highlight>
                <a:latin typeface="Courier New"/>
                <a:ea typeface="Courier New"/>
                <a:cs typeface="Courier New"/>
                <a:sym typeface="Courier New"/>
              </a:rPr>
              <a:t> </a:t>
            </a:r>
            <a:r>
              <a:rPr lang="en-US" sz="450">
                <a:solidFill>
                  <a:srgbClr val="D4D4D4"/>
                </a:solidFill>
                <a:highlight>
                  <a:srgbClr val="121314"/>
                </a:highlight>
                <a:latin typeface="Courier New"/>
                <a:ea typeface="Courier New"/>
                <a:cs typeface="Courier New"/>
                <a:sym typeface="Courier New"/>
              </a:rPr>
              <a:t>:</a:t>
            </a:r>
            <a:r>
              <a:rPr lang="en-US" sz="450">
                <a:solidFill>
                  <a:srgbClr val="BBBEBF"/>
                </a:solidFill>
                <a:highlight>
                  <a:srgbClr val="121314"/>
                </a:highlight>
                <a:latin typeface="Courier New"/>
                <a:ea typeface="Courier New"/>
                <a:cs typeface="Courier New"/>
                <a:sym typeface="Courier New"/>
              </a:rPr>
              <a:t> </a:t>
            </a:r>
            <a:r>
              <a:rPr lang="en-US" sz="450">
                <a:solidFill>
                  <a:srgbClr val="C9D1D9"/>
                </a:solidFill>
                <a:highlight>
                  <a:srgbClr val="121314"/>
                </a:highlight>
                <a:latin typeface="Courier New"/>
                <a:ea typeface="Courier New"/>
                <a:cs typeface="Courier New"/>
                <a:sym typeface="Courier New"/>
              </a:rPr>
              <a:t>node</a:t>
            </a:r>
            <a:r>
              <a:rPr lang="en-US" sz="450">
                <a:solidFill>
                  <a:srgbClr val="BBBEBF"/>
                </a:solidFill>
                <a:highlight>
                  <a:srgbClr val="121314"/>
                </a:highlight>
                <a:latin typeface="Courier New"/>
                <a:ea typeface="Courier New"/>
                <a:cs typeface="Courier New"/>
                <a:sym typeface="Courier New"/>
              </a:rPr>
              <a:t>-&gt;</a:t>
            </a:r>
            <a:r>
              <a:rPr lang="en-US" sz="450">
                <a:solidFill>
                  <a:srgbClr val="C9D1D9"/>
                </a:solidFill>
                <a:highlight>
                  <a:srgbClr val="121314"/>
                </a:highlight>
                <a:latin typeface="Courier New"/>
                <a:ea typeface="Courier New"/>
                <a:cs typeface="Courier New"/>
                <a:sym typeface="Courier New"/>
              </a:rPr>
              <a:t>right</a:t>
            </a:r>
            <a:r>
              <a:rPr lang="en-US" sz="450">
                <a:solidFill>
                  <a:srgbClr val="BBBEBF"/>
                </a:solidFill>
                <a:highlight>
                  <a:srgbClr val="121314"/>
                </a:highlight>
                <a:latin typeface="Courier New"/>
                <a:ea typeface="Courier New"/>
                <a:cs typeface="Courier New"/>
                <a:sym typeface="Courier New"/>
              </a:rPr>
              <a:t>;</a:t>
            </a:r>
            <a:endParaRPr sz="4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4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450">
                <a:solidFill>
                  <a:srgbClr val="BBBEBF"/>
                </a:solidFill>
                <a:highlight>
                  <a:srgbClr val="121314"/>
                </a:highlight>
                <a:latin typeface="Courier New"/>
                <a:ea typeface="Courier New"/>
                <a:cs typeface="Courier New"/>
                <a:sym typeface="Courier New"/>
              </a:rPr>
              <a:t>   </a:t>
            </a:r>
            <a:r>
              <a:rPr lang="en-US" sz="450">
                <a:solidFill>
                  <a:srgbClr val="D4D4D4"/>
                </a:solidFill>
                <a:highlight>
                  <a:srgbClr val="121314"/>
                </a:highlight>
                <a:latin typeface="Courier New"/>
                <a:ea typeface="Courier New"/>
                <a:cs typeface="Courier New"/>
                <a:sym typeface="Courier New"/>
              </a:rPr>
              <a:t>delete</a:t>
            </a:r>
            <a:r>
              <a:rPr lang="en-US" sz="450">
                <a:solidFill>
                  <a:srgbClr val="BBBEBF"/>
                </a:solidFill>
                <a:highlight>
                  <a:srgbClr val="121314"/>
                </a:highlight>
                <a:latin typeface="Courier New"/>
                <a:ea typeface="Courier New"/>
                <a:cs typeface="Courier New"/>
                <a:sym typeface="Courier New"/>
              </a:rPr>
              <a:t> nodeToDelete;</a:t>
            </a:r>
            <a:endParaRPr sz="4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450">
                <a:solidFill>
                  <a:srgbClr val="BBBEBF"/>
                </a:solidFill>
                <a:highlight>
                  <a:srgbClr val="121314"/>
                </a:highlight>
                <a:latin typeface="Courier New"/>
                <a:ea typeface="Courier New"/>
                <a:cs typeface="Courier New"/>
                <a:sym typeface="Courier New"/>
              </a:rPr>
              <a:t>}</a:t>
            </a:r>
            <a:endParaRPr sz="450">
              <a:solidFill>
                <a:srgbClr val="BBBEBF"/>
              </a:solidFill>
              <a:highlight>
                <a:srgbClr val="121314"/>
              </a:highlight>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F1A"/>
        </a:solidFill>
      </p:bgPr>
    </p:bg>
    <p:spTree>
      <p:nvGrpSpPr>
        <p:cNvPr id="300" name="Shape 300"/>
        <p:cNvGrpSpPr/>
        <p:nvPr/>
      </p:nvGrpSpPr>
      <p:grpSpPr>
        <a:xfrm>
          <a:off x="0" y="0"/>
          <a:ext cx="0" cy="0"/>
          <a:chOff x="0" y="0"/>
          <a:chExt cx="0" cy="0"/>
        </a:xfrm>
      </p:grpSpPr>
      <p:sp>
        <p:nvSpPr>
          <p:cNvPr id="301" name="Google Shape;301;p11"/>
          <p:cNvSpPr/>
          <p:nvPr/>
        </p:nvSpPr>
        <p:spPr>
          <a:xfrm>
            <a:off x="0" y="0"/>
            <a:ext cx="54864"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1"/>
          <p:cNvSpPr/>
          <p:nvPr/>
        </p:nvSpPr>
        <p:spPr>
          <a:xfrm>
            <a:off x="182880" y="137160"/>
            <a:ext cx="87782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2600"/>
              <a:buFont typeface="Trebuchet MS"/>
              <a:buNone/>
            </a:pPr>
            <a:r>
              <a:rPr b="1" i="0" lang="en-US" sz="2600" u="none" cap="none" strike="noStrike">
                <a:solidFill>
                  <a:srgbClr val="F0F4FF"/>
                </a:solidFill>
                <a:latin typeface="Trebuchet MS"/>
                <a:ea typeface="Trebuchet MS"/>
                <a:cs typeface="Trebuchet MS"/>
                <a:sym typeface="Trebuchet MS"/>
              </a:rPr>
              <a:t>Height-Performance Correlation — La trampa del BST</a:t>
            </a:r>
            <a:endParaRPr b="0" i="0" sz="2600" u="none" cap="none" strike="noStrike">
              <a:solidFill>
                <a:schemeClr val="dk1"/>
              </a:solidFill>
              <a:latin typeface="Calibri"/>
              <a:ea typeface="Calibri"/>
              <a:cs typeface="Calibri"/>
              <a:sym typeface="Calibri"/>
            </a:endParaRPr>
          </a:p>
        </p:txBody>
      </p:sp>
      <p:sp>
        <p:nvSpPr>
          <p:cNvPr id="303" name="Google Shape;303;p11"/>
          <p:cNvSpPr/>
          <p:nvPr/>
        </p:nvSpPr>
        <p:spPr>
          <a:xfrm>
            <a:off x="182880" y="749808"/>
            <a:ext cx="8778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1200"/>
              <a:buFont typeface="Calibri"/>
              <a:buNone/>
            </a:pPr>
            <a:r>
              <a:rPr b="0" i="1" lang="en-US" sz="1200" u="none" cap="none" strike="noStrike">
                <a:solidFill>
                  <a:srgbClr val="8892A4"/>
                </a:solidFill>
                <a:latin typeface="Calibri"/>
                <a:ea typeface="Calibri"/>
                <a:cs typeface="Calibri"/>
                <a:sym typeface="Calibri"/>
              </a:rPr>
              <a:t>O(h) significa algo muy distinto según la forma del árbol</a:t>
            </a:r>
            <a:endParaRPr b="0" i="0" sz="1200" u="none" cap="none" strike="noStrike">
              <a:solidFill>
                <a:schemeClr val="dk1"/>
              </a:solidFill>
              <a:latin typeface="Calibri"/>
              <a:ea typeface="Calibri"/>
              <a:cs typeface="Calibri"/>
              <a:sym typeface="Calibri"/>
            </a:endParaRPr>
          </a:p>
        </p:txBody>
      </p:sp>
      <p:sp>
        <p:nvSpPr>
          <p:cNvPr id="304" name="Google Shape;304;p11"/>
          <p:cNvSpPr/>
          <p:nvPr/>
        </p:nvSpPr>
        <p:spPr>
          <a:xfrm>
            <a:off x="182880" y="1024128"/>
            <a:ext cx="1463040" cy="27432"/>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1"/>
          <p:cNvSpPr/>
          <p:nvPr/>
        </p:nvSpPr>
        <p:spPr>
          <a:xfrm>
            <a:off x="137160" y="1188720"/>
            <a:ext cx="4297680" cy="3611880"/>
          </a:xfrm>
          <a:prstGeom prst="rect">
            <a:avLst/>
          </a:prstGeom>
          <a:solidFill>
            <a:srgbClr val="141829"/>
          </a:solidFill>
          <a:ln cap="flat" cmpd="sng" w="9525">
            <a:solidFill>
              <a:srgbClr val="10B981"/>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1"/>
          <p:cNvSpPr/>
          <p:nvPr/>
        </p:nvSpPr>
        <p:spPr>
          <a:xfrm>
            <a:off x="137160" y="1188720"/>
            <a:ext cx="4297680" cy="54864"/>
          </a:xfrm>
          <a:prstGeom prst="rect">
            <a:avLst/>
          </a:prstGeom>
          <a:solidFill>
            <a:srgbClr val="10B981"/>
          </a:solidFill>
          <a:ln cap="flat" cmpd="sng" w="1270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1"/>
          <p:cNvSpPr/>
          <p:nvPr/>
        </p:nvSpPr>
        <p:spPr>
          <a:xfrm>
            <a:off x="274320" y="1298448"/>
            <a:ext cx="4023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100"/>
              <a:buFont typeface="Trebuchet MS"/>
              <a:buNone/>
            </a:pPr>
            <a:r>
              <a:rPr b="1" i="0" lang="en-US" sz="1100" u="none" cap="none" strike="noStrike">
                <a:solidFill>
                  <a:srgbClr val="10B981"/>
                </a:solidFill>
                <a:latin typeface="Trebuchet MS"/>
                <a:ea typeface="Trebuchet MS"/>
                <a:cs typeface="Trebuchet MS"/>
                <a:sym typeface="Trebuchet MS"/>
              </a:rPr>
              <a:t>ÁRBOL BALANCEADO</a:t>
            </a:r>
            <a:endParaRPr b="0" i="0" sz="1100" u="none" cap="none" strike="noStrike">
              <a:solidFill>
                <a:schemeClr val="dk1"/>
              </a:solidFill>
              <a:latin typeface="Calibri"/>
              <a:ea typeface="Calibri"/>
              <a:cs typeface="Calibri"/>
              <a:sym typeface="Calibri"/>
            </a:endParaRPr>
          </a:p>
        </p:txBody>
      </p:sp>
      <p:sp>
        <p:nvSpPr>
          <p:cNvPr id="308" name="Google Shape;308;p11"/>
          <p:cNvSpPr/>
          <p:nvPr/>
        </p:nvSpPr>
        <p:spPr>
          <a:xfrm>
            <a:off x="274320" y="1600200"/>
            <a:ext cx="40233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B981"/>
              </a:buClr>
              <a:buSzPts val="1400"/>
              <a:buFont typeface="Consolas"/>
              <a:buNone/>
            </a:pPr>
            <a:r>
              <a:rPr b="1" i="0" lang="en-US" sz="1400" u="none" cap="none" strike="noStrike">
                <a:solidFill>
                  <a:srgbClr val="10B981"/>
                </a:solidFill>
                <a:latin typeface="Consolas"/>
                <a:ea typeface="Consolas"/>
                <a:cs typeface="Consolas"/>
                <a:sym typeface="Consolas"/>
              </a:rPr>
              <a:t>h = O(log n)</a:t>
            </a:r>
            <a:endParaRPr b="0" i="0" sz="1400" u="none" cap="none" strike="noStrike">
              <a:solidFill>
                <a:schemeClr val="dk1"/>
              </a:solidFill>
              <a:latin typeface="Calibri"/>
              <a:ea typeface="Calibri"/>
              <a:cs typeface="Calibri"/>
              <a:sym typeface="Calibri"/>
            </a:endParaRPr>
          </a:p>
        </p:txBody>
      </p:sp>
      <p:sp>
        <p:nvSpPr>
          <p:cNvPr id="309" name="Google Shape;309;p11"/>
          <p:cNvSpPr/>
          <p:nvPr/>
        </p:nvSpPr>
        <p:spPr>
          <a:xfrm>
            <a:off x="2084832" y="1883664"/>
            <a:ext cx="402336" cy="402336"/>
          </a:xfrm>
          <a:prstGeom prst="ellipse">
            <a:avLst/>
          </a:prstGeom>
          <a:solidFill>
            <a:srgbClr val="1A2035"/>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1"/>
          <p:cNvSpPr/>
          <p:nvPr/>
        </p:nvSpPr>
        <p:spPr>
          <a:xfrm>
            <a:off x="2084832" y="1883664"/>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B981"/>
              </a:buClr>
              <a:buSzPts val="1200"/>
              <a:buFont typeface="Consolas"/>
              <a:buNone/>
            </a:pPr>
            <a:r>
              <a:rPr b="1" i="0" lang="en-US" sz="1200" u="none" cap="none" strike="noStrike">
                <a:solidFill>
                  <a:srgbClr val="10B981"/>
                </a:solidFill>
                <a:latin typeface="Consolas"/>
                <a:ea typeface="Consolas"/>
                <a:cs typeface="Consolas"/>
                <a:sym typeface="Consolas"/>
              </a:rPr>
              <a:t>6</a:t>
            </a:r>
            <a:endParaRPr b="0" i="0" sz="1200" u="none" cap="none" strike="noStrike">
              <a:solidFill>
                <a:schemeClr val="dk1"/>
              </a:solidFill>
              <a:latin typeface="Calibri"/>
              <a:ea typeface="Calibri"/>
              <a:cs typeface="Calibri"/>
              <a:sym typeface="Calibri"/>
            </a:endParaRPr>
          </a:p>
        </p:txBody>
      </p:sp>
      <p:sp>
        <p:nvSpPr>
          <p:cNvPr id="311" name="Google Shape;311;p11"/>
          <p:cNvSpPr/>
          <p:nvPr/>
        </p:nvSpPr>
        <p:spPr>
          <a:xfrm>
            <a:off x="1261872" y="2432304"/>
            <a:ext cx="402336" cy="402336"/>
          </a:xfrm>
          <a:prstGeom prst="ellipse">
            <a:avLst/>
          </a:prstGeom>
          <a:solidFill>
            <a:srgbClr val="1A2035"/>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1"/>
          <p:cNvSpPr/>
          <p:nvPr/>
        </p:nvSpPr>
        <p:spPr>
          <a:xfrm>
            <a:off x="1261872" y="2432304"/>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1200"/>
              <a:buFont typeface="Consolas"/>
              <a:buNone/>
            </a:pPr>
            <a:r>
              <a:rPr b="1" i="0" lang="en-US" sz="1200" u="none" cap="none" strike="noStrike">
                <a:solidFill>
                  <a:srgbClr val="F0F4FF"/>
                </a:solidFill>
                <a:latin typeface="Consolas"/>
                <a:ea typeface="Consolas"/>
                <a:cs typeface="Consolas"/>
                <a:sym typeface="Consolas"/>
              </a:rPr>
              <a:t>2</a:t>
            </a:r>
            <a:endParaRPr b="0" i="0" sz="1200" u="none" cap="none" strike="noStrike">
              <a:solidFill>
                <a:schemeClr val="dk1"/>
              </a:solidFill>
              <a:latin typeface="Calibri"/>
              <a:ea typeface="Calibri"/>
              <a:cs typeface="Calibri"/>
              <a:sym typeface="Calibri"/>
            </a:endParaRPr>
          </a:p>
        </p:txBody>
      </p:sp>
      <p:sp>
        <p:nvSpPr>
          <p:cNvPr id="313" name="Google Shape;313;p11"/>
          <p:cNvSpPr/>
          <p:nvPr/>
        </p:nvSpPr>
        <p:spPr>
          <a:xfrm>
            <a:off x="2907792" y="2432304"/>
            <a:ext cx="402336" cy="402336"/>
          </a:xfrm>
          <a:prstGeom prst="ellipse">
            <a:avLst/>
          </a:prstGeom>
          <a:solidFill>
            <a:srgbClr val="1A2035"/>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1"/>
          <p:cNvSpPr/>
          <p:nvPr/>
        </p:nvSpPr>
        <p:spPr>
          <a:xfrm>
            <a:off x="2907792" y="2432304"/>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1200"/>
              <a:buFont typeface="Consolas"/>
              <a:buNone/>
            </a:pPr>
            <a:r>
              <a:rPr b="1" i="0" lang="en-US" sz="1200" u="none" cap="none" strike="noStrike">
                <a:solidFill>
                  <a:srgbClr val="F0F4FF"/>
                </a:solidFill>
                <a:latin typeface="Consolas"/>
                <a:ea typeface="Consolas"/>
                <a:cs typeface="Consolas"/>
                <a:sym typeface="Consolas"/>
              </a:rPr>
              <a:t>8</a:t>
            </a:r>
            <a:endParaRPr b="0" i="0" sz="1200" u="none" cap="none" strike="noStrike">
              <a:solidFill>
                <a:schemeClr val="dk1"/>
              </a:solidFill>
              <a:latin typeface="Calibri"/>
              <a:ea typeface="Calibri"/>
              <a:cs typeface="Calibri"/>
              <a:sym typeface="Calibri"/>
            </a:endParaRPr>
          </a:p>
        </p:txBody>
      </p:sp>
      <p:sp>
        <p:nvSpPr>
          <p:cNvPr id="315" name="Google Shape;315;p11"/>
          <p:cNvSpPr/>
          <p:nvPr/>
        </p:nvSpPr>
        <p:spPr>
          <a:xfrm>
            <a:off x="804672" y="2980944"/>
            <a:ext cx="402336" cy="402336"/>
          </a:xfrm>
          <a:prstGeom prst="ellipse">
            <a:avLst/>
          </a:prstGeom>
          <a:solidFill>
            <a:srgbClr val="1A2035"/>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1"/>
          <p:cNvSpPr/>
          <p:nvPr/>
        </p:nvSpPr>
        <p:spPr>
          <a:xfrm>
            <a:off x="804672" y="2980944"/>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1200"/>
              <a:buFont typeface="Consolas"/>
              <a:buNone/>
            </a:pPr>
            <a:r>
              <a:rPr b="1" i="0" lang="en-US" sz="1200" u="none" cap="none" strike="noStrike">
                <a:solidFill>
                  <a:srgbClr val="F0F4FF"/>
                </a:solidFill>
                <a:latin typeface="Consolas"/>
                <a:ea typeface="Consolas"/>
                <a:cs typeface="Consolas"/>
                <a:sym typeface="Consolas"/>
              </a:rPr>
              <a:t>1</a:t>
            </a:r>
            <a:endParaRPr b="0" i="0" sz="1200" u="none" cap="none" strike="noStrike">
              <a:solidFill>
                <a:schemeClr val="dk1"/>
              </a:solidFill>
              <a:latin typeface="Calibri"/>
              <a:ea typeface="Calibri"/>
              <a:cs typeface="Calibri"/>
              <a:sym typeface="Calibri"/>
            </a:endParaRPr>
          </a:p>
        </p:txBody>
      </p:sp>
      <p:sp>
        <p:nvSpPr>
          <p:cNvPr id="317" name="Google Shape;317;p11"/>
          <p:cNvSpPr/>
          <p:nvPr/>
        </p:nvSpPr>
        <p:spPr>
          <a:xfrm>
            <a:off x="1719072" y="2980944"/>
            <a:ext cx="402336" cy="402336"/>
          </a:xfrm>
          <a:prstGeom prst="ellipse">
            <a:avLst/>
          </a:prstGeom>
          <a:solidFill>
            <a:srgbClr val="1A2035"/>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1"/>
          <p:cNvSpPr/>
          <p:nvPr/>
        </p:nvSpPr>
        <p:spPr>
          <a:xfrm>
            <a:off x="1719072" y="2980944"/>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1200"/>
              <a:buFont typeface="Consolas"/>
              <a:buNone/>
            </a:pPr>
            <a:r>
              <a:rPr b="1" i="0" lang="en-US" sz="1200" u="none" cap="none" strike="noStrike">
                <a:solidFill>
                  <a:srgbClr val="F0F4FF"/>
                </a:solidFill>
                <a:latin typeface="Consolas"/>
                <a:ea typeface="Consolas"/>
                <a:cs typeface="Consolas"/>
                <a:sym typeface="Consolas"/>
              </a:rPr>
              <a:t>4</a:t>
            </a:r>
            <a:endParaRPr b="0" i="0" sz="1200" u="none" cap="none" strike="noStrike">
              <a:solidFill>
                <a:schemeClr val="dk1"/>
              </a:solidFill>
              <a:latin typeface="Calibri"/>
              <a:ea typeface="Calibri"/>
              <a:cs typeface="Calibri"/>
              <a:sym typeface="Calibri"/>
            </a:endParaRPr>
          </a:p>
        </p:txBody>
      </p:sp>
      <p:cxnSp>
        <p:nvCxnSpPr>
          <p:cNvPr id="319" name="Google Shape;319;p11"/>
          <p:cNvCxnSpPr/>
          <p:nvPr/>
        </p:nvCxnSpPr>
        <p:spPr>
          <a:xfrm flipH="1">
            <a:off x="1664208" y="2286000"/>
            <a:ext cx="621792" cy="146304"/>
          </a:xfrm>
          <a:prstGeom prst="straightConnector1">
            <a:avLst/>
          </a:prstGeom>
          <a:noFill/>
          <a:ln cap="flat" cmpd="sng" w="15225">
            <a:solidFill>
              <a:srgbClr val="10B981"/>
            </a:solidFill>
            <a:prstDash val="solid"/>
            <a:round/>
            <a:headEnd len="sm" w="sm" type="none"/>
            <a:tailEnd len="sm" w="sm" type="none"/>
          </a:ln>
        </p:spPr>
      </p:cxnSp>
      <p:cxnSp>
        <p:nvCxnSpPr>
          <p:cNvPr id="320" name="Google Shape;320;p11"/>
          <p:cNvCxnSpPr/>
          <p:nvPr/>
        </p:nvCxnSpPr>
        <p:spPr>
          <a:xfrm>
            <a:off x="2286000" y="2286000"/>
            <a:ext cx="621792" cy="146304"/>
          </a:xfrm>
          <a:prstGeom prst="straightConnector1">
            <a:avLst/>
          </a:prstGeom>
          <a:noFill/>
          <a:ln cap="flat" cmpd="sng" w="15225">
            <a:solidFill>
              <a:srgbClr val="10B981"/>
            </a:solidFill>
            <a:prstDash val="solid"/>
            <a:round/>
            <a:headEnd len="sm" w="sm" type="none"/>
            <a:tailEnd len="sm" w="sm" type="none"/>
          </a:ln>
        </p:spPr>
      </p:cxnSp>
      <p:cxnSp>
        <p:nvCxnSpPr>
          <p:cNvPr id="321" name="Google Shape;321;p11"/>
          <p:cNvCxnSpPr/>
          <p:nvPr/>
        </p:nvCxnSpPr>
        <p:spPr>
          <a:xfrm flipH="1">
            <a:off x="1207008" y="2834640"/>
            <a:ext cx="256032" cy="146304"/>
          </a:xfrm>
          <a:prstGeom prst="straightConnector1">
            <a:avLst/>
          </a:prstGeom>
          <a:noFill/>
          <a:ln cap="flat" cmpd="sng" w="15225">
            <a:solidFill>
              <a:srgbClr val="3D4A5C"/>
            </a:solidFill>
            <a:prstDash val="solid"/>
            <a:round/>
            <a:headEnd len="sm" w="sm" type="none"/>
            <a:tailEnd len="sm" w="sm" type="none"/>
          </a:ln>
        </p:spPr>
      </p:cxnSp>
      <p:cxnSp>
        <p:nvCxnSpPr>
          <p:cNvPr id="322" name="Google Shape;322;p11"/>
          <p:cNvCxnSpPr/>
          <p:nvPr/>
        </p:nvCxnSpPr>
        <p:spPr>
          <a:xfrm>
            <a:off x="1463040" y="2834640"/>
            <a:ext cx="256032" cy="146304"/>
          </a:xfrm>
          <a:prstGeom prst="straightConnector1">
            <a:avLst/>
          </a:prstGeom>
          <a:noFill/>
          <a:ln cap="flat" cmpd="sng" w="15225">
            <a:solidFill>
              <a:srgbClr val="3D4A5C"/>
            </a:solidFill>
            <a:prstDash val="solid"/>
            <a:round/>
            <a:headEnd len="sm" w="sm" type="none"/>
            <a:tailEnd len="sm" w="sm" type="none"/>
          </a:ln>
        </p:spPr>
      </p:cxnSp>
      <p:sp>
        <p:nvSpPr>
          <p:cNvPr id="323" name="Google Shape;323;p11"/>
          <p:cNvSpPr/>
          <p:nvPr/>
        </p:nvSpPr>
        <p:spPr>
          <a:xfrm>
            <a:off x="274320" y="3493008"/>
            <a:ext cx="40233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B981"/>
              </a:buClr>
              <a:buSzPts val="1000"/>
              <a:buFont typeface="Consolas"/>
              <a:buNone/>
            </a:pPr>
            <a:r>
              <a:rPr b="0" i="0" lang="en-US" sz="1000" u="none" cap="none" strike="noStrike">
                <a:solidFill>
                  <a:srgbClr val="10B981"/>
                </a:solidFill>
                <a:latin typeface="Consolas"/>
                <a:ea typeface="Consolas"/>
                <a:cs typeface="Consolas"/>
                <a:sym typeface="Consolas"/>
              </a:rPr>
              <a:t>n=10M → h≈24 → 24 comparaciones</a:t>
            </a:r>
            <a:endParaRPr b="0" i="0" sz="1000" u="none" cap="none" strike="noStrike">
              <a:solidFill>
                <a:schemeClr val="dk1"/>
              </a:solidFill>
              <a:latin typeface="Calibri"/>
              <a:ea typeface="Calibri"/>
              <a:cs typeface="Calibri"/>
              <a:sym typeface="Calibri"/>
            </a:endParaRPr>
          </a:p>
        </p:txBody>
      </p:sp>
      <p:sp>
        <p:nvSpPr>
          <p:cNvPr id="324" name="Google Shape;324;p11"/>
          <p:cNvSpPr/>
          <p:nvPr/>
        </p:nvSpPr>
        <p:spPr>
          <a:xfrm>
            <a:off x="274320" y="3794760"/>
            <a:ext cx="402336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B981"/>
              </a:buClr>
              <a:buSzPts val="1300"/>
              <a:buFont typeface="Trebuchet MS"/>
              <a:buNone/>
            </a:pPr>
            <a:r>
              <a:rPr b="1" i="0" lang="en-US" sz="1300" u="none" cap="none" strike="noStrike">
                <a:solidFill>
                  <a:srgbClr val="10B981"/>
                </a:solidFill>
                <a:latin typeface="Trebuchet MS"/>
                <a:ea typeface="Trebuchet MS"/>
                <a:cs typeface="Trebuchet MS"/>
                <a:sym typeface="Trebuchet MS"/>
              </a:rPr>
              <a:t>Búsqueda: milisegundos</a:t>
            </a:r>
            <a:endParaRPr b="0" i="0" sz="1300" u="none" cap="none" strike="noStrike">
              <a:solidFill>
                <a:schemeClr val="dk1"/>
              </a:solidFill>
              <a:latin typeface="Calibri"/>
              <a:ea typeface="Calibri"/>
              <a:cs typeface="Calibri"/>
              <a:sym typeface="Calibri"/>
            </a:endParaRPr>
          </a:p>
        </p:txBody>
      </p:sp>
      <p:sp>
        <p:nvSpPr>
          <p:cNvPr id="325" name="Google Shape;325;p11"/>
          <p:cNvSpPr/>
          <p:nvPr/>
        </p:nvSpPr>
        <p:spPr>
          <a:xfrm>
            <a:off x="4572000" y="1188720"/>
            <a:ext cx="4389120" cy="3611880"/>
          </a:xfrm>
          <a:prstGeom prst="rect">
            <a:avLst/>
          </a:prstGeom>
          <a:solidFill>
            <a:srgbClr val="141829"/>
          </a:solidFill>
          <a:ln cap="flat" cmpd="sng" w="9525">
            <a:solidFill>
              <a:srgbClr val="EF4444"/>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1"/>
          <p:cNvSpPr/>
          <p:nvPr/>
        </p:nvSpPr>
        <p:spPr>
          <a:xfrm>
            <a:off x="4572000" y="1188720"/>
            <a:ext cx="4389120" cy="54864"/>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1"/>
          <p:cNvSpPr/>
          <p:nvPr/>
        </p:nvSpPr>
        <p:spPr>
          <a:xfrm>
            <a:off x="4709160" y="1298448"/>
            <a:ext cx="4114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100"/>
              <a:buFont typeface="Trebuchet MS"/>
              <a:buNone/>
            </a:pPr>
            <a:r>
              <a:rPr b="1" i="0" lang="en-US" sz="1100" u="none" cap="none" strike="noStrike">
                <a:solidFill>
                  <a:srgbClr val="EF4444"/>
                </a:solidFill>
                <a:latin typeface="Trebuchet MS"/>
                <a:ea typeface="Trebuchet MS"/>
                <a:cs typeface="Trebuchet MS"/>
                <a:sym typeface="Trebuchet MS"/>
              </a:rPr>
              <a:t>ÁRBOL DEGENERADO</a:t>
            </a:r>
            <a:endParaRPr b="0" i="0" sz="1100" u="none" cap="none" strike="noStrike">
              <a:solidFill>
                <a:schemeClr val="dk1"/>
              </a:solidFill>
              <a:latin typeface="Calibri"/>
              <a:ea typeface="Calibri"/>
              <a:cs typeface="Calibri"/>
              <a:sym typeface="Calibri"/>
            </a:endParaRPr>
          </a:p>
        </p:txBody>
      </p:sp>
      <p:sp>
        <p:nvSpPr>
          <p:cNvPr id="328" name="Google Shape;328;p11"/>
          <p:cNvSpPr/>
          <p:nvPr/>
        </p:nvSpPr>
        <p:spPr>
          <a:xfrm>
            <a:off x="4709160" y="1600200"/>
            <a:ext cx="41148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4444"/>
              </a:buClr>
              <a:buSzPts val="1400"/>
              <a:buFont typeface="Consolas"/>
              <a:buNone/>
            </a:pPr>
            <a:r>
              <a:rPr b="1" i="0" lang="en-US" sz="1400" u="none" cap="none" strike="noStrike">
                <a:solidFill>
                  <a:srgbClr val="EF4444"/>
                </a:solidFill>
                <a:latin typeface="Consolas"/>
                <a:ea typeface="Consolas"/>
                <a:cs typeface="Consolas"/>
                <a:sym typeface="Consolas"/>
              </a:rPr>
              <a:t>h = O(n)</a:t>
            </a:r>
            <a:endParaRPr b="0" i="0" sz="1400" u="none" cap="none" strike="noStrike">
              <a:solidFill>
                <a:schemeClr val="dk1"/>
              </a:solidFill>
              <a:latin typeface="Calibri"/>
              <a:ea typeface="Calibri"/>
              <a:cs typeface="Calibri"/>
              <a:sym typeface="Calibri"/>
            </a:endParaRPr>
          </a:p>
        </p:txBody>
      </p:sp>
      <p:sp>
        <p:nvSpPr>
          <p:cNvPr id="329" name="Google Shape;329;p11"/>
          <p:cNvSpPr/>
          <p:nvPr/>
        </p:nvSpPr>
        <p:spPr>
          <a:xfrm>
            <a:off x="4709160" y="1920240"/>
            <a:ext cx="4114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1000"/>
              <a:buFont typeface="Consolas"/>
              <a:buNone/>
            </a:pPr>
            <a:r>
              <a:rPr b="0" i="0" lang="en-US" sz="1000" u="none" cap="none" strike="noStrike">
                <a:solidFill>
                  <a:srgbClr val="8892A4"/>
                </a:solidFill>
                <a:latin typeface="Consolas"/>
                <a:ea typeface="Consolas"/>
                <a:cs typeface="Consolas"/>
                <a:sym typeface="Consolas"/>
              </a:rPr>
              <a:t>Insertar 1,2,3,4,5... en orden:</a:t>
            </a:r>
            <a:endParaRPr b="0" i="0" sz="1000" u="none" cap="none" strike="noStrike">
              <a:solidFill>
                <a:schemeClr val="dk1"/>
              </a:solidFill>
              <a:latin typeface="Calibri"/>
              <a:ea typeface="Calibri"/>
              <a:cs typeface="Calibri"/>
              <a:sym typeface="Calibri"/>
            </a:endParaRPr>
          </a:p>
        </p:txBody>
      </p:sp>
      <p:sp>
        <p:nvSpPr>
          <p:cNvPr id="330" name="Google Shape;330;p11"/>
          <p:cNvSpPr/>
          <p:nvPr/>
        </p:nvSpPr>
        <p:spPr>
          <a:xfrm>
            <a:off x="5559552" y="2130552"/>
            <a:ext cx="402336" cy="402336"/>
          </a:xfrm>
          <a:prstGeom prst="ellipse">
            <a:avLst/>
          </a:prstGeom>
          <a:solidFill>
            <a:srgbClr val="111526"/>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1"/>
          <p:cNvSpPr/>
          <p:nvPr/>
        </p:nvSpPr>
        <p:spPr>
          <a:xfrm>
            <a:off x="5559552" y="213055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4444"/>
              </a:buClr>
              <a:buSzPts val="1200"/>
              <a:buFont typeface="Consolas"/>
              <a:buNone/>
            </a:pPr>
            <a:r>
              <a:rPr b="1" i="0" lang="en-US" sz="1200" u="none" cap="none" strike="noStrike">
                <a:solidFill>
                  <a:srgbClr val="EF4444"/>
                </a:solidFill>
                <a:latin typeface="Consolas"/>
                <a:ea typeface="Consolas"/>
                <a:cs typeface="Consolas"/>
                <a:sym typeface="Consolas"/>
              </a:rPr>
              <a:t>1</a:t>
            </a:r>
            <a:endParaRPr b="0" i="0" sz="1200" u="none" cap="none" strike="noStrike">
              <a:solidFill>
                <a:schemeClr val="dk1"/>
              </a:solidFill>
              <a:latin typeface="Calibri"/>
              <a:ea typeface="Calibri"/>
              <a:cs typeface="Calibri"/>
              <a:sym typeface="Calibri"/>
            </a:endParaRPr>
          </a:p>
        </p:txBody>
      </p:sp>
      <p:cxnSp>
        <p:nvCxnSpPr>
          <p:cNvPr id="332" name="Google Shape;332;p11"/>
          <p:cNvCxnSpPr/>
          <p:nvPr/>
        </p:nvCxnSpPr>
        <p:spPr>
          <a:xfrm>
            <a:off x="5961888" y="2331720"/>
            <a:ext cx="0" cy="201168"/>
          </a:xfrm>
          <a:prstGeom prst="straightConnector1">
            <a:avLst/>
          </a:prstGeom>
          <a:noFill/>
          <a:ln cap="flat" cmpd="sng" w="15225">
            <a:solidFill>
              <a:srgbClr val="7F1D1D"/>
            </a:solidFill>
            <a:prstDash val="solid"/>
            <a:round/>
            <a:headEnd len="sm" w="sm" type="none"/>
            <a:tailEnd len="sm" w="sm" type="none"/>
          </a:ln>
        </p:spPr>
      </p:cxnSp>
      <p:sp>
        <p:nvSpPr>
          <p:cNvPr id="333" name="Google Shape;333;p11"/>
          <p:cNvSpPr/>
          <p:nvPr/>
        </p:nvSpPr>
        <p:spPr>
          <a:xfrm>
            <a:off x="5559552" y="2587752"/>
            <a:ext cx="402336" cy="402336"/>
          </a:xfrm>
          <a:prstGeom prst="ellipse">
            <a:avLst/>
          </a:prstGeom>
          <a:solidFill>
            <a:srgbClr val="111526"/>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1"/>
          <p:cNvSpPr/>
          <p:nvPr/>
        </p:nvSpPr>
        <p:spPr>
          <a:xfrm>
            <a:off x="5559552" y="258775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4444"/>
              </a:buClr>
              <a:buSzPts val="1200"/>
              <a:buFont typeface="Consolas"/>
              <a:buNone/>
            </a:pPr>
            <a:r>
              <a:rPr b="1" i="0" lang="en-US" sz="1200" u="none" cap="none" strike="noStrike">
                <a:solidFill>
                  <a:srgbClr val="EF4444"/>
                </a:solidFill>
                <a:latin typeface="Consolas"/>
                <a:ea typeface="Consolas"/>
                <a:cs typeface="Consolas"/>
                <a:sym typeface="Consolas"/>
              </a:rPr>
              <a:t>2</a:t>
            </a:r>
            <a:endParaRPr b="0" i="0" sz="1200" u="none" cap="none" strike="noStrike">
              <a:solidFill>
                <a:schemeClr val="dk1"/>
              </a:solidFill>
              <a:latin typeface="Calibri"/>
              <a:ea typeface="Calibri"/>
              <a:cs typeface="Calibri"/>
              <a:sym typeface="Calibri"/>
            </a:endParaRPr>
          </a:p>
        </p:txBody>
      </p:sp>
      <p:cxnSp>
        <p:nvCxnSpPr>
          <p:cNvPr id="335" name="Google Shape;335;p11"/>
          <p:cNvCxnSpPr/>
          <p:nvPr/>
        </p:nvCxnSpPr>
        <p:spPr>
          <a:xfrm>
            <a:off x="5961888" y="2788920"/>
            <a:ext cx="0" cy="201168"/>
          </a:xfrm>
          <a:prstGeom prst="straightConnector1">
            <a:avLst/>
          </a:prstGeom>
          <a:noFill/>
          <a:ln cap="flat" cmpd="sng" w="15225">
            <a:solidFill>
              <a:srgbClr val="7F1D1D"/>
            </a:solidFill>
            <a:prstDash val="solid"/>
            <a:round/>
            <a:headEnd len="sm" w="sm" type="none"/>
            <a:tailEnd len="sm" w="sm" type="none"/>
          </a:ln>
        </p:spPr>
      </p:cxnSp>
      <p:sp>
        <p:nvSpPr>
          <p:cNvPr id="336" name="Google Shape;336;p11"/>
          <p:cNvSpPr/>
          <p:nvPr/>
        </p:nvSpPr>
        <p:spPr>
          <a:xfrm>
            <a:off x="5559552" y="3044952"/>
            <a:ext cx="402336" cy="402336"/>
          </a:xfrm>
          <a:prstGeom prst="ellipse">
            <a:avLst/>
          </a:prstGeom>
          <a:solidFill>
            <a:srgbClr val="111526"/>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1"/>
          <p:cNvSpPr/>
          <p:nvPr/>
        </p:nvSpPr>
        <p:spPr>
          <a:xfrm>
            <a:off x="5559552" y="304495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4444"/>
              </a:buClr>
              <a:buSzPts val="1200"/>
              <a:buFont typeface="Consolas"/>
              <a:buNone/>
            </a:pPr>
            <a:r>
              <a:rPr b="1" i="0" lang="en-US" sz="1200" u="none" cap="none" strike="noStrike">
                <a:solidFill>
                  <a:srgbClr val="EF4444"/>
                </a:solidFill>
                <a:latin typeface="Consolas"/>
                <a:ea typeface="Consolas"/>
                <a:cs typeface="Consolas"/>
                <a:sym typeface="Consolas"/>
              </a:rPr>
              <a:t>3</a:t>
            </a:r>
            <a:endParaRPr b="0" i="0" sz="1200" u="none" cap="none" strike="noStrike">
              <a:solidFill>
                <a:schemeClr val="dk1"/>
              </a:solidFill>
              <a:latin typeface="Calibri"/>
              <a:ea typeface="Calibri"/>
              <a:cs typeface="Calibri"/>
              <a:sym typeface="Calibri"/>
            </a:endParaRPr>
          </a:p>
        </p:txBody>
      </p:sp>
      <p:cxnSp>
        <p:nvCxnSpPr>
          <p:cNvPr id="338" name="Google Shape;338;p11"/>
          <p:cNvCxnSpPr/>
          <p:nvPr/>
        </p:nvCxnSpPr>
        <p:spPr>
          <a:xfrm>
            <a:off x="5961888" y="3246120"/>
            <a:ext cx="0" cy="201168"/>
          </a:xfrm>
          <a:prstGeom prst="straightConnector1">
            <a:avLst/>
          </a:prstGeom>
          <a:noFill/>
          <a:ln cap="flat" cmpd="sng" w="15225">
            <a:solidFill>
              <a:srgbClr val="7F1D1D"/>
            </a:solidFill>
            <a:prstDash val="solid"/>
            <a:round/>
            <a:headEnd len="sm" w="sm" type="none"/>
            <a:tailEnd len="sm" w="sm" type="none"/>
          </a:ln>
        </p:spPr>
      </p:cxnSp>
      <p:sp>
        <p:nvSpPr>
          <p:cNvPr id="339" name="Google Shape;339;p11"/>
          <p:cNvSpPr/>
          <p:nvPr/>
        </p:nvSpPr>
        <p:spPr>
          <a:xfrm>
            <a:off x="5559552" y="3502152"/>
            <a:ext cx="402336" cy="402336"/>
          </a:xfrm>
          <a:prstGeom prst="ellipse">
            <a:avLst/>
          </a:prstGeom>
          <a:solidFill>
            <a:srgbClr val="111526"/>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1"/>
          <p:cNvSpPr/>
          <p:nvPr/>
        </p:nvSpPr>
        <p:spPr>
          <a:xfrm>
            <a:off x="5559552" y="350215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4444"/>
              </a:buClr>
              <a:buSzPts val="1200"/>
              <a:buFont typeface="Consolas"/>
              <a:buNone/>
            </a:pPr>
            <a:r>
              <a:rPr b="1" i="0" lang="en-US" sz="1200" u="none" cap="none" strike="noStrike">
                <a:solidFill>
                  <a:srgbClr val="EF4444"/>
                </a:solidFill>
                <a:latin typeface="Consolas"/>
                <a:ea typeface="Consolas"/>
                <a:cs typeface="Consolas"/>
                <a:sym typeface="Consolas"/>
              </a:rPr>
              <a:t>4</a:t>
            </a:r>
            <a:endParaRPr b="0" i="0" sz="1200" u="none" cap="none" strike="noStrike">
              <a:solidFill>
                <a:schemeClr val="dk1"/>
              </a:solidFill>
              <a:latin typeface="Calibri"/>
              <a:ea typeface="Calibri"/>
              <a:cs typeface="Calibri"/>
              <a:sym typeface="Calibri"/>
            </a:endParaRPr>
          </a:p>
        </p:txBody>
      </p:sp>
      <p:cxnSp>
        <p:nvCxnSpPr>
          <p:cNvPr id="341" name="Google Shape;341;p11"/>
          <p:cNvCxnSpPr/>
          <p:nvPr/>
        </p:nvCxnSpPr>
        <p:spPr>
          <a:xfrm>
            <a:off x="5961888" y="3703320"/>
            <a:ext cx="0" cy="201168"/>
          </a:xfrm>
          <a:prstGeom prst="straightConnector1">
            <a:avLst/>
          </a:prstGeom>
          <a:noFill/>
          <a:ln cap="flat" cmpd="sng" w="15225">
            <a:solidFill>
              <a:srgbClr val="7F1D1D"/>
            </a:solidFill>
            <a:prstDash val="solid"/>
            <a:round/>
            <a:headEnd len="sm" w="sm" type="none"/>
            <a:tailEnd len="sm" w="sm" type="none"/>
          </a:ln>
        </p:spPr>
      </p:cxnSp>
      <p:sp>
        <p:nvSpPr>
          <p:cNvPr id="342" name="Google Shape;342;p11"/>
          <p:cNvSpPr/>
          <p:nvPr/>
        </p:nvSpPr>
        <p:spPr>
          <a:xfrm>
            <a:off x="5559552" y="3959352"/>
            <a:ext cx="402336" cy="402336"/>
          </a:xfrm>
          <a:prstGeom prst="ellipse">
            <a:avLst/>
          </a:prstGeom>
          <a:solidFill>
            <a:srgbClr val="111526"/>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1"/>
          <p:cNvSpPr/>
          <p:nvPr/>
        </p:nvSpPr>
        <p:spPr>
          <a:xfrm>
            <a:off x="5559552" y="395935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4444"/>
              </a:buClr>
              <a:buSzPts val="1200"/>
              <a:buFont typeface="Consolas"/>
              <a:buNone/>
            </a:pPr>
            <a:r>
              <a:rPr b="1" i="0" lang="en-US" sz="1200" u="none" cap="none" strike="noStrike">
                <a:solidFill>
                  <a:srgbClr val="EF4444"/>
                </a:solidFill>
                <a:latin typeface="Consolas"/>
                <a:ea typeface="Consolas"/>
                <a:cs typeface="Consolas"/>
                <a:sym typeface="Consolas"/>
              </a:rPr>
              <a:t>5</a:t>
            </a:r>
            <a:endParaRPr b="0" i="0" sz="1200" u="none" cap="none" strike="noStrike">
              <a:solidFill>
                <a:schemeClr val="dk1"/>
              </a:solidFill>
              <a:latin typeface="Calibri"/>
              <a:ea typeface="Calibri"/>
              <a:cs typeface="Calibri"/>
              <a:sym typeface="Calibri"/>
            </a:endParaRPr>
          </a:p>
        </p:txBody>
      </p:sp>
      <p:cxnSp>
        <p:nvCxnSpPr>
          <p:cNvPr id="344" name="Google Shape;344;p11"/>
          <p:cNvCxnSpPr/>
          <p:nvPr/>
        </p:nvCxnSpPr>
        <p:spPr>
          <a:xfrm>
            <a:off x="5961888" y="4160520"/>
            <a:ext cx="0" cy="201168"/>
          </a:xfrm>
          <a:prstGeom prst="straightConnector1">
            <a:avLst/>
          </a:prstGeom>
          <a:noFill/>
          <a:ln cap="flat" cmpd="sng" w="15225">
            <a:solidFill>
              <a:srgbClr val="7F1D1D"/>
            </a:solidFill>
            <a:prstDash val="solid"/>
            <a:round/>
            <a:headEnd len="sm" w="sm" type="none"/>
            <a:tailEnd len="sm" w="sm" type="none"/>
          </a:ln>
        </p:spPr>
      </p:cxnSp>
      <p:sp>
        <p:nvSpPr>
          <p:cNvPr id="345" name="Google Shape;345;p11"/>
          <p:cNvSpPr/>
          <p:nvPr/>
        </p:nvSpPr>
        <p:spPr>
          <a:xfrm>
            <a:off x="5559552" y="4416552"/>
            <a:ext cx="402336" cy="402336"/>
          </a:xfrm>
          <a:prstGeom prst="ellipse">
            <a:avLst/>
          </a:prstGeom>
          <a:solidFill>
            <a:srgbClr val="111526"/>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1"/>
          <p:cNvSpPr/>
          <p:nvPr/>
        </p:nvSpPr>
        <p:spPr>
          <a:xfrm>
            <a:off x="5559552" y="441655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4444"/>
              </a:buClr>
              <a:buSzPts val="1200"/>
              <a:buFont typeface="Consolas"/>
              <a:buNone/>
            </a:pPr>
            <a:r>
              <a:rPr b="1" i="0" lang="en-US" sz="1200" u="none" cap="none" strike="noStrike">
                <a:solidFill>
                  <a:srgbClr val="EF4444"/>
                </a:solidFill>
                <a:latin typeface="Consolas"/>
                <a:ea typeface="Consolas"/>
                <a:cs typeface="Consolas"/>
                <a:sym typeface="Consolas"/>
              </a:rPr>
              <a:t>...</a:t>
            </a:r>
            <a:endParaRPr b="0" i="0" sz="1200" u="none" cap="none" strike="noStrike">
              <a:solidFill>
                <a:schemeClr val="dk1"/>
              </a:solidFill>
              <a:latin typeface="Calibri"/>
              <a:ea typeface="Calibri"/>
              <a:cs typeface="Calibri"/>
              <a:sym typeface="Calibri"/>
            </a:endParaRPr>
          </a:p>
        </p:txBody>
      </p:sp>
      <p:sp>
        <p:nvSpPr>
          <p:cNvPr id="347" name="Google Shape;347;p11"/>
          <p:cNvSpPr/>
          <p:nvPr/>
        </p:nvSpPr>
        <p:spPr>
          <a:xfrm>
            <a:off x="6065228" y="4466725"/>
            <a:ext cx="29397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4444"/>
              </a:buClr>
              <a:buSzPts val="950"/>
              <a:buFont typeface="Consolas"/>
              <a:buNone/>
            </a:pPr>
            <a:r>
              <a:rPr b="0" i="0" lang="en-US" sz="950" u="none" cap="none" strike="noStrike">
                <a:solidFill>
                  <a:srgbClr val="EF4444"/>
                </a:solidFill>
                <a:latin typeface="Consolas"/>
                <a:ea typeface="Consolas"/>
                <a:cs typeface="Consolas"/>
                <a:sym typeface="Consolas"/>
              </a:rPr>
              <a:t>n=10M → h=10M → 10M comparaciones</a:t>
            </a:r>
            <a:endParaRPr b="0" i="0" sz="950" u="none" cap="none" strike="noStrike">
              <a:solidFill>
                <a:schemeClr val="dk1"/>
              </a:solidFill>
              <a:latin typeface="Calibri"/>
              <a:ea typeface="Calibri"/>
              <a:cs typeface="Calibri"/>
              <a:sym typeface="Calibri"/>
            </a:endParaRPr>
          </a:p>
        </p:txBody>
      </p:sp>
      <p:sp>
        <p:nvSpPr>
          <p:cNvPr id="348" name="Google Shape;348;p11"/>
          <p:cNvSpPr/>
          <p:nvPr/>
        </p:nvSpPr>
        <p:spPr>
          <a:xfrm>
            <a:off x="137160" y="4846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AED · T1 · BST · Height</a:t>
            </a:r>
            <a:endParaRPr b="0" i="0" sz="900" u="none" cap="none" strike="noStrike">
              <a:solidFill>
                <a:schemeClr val="dk1"/>
              </a:solidFill>
              <a:latin typeface="Calibri"/>
              <a:ea typeface="Calibri"/>
              <a:cs typeface="Calibri"/>
              <a:sym typeface="Calibri"/>
            </a:endParaRPr>
          </a:p>
        </p:txBody>
      </p:sp>
      <p:sp>
        <p:nvSpPr>
          <p:cNvPr id="349" name="Google Shape;349;p11"/>
          <p:cNvSpPr/>
          <p:nvPr/>
        </p:nvSpPr>
        <p:spPr>
          <a:xfrm>
            <a:off x="8503920" y="4846320"/>
            <a:ext cx="54864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11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F1A"/>
        </a:solidFill>
      </p:bgPr>
    </p:bg>
    <p:spTree>
      <p:nvGrpSpPr>
        <p:cNvPr id="354" name="Shape 354"/>
        <p:cNvGrpSpPr/>
        <p:nvPr/>
      </p:nvGrpSpPr>
      <p:grpSpPr>
        <a:xfrm>
          <a:off x="0" y="0"/>
          <a:ext cx="0" cy="0"/>
          <a:chOff x="0" y="0"/>
          <a:chExt cx="0" cy="0"/>
        </a:xfrm>
      </p:grpSpPr>
      <p:sp>
        <p:nvSpPr>
          <p:cNvPr id="355" name="Google Shape;355;p12"/>
          <p:cNvSpPr/>
          <p:nvPr/>
        </p:nvSpPr>
        <p:spPr>
          <a:xfrm>
            <a:off x="0" y="0"/>
            <a:ext cx="54864"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2"/>
          <p:cNvSpPr/>
          <p:nvPr/>
        </p:nvSpPr>
        <p:spPr>
          <a:xfrm>
            <a:off x="182880" y="137160"/>
            <a:ext cx="87782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2600"/>
              <a:buFont typeface="Trebuchet MS"/>
              <a:buNone/>
            </a:pPr>
            <a:r>
              <a:rPr b="1" i="0" lang="en-US" sz="2600" u="none" cap="none" strike="noStrike">
                <a:solidFill>
                  <a:srgbClr val="F0F4FF"/>
                </a:solidFill>
                <a:latin typeface="Trebuchet MS"/>
                <a:ea typeface="Trebuchet MS"/>
                <a:cs typeface="Trebuchet MS"/>
                <a:sym typeface="Trebuchet MS"/>
              </a:rPr>
              <a:t>Randomly Built BST — E[h] = O(log n)</a:t>
            </a:r>
            <a:endParaRPr b="0" i="0" sz="2600" u="none" cap="none" strike="noStrike">
              <a:solidFill>
                <a:schemeClr val="dk1"/>
              </a:solidFill>
              <a:latin typeface="Calibri"/>
              <a:ea typeface="Calibri"/>
              <a:cs typeface="Calibri"/>
              <a:sym typeface="Calibri"/>
            </a:endParaRPr>
          </a:p>
        </p:txBody>
      </p:sp>
      <p:sp>
        <p:nvSpPr>
          <p:cNvPr id="357" name="Google Shape;357;p12"/>
          <p:cNvSpPr/>
          <p:nvPr/>
        </p:nvSpPr>
        <p:spPr>
          <a:xfrm>
            <a:off x="182880" y="749808"/>
            <a:ext cx="8778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1200"/>
              <a:buFont typeface="Calibri"/>
              <a:buNone/>
            </a:pPr>
            <a:r>
              <a:rPr b="0" i="1" lang="en-US" sz="1200" u="none" cap="none" strike="noStrike">
                <a:solidFill>
                  <a:srgbClr val="8892A4"/>
                </a:solidFill>
                <a:latin typeface="Calibri"/>
                <a:ea typeface="Calibri"/>
                <a:cs typeface="Calibri"/>
                <a:sym typeface="Calibri"/>
              </a:rPr>
              <a:t>La garantía probabilística que no siempre aplica</a:t>
            </a:r>
            <a:endParaRPr b="0" i="0" sz="1200" u="none" cap="none" strike="noStrike">
              <a:solidFill>
                <a:schemeClr val="dk1"/>
              </a:solidFill>
              <a:latin typeface="Calibri"/>
              <a:ea typeface="Calibri"/>
              <a:cs typeface="Calibri"/>
              <a:sym typeface="Calibri"/>
            </a:endParaRPr>
          </a:p>
        </p:txBody>
      </p:sp>
      <p:sp>
        <p:nvSpPr>
          <p:cNvPr id="358" name="Google Shape;358;p12"/>
          <p:cNvSpPr/>
          <p:nvPr/>
        </p:nvSpPr>
        <p:spPr>
          <a:xfrm>
            <a:off x="182880" y="1024128"/>
            <a:ext cx="1463040" cy="27432"/>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2"/>
          <p:cNvSpPr/>
          <p:nvPr/>
        </p:nvSpPr>
        <p:spPr>
          <a:xfrm>
            <a:off x="137160" y="1188720"/>
            <a:ext cx="4297680" cy="1417320"/>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2"/>
          <p:cNvSpPr/>
          <p:nvPr/>
        </p:nvSpPr>
        <p:spPr>
          <a:xfrm>
            <a:off x="274320" y="1325880"/>
            <a:ext cx="2354580" cy="256032"/>
          </a:xfrm>
          <a:prstGeom prst="roundRect">
            <a:avLst>
              <a:gd fmla="val 21429" name="adj"/>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2"/>
          <p:cNvSpPr/>
          <p:nvPr/>
        </p:nvSpPr>
        <p:spPr>
          <a:xfrm>
            <a:off x="274320" y="1325880"/>
            <a:ext cx="23545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ANALOGIA — Barajar cartas</a:t>
            </a:r>
            <a:endParaRPr b="0" i="0" sz="800" u="none" cap="none" strike="noStrike">
              <a:solidFill>
                <a:schemeClr val="dk1"/>
              </a:solidFill>
              <a:latin typeface="Calibri"/>
              <a:ea typeface="Calibri"/>
              <a:cs typeface="Calibri"/>
              <a:sym typeface="Calibri"/>
            </a:endParaRPr>
          </a:p>
        </p:txBody>
      </p:sp>
      <p:sp>
        <p:nvSpPr>
          <p:cNvPr id="362" name="Google Shape;362;p12"/>
          <p:cNvSpPr/>
          <p:nvPr/>
        </p:nvSpPr>
        <p:spPr>
          <a:xfrm>
            <a:off x="274320" y="1664208"/>
            <a:ext cx="4023360" cy="8503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Es como mezclar el mazo antes de repartir: garantizás que el resultado es una distribución variada en lugar de todos los corazones juntos. Insertar claves en orden aleatorio naturalmente produce un árbol bushy. El problema: en producción los datos raramente llegan en orden verdaderamente aleatorio.</a:t>
            </a:r>
            <a:endParaRPr b="0" i="0" sz="1050" u="none" cap="none" strike="noStrike">
              <a:solidFill>
                <a:schemeClr val="dk1"/>
              </a:solidFill>
              <a:latin typeface="Calibri"/>
              <a:ea typeface="Calibri"/>
              <a:cs typeface="Calibri"/>
              <a:sym typeface="Calibri"/>
            </a:endParaRPr>
          </a:p>
        </p:txBody>
      </p:sp>
      <p:sp>
        <p:nvSpPr>
          <p:cNvPr id="363" name="Google Shape;363;p12"/>
          <p:cNvSpPr/>
          <p:nvPr/>
        </p:nvSpPr>
        <p:spPr>
          <a:xfrm>
            <a:off x="137160" y="2670048"/>
            <a:ext cx="4297680" cy="2130552"/>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2"/>
          <p:cNvSpPr/>
          <p:nvPr/>
        </p:nvSpPr>
        <p:spPr>
          <a:xfrm>
            <a:off x="274320" y="2807208"/>
            <a:ext cx="2184502" cy="256032"/>
          </a:xfrm>
          <a:prstGeom prst="roundRect">
            <a:avLst>
              <a:gd fmla="val 21429" name="adj"/>
            </a:avLst>
          </a:prstGeom>
          <a:solidFill>
            <a:srgbClr val="10B981"/>
          </a:solidFill>
          <a:ln cap="flat" cmpd="sng" w="1270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2"/>
          <p:cNvSpPr/>
          <p:nvPr/>
        </p:nvSpPr>
        <p:spPr>
          <a:xfrm>
            <a:off x="274320" y="2807208"/>
            <a:ext cx="218450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LA GARANTÍA Y SU LÍMITE</a:t>
            </a:r>
            <a:endParaRPr b="0" i="0" sz="800" u="none" cap="none" strike="noStrike">
              <a:solidFill>
                <a:schemeClr val="dk1"/>
              </a:solidFill>
              <a:latin typeface="Calibri"/>
              <a:ea typeface="Calibri"/>
              <a:cs typeface="Calibri"/>
              <a:sym typeface="Calibri"/>
            </a:endParaRPr>
          </a:p>
        </p:txBody>
      </p:sp>
      <p:sp>
        <p:nvSpPr>
          <p:cNvPr id="366" name="Google Shape;366;p12"/>
          <p:cNvSpPr/>
          <p:nvPr/>
        </p:nvSpPr>
        <p:spPr>
          <a:xfrm>
            <a:off x="274320" y="3145536"/>
            <a:ext cx="4023360" cy="1563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Si N claves distintas se insertan en un BST en orden completamente aleatorio (las N! permutaciones son igualmente probables), la altura esperada es O(log N). Para N=500 la profundidad promedio esperada de cualquier nodo es ≈9.98 — casi óptima.</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Pero 'randomly built' ≠ 'randomly chosen'. Hay muchas más formas de árbol 'stringy' que 'bushy' — si elegís una forma al azar, probablemente obtenés un árbol ineficiente. El resultado bueno viene del proceso de inserción aleatoria, no de elegir una forma al azar.</a:t>
            </a:r>
            <a:endParaRPr b="0" i="0" sz="1050" u="none" cap="none" strike="noStrike">
              <a:solidFill>
                <a:schemeClr val="dk1"/>
              </a:solidFill>
              <a:latin typeface="Calibri"/>
              <a:ea typeface="Calibri"/>
              <a:cs typeface="Calibri"/>
              <a:sym typeface="Calibri"/>
            </a:endParaRPr>
          </a:p>
        </p:txBody>
      </p:sp>
      <p:sp>
        <p:nvSpPr>
          <p:cNvPr id="367" name="Google Shape;367;p12"/>
          <p:cNvSpPr/>
          <p:nvPr/>
        </p:nvSpPr>
        <p:spPr>
          <a:xfrm>
            <a:off x="4572000" y="1188720"/>
            <a:ext cx="4389120" cy="1417320"/>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2"/>
          <p:cNvSpPr/>
          <p:nvPr/>
        </p:nvSpPr>
        <p:spPr>
          <a:xfrm>
            <a:off x="4709160" y="1325880"/>
            <a:ext cx="2269541" cy="256032"/>
          </a:xfrm>
          <a:prstGeom prst="roundRect">
            <a:avLst>
              <a:gd fmla="val 21429" name="adj"/>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2"/>
          <p:cNvSpPr/>
          <p:nvPr/>
        </p:nvSpPr>
        <p:spPr>
          <a:xfrm>
            <a:off x="4709160" y="1325880"/>
            <a:ext cx="2269541"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PARA LOS TICKETS DEL CEO</a:t>
            </a:r>
            <a:endParaRPr b="0" i="0" sz="800" u="none" cap="none" strike="noStrike">
              <a:solidFill>
                <a:schemeClr val="dk1"/>
              </a:solidFill>
              <a:latin typeface="Calibri"/>
              <a:ea typeface="Calibri"/>
              <a:cs typeface="Calibri"/>
              <a:sym typeface="Calibri"/>
            </a:endParaRPr>
          </a:p>
        </p:txBody>
      </p:sp>
      <p:sp>
        <p:nvSpPr>
          <p:cNvPr id="370" name="Google Shape;370;p12"/>
          <p:cNvSpPr/>
          <p:nvPr/>
        </p:nvSpPr>
        <p:spPr>
          <a:xfrm>
            <a:off x="4709160" y="1664208"/>
            <a:ext cx="4114800" cy="8503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Los tickets llegan con IDs secuenciales (1, 2, 3, ...). Eso es el peor caso para BST simple: O(n) en todo. La garantía probabilística no aplica porque el orden de inserción no es aleatorio.</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Solución: necesitamos un árbol que garantice O(log n) sin importar el orden de inserción. Eso es lo que hacen AVL y Red-Black.</a:t>
            </a:r>
            <a:endParaRPr b="0" i="0" sz="1050" u="none" cap="none" strike="noStrike">
              <a:solidFill>
                <a:schemeClr val="dk1"/>
              </a:solidFill>
              <a:latin typeface="Calibri"/>
              <a:ea typeface="Calibri"/>
              <a:cs typeface="Calibri"/>
              <a:sym typeface="Calibri"/>
            </a:endParaRPr>
          </a:p>
        </p:txBody>
      </p:sp>
      <p:sp>
        <p:nvSpPr>
          <p:cNvPr id="371" name="Google Shape;371;p12"/>
          <p:cNvSpPr/>
          <p:nvPr/>
        </p:nvSpPr>
        <p:spPr>
          <a:xfrm>
            <a:off x="4572000" y="2670048"/>
            <a:ext cx="4389120" cy="2130552"/>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2"/>
          <p:cNvSpPr/>
          <p:nvPr/>
        </p:nvSpPr>
        <p:spPr>
          <a:xfrm>
            <a:off x="4709160" y="2807208"/>
            <a:ext cx="2099462" cy="256032"/>
          </a:xfrm>
          <a:prstGeom prst="roundRect">
            <a:avLst>
              <a:gd fmla="val 21429"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2"/>
          <p:cNvSpPr/>
          <p:nvPr/>
        </p:nvSpPr>
        <p:spPr>
          <a:xfrm>
            <a:off x="4709160" y="2807208"/>
            <a:ext cx="209946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LA TRANSICIÓN MOTIVADA</a:t>
            </a:r>
            <a:endParaRPr b="0" i="0" sz="800" u="none" cap="none" strike="noStrike">
              <a:solidFill>
                <a:schemeClr val="dk1"/>
              </a:solidFill>
              <a:latin typeface="Calibri"/>
              <a:ea typeface="Calibri"/>
              <a:cs typeface="Calibri"/>
              <a:sym typeface="Calibri"/>
            </a:endParaRPr>
          </a:p>
        </p:txBody>
      </p:sp>
      <p:sp>
        <p:nvSpPr>
          <p:cNvPr id="374" name="Google Shape;374;p12"/>
          <p:cNvSpPr/>
          <p:nvPr/>
        </p:nvSpPr>
        <p:spPr>
          <a:xfrm>
            <a:off x="4709160" y="3145536"/>
            <a:ext cx="4114800" cy="1563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BST simple: O(log n) esperado con datos aleatorios, O(n) peor caso.</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AVL: O(log n) garantizado en todos los casos, con overhead de rotaciones en inserción/eliminación.</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Red-Black: O(log n) garantizado, menos rotaciones que AVL en promedio, usado en std::map/std::set de C++.</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El costo de la garantía: complejidad de implementación. Vale la pena para producción.</a:t>
            </a:r>
            <a:endParaRPr b="0" i="0" sz="1050" u="none" cap="none" strike="noStrike">
              <a:solidFill>
                <a:schemeClr val="dk1"/>
              </a:solidFill>
              <a:latin typeface="Calibri"/>
              <a:ea typeface="Calibri"/>
              <a:cs typeface="Calibri"/>
              <a:sym typeface="Calibri"/>
            </a:endParaRPr>
          </a:p>
        </p:txBody>
      </p:sp>
      <p:sp>
        <p:nvSpPr>
          <p:cNvPr id="375" name="Google Shape;375;p12"/>
          <p:cNvSpPr/>
          <p:nvPr/>
        </p:nvSpPr>
        <p:spPr>
          <a:xfrm>
            <a:off x="137160" y="4846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AED · T1 · BST · Randomly Built</a:t>
            </a:r>
            <a:endParaRPr b="0" i="0" sz="900" u="none" cap="none" strike="noStrike">
              <a:solidFill>
                <a:schemeClr val="dk1"/>
              </a:solidFill>
              <a:latin typeface="Calibri"/>
              <a:ea typeface="Calibri"/>
              <a:cs typeface="Calibri"/>
              <a:sym typeface="Calibri"/>
            </a:endParaRPr>
          </a:p>
        </p:txBody>
      </p:sp>
      <p:sp>
        <p:nvSpPr>
          <p:cNvPr id="376" name="Google Shape;376;p12"/>
          <p:cNvSpPr/>
          <p:nvPr/>
        </p:nvSpPr>
        <p:spPr>
          <a:xfrm>
            <a:off x="8503920" y="4846320"/>
            <a:ext cx="54864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F1A"/>
        </a:solidFill>
      </p:bgPr>
    </p:bg>
    <p:spTree>
      <p:nvGrpSpPr>
        <p:cNvPr id="381" name="Shape 381"/>
        <p:cNvGrpSpPr/>
        <p:nvPr/>
      </p:nvGrpSpPr>
      <p:grpSpPr>
        <a:xfrm>
          <a:off x="0" y="0"/>
          <a:ext cx="0" cy="0"/>
          <a:chOff x="0" y="0"/>
          <a:chExt cx="0" cy="0"/>
        </a:xfrm>
      </p:grpSpPr>
      <p:sp>
        <p:nvSpPr>
          <p:cNvPr id="382" name="Google Shape;382;p13"/>
          <p:cNvSpPr/>
          <p:nvPr/>
        </p:nvSpPr>
        <p:spPr>
          <a:xfrm>
            <a:off x="0" y="0"/>
            <a:ext cx="54864"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3"/>
          <p:cNvSpPr/>
          <p:nvPr/>
        </p:nvSpPr>
        <p:spPr>
          <a:xfrm>
            <a:off x="182880" y="137160"/>
            <a:ext cx="87782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2600"/>
              <a:buFont typeface="Trebuchet MS"/>
              <a:buNone/>
            </a:pPr>
            <a:r>
              <a:rPr b="1" i="0" lang="en-US" sz="2600" u="none" cap="none" strike="noStrike">
                <a:solidFill>
                  <a:srgbClr val="F0F4FF"/>
                </a:solidFill>
                <a:latin typeface="Trebuchet MS"/>
                <a:ea typeface="Trebuchet MS"/>
                <a:cs typeface="Trebuchet MS"/>
                <a:sym typeface="Trebuchet MS"/>
              </a:rPr>
              <a:t>En resumen — BST</a:t>
            </a:r>
            <a:endParaRPr b="0" i="0" sz="2600" u="none" cap="none" strike="noStrike">
              <a:solidFill>
                <a:schemeClr val="dk1"/>
              </a:solidFill>
              <a:latin typeface="Calibri"/>
              <a:ea typeface="Calibri"/>
              <a:cs typeface="Calibri"/>
              <a:sym typeface="Calibri"/>
            </a:endParaRPr>
          </a:p>
        </p:txBody>
      </p:sp>
      <p:sp>
        <p:nvSpPr>
          <p:cNvPr id="384" name="Google Shape;384;p13"/>
          <p:cNvSpPr/>
          <p:nvPr/>
        </p:nvSpPr>
        <p:spPr>
          <a:xfrm>
            <a:off x="182880" y="1024128"/>
            <a:ext cx="1463040" cy="27432"/>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3"/>
          <p:cNvSpPr/>
          <p:nvPr/>
        </p:nvSpPr>
        <p:spPr>
          <a:xfrm>
            <a:off x="137160" y="4498848"/>
            <a:ext cx="886968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1100"/>
              <a:buFont typeface="Calibri"/>
              <a:buNone/>
            </a:pPr>
            <a:r>
              <a:rPr b="1" i="0" lang="en-US" sz="1100" u="none" cap="none" strike="noStrike">
                <a:solidFill>
                  <a:srgbClr val="F0F4FF"/>
                </a:solidFill>
                <a:latin typeface="Calibri"/>
                <a:ea typeface="Calibri"/>
                <a:cs typeface="Calibri"/>
                <a:sym typeface="Calibri"/>
              </a:rPr>
              <a:t>BST: O(h). </a:t>
            </a:r>
            <a:r>
              <a:rPr b="0" i="0" lang="en-US" sz="1100" u="none" cap="none" strike="noStrike">
                <a:solidFill>
                  <a:srgbClr val="10B981"/>
                </a:solidFill>
                <a:latin typeface="Calibri"/>
                <a:ea typeface="Calibri"/>
                <a:cs typeface="Calibri"/>
                <a:sym typeface="Calibri"/>
              </a:rPr>
              <a:t>Con datos aleatorios: h=O(log n). </a:t>
            </a:r>
            <a:r>
              <a:rPr b="0" i="0" lang="en-US" sz="1100" u="none" cap="none" strike="noStrike">
                <a:solidFill>
                  <a:srgbClr val="EF4444"/>
                </a:solidFill>
                <a:latin typeface="Calibri"/>
                <a:ea typeface="Calibri"/>
                <a:cs typeface="Calibri"/>
                <a:sym typeface="Calibri"/>
              </a:rPr>
              <a:t>Con datos ordenados: h=O(n). </a:t>
            </a:r>
            <a:r>
              <a:rPr b="1" i="0" lang="en-US" sz="1100" u="none" cap="none" strike="noStrike">
                <a:solidFill>
                  <a:srgbClr val="00D4FF"/>
                </a:solidFill>
                <a:latin typeface="Calibri"/>
                <a:ea typeface="Calibri"/>
                <a:cs typeface="Calibri"/>
                <a:sym typeface="Calibri"/>
              </a:rPr>
              <a:t>Para producción: necesitamos garantía.</a:t>
            </a:r>
            <a:endParaRPr b="0" i="0" sz="1100" u="none" cap="none" strike="noStrike">
              <a:solidFill>
                <a:schemeClr val="dk1"/>
              </a:solidFill>
              <a:latin typeface="Calibri"/>
              <a:ea typeface="Calibri"/>
              <a:cs typeface="Calibri"/>
              <a:sym typeface="Calibri"/>
            </a:endParaRPr>
          </a:p>
        </p:txBody>
      </p:sp>
      <p:sp>
        <p:nvSpPr>
          <p:cNvPr id="386" name="Google Shape;386;p13"/>
          <p:cNvSpPr/>
          <p:nvPr/>
        </p:nvSpPr>
        <p:spPr>
          <a:xfrm>
            <a:off x="137160" y="4846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AED · T1 · BST · Resumen</a:t>
            </a:r>
            <a:endParaRPr b="0" i="0" sz="900" u="none" cap="none" strike="noStrike">
              <a:solidFill>
                <a:schemeClr val="dk1"/>
              </a:solidFill>
              <a:latin typeface="Calibri"/>
              <a:ea typeface="Calibri"/>
              <a:cs typeface="Calibri"/>
              <a:sym typeface="Calibri"/>
            </a:endParaRPr>
          </a:p>
        </p:txBody>
      </p:sp>
      <p:sp>
        <p:nvSpPr>
          <p:cNvPr id="387" name="Google Shape;387;p13"/>
          <p:cNvSpPr/>
          <p:nvPr/>
        </p:nvSpPr>
        <p:spPr>
          <a:xfrm>
            <a:off x="8503920" y="4846320"/>
            <a:ext cx="54864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13</a:t>
            </a:r>
            <a:endParaRPr b="0" i="0" sz="900" u="none" cap="none" strike="noStrike">
              <a:solidFill>
                <a:schemeClr val="dk1"/>
              </a:solidFill>
              <a:latin typeface="Calibri"/>
              <a:ea typeface="Calibri"/>
              <a:cs typeface="Calibri"/>
              <a:sym typeface="Calibri"/>
            </a:endParaRPr>
          </a:p>
        </p:txBody>
      </p:sp>
      <p:pic>
        <p:nvPicPr>
          <p:cNvPr id="388" name="Google Shape;388;p13"/>
          <p:cNvPicPr preferRelativeResize="0"/>
          <p:nvPr/>
        </p:nvPicPr>
        <p:blipFill>
          <a:blip r:embed="rId3">
            <a:alphaModFix/>
          </a:blip>
          <a:stretch>
            <a:fillRect/>
          </a:stretch>
        </p:blipFill>
        <p:spPr>
          <a:xfrm>
            <a:off x="1497232" y="1085090"/>
            <a:ext cx="6149542" cy="343509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F1A"/>
        </a:solidFill>
      </p:bgPr>
    </p:bg>
    <p:spTree>
      <p:nvGrpSpPr>
        <p:cNvPr id="393" name="Shape 393"/>
        <p:cNvGrpSpPr/>
        <p:nvPr/>
      </p:nvGrpSpPr>
      <p:grpSpPr>
        <a:xfrm>
          <a:off x="0" y="0"/>
          <a:ext cx="0" cy="0"/>
          <a:chOff x="0" y="0"/>
          <a:chExt cx="0" cy="0"/>
        </a:xfrm>
      </p:grpSpPr>
      <p:sp>
        <p:nvSpPr>
          <p:cNvPr id="394" name="Google Shape;394;p14"/>
          <p:cNvSpPr/>
          <p:nvPr/>
        </p:nvSpPr>
        <p:spPr>
          <a:xfrm>
            <a:off x="0" y="0"/>
            <a:ext cx="54864"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4"/>
          <p:cNvSpPr/>
          <p:nvPr/>
        </p:nvSpPr>
        <p:spPr>
          <a:xfrm>
            <a:off x="182880" y="137160"/>
            <a:ext cx="87782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2600"/>
              <a:buFont typeface="Trebuchet MS"/>
              <a:buNone/>
            </a:pPr>
            <a:r>
              <a:rPr b="1" i="0" lang="en-US" sz="2600" u="none" cap="none" strike="noStrike">
                <a:solidFill>
                  <a:srgbClr val="F0F4FF"/>
                </a:solidFill>
                <a:latin typeface="Trebuchet MS"/>
                <a:ea typeface="Trebuchet MS"/>
                <a:cs typeface="Trebuchet MS"/>
                <a:sym typeface="Trebuchet MS"/>
              </a:rPr>
              <a:t>Errores comunes — BST</a:t>
            </a:r>
            <a:endParaRPr b="0" i="0" sz="2600" u="none" cap="none" strike="noStrike">
              <a:solidFill>
                <a:schemeClr val="dk1"/>
              </a:solidFill>
              <a:latin typeface="Calibri"/>
              <a:ea typeface="Calibri"/>
              <a:cs typeface="Calibri"/>
              <a:sym typeface="Calibri"/>
            </a:endParaRPr>
          </a:p>
        </p:txBody>
      </p:sp>
      <p:sp>
        <p:nvSpPr>
          <p:cNvPr id="396" name="Google Shape;396;p14"/>
          <p:cNvSpPr/>
          <p:nvPr/>
        </p:nvSpPr>
        <p:spPr>
          <a:xfrm>
            <a:off x="182880" y="749808"/>
            <a:ext cx="8778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1200"/>
              <a:buFont typeface="Calibri"/>
              <a:buNone/>
            </a:pPr>
            <a:r>
              <a:rPr b="0" i="1" lang="en-US" sz="1200" u="none" cap="none" strike="noStrike">
                <a:solidFill>
                  <a:srgbClr val="8892A4"/>
                </a:solidFill>
                <a:latin typeface="Calibri"/>
                <a:ea typeface="Calibri"/>
                <a:cs typeface="Calibri"/>
                <a:sym typeface="Calibri"/>
              </a:rPr>
              <a:t>Los tres que destruyen la estructura</a:t>
            </a:r>
            <a:endParaRPr b="0" i="0" sz="1200" u="none" cap="none" strike="noStrike">
              <a:solidFill>
                <a:schemeClr val="dk1"/>
              </a:solidFill>
              <a:latin typeface="Calibri"/>
              <a:ea typeface="Calibri"/>
              <a:cs typeface="Calibri"/>
              <a:sym typeface="Calibri"/>
            </a:endParaRPr>
          </a:p>
        </p:txBody>
      </p:sp>
      <p:sp>
        <p:nvSpPr>
          <p:cNvPr id="397" name="Google Shape;397;p14"/>
          <p:cNvSpPr/>
          <p:nvPr/>
        </p:nvSpPr>
        <p:spPr>
          <a:xfrm>
            <a:off x="182880" y="1024128"/>
            <a:ext cx="1463040" cy="27432"/>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4"/>
          <p:cNvSpPr/>
          <p:nvPr/>
        </p:nvSpPr>
        <p:spPr>
          <a:xfrm>
            <a:off x="137160" y="1097280"/>
            <a:ext cx="2834640" cy="3840480"/>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4"/>
          <p:cNvSpPr/>
          <p:nvPr/>
        </p:nvSpPr>
        <p:spPr>
          <a:xfrm>
            <a:off x="137160" y="1097280"/>
            <a:ext cx="45720" cy="3840480"/>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4"/>
          <p:cNvSpPr/>
          <p:nvPr/>
        </p:nvSpPr>
        <p:spPr>
          <a:xfrm>
            <a:off x="274320" y="1188720"/>
            <a:ext cx="2651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000"/>
              <a:buFont typeface="Calibri"/>
              <a:buNone/>
            </a:pPr>
            <a:r>
              <a:rPr b="1" i="0" lang="en-US" sz="1000" u="none" cap="none" strike="noStrike">
                <a:solidFill>
                  <a:srgbClr val="EF4444"/>
                </a:solidFill>
                <a:latin typeface="Calibri"/>
                <a:ea typeface="Calibri"/>
                <a:cs typeface="Calibri"/>
                <a:sym typeface="Calibri"/>
              </a:rPr>
              <a:t>BST property solo en hijo inmediato</a:t>
            </a:r>
            <a:endParaRPr b="0" i="0" sz="1000" u="none" cap="none" strike="noStrike">
              <a:solidFill>
                <a:schemeClr val="dk1"/>
              </a:solidFill>
              <a:latin typeface="Calibri"/>
              <a:ea typeface="Calibri"/>
              <a:cs typeface="Calibri"/>
              <a:sym typeface="Calibri"/>
            </a:endParaRPr>
          </a:p>
        </p:txBody>
      </p:sp>
      <p:sp>
        <p:nvSpPr>
          <p:cNvPr id="401" name="Google Shape;401;p14"/>
          <p:cNvSpPr/>
          <p:nvPr/>
        </p:nvSpPr>
        <p:spPr>
          <a:xfrm>
            <a:off x="274320" y="1463040"/>
            <a:ext cx="2560320" cy="18288"/>
          </a:xfrm>
          <a:prstGeom prst="rect">
            <a:avLst/>
          </a:prstGeom>
          <a:solidFill>
            <a:srgbClr val="7F1D1D"/>
          </a:solidFill>
          <a:ln cap="flat" cmpd="sng" w="12700">
            <a:solidFill>
              <a:srgbClr val="7F1D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4"/>
          <p:cNvSpPr/>
          <p:nvPr/>
        </p:nvSpPr>
        <p:spPr>
          <a:xfrm>
            <a:off x="274320" y="1499616"/>
            <a:ext cx="26517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750"/>
              <a:buFont typeface="Calibri"/>
              <a:buNone/>
            </a:pPr>
            <a:r>
              <a:rPr b="1" i="0" lang="en-US" sz="750" u="none" cap="none" strike="noStrike">
                <a:solidFill>
                  <a:srgbClr val="EF4444"/>
                </a:solidFill>
                <a:latin typeface="Calibri"/>
                <a:ea typeface="Calibri"/>
                <a:cs typeface="Calibri"/>
                <a:sym typeface="Calibri"/>
              </a:rPr>
              <a:t>✗ INCORRECTO</a:t>
            </a:r>
            <a:endParaRPr b="0" i="0" sz="750" u="none" cap="none" strike="noStrike">
              <a:solidFill>
                <a:schemeClr val="dk1"/>
              </a:solidFill>
              <a:latin typeface="Calibri"/>
              <a:ea typeface="Calibri"/>
              <a:cs typeface="Calibri"/>
              <a:sym typeface="Calibri"/>
            </a:endParaRPr>
          </a:p>
        </p:txBody>
      </p:sp>
      <p:sp>
        <p:nvSpPr>
          <p:cNvPr id="403" name="Google Shape;403;p14"/>
          <p:cNvSpPr/>
          <p:nvPr/>
        </p:nvSpPr>
        <p:spPr>
          <a:xfrm>
            <a:off x="274320" y="1682496"/>
            <a:ext cx="2651760" cy="7498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9999"/>
              </a:buClr>
              <a:buSzPts val="850"/>
              <a:buFont typeface="Consolas"/>
              <a:buNone/>
            </a:pPr>
            <a:r>
              <a:rPr b="0" i="0" lang="en-US" sz="450" u="none" cap="none" strike="noStrike">
                <a:solidFill>
                  <a:srgbClr val="FF9999"/>
                </a:solidFill>
                <a:latin typeface="Consolas"/>
                <a:ea typeface="Consolas"/>
                <a:cs typeface="Consolas"/>
                <a:sym typeface="Consolas"/>
              </a:rPr>
              <a:t>// Árbol inválido pasa el check:</a:t>
            </a:r>
            <a:endParaRPr b="0" i="0" sz="4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450" u="none" cap="none" strike="noStrike">
                <a:solidFill>
                  <a:srgbClr val="FF9999"/>
                </a:solidFill>
                <a:latin typeface="Consolas"/>
                <a:ea typeface="Consolas"/>
                <a:cs typeface="Consolas"/>
                <a:sym typeface="Consolas"/>
              </a:rPr>
              <a:t>// root=6, left=2, right(2)=7</a:t>
            </a:r>
            <a:endParaRPr b="0" i="0" sz="4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450" u="none" cap="none" strike="noStrike">
                <a:solidFill>
                  <a:srgbClr val="FF9999"/>
                </a:solidFill>
                <a:latin typeface="Consolas"/>
                <a:ea typeface="Consolas"/>
                <a:cs typeface="Consolas"/>
                <a:sym typeface="Consolas"/>
              </a:rPr>
              <a:t>// Check local: 7&gt;2 ✓</a:t>
            </a:r>
            <a:endParaRPr b="0" i="0" sz="4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450" u="none" cap="none" strike="noStrike">
                <a:solidFill>
                  <a:srgbClr val="FF9999"/>
                </a:solidFill>
                <a:latin typeface="Consolas"/>
                <a:ea typeface="Consolas"/>
                <a:cs typeface="Consolas"/>
                <a:sym typeface="Consolas"/>
              </a:rPr>
              <a:t>// Pero 7 está en subtree</a:t>
            </a:r>
            <a:endParaRPr b="0" i="0" sz="4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450" u="none" cap="none" strike="noStrike">
                <a:solidFill>
                  <a:srgbClr val="FF9999"/>
                </a:solidFill>
                <a:latin typeface="Consolas"/>
                <a:ea typeface="Consolas"/>
                <a:cs typeface="Consolas"/>
                <a:sym typeface="Consolas"/>
              </a:rPr>
              <a:t>// izquierdo de 6... y 7&gt;6</a:t>
            </a:r>
            <a:endParaRPr b="0" i="0" sz="4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450" u="none" cap="none" strike="noStrike">
                <a:solidFill>
                  <a:srgbClr val="FF9999"/>
                </a:solidFill>
                <a:latin typeface="Consolas"/>
                <a:ea typeface="Consolas"/>
                <a:cs typeface="Consolas"/>
                <a:sym typeface="Consolas"/>
              </a:rPr>
              <a:t>bool check(Node* n) {</a:t>
            </a:r>
            <a:endParaRPr b="0" i="0" sz="4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450" u="none" cap="none" strike="noStrike">
                <a:solidFill>
                  <a:srgbClr val="FF9999"/>
                </a:solidFill>
                <a:latin typeface="Consolas"/>
                <a:ea typeface="Consolas"/>
                <a:cs typeface="Consolas"/>
                <a:sym typeface="Consolas"/>
              </a:rPr>
              <a:t>  if (!n) return true;</a:t>
            </a:r>
            <a:endParaRPr b="0" i="0" sz="4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450" u="none" cap="none" strike="noStrike">
                <a:solidFill>
                  <a:srgbClr val="FF9999"/>
                </a:solidFill>
                <a:latin typeface="Consolas"/>
                <a:ea typeface="Consolas"/>
                <a:cs typeface="Consolas"/>
                <a:sym typeface="Consolas"/>
              </a:rPr>
              <a:t>  return n-&gt;left-&gt;val &lt; n-&gt;val</a:t>
            </a:r>
            <a:endParaRPr b="0" i="0" sz="4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450" u="none" cap="none" strike="noStrike">
                <a:solidFill>
                  <a:srgbClr val="FF9999"/>
                </a:solidFill>
                <a:latin typeface="Consolas"/>
                <a:ea typeface="Consolas"/>
                <a:cs typeface="Consolas"/>
                <a:sym typeface="Consolas"/>
              </a:rPr>
              <a:t>      &amp;&amp; n-&gt;right-&gt;val &gt; n-&gt;val;</a:t>
            </a:r>
            <a:endParaRPr b="0" i="0" sz="4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450" u="none" cap="none" strike="noStrike">
                <a:solidFill>
                  <a:srgbClr val="FF9999"/>
                </a:solidFill>
                <a:latin typeface="Consolas"/>
                <a:ea typeface="Consolas"/>
                <a:cs typeface="Consolas"/>
                <a:sym typeface="Consolas"/>
              </a:rPr>
              <a:t>  // ← INCORRECTO, solo local</a:t>
            </a:r>
            <a:endParaRPr b="0" i="0" sz="4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450" u="none" cap="none" strike="noStrike">
                <a:solidFill>
                  <a:srgbClr val="FF9999"/>
                </a:solidFill>
                <a:latin typeface="Consolas"/>
                <a:ea typeface="Consolas"/>
                <a:cs typeface="Consolas"/>
                <a:sym typeface="Consolas"/>
              </a:rPr>
              <a:t>}</a:t>
            </a:r>
            <a:endParaRPr b="0" i="0" sz="450" u="none" cap="none" strike="noStrike">
              <a:solidFill>
                <a:schemeClr val="dk1"/>
              </a:solidFill>
              <a:latin typeface="Calibri"/>
              <a:ea typeface="Calibri"/>
              <a:cs typeface="Calibri"/>
              <a:sym typeface="Calibri"/>
            </a:endParaRPr>
          </a:p>
        </p:txBody>
      </p:sp>
      <p:sp>
        <p:nvSpPr>
          <p:cNvPr id="404" name="Google Shape;404;p14"/>
          <p:cNvSpPr/>
          <p:nvPr/>
        </p:nvSpPr>
        <p:spPr>
          <a:xfrm>
            <a:off x="274320" y="2468880"/>
            <a:ext cx="26517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750"/>
              <a:buFont typeface="Calibri"/>
              <a:buNone/>
            </a:pPr>
            <a:r>
              <a:rPr b="1" i="0" lang="en-US" sz="750" u="none" cap="none" strike="noStrike">
                <a:solidFill>
                  <a:srgbClr val="F59E0B"/>
                </a:solidFill>
                <a:latin typeface="Calibri"/>
                <a:ea typeface="Calibri"/>
                <a:cs typeface="Calibri"/>
                <a:sym typeface="Calibri"/>
              </a:rPr>
              <a:t>CONSECUENCIA</a:t>
            </a:r>
            <a:endParaRPr b="0" i="0" sz="750" u="none" cap="none" strike="noStrike">
              <a:solidFill>
                <a:schemeClr val="dk1"/>
              </a:solidFill>
              <a:latin typeface="Calibri"/>
              <a:ea typeface="Calibri"/>
              <a:cs typeface="Calibri"/>
              <a:sym typeface="Calibri"/>
            </a:endParaRPr>
          </a:p>
        </p:txBody>
      </p:sp>
      <p:sp>
        <p:nvSpPr>
          <p:cNvPr id="405" name="Google Shape;405;p14"/>
          <p:cNvSpPr/>
          <p:nvPr/>
        </p:nvSpPr>
        <p:spPr>
          <a:xfrm>
            <a:off x="274320" y="2651760"/>
            <a:ext cx="265176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850"/>
              <a:buFont typeface="Calibri"/>
              <a:buNone/>
            </a:pPr>
            <a:r>
              <a:rPr b="0" i="0" lang="en-US" sz="850" u="none" cap="none" strike="noStrike">
                <a:solidFill>
                  <a:srgbClr val="F0F4FF"/>
                </a:solidFill>
                <a:latin typeface="Calibri"/>
                <a:ea typeface="Calibri"/>
                <a:cs typeface="Calibri"/>
                <a:sym typeface="Calibri"/>
              </a:rPr>
              <a:t>SEARCH(7) arranca en 6, va a la derecha hacia 8, y nunca encuentra el 7 que vive en el subárbol izquierdo. El árbol reporta que 7 no existe aunque está en la estructura.</a:t>
            </a:r>
            <a:endParaRPr b="0" i="0" sz="850" u="none" cap="none" strike="noStrike">
              <a:solidFill>
                <a:schemeClr val="dk1"/>
              </a:solidFill>
              <a:latin typeface="Calibri"/>
              <a:ea typeface="Calibri"/>
              <a:cs typeface="Calibri"/>
              <a:sym typeface="Calibri"/>
            </a:endParaRPr>
          </a:p>
        </p:txBody>
      </p:sp>
      <p:sp>
        <p:nvSpPr>
          <p:cNvPr id="406" name="Google Shape;406;p14"/>
          <p:cNvSpPr/>
          <p:nvPr/>
        </p:nvSpPr>
        <p:spPr>
          <a:xfrm>
            <a:off x="274320" y="3401568"/>
            <a:ext cx="26517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750"/>
              <a:buFont typeface="Calibri"/>
              <a:buNone/>
            </a:pPr>
            <a:r>
              <a:rPr b="1" i="0" lang="en-US" sz="750" u="none" cap="none" strike="noStrike">
                <a:solidFill>
                  <a:srgbClr val="10B981"/>
                </a:solidFill>
                <a:latin typeface="Calibri"/>
                <a:ea typeface="Calibri"/>
                <a:cs typeface="Calibri"/>
                <a:sym typeface="Calibri"/>
              </a:rPr>
              <a:t>✓ CORRECTO</a:t>
            </a:r>
            <a:endParaRPr b="0" i="0" sz="750" u="none" cap="none" strike="noStrike">
              <a:solidFill>
                <a:schemeClr val="dk1"/>
              </a:solidFill>
              <a:latin typeface="Calibri"/>
              <a:ea typeface="Calibri"/>
              <a:cs typeface="Calibri"/>
              <a:sym typeface="Calibri"/>
            </a:endParaRPr>
          </a:p>
        </p:txBody>
      </p:sp>
      <p:sp>
        <p:nvSpPr>
          <p:cNvPr id="407" name="Google Shape;407;p14"/>
          <p:cNvSpPr/>
          <p:nvPr/>
        </p:nvSpPr>
        <p:spPr>
          <a:xfrm>
            <a:off x="274320" y="3584448"/>
            <a:ext cx="26517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Verificar con rangos:</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bool check(Node* n, int mn, int mx) {</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if (!n) return true;</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if (n-&gt;val&lt;=mn || n-&gt;val&gt;=mx)</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return false;</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return check(n-&gt;left,mn,n-&gt;val)</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&amp;&amp; check(n-&gt;right,n-&gt;val,mx);</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a:t>
            </a:r>
            <a:endParaRPr b="0" i="0" sz="850" u="none" cap="none" strike="noStrike">
              <a:solidFill>
                <a:schemeClr val="dk1"/>
              </a:solidFill>
              <a:latin typeface="Calibri"/>
              <a:ea typeface="Calibri"/>
              <a:cs typeface="Calibri"/>
              <a:sym typeface="Calibri"/>
            </a:endParaRPr>
          </a:p>
        </p:txBody>
      </p:sp>
      <p:sp>
        <p:nvSpPr>
          <p:cNvPr id="408" name="Google Shape;408;p14"/>
          <p:cNvSpPr/>
          <p:nvPr/>
        </p:nvSpPr>
        <p:spPr>
          <a:xfrm>
            <a:off x="3154680" y="1097280"/>
            <a:ext cx="2834640" cy="3840480"/>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4"/>
          <p:cNvSpPr/>
          <p:nvPr/>
        </p:nvSpPr>
        <p:spPr>
          <a:xfrm>
            <a:off x="3154680" y="1097280"/>
            <a:ext cx="45720" cy="3840480"/>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4"/>
          <p:cNvSpPr/>
          <p:nvPr/>
        </p:nvSpPr>
        <p:spPr>
          <a:xfrm>
            <a:off x="3291840" y="1188720"/>
            <a:ext cx="2651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000"/>
              <a:buFont typeface="Calibri"/>
              <a:buNone/>
            </a:pPr>
            <a:r>
              <a:rPr b="1" i="0" lang="en-US" sz="1000" u="none" cap="none" strike="noStrike">
                <a:solidFill>
                  <a:srgbClr val="EF4444"/>
                </a:solidFill>
                <a:latin typeface="Calibri"/>
                <a:ea typeface="Calibri"/>
                <a:cs typeface="Calibri"/>
                <a:sym typeface="Calibri"/>
              </a:rPr>
              <a:t>Delete con 2 hijos: bypass destructivo</a:t>
            </a:r>
            <a:endParaRPr b="0" i="0" sz="1000" u="none" cap="none" strike="noStrike">
              <a:solidFill>
                <a:schemeClr val="dk1"/>
              </a:solidFill>
              <a:latin typeface="Calibri"/>
              <a:ea typeface="Calibri"/>
              <a:cs typeface="Calibri"/>
              <a:sym typeface="Calibri"/>
            </a:endParaRPr>
          </a:p>
        </p:txBody>
      </p:sp>
      <p:sp>
        <p:nvSpPr>
          <p:cNvPr id="411" name="Google Shape;411;p14"/>
          <p:cNvSpPr/>
          <p:nvPr/>
        </p:nvSpPr>
        <p:spPr>
          <a:xfrm>
            <a:off x="3291840" y="1463040"/>
            <a:ext cx="2560320" cy="18288"/>
          </a:xfrm>
          <a:prstGeom prst="rect">
            <a:avLst/>
          </a:prstGeom>
          <a:solidFill>
            <a:srgbClr val="7F1D1D"/>
          </a:solidFill>
          <a:ln cap="flat" cmpd="sng" w="12700">
            <a:solidFill>
              <a:srgbClr val="7F1D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4"/>
          <p:cNvSpPr/>
          <p:nvPr/>
        </p:nvSpPr>
        <p:spPr>
          <a:xfrm>
            <a:off x="3291840" y="1499616"/>
            <a:ext cx="26517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750"/>
              <a:buFont typeface="Calibri"/>
              <a:buNone/>
            </a:pPr>
            <a:r>
              <a:rPr b="1" i="0" lang="en-US" sz="750" u="none" cap="none" strike="noStrike">
                <a:solidFill>
                  <a:srgbClr val="EF4444"/>
                </a:solidFill>
                <a:latin typeface="Calibri"/>
                <a:ea typeface="Calibri"/>
                <a:cs typeface="Calibri"/>
                <a:sym typeface="Calibri"/>
              </a:rPr>
              <a:t>✗ INCORRECTO</a:t>
            </a:r>
            <a:endParaRPr b="0" i="0" sz="750" u="none" cap="none" strike="noStrike">
              <a:solidFill>
                <a:schemeClr val="dk1"/>
              </a:solidFill>
              <a:latin typeface="Calibri"/>
              <a:ea typeface="Calibri"/>
              <a:cs typeface="Calibri"/>
              <a:sym typeface="Calibri"/>
            </a:endParaRPr>
          </a:p>
        </p:txBody>
      </p:sp>
      <p:sp>
        <p:nvSpPr>
          <p:cNvPr id="413" name="Google Shape;413;p14"/>
          <p:cNvSpPr/>
          <p:nvPr/>
        </p:nvSpPr>
        <p:spPr>
          <a:xfrm>
            <a:off x="3291840" y="1682496"/>
            <a:ext cx="2651760" cy="7498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DELETE(nodo con 2 hijos):</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'solución simple' incorrecta</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void remove(Node*&amp; t) {</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Node* old = t;</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 mover subárbol derecho arriba</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t = t-&gt;right; // ← INCORRECTO</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delete old;</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 t-&gt;left original: HUÉRFANO</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 memory leak + datos perdidos</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a:t>
            </a:r>
            <a:endParaRPr b="0" i="0" sz="550" u="none" cap="none" strike="noStrike">
              <a:solidFill>
                <a:schemeClr val="dk1"/>
              </a:solidFill>
              <a:latin typeface="Calibri"/>
              <a:ea typeface="Calibri"/>
              <a:cs typeface="Calibri"/>
              <a:sym typeface="Calibri"/>
            </a:endParaRPr>
          </a:p>
        </p:txBody>
      </p:sp>
      <p:sp>
        <p:nvSpPr>
          <p:cNvPr id="414" name="Google Shape;414;p14"/>
          <p:cNvSpPr/>
          <p:nvPr/>
        </p:nvSpPr>
        <p:spPr>
          <a:xfrm>
            <a:off x="3291840" y="2468880"/>
            <a:ext cx="26517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750"/>
              <a:buFont typeface="Calibri"/>
              <a:buNone/>
            </a:pPr>
            <a:r>
              <a:rPr b="1" i="0" lang="en-US" sz="750" u="none" cap="none" strike="noStrike">
                <a:solidFill>
                  <a:srgbClr val="F59E0B"/>
                </a:solidFill>
                <a:latin typeface="Calibri"/>
                <a:ea typeface="Calibri"/>
                <a:cs typeface="Calibri"/>
                <a:sym typeface="Calibri"/>
              </a:rPr>
              <a:t>CONSECUENCIA</a:t>
            </a:r>
            <a:endParaRPr b="0" i="0" sz="750" u="none" cap="none" strike="noStrike">
              <a:solidFill>
                <a:schemeClr val="dk1"/>
              </a:solidFill>
              <a:latin typeface="Calibri"/>
              <a:ea typeface="Calibri"/>
              <a:cs typeface="Calibri"/>
              <a:sym typeface="Calibri"/>
            </a:endParaRPr>
          </a:p>
        </p:txBody>
      </p:sp>
      <p:sp>
        <p:nvSpPr>
          <p:cNvPr id="415" name="Google Shape;415;p14"/>
          <p:cNvSpPr/>
          <p:nvPr/>
        </p:nvSpPr>
        <p:spPr>
          <a:xfrm>
            <a:off x="3291840" y="2651760"/>
            <a:ext cx="265176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850"/>
              <a:buFont typeface="Calibri"/>
              <a:buNone/>
            </a:pPr>
            <a:r>
              <a:rPr b="0" i="0" lang="en-US" sz="850" u="none" cap="none" strike="noStrike">
                <a:solidFill>
                  <a:srgbClr val="F0F4FF"/>
                </a:solidFill>
                <a:latin typeface="Calibri"/>
                <a:ea typeface="Calibri"/>
                <a:cs typeface="Calibri"/>
                <a:sym typeface="Calibri"/>
              </a:rPr>
              <a:t>Todo el subárbol izquierdo del nodo eliminado queda desconectado del árbol. Los datos son inaccesibles para siempre. En un árbol con miles de nodos, podés perder una fracción completa de los datos en silencio.</a:t>
            </a:r>
            <a:endParaRPr b="0" i="0" sz="850" u="none" cap="none" strike="noStrike">
              <a:solidFill>
                <a:schemeClr val="dk1"/>
              </a:solidFill>
              <a:latin typeface="Calibri"/>
              <a:ea typeface="Calibri"/>
              <a:cs typeface="Calibri"/>
              <a:sym typeface="Calibri"/>
            </a:endParaRPr>
          </a:p>
        </p:txBody>
      </p:sp>
      <p:sp>
        <p:nvSpPr>
          <p:cNvPr id="416" name="Google Shape;416;p14"/>
          <p:cNvSpPr/>
          <p:nvPr/>
        </p:nvSpPr>
        <p:spPr>
          <a:xfrm>
            <a:off x="3291840" y="3401568"/>
            <a:ext cx="26517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750"/>
              <a:buFont typeface="Calibri"/>
              <a:buNone/>
            </a:pPr>
            <a:r>
              <a:rPr b="1" i="0" lang="en-US" sz="750" u="none" cap="none" strike="noStrike">
                <a:solidFill>
                  <a:srgbClr val="10B981"/>
                </a:solidFill>
                <a:latin typeface="Calibri"/>
                <a:ea typeface="Calibri"/>
                <a:cs typeface="Calibri"/>
                <a:sym typeface="Calibri"/>
              </a:rPr>
              <a:t>✓ CORRECTO</a:t>
            </a:r>
            <a:endParaRPr b="0" i="0" sz="750" u="none" cap="none" strike="noStrike">
              <a:solidFill>
                <a:schemeClr val="dk1"/>
              </a:solidFill>
              <a:latin typeface="Calibri"/>
              <a:ea typeface="Calibri"/>
              <a:cs typeface="Calibri"/>
              <a:sym typeface="Calibri"/>
            </a:endParaRPr>
          </a:p>
        </p:txBody>
      </p:sp>
      <p:sp>
        <p:nvSpPr>
          <p:cNvPr id="417" name="Google Shape;417;p14"/>
          <p:cNvSpPr/>
          <p:nvPr/>
        </p:nvSpPr>
        <p:spPr>
          <a:xfrm>
            <a:off x="3291840" y="3584448"/>
            <a:ext cx="26517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Reemplazar con sucesor:</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t-&gt;element = findMin(t-&gt;right)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-&gt;element;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remove(t-&gt;element, t-&gt;right);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El sucesor tiene ≤ 1 hijo</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 Caso 1 o 2, trivial</a:t>
            </a:r>
            <a:endParaRPr b="0" i="0" sz="850" u="none" cap="none" strike="noStrike">
              <a:solidFill>
                <a:schemeClr val="dk1"/>
              </a:solidFill>
              <a:latin typeface="Calibri"/>
              <a:ea typeface="Calibri"/>
              <a:cs typeface="Calibri"/>
              <a:sym typeface="Calibri"/>
            </a:endParaRPr>
          </a:p>
        </p:txBody>
      </p:sp>
      <p:sp>
        <p:nvSpPr>
          <p:cNvPr id="418" name="Google Shape;418;p14"/>
          <p:cNvSpPr/>
          <p:nvPr/>
        </p:nvSpPr>
        <p:spPr>
          <a:xfrm>
            <a:off x="6172200" y="1097280"/>
            <a:ext cx="2834640" cy="3840480"/>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4"/>
          <p:cNvSpPr/>
          <p:nvPr/>
        </p:nvSpPr>
        <p:spPr>
          <a:xfrm>
            <a:off x="6172200" y="1097280"/>
            <a:ext cx="45720" cy="3840480"/>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4"/>
          <p:cNvSpPr/>
          <p:nvPr/>
        </p:nvSpPr>
        <p:spPr>
          <a:xfrm>
            <a:off x="6309360" y="1188720"/>
            <a:ext cx="2651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000"/>
              <a:buFont typeface="Calibri"/>
              <a:buNone/>
            </a:pPr>
            <a:r>
              <a:rPr b="1" i="0" lang="en-US" sz="1000" u="none" cap="none" strike="noStrike">
                <a:solidFill>
                  <a:srgbClr val="EF4444"/>
                </a:solidFill>
                <a:latin typeface="Calibri"/>
                <a:ea typeface="Calibri"/>
                <a:cs typeface="Calibri"/>
                <a:sym typeface="Calibri"/>
              </a:rPr>
              <a:t>Asumir O(log n) sin verificar altura</a:t>
            </a:r>
            <a:endParaRPr b="0" i="0" sz="1000" u="none" cap="none" strike="noStrike">
              <a:solidFill>
                <a:schemeClr val="dk1"/>
              </a:solidFill>
              <a:latin typeface="Calibri"/>
              <a:ea typeface="Calibri"/>
              <a:cs typeface="Calibri"/>
              <a:sym typeface="Calibri"/>
            </a:endParaRPr>
          </a:p>
        </p:txBody>
      </p:sp>
      <p:sp>
        <p:nvSpPr>
          <p:cNvPr id="421" name="Google Shape;421;p14"/>
          <p:cNvSpPr/>
          <p:nvPr/>
        </p:nvSpPr>
        <p:spPr>
          <a:xfrm>
            <a:off x="6309360" y="1463040"/>
            <a:ext cx="2560320" cy="18288"/>
          </a:xfrm>
          <a:prstGeom prst="rect">
            <a:avLst/>
          </a:prstGeom>
          <a:solidFill>
            <a:srgbClr val="7F1D1D"/>
          </a:solidFill>
          <a:ln cap="flat" cmpd="sng" w="12700">
            <a:solidFill>
              <a:srgbClr val="7F1D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4"/>
          <p:cNvSpPr/>
          <p:nvPr/>
        </p:nvSpPr>
        <p:spPr>
          <a:xfrm>
            <a:off x="6309360" y="1499616"/>
            <a:ext cx="26517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750"/>
              <a:buFont typeface="Calibri"/>
              <a:buNone/>
            </a:pPr>
            <a:r>
              <a:rPr b="1" i="0" lang="en-US" sz="750" u="none" cap="none" strike="noStrike">
                <a:solidFill>
                  <a:srgbClr val="EF4444"/>
                </a:solidFill>
                <a:latin typeface="Calibri"/>
                <a:ea typeface="Calibri"/>
                <a:cs typeface="Calibri"/>
                <a:sym typeface="Calibri"/>
              </a:rPr>
              <a:t>✗ INCORRECTO</a:t>
            </a:r>
            <a:endParaRPr b="0" i="0" sz="750" u="none" cap="none" strike="noStrike">
              <a:solidFill>
                <a:schemeClr val="dk1"/>
              </a:solidFill>
              <a:latin typeface="Calibri"/>
              <a:ea typeface="Calibri"/>
              <a:cs typeface="Calibri"/>
              <a:sym typeface="Calibri"/>
            </a:endParaRPr>
          </a:p>
        </p:txBody>
      </p:sp>
      <p:sp>
        <p:nvSpPr>
          <p:cNvPr id="423" name="Google Shape;423;p14"/>
          <p:cNvSpPr/>
          <p:nvPr/>
        </p:nvSpPr>
        <p:spPr>
          <a:xfrm>
            <a:off x="6309360" y="1682496"/>
            <a:ext cx="2651760" cy="7498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Tickets del CEO:</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IDs secuenciales 1,2,3...</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BST ticketTree;</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for (auto&amp; t : tickets)</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ticketTree.insert(t.id);</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h = 2.000.000</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search = O(2M) por query</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50.000 inserts/día = O(n)</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Sistema colapsado</a:t>
            </a:r>
            <a:endParaRPr b="0" i="0" sz="550" u="none" cap="none" strike="noStrike">
              <a:solidFill>
                <a:schemeClr val="dk1"/>
              </a:solidFill>
              <a:latin typeface="Calibri"/>
              <a:ea typeface="Calibri"/>
              <a:cs typeface="Calibri"/>
              <a:sym typeface="Calibri"/>
            </a:endParaRPr>
          </a:p>
        </p:txBody>
      </p:sp>
      <p:sp>
        <p:nvSpPr>
          <p:cNvPr id="424" name="Google Shape;424;p14"/>
          <p:cNvSpPr/>
          <p:nvPr/>
        </p:nvSpPr>
        <p:spPr>
          <a:xfrm>
            <a:off x="6309360" y="2468880"/>
            <a:ext cx="26517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750"/>
              <a:buFont typeface="Calibri"/>
              <a:buNone/>
            </a:pPr>
            <a:r>
              <a:rPr b="1" i="0" lang="en-US" sz="750" u="none" cap="none" strike="noStrike">
                <a:solidFill>
                  <a:srgbClr val="F59E0B"/>
                </a:solidFill>
                <a:latin typeface="Calibri"/>
                <a:ea typeface="Calibri"/>
                <a:cs typeface="Calibri"/>
                <a:sym typeface="Calibri"/>
              </a:rPr>
              <a:t>CONSECUENCIA</a:t>
            </a:r>
            <a:endParaRPr b="0" i="0" sz="750" u="none" cap="none" strike="noStrike">
              <a:solidFill>
                <a:schemeClr val="dk1"/>
              </a:solidFill>
              <a:latin typeface="Calibri"/>
              <a:ea typeface="Calibri"/>
              <a:cs typeface="Calibri"/>
              <a:sym typeface="Calibri"/>
            </a:endParaRPr>
          </a:p>
        </p:txBody>
      </p:sp>
      <p:sp>
        <p:nvSpPr>
          <p:cNvPr id="425" name="Google Shape;425;p14"/>
          <p:cNvSpPr/>
          <p:nvPr/>
        </p:nvSpPr>
        <p:spPr>
          <a:xfrm>
            <a:off x="6309360" y="2651760"/>
            <a:ext cx="265176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850"/>
              <a:buFont typeface="Calibri"/>
              <a:buNone/>
            </a:pPr>
            <a:r>
              <a:rPr b="0" i="0" lang="en-US" sz="850" u="none" cap="none" strike="noStrike">
                <a:solidFill>
                  <a:srgbClr val="F0F4FF"/>
                </a:solidFill>
                <a:latin typeface="Calibri"/>
                <a:ea typeface="Calibri"/>
                <a:cs typeface="Calibri"/>
                <a:sym typeface="Calibri"/>
              </a:rPr>
              <a:t>El BST degeneró en una lista enlazada. Cada búsqueda revisa todos los nodos. Con 2 millones de tickets, lo que debería tomar microsegundos tarda segundos. El CEO vuelve a quejarse.</a:t>
            </a:r>
            <a:endParaRPr b="0" i="0" sz="850" u="none" cap="none" strike="noStrike">
              <a:solidFill>
                <a:schemeClr val="dk1"/>
              </a:solidFill>
              <a:latin typeface="Calibri"/>
              <a:ea typeface="Calibri"/>
              <a:cs typeface="Calibri"/>
              <a:sym typeface="Calibri"/>
            </a:endParaRPr>
          </a:p>
        </p:txBody>
      </p:sp>
      <p:sp>
        <p:nvSpPr>
          <p:cNvPr id="426" name="Google Shape;426;p14"/>
          <p:cNvSpPr/>
          <p:nvPr/>
        </p:nvSpPr>
        <p:spPr>
          <a:xfrm>
            <a:off x="6309360" y="3401568"/>
            <a:ext cx="26517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750"/>
              <a:buFont typeface="Calibri"/>
              <a:buNone/>
            </a:pPr>
            <a:r>
              <a:rPr b="1" i="0" lang="en-US" sz="750" u="none" cap="none" strike="noStrike">
                <a:solidFill>
                  <a:srgbClr val="10B981"/>
                </a:solidFill>
                <a:latin typeface="Calibri"/>
                <a:ea typeface="Calibri"/>
                <a:cs typeface="Calibri"/>
                <a:sym typeface="Calibri"/>
              </a:rPr>
              <a:t>✓ CORRECTO</a:t>
            </a:r>
            <a:endParaRPr b="0" i="0" sz="750" u="none" cap="none" strike="noStrike">
              <a:solidFill>
                <a:schemeClr val="dk1"/>
              </a:solidFill>
              <a:latin typeface="Calibri"/>
              <a:ea typeface="Calibri"/>
              <a:cs typeface="Calibri"/>
              <a:sym typeface="Calibri"/>
            </a:endParaRPr>
          </a:p>
        </p:txBody>
      </p:sp>
      <p:sp>
        <p:nvSpPr>
          <p:cNvPr id="427" name="Google Shape;427;p14"/>
          <p:cNvSpPr/>
          <p:nvPr/>
        </p:nvSpPr>
        <p:spPr>
          <a:xfrm>
            <a:off x="6309360" y="3584448"/>
            <a:ext cx="26517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Usar árbol autobalanceado:</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std::map&lt;int,Ticket&gt; tickets;</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Internamente Red-Black tree</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O(log n) garantizado siempre</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insert, search, delete</a:t>
            </a:r>
            <a:endParaRPr b="0" i="0" sz="850" u="none" cap="none" strike="noStrike">
              <a:solidFill>
                <a:schemeClr val="dk1"/>
              </a:solidFill>
              <a:latin typeface="Calibri"/>
              <a:ea typeface="Calibri"/>
              <a:cs typeface="Calibri"/>
              <a:sym typeface="Calibri"/>
            </a:endParaRPr>
          </a:p>
        </p:txBody>
      </p:sp>
      <p:sp>
        <p:nvSpPr>
          <p:cNvPr id="428" name="Google Shape;428;p14"/>
          <p:cNvSpPr/>
          <p:nvPr/>
        </p:nvSpPr>
        <p:spPr>
          <a:xfrm>
            <a:off x="137160" y="4846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AED · T1 · BST · Errores</a:t>
            </a:r>
            <a:endParaRPr b="0" i="0" sz="900" u="none" cap="none" strike="noStrike">
              <a:solidFill>
                <a:schemeClr val="dk1"/>
              </a:solidFill>
              <a:latin typeface="Calibri"/>
              <a:ea typeface="Calibri"/>
              <a:cs typeface="Calibri"/>
              <a:sym typeface="Calibri"/>
            </a:endParaRPr>
          </a:p>
        </p:txBody>
      </p:sp>
      <p:sp>
        <p:nvSpPr>
          <p:cNvPr id="429" name="Google Shape;429;p14"/>
          <p:cNvSpPr/>
          <p:nvPr/>
        </p:nvSpPr>
        <p:spPr>
          <a:xfrm>
            <a:off x="8503920" y="4846320"/>
            <a:ext cx="54864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14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F1A"/>
        </a:solidFill>
      </p:bgPr>
    </p:bg>
    <p:spTree>
      <p:nvGrpSpPr>
        <p:cNvPr id="434" name="Shape 434"/>
        <p:cNvGrpSpPr/>
        <p:nvPr/>
      </p:nvGrpSpPr>
      <p:grpSpPr>
        <a:xfrm>
          <a:off x="0" y="0"/>
          <a:ext cx="0" cy="0"/>
          <a:chOff x="0" y="0"/>
          <a:chExt cx="0" cy="0"/>
        </a:xfrm>
      </p:grpSpPr>
      <p:sp>
        <p:nvSpPr>
          <p:cNvPr id="435" name="Google Shape;435;p15"/>
          <p:cNvSpPr/>
          <p:nvPr/>
        </p:nvSpPr>
        <p:spPr>
          <a:xfrm>
            <a:off x="0" y="0"/>
            <a:ext cx="54864"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5"/>
          <p:cNvSpPr/>
          <p:nvPr/>
        </p:nvSpPr>
        <p:spPr>
          <a:xfrm>
            <a:off x="182880" y="137160"/>
            <a:ext cx="87782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2600"/>
              <a:buFont typeface="Trebuchet MS"/>
              <a:buNone/>
            </a:pPr>
            <a:r>
              <a:rPr b="1" i="0" lang="en-US" sz="2600" u="none" cap="none" strike="noStrike">
                <a:solidFill>
                  <a:srgbClr val="F0F4FF"/>
                </a:solidFill>
                <a:latin typeface="Trebuchet MS"/>
                <a:ea typeface="Trebuchet MS"/>
                <a:cs typeface="Trebuchet MS"/>
                <a:sym typeface="Trebuchet MS"/>
              </a:rPr>
              <a:t>AVL Tree — La condición de balance estricto</a:t>
            </a:r>
            <a:endParaRPr b="0" i="0" sz="2600" u="none" cap="none" strike="noStrike">
              <a:solidFill>
                <a:schemeClr val="dk1"/>
              </a:solidFill>
              <a:latin typeface="Calibri"/>
              <a:ea typeface="Calibri"/>
              <a:cs typeface="Calibri"/>
              <a:sym typeface="Calibri"/>
            </a:endParaRPr>
          </a:p>
        </p:txBody>
      </p:sp>
      <p:sp>
        <p:nvSpPr>
          <p:cNvPr id="437" name="Google Shape;437;p15"/>
          <p:cNvSpPr/>
          <p:nvPr/>
        </p:nvSpPr>
        <p:spPr>
          <a:xfrm>
            <a:off x="182880" y="749808"/>
            <a:ext cx="8778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1200"/>
              <a:buFont typeface="Calibri"/>
              <a:buNone/>
            </a:pPr>
            <a:r>
              <a:rPr b="0" i="1" lang="en-US" sz="1200" u="none" cap="none" strike="noStrike">
                <a:solidFill>
                  <a:srgbClr val="8892A4"/>
                </a:solidFill>
                <a:latin typeface="Calibri"/>
                <a:ea typeface="Calibri"/>
                <a:cs typeface="Calibri"/>
                <a:sym typeface="Calibri"/>
              </a:rPr>
              <a:t>La diferencia de altura entre subárboles es a lo sumo 1 — en todo nodo</a:t>
            </a:r>
            <a:endParaRPr b="0" i="0" sz="1200" u="none" cap="none" strike="noStrike">
              <a:solidFill>
                <a:schemeClr val="dk1"/>
              </a:solidFill>
              <a:latin typeface="Calibri"/>
              <a:ea typeface="Calibri"/>
              <a:cs typeface="Calibri"/>
              <a:sym typeface="Calibri"/>
            </a:endParaRPr>
          </a:p>
        </p:txBody>
      </p:sp>
      <p:sp>
        <p:nvSpPr>
          <p:cNvPr id="438" name="Google Shape;438;p15"/>
          <p:cNvSpPr/>
          <p:nvPr/>
        </p:nvSpPr>
        <p:spPr>
          <a:xfrm>
            <a:off x="182880" y="1024128"/>
            <a:ext cx="1463040" cy="27432"/>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5"/>
          <p:cNvSpPr/>
          <p:nvPr/>
        </p:nvSpPr>
        <p:spPr>
          <a:xfrm>
            <a:off x="137160" y="1188720"/>
            <a:ext cx="4297680" cy="1417320"/>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5"/>
          <p:cNvSpPr/>
          <p:nvPr/>
        </p:nvSpPr>
        <p:spPr>
          <a:xfrm>
            <a:off x="274320" y="1325880"/>
            <a:ext cx="2099462" cy="256032"/>
          </a:xfrm>
          <a:prstGeom prst="roundRect">
            <a:avLst>
              <a:gd fmla="val 21429"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5"/>
          <p:cNvSpPr/>
          <p:nvPr/>
        </p:nvSpPr>
        <p:spPr>
          <a:xfrm>
            <a:off x="274320" y="1325880"/>
            <a:ext cx="209946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ANALOGIA — Sube y baja</a:t>
            </a:r>
            <a:endParaRPr b="0" i="0" sz="800" u="none" cap="none" strike="noStrike">
              <a:solidFill>
                <a:schemeClr val="dk1"/>
              </a:solidFill>
              <a:latin typeface="Calibri"/>
              <a:ea typeface="Calibri"/>
              <a:cs typeface="Calibri"/>
              <a:sym typeface="Calibri"/>
            </a:endParaRPr>
          </a:p>
        </p:txBody>
      </p:sp>
      <p:sp>
        <p:nvSpPr>
          <p:cNvPr id="442" name="Google Shape;442;p15"/>
          <p:cNvSpPr/>
          <p:nvPr/>
        </p:nvSpPr>
        <p:spPr>
          <a:xfrm>
            <a:off x="274320" y="1664208"/>
            <a:ext cx="4023360" cy="8503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Es como una hamaca que solo puede inclinarse uno o dos centímetros hacia cualquier lado — si se inclina más, el mecanismo la corrige automáticamente. La restricción es local: cada punto de la hamaca (cada nodo) debe estar casi nivelado, no solo el centro. Esta localidad es lo que garantiza la altura global O(log n).</a:t>
            </a:r>
            <a:endParaRPr b="0" i="0" sz="1050" u="none" cap="none" strike="noStrike">
              <a:solidFill>
                <a:schemeClr val="dk1"/>
              </a:solidFill>
              <a:latin typeface="Calibri"/>
              <a:ea typeface="Calibri"/>
              <a:cs typeface="Calibri"/>
              <a:sym typeface="Calibri"/>
            </a:endParaRPr>
          </a:p>
        </p:txBody>
      </p:sp>
      <p:sp>
        <p:nvSpPr>
          <p:cNvPr id="443" name="Google Shape;443;p15"/>
          <p:cNvSpPr/>
          <p:nvPr/>
        </p:nvSpPr>
        <p:spPr>
          <a:xfrm>
            <a:off x="137160" y="2670048"/>
            <a:ext cx="4297680" cy="2130552"/>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5"/>
          <p:cNvSpPr/>
          <p:nvPr/>
        </p:nvSpPr>
        <p:spPr>
          <a:xfrm>
            <a:off x="274320" y="2807208"/>
            <a:ext cx="1674266" cy="256032"/>
          </a:xfrm>
          <a:prstGeom prst="roundRect">
            <a:avLst>
              <a:gd fmla="val 21429" name="adj"/>
            </a:avLst>
          </a:prstGeom>
          <a:solidFill>
            <a:srgbClr val="10B981"/>
          </a:solidFill>
          <a:ln cap="flat" cmpd="sng" w="1270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5"/>
          <p:cNvSpPr/>
          <p:nvPr/>
        </p:nvSpPr>
        <p:spPr>
          <a:xfrm>
            <a:off x="274320" y="2807208"/>
            <a:ext cx="1674266"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DEFINICION FORMAL</a:t>
            </a:r>
            <a:endParaRPr b="0" i="0" sz="800" u="none" cap="none" strike="noStrike">
              <a:solidFill>
                <a:schemeClr val="dk1"/>
              </a:solidFill>
              <a:latin typeface="Calibri"/>
              <a:ea typeface="Calibri"/>
              <a:cs typeface="Calibri"/>
              <a:sym typeface="Calibri"/>
            </a:endParaRPr>
          </a:p>
        </p:txBody>
      </p:sp>
      <p:sp>
        <p:nvSpPr>
          <p:cNvPr id="446" name="Google Shape;446;p15"/>
          <p:cNvSpPr/>
          <p:nvPr/>
        </p:nvSpPr>
        <p:spPr>
          <a:xfrm>
            <a:off x="274320" y="3145536"/>
            <a:ext cx="4023360" cy="1563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Un AVL tree es un BST donde para todo nodo t:</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|height(t.left) - height(t.right)| ≤ 1</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Esta condición debe mantenerse en TODOS los nodos, no solo en la raíz. Después de cada inserción o eliminación que viola esta condición, se aplica una rotación para restaurarla.</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La condición garantiza que la altura máxima de un AVL tree con n nodos es ≈ 1.44 × log₂(n+2) — logarítmica, no lineal.</a:t>
            </a:r>
            <a:endParaRPr b="0" i="0" sz="1050" u="none" cap="none" strike="noStrike">
              <a:solidFill>
                <a:schemeClr val="dk1"/>
              </a:solidFill>
              <a:latin typeface="Calibri"/>
              <a:ea typeface="Calibri"/>
              <a:cs typeface="Calibri"/>
              <a:sym typeface="Calibri"/>
            </a:endParaRPr>
          </a:p>
        </p:txBody>
      </p:sp>
      <p:sp>
        <p:nvSpPr>
          <p:cNvPr id="447" name="Google Shape;447;p15"/>
          <p:cNvSpPr/>
          <p:nvPr/>
        </p:nvSpPr>
        <p:spPr>
          <a:xfrm>
            <a:off x="4572000" y="1188720"/>
            <a:ext cx="4389120" cy="1417320"/>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5"/>
          <p:cNvSpPr/>
          <p:nvPr/>
        </p:nvSpPr>
        <p:spPr>
          <a:xfrm>
            <a:off x="4709160" y="1325880"/>
            <a:ext cx="1674266" cy="256032"/>
          </a:xfrm>
          <a:prstGeom prst="roundRect">
            <a:avLst>
              <a:gd fmla="val 21429"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5"/>
          <p:cNvSpPr/>
          <p:nvPr/>
        </p:nvSpPr>
        <p:spPr>
          <a:xfrm>
            <a:off x="4709160" y="1325880"/>
            <a:ext cx="1674266"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EL BALANCE FACTOR</a:t>
            </a:r>
            <a:endParaRPr b="0" i="0" sz="800" u="none" cap="none" strike="noStrike">
              <a:solidFill>
                <a:schemeClr val="dk1"/>
              </a:solidFill>
              <a:latin typeface="Calibri"/>
              <a:ea typeface="Calibri"/>
              <a:cs typeface="Calibri"/>
              <a:sym typeface="Calibri"/>
            </a:endParaRPr>
          </a:p>
        </p:txBody>
      </p:sp>
      <p:sp>
        <p:nvSpPr>
          <p:cNvPr id="450" name="Google Shape;450;p15"/>
          <p:cNvSpPr/>
          <p:nvPr/>
        </p:nvSpPr>
        <p:spPr>
          <a:xfrm>
            <a:off x="4709160" y="1664208"/>
            <a:ext cx="4114800" cy="8503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750" u="none" cap="none" strike="noStrike">
                <a:solidFill>
                  <a:srgbClr val="F0F4FF"/>
                </a:solidFill>
                <a:latin typeface="Calibri"/>
                <a:ea typeface="Calibri"/>
                <a:cs typeface="Calibri"/>
                <a:sym typeface="Calibri"/>
              </a:rPr>
              <a:t>Cada nodo almacena su altura como dato (int height). El balance factor de un nodo es:</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750" u="none" cap="none" strike="noStrike">
                <a:solidFill>
                  <a:srgbClr val="F0F4FF"/>
                </a:solidFill>
                <a:latin typeface="Calibri"/>
                <a:ea typeface="Calibri"/>
                <a:cs typeface="Calibri"/>
                <a:sym typeface="Calibri"/>
              </a:rPr>
              <a:t>bf = height(left) - height(right)</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750" u="none" cap="none" strike="noStrike">
                <a:solidFill>
                  <a:srgbClr val="F0F4FF"/>
                </a:solidFill>
                <a:latin typeface="Calibri"/>
                <a:ea typeface="Calibri"/>
                <a:cs typeface="Calibri"/>
                <a:sym typeface="Calibri"/>
              </a:rPr>
              <a:t>AVL válido: bf ∈ {-1, 0, 1}</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750" u="none" cap="none" strike="noStrike">
                <a:solidFill>
                  <a:srgbClr val="F0F4FF"/>
                </a:solidFill>
                <a:latin typeface="Calibri"/>
                <a:ea typeface="Calibri"/>
                <a:cs typeface="Calibri"/>
                <a:sym typeface="Calibri"/>
              </a:rPr>
              <a:t>Violación: bf = -2 (demasiado a la derecha) o bf = 2 (demasiado a la izquierda)</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750" u="none" cap="none" strike="noStrike">
                <a:solidFill>
                  <a:srgbClr val="F0F4FF"/>
                </a:solidFill>
                <a:latin typeface="Calibri"/>
                <a:ea typeface="Calibri"/>
                <a:cs typeface="Calibri"/>
                <a:sym typeface="Calibri"/>
              </a:rPr>
              <a:t>Detectar la violación es O(1) porque la altura está almacenada — no se recalcula recursivamente.</a:t>
            </a:r>
            <a:endParaRPr b="0" i="0" sz="750" u="none" cap="none" strike="noStrike">
              <a:solidFill>
                <a:schemeClr val="dk1"/>
              </a:solidFill>
              <a:latin typeface="Calibri"/>
              <a:ea typeface="Calibri"/>
              <a:cs typeface="Calibri"/>
              <a:sym typeface="Calibri"/>
            </a:endParaRPr>
          </a:p>
        </p:txBody>
      </p:sp>
      <p:sp>
        <p:nvSpPr>
          <p:cNvPr id="451" name="Google Shape;451;p15"/>
          <p:cNvSpPr/>
          <p:nvPr/>
        </p:nvSpPr>
        <p:spPr>
          <a:xfrm>
            <a:off x="4572000" y="2670048"/>
            <a:ext cx="4389120" cy="2130552"/>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5"/>
          <p:cNvSpPr/>
          <p:nvPr/>
        </p:nvSpPr>
        <p:spPr>
          <a:xfrm>
            <a:off x="4709160" y="2807208"/>
            <a:ext cx="2524658" cy="256032"/>
          </a:xfrm>
          <a:prstGeom prst="roundRect">
            <a:avLst>
              <a:gd fmla="val 21429" name="adj"/>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5"/>
          <p:cNvSpPr/>
          <p:nvPr/>
        </p:nvSpPr>
        <p:spPr>
          <a:xfrm>
            <a:off x="4709160" y="2807208"/>
            <a:ext cx="2524658"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POR QUÉ ALMACENAR LA ALTURA</a:t>
            </a:r>
            <a:endParaRPr b="0" i="0" sz="800" u="none" cap="none" strike="noStrike">
              <a:solidFill>
                <a:schemeClr val="dk1"/>
              </a:solidFill>
              <a:latin typeface="Calibri"/>
              <a:ea typeface="Calibri"/>
              <a:cs typeface="Calibri"/>
              <a:sym typeface="Calibri"/>
            </a:endParaRPr>
          </a:p>
        </p:txBody>
      </p:sp>
      <p:sp>
        <p:nvSpPr>
          <p:cNvPr id="454" name="Google Shape;454;p15"/>
          <p:cNvSpPr/>
          <p:nvPr/>
        </p:nvSpPr>
        <p:spPr>
          <a:xfrm>
            <a:off x="4709160" y="3145536"/>
            <a:ext cx="4114800" cy="1563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Si la altura se recalcula recursivamente en cada inserción, el costo es O(n) por inserción — peor que un BST simple. Almacenando height como dato en cada nodo, el cálculo del balance factor es O(1):</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t-&gt;height = max(height(t-&gt;left), height(t-&gt;right)) + 1;</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Esta línea se ejecuta en el backtrack recursivo después de cada inserción, actualizando solo los nodos en el camino desde la hoja hasta la raíz.</a:t>
            </a:r>
            <a:endParaRPr b="0" i="0" sz="1050" u="none" cap="none" strike="noStrike">
              <a:solidFill>
                <a:schemeClr val="dk1"/>
              </a:solidFill>
              <a:latin typeface="Calibri"/>
              <a:ea typeface="Calibri"/>
              <a:cs typeface="Calibri"/>
              <a:sym typeface="Calibri"/>
            </a:endParaRPr>
          </a:p>
        </p:txBody>
      </p:sp>
      <p:sp>
        <p:nvSpPr>
          <p:cNvPr id="455" name="Google Shape;455;p15"/>
          <p:cNvSpPr/>
          <p:nvPr/>
        </p:nvSpPr>
        <p:spPr>
          <a:xfrm>
            <a:off x="137160" y="4846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AED · T2 · AVL · Balance</a:t>
            </a:r>
            <a:endParaRPr b="0" i="0" sz="900" u="none" cap="none" strike="noStrike">
              <a:solidFill>
                <a:schemeClr val="dk1"/>
              </a:solidFill>
              <a:latin typeface="Calibri"/>
              <a:ea typeface="Calibri"/>
              <a:cs typeface="Calibri"/>
              <a:sym typeface="Calibri"/>
            </a:endParaRPr>
          </a:p>
        </p:txBody>
      </p:sp>
      <p:sp>
        <p:nvSpPr>
          <p:cNvPr id="456" name="Google Shape;456;p15"/>
          <p:cNvSpPr/>
          <p:nvPr/>
        </p:nvSpPr>
        <p:spPr>
          <a:xfrm>
            <a:off x="8503920" y="4846320"/>
            <a:ext cx="54864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15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F1A"/>
        </a:solidFill>
      </p:bgPr>
    </p:bg>
    <p:spTree>
      <p:nvGrpSpPr>
        <p:cNvPr id="461" name="Shape 461"/>
        <p:cNvGrpSpPr/>
        <p:nvPr/>
      </p:nvGrpSpPr>
      <p:grpSpPr>
        <a:xfrm>
          <a:off x="0" y="0"/>
          <a:ext cx="0" cy="0"/>
          <a:chOff x="0" y="0"/>
          <a:chExt cx="0" cy="0"/>
        </a:xfrm>
      </p:grpSpPr>
      <p:sp>
        <p:nvSpPr>
          <p:cNvPr id="462" name="Google Shape;462;p16"/>
          <p:cNvSpPr/>
          <p:nvPr/>
        </p:nvSpPr>
        <p:spPr>
          <a:xfrm>
            <a:off x="0" y="0"/>
            <a:ext cx="54864"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6"/>
          <p:cNvSpPr/>
          <p:nvPr/>
        </p:nvSpPr>
        <p:spPr>
          <a:xfrm>
            <a:off x="182880" y="137160"/>
            <a:ext cx="87782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2600"/>
              <a:buFont typeface="Trebuchet MS"/>
              <a:buNone/>
            </a:pPr>
            <a:r>
              <a:rPr b="1" i="0" lang="en-US" sz="2600" u="none" cap="none" strike="noStrike">
                <a:solidFill>
                  <a:srgbClr val="F0F4FF"/>
                </a:solidFill>
                <a:latin typeface="Trebuchet MS"/>
                <a:ea typeface="Trebuchet MS"/>
                <a:cs typeface="Trebuchet MS"/>
                <a:sym typeface="Trebuchet MS"/>
              </a:rPr>
              <a:t>Identificación de Casos de Imbalance — Los 4 patrones</a:t>
            </a:r>
            <a:endParaRPr b="0" i="0" sz="2600" u="none" cap="none" strike="noStrike">
              <a:solidFill>
                <a:schemeClr val="dk1"/>
              </a:solidFill>
              <a:latin typeface="Calibri"/>
              <a:ea typeface="Calibri"/>
              <a:cs typeface="Calibri"/>
              <a:sym typeface="Calibri"/>
            </a:endParaRPr>
          </a:p>
        </p:txBody>
      </p:sp>
      <p:sp>
        <p:nvSpPr>
          <p:cNvPr id="464" name="Google Shape;464;p16"/>
          <p:cNvSpPr/>
          <p:nvPr/>
        </p:nvSpPr>
        <p:spPr>
          <a:xfrm>
            <a:off x="182880" y="749808"/>
            <a:ext cx="8778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1200"/>
              <a:buFont typeface="Calibri"/>
              <a:buNone/>
            </a:pPr>
            <a:r>
              <a:rPr b="0" i="1" lang="en-US" sz="1200" u="none" cap="none" strike="noStrike">
                <a:solidFill>
                  <a:srgbClr val="8892A4"/>
                </a:solidFill>
                <a:latin typeface="Calibri"/>
                <a:ea typeface="Calibri"/>
                <a:cs typeface="Calibri"/>
                <a:sym typeface="Calibri"/>
              </a:rPr>
              <a:t>El path desde el nodo desbalanceado al nuevo nodo determina el fix</a:t>
            </a:r>
            <a:endParaRPr b="0" i="0" sz="1200" u="none" cap="none" strike="noStrike">
              <a:solidFill>
                <a:schemeClr val="dk1"/>
              </a:solidFill>
              <a:latin typeface="Calibri"/>
              <a:ea typeface="Calibri"/>
              <a:cs typeface="Calibri"/>
              <a:sym typeface="Calibri"/>
            </a:endParaRPr>
          </a:p>
        </p:txBody>
      </p:sp>
      <p:sp>
        <p:nvSpPr>
          <p:cNvPr id="465" name="Google Shape;465;p16"/>
          <p:cNvSpPr/>
          <p:nvPr/>
        </p:nvSpPr>
        <p:spPr>
          <a:xfrm>
            <a:off x="182880" y="1024128"/>
            <a:ext cx="1463040" cy="27432"/>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6"/>
          <p:cNvSpPr/>
          <p:nvPr/>
        </p:nvSpPr>
        <p:spPr>
          <a:xfrm>
            <a:off x="137160" y="1188720"/>
            <a:ext cx="2103120" cy="3611880"/>
          </a:xfrm>
          <a:prstGeom prst="rect">
            <a:avLst/>
          </a:prstGeom>
          <a:solidFill>
            <a:srgbClr val="141829"/>
          </a:solidFill>
          <a:ln cap="flat" cmpd="sng" w="9525">
            <a:solidFill>
              <a:srgbClr val="7C3AED"/>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6"/>
          <p:cNvSpPr/>
          <p:nvPr/>
        </p:nvSpPr>
        <p:spPr>
          <a:xfrm>
            <a:off x="137160" y="1188720"/>
            <a:ext cx="2103120" cy="54864"/>
          </a:xfrm>
          <a:prstGeom prst="rect">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6"/>
          <p:cNvSpPr/>
          <p:nvPr/>
        </p:nvSpPr>
        <p:spPr>
          <a:xfrm>
            <a:off x="228600" y="1298448"/>
            <a:ext cx="1920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Trebuchet MS"/>
              <a:buNone/>
            </a:pPr>
            <a:r>
              <a:rPr b="1" i="0" lang="en-US" sz="1200" u="none" cap="none" strike="noStrike">
                <a:solidFill>
                  <a:srgbClr val="7C3AED"/>
                </a:solidFill>
                <a:latin typeface="Trebuchet MS"/>
                <a:ea typeface="Trebuchet MS"/>
                <a:cs typeface="Trebuchet MS"/>
                <a:sym typeface="Trebuchet MS"/>
              </a:rPr>
              <a:t>Left-Left (LL)</a:t>
            </a:r>
            <a:endParaRPr b="0" i="0" sz="1200" u="none" cap="none" strike="noStrike">
              <a:solidFill>
                <a:schemeClr val="dk1"/>
              </a:solidFill>
              <a:latin typeface="Calibri"/>
              <a:ea typeface="Calibri"/>
              <a:cs typeface="Calibri"/>
              <a:sym typeface="Calibri"/>
            </a:endParaRPr>
          </a:p>
        </p:txBody>
      </p:sp>
      <p:sp>
        <p:nvSpPr>
          <p:cNvPr id="469" name="Google Shape;469;p16"/>
          <p:cNvSpPr/>
          <p:nvPr/>
        </p:nvSpPr>
        <p:spPr>
          <a:xfrm>
            <a:off x="228600" y="1645920"/>
            <a:ext cx="1828800" cy="18288"/>
          </a:xfrm>
          <a:prstGeom prst="rect">
            <a:avLst/>
          </a:prstGeom>
          <a:solidFill>
            <a:srgbClr val="3D4A5C"/>
          </a:solidFill>
          <a:ln cap="flat" cmpd="sng" w="12700">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6"/>
          <p:cNvSpPr/>
          <p:nvPr/>
        </p:nvSpPr>
        <p:spPr>
          <a:xfrm>
            <a:off x="228600" y="1719072"/>
            <a:ext cx="192024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950"/>
              <a:buFont typeface="Calibri"/>
              <a:buNone/>
            </a:pPr>
            <a:r>
              <a:rPr b="0" i="0" lang="en-US" sz="950" u="none" cap="none" strike="noStrike">
                <a:solidFill>
                  <a:srgbClr val="F0F4FF"/>
                </a:solidFill>
                <a:latin typeface="Calibri"/>
                <a:ea typeface="Calibri"/>
                <a:cs typeface="Calibri"/>
                <a:sym typeface="Calibri"/>
              </a:rPr>
              <a:t>Inserción en subárbol izquierdo del hijo izquierdo. Los 3 nodos forman una línea recta ↘</a:t>
            </a:r>
            <a:endParaRPr b="0" i="0" sz="950" u="none" cap="none" strike="noStrike">
              <a:solidFill>
                <a:schemeClr val="dk1"/>
              </a:solidFill>
              <a:latin typeface="Calibri"/>
              <a:ea typeface="Calibri"/>
              <a:cs typeface="Calibri"/>
              <a:sym typeface="Calibri"/>
            </a:endParaRPr>
          </a:p>
        </p:txBody>
      </p:sp>
      <p:sp>
        <p:nvSpPr>
          <p:cNvPr id="471" name="Google Shape;471;p16"/>
          <p:cNvSpPr/>
          <p:nvPr/>
        </p:nvSpPr>
        <p:spPr>
          <a:xfrm>
            <a:off x="228600" y="2761488"/>
            <a:ext cx="1828800" cy="18288"/>
          </a:xfrm>
          <a:prstGeom prst="rect">
            <a:avLst/>
          </a:prstGeom>
          <a:solidFill>
            <a:srgbClr val="3D4A5C"/>
          </a:solidFill>
          <a:ln cap="flat" cmpd="sng" w="12700">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6"/>
          <p:cNvSpPr/>
          <p:nvPr/>
        </p:nvSpPr>
        <p:spPr>
          <a:xfrm>
            <a:off x="228600" y="2834640"/>
            <a:ext cx="19202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900"/>
              <a:buFont typeface="Calibri"/>
              <a:buNone/>
            </a:pPr>
            <a:r>
              <a:rPr b="1" i="0" lang="en-US" sz="900" u="none" cap="none" strike="noStrike">
                <a:solidFill>
                  <a:srgbClr val="F59E0B"/>
                </a:solidFill>
                <a:latin typeface="Calibri"/>
                <a:ea typeface="Calibri"/>
                <a:cs typeface="Calibri"/>
                <a:sym typeface="Calibri"/>
              </a:rPr>
              <a:t>FIX:</a:t>
            </a:r>
            <a:endParaRPr b="0" i="0" sz="900" u="none" cap="none" strike="noStrike">
              <a:solidFill>
                <a:schemeClr val="dk1"/>
              </a:solidFill>
              <a:latin typeface="Calibri"/>
              <a:ea typeface="Calibri"/>
              <a:cs typeface="Calibri"/>
              <a:sym typeface="Calibri"/>
            </a:endParaRPr>
          </a:p>
        </p:txBody>
      </p:sp>
      <p:sp>
        <p:nvSpPr>
          <p:cNvPr id="473" name="Google Shape;473;p16"/>
          <p:cNvSpPr/>
          <p:nvPr/>
        </p:nvSpPr>
        <p:spPr>
          <a:xfrm>
            <a:off x="228600" y="3035808"/>
            <a:ext cx="19202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100"/>
              <a:buFont typeface="Consolas"/>
              <a:buNone/>
            </a:pPr>
            <a:r>
              <a:rPr b="1" i="0" lang="en-US" sz="1100" u="none" cap="none" strike="noStrike">
                <a:solidFill>
                  <a:srgbClr val="10B981"/>
                </a:solidFill>
                <a:latin typeface="Consolas"/>
                <a:ea typeface="Consolas"/>
                <a:cs typeface="Consolas"/>
                <a:sym typeface="Consolas"/>
              </a:rPr>
              <a:t>Single Right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0B981"/>
              </a:buClr>
              <a:buSzPts val="1100"/>
              <a:buFont typeface="Consolas"/>
              <a:buNone/>
            </a:pPr>
            <a:r>
              <a:rPr b="1" i="0" lang="en-US" sz="1100" u="none" cap="none" strike="noStrike">
                <a:solidFill>
                  <a:srgbClr val="10B981"/>
                </a:solidFill>
                <a:latin typeface="Consolas"/>
                <a:ea typeface="Consolas"/>
                <a:cs typeface="Consolas"/>
                <a:sym typeface="Consolas"/>
              </a:rPr>
              <a:t>Rotation</a:t>
            </a:r>
            <a:endParaRPr b="0" i="0" sz="1100" u="none" cap="none" strike="noStrike">
              <a:solidFill>
                <a:schemeClr val="dk1"/>
              </a:solidFill>
              <a:latin typeface="Calibri"/>
              <a:ea typeface="Calibri"/>
              <a:cs typeface="Calibri"/>
              <a:sym typeface="Calibri"/>
            </a:endParaRPr>
          </a:p>
        </p:txBody>
      </p:sp>
      <p:sp>
        <p:nvSpPr>
          <p:cNvPr id="474" name="Google Shape;474;p16"/>
          <p:cNvSpPr/>
          <p:nvPr/>
        </p:nvSpPr>
        <p:spPr>
          <a:xfrm>
            <a:off x="228600" y="3584448"/>
            <a:ext cx="19202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000"/>
              <a:buFont typeface="Calibri"/>
              <a:buNone/>
            </a:pPr>
            <a:r>
              <a:rPr b="0" i="0" lang="en-US" sz="1000" u="none" cap="none" strike="noStrike">
                <a:solidFill>
                  <a:srgbClr val="10B981"/>
                </a:solidFill>
                <a:latin typeface="Calibri"/>
                <a:ea typeface="Calibri"/>
                <a:cs typeface="Calibri"/>
                <a:sym typeface="Calibri"/>
              </a:rPr>
              <a:t>1 rotación</a:t>
            </a:r>
            <a:endParaRPr b="0" i="0" sz="1000" u="none" cap="none" strike="noStrike">
              <a:solidFill>
                <a:schemeClr val="dk1"/>
              </a:solidFill>
              <a:latin typeface="Calibri"/>
              <a:ea typeface="Calibri"/>
              <a:cs typeface="Calibri"/>
              <a:sym typeface="Calibri"/>
            </a:endParaRPr>
          </a:p>
        </p:txBody>
      </p:sp>
      <p:sp>
        <p:nvSpPr>
          <p:cNvPr id="475" name="Google Shape;475;p16"/>
          <p:cNvSpPr/>
          <p:nvPr/>
        </p:nvSpPr>
        <p:spPr>
          <a:xfrm>
            <a:off x="2377440" y="1188720"/>
            <a:ext cx="2103120" cy="3611880"/>
          </a:xfrm>
          <a:prstGeom prst="rect">
            <a:avLst/>
          </a:prstGeom>
          <a:solidFill>
            <a:srgbClr val="141829"/>
          </a:solidFill>
          <a:ln cap="flat" cmpd="sng" w="9525">
            <a:solidFill>
              <a:srgbClr val="7C3AED"/>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6"/>
          <p:cNvSpPr/>
          <p:nvPr/>
        </p:nvSpPr>
        <p:spPr>
          <a:xfrm>
            <a:off x="2377440" y="1188720"/>
            <a:ext cx="2103120" cy="54864"/>
          </a:xfrm>
          <a:prstGeom prst="rect">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6"/>
          <p:cNvSpPr/>
          <p:nvPr/>
        </p:nvSpPr>
        <p:spPr>
          <a:xfrm>
            <a:off x="2468880" y="1298448"/>
            <a:ext cx="1920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Trebuchet MS"/>
              <a:buNone/>
            </a:pPr>
            <a:r>
              <a:rPr b="1" i="0" lang="en-US" sz="1200" u="none" cap="none" strike="noStrike">
                <a:solidFill>
                  <a:srgbClr val="7C3AED"/>
                </a:solidFill>
                <a:latin typeface="Trebuchet MS"/>
                <a:ea typeface="Trebuchet MS"/>
                <a:cs typeface="Trebuchet MS"/>
                <a:sym typeface="Trebuchet MS"/>
              </a:rPr>
              <a:t>Right-Right (RR)</a:t>
            </a:r>
            <a:endParaRPr b="0" i="0" sz="1200" u="none" cap="none" strike="noStrike">
              <a:solidFill>
                <a:schemeClr val="dk1"/>
              </a:solidFill>
              <a:latin typeface="Calibri"/>
              <a:ea typeface="Calibri"/>
              <a:cs typeface="Calibri"/>
              <a:sym typeface="Calibri"/>
            </a:endParaRPr>
          </a:p>
        </p:txBody>
      </p:sp>
      <p:sp>
        <p:nvSpPr>
          <p:cNvPr id="478" name="Google Shape;478;p16"/>
          <p:cNvSpPr/>
          <p:nvPr/>
        </p:nvSpPr>
        <p:spPr>
          <a:xfrm>
            <a:off x="2468880" y="1645920"/>
            <a:ext cx="1828800" cy="18288"/>
          </a:xfrm>
          <a:prstGeom prst="rect">
            <a:avLst/>
          </a:prstGeom>
          <a:solidFill>
            <a:srgbClr val="3D4A5C"/>
          </a:solidFill>
          <a:ln cap="flat" cmpd="sng" w="12700">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6"/>
          <p:cNvSpPr/>
          <p:nvPr/>
        </p:nvSpPr>
        <p:spPr>
          <a:xfrm>
            <a:off x="2468880" y="1719072"/>
            <a:ext cx="192024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950"/>
              <a:buFont typeface="Calibri"/>
              <a:buNone/>
            </a:pPr>
            <a:r>
              <a:rPr b="0" i="0" lang="en-US" sz="950" u="none" cap="none" strike="noStrike">
                <a:solidFill>
                  <a:srgbClr val="F0F4FF"/>
                </a:solidFill>
                <a:latin typeface="Calibri"/>
                <a:ea typeface="Calibri"/>
                <a:cs typeface="Calibri"/>
                <a:sym typeface="Calibri"/>
              </a:rPr>
              <a:t>Inserción en subárbol derecho del hijo derecho. Los 3 nodos forman una línea recta ↙</a:t>
            </a:r>
            <a:endParaRPr b="0" i="0" sz="950" u="none" cap="none" strike="noStrike">
              <a:solidFill>
                <a:schemeClr val="dk1"/>
              </a:solidFill>
              <a:latin typeface="Calibri"/>
              <a:ea typeface="Calibri"/>
              <a:cs typeface="Calibri"/>
              <a:sym typeface="Calibri"/>
            </a:endParaRPr>
          </a:p>
        </p:txBody>
      </p:sp>
      <p:sp>
        <p:nvSpPr>
          <p:cNvPr id="480" name="Google Shape;480;p16"/>
          <p:cNvSpPr/>
          <p:nvPr/>
        </p:nvSpPr>
        <p:spPr>
          <a:xfrm>
            <a:off x="2468880" y="2761488"/>
            <a:ext cx="1828800" cy="18288"/>
          </a:xfrm>
          <a:prstGeom prst="rect">
            <a:avLst/>
          </a:prstGeom>
          <a:solidFill>
            <a:srgbClr val="3D4A5C"/>
          </a:solidFill>
          <a:ln cap="flat" cmpd="sng" w="12700">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6"/>
          <p:cNvSpPr/>
          <p:nvPr/>
        </p:nvSpPr>
        <p:spPr>
          <a:xfrm>
            <a:off x="2468880" y="2834640"/>
            <a:ext cx="19202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900"/>
              <a:buFont typeface="Calibri"/>
              <a:buNone/>
            </a:pPr>
            <a:r>
              <a:rPr b="1" i="0" lang="en-US" sz="900" u="none" cap="none" strike="noStrike">
                <a:solidFill>
                  <a:srgbClr val="F59E0B"/>
                </a:solidFill>
                <a:latin typeface="Calibri"/>
                <a:ea typeface="Calibri"/>
                <a:cs typeface="Calibri"/>
                <a:sym typeface="Calibri"/>
              </a:rPr>
              <a:t>FIX:</a:t>
            </a:r>
            <a:endParaRPr b="0" i="0" sz="900" u="none" cap="none" strike="noStrike">
              <a:solidFill>
                <a:schemeClr val="dk1"/>
              </a:solidFill>
              <a:latin typeface="Calibri"/>
              <a:ea typeface="Calibri"/>
              <a:cs typeface="Calibri"/>
              <a:sym typeface="Calibri"/>
            </a:endParaRPr>
          </a:p>
        </p:txBody>
      </p:sp>
      <p:sp>
        <p:nvSpPr>
          <p:cNvPr id="482" name="Google Shape;482;p16"/>
          <p:cNvSpPr/>
          <p:nvPr/>
        </p:nvSpPr>
        <p:spPr>
          <a:xfrm>
            <a:off x="2468880" y="3035808"/>
            <a:ext cx="19202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100"/>
              <a:buFont typeface="Consolas"/>
              <a:buNone/>
            </a:pPr>
            <a:r>
              <a:rPr b="1" i="0" lang="en-US" sz="1100" u="none" cap="none" strike="noStrike">
                <a:solidFill>
                  <a:srgbClr val="10B981"/>
                </a:solidFill>
                <a:latin typeface="Consolas"/>
                <a:ea typeface="Consolas"/>
                <a:cs typeface="Consolas"/>
                <a:sym typeface="Consolas"/>
              </a:rPr>
              <a:t>Single Left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0B981"/>
              </a:buClr>
              <a:buSzPts val="1100"/>
              <a:buFont typeface="Consolas"/>
              <a:buNone/>
            </a:pPr>
            <a:r>
              <a:rPr b="1" i="0" lang="en-US" sz="1100" u="none" cap="none" strike="noStrike">
                <a:solidFill>
                  <a:srgbClr val="10B981"/>
                </a:solidFill>
                <a:latin typeface="Consolas"/>
                <a:ea typeface="Consolas"/>
                <a:cs typeface="Consolas"/>
                <a:sym typeface="Consolas"/>
              </a:rPr>
              <a:t>Rotation</a:t>
            </a:r>
            <a:endParaRPr b="0" i="0" sz="1100" u="none" cap="none" strike="noStrike">
              <a:solidFill>
                <a:schemeClr val="dk1"/>
              </a:solidFill>
              <a:latin typeface="Calibri"/>
              <a:ea typeface="Calibri"/>
              <a:cs typeface="Calibri"/>
              <a:sym typeface="Calibri"/>
            </a:endParaRPr>
          </a:p>
        </p:txBody>
      </p:sp>
      <p:sp>
        <p:nvSpPr>
          <p:cNvPr id="483" name="Google Shape;483;p16"/>
          <p:cNvSpPr/>
          <p:nvPr/>
        </p:nvSpPr>
        <p:spPr>
          <a:xfrm>
            <a:off x="2468880" y="3584448"/>
            <a:ext cx="19202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000"/>
              <a:buFont typeface="Calibri"/>
              <a:buNone/>
            </a:pPr>
            <a:r>
              <a:rPr b="0" i="0" lang="en-US" sz="1000" u="none" cap="none" strike="noStrike">
                <a:solidFill>
                  <a:srgbClr val="10B981"/>
                </a:solidFill>
                <a:latin typeface="Calibri"/>
                <a:ea typeface="Calibri"/>
                <a:cs typeface="Calibri"/>
                <a:sym typeface="Calibri"/>
              </a:rPr>
              <a:t>1 rotación</a:t>
            </a:r>
            <a:endParaRPr b="0" i="0" sz="1000" u="none" cap="none" strike="noStrike">
              <a:solidFill>
                <a:schemeClr val="dk1"/>
              </a:solidFill>
              <a:latin typeface="Calibri"/>
              <a:ea typeface="Calibri"/>
              <a:cs typeface="Calibri"/>
              <a:sym typeface="Calibri"/>
            </a:endParaRPr>
          </a:p>
        </p:txBody>
      </p:sp>
      <p:sp>
        <p:nvSpPr>
          <p:cNvPr id="484" name="Google Shape;484;p16"/>
          <p:cNvSpPr/>
          <p:nvPr/>
        </p:nvSpPr>
        <p:spPr>
          <a:xfrm>
            <a:off x="4617720" y="1188720"/>
            <a:ext cx="2103120" cy="3611880"/>
          </a:xfrm>
          <a:prstGeom prst="rect">
            <a:avLst/>
          </a:prstGeom>
          <a:solidFill>
            <a:srgbClr val="141829"/>
          </a:solidFill>
          <a:ln cap="flat" cmpd="sng" w="9525">
            <a:solidFill>
              <a:srgbClr val="7C3AED"/>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6"/>
          <p:cNvSpPr/>
          <p:nvPr/>
        </p:nvSpPr>
        <p:spPr>
          <a:xfrm>
            <a:off x="4617720" y="1188720"/>
            <a:ext cx="2103120" cy="54864"/>
          </a:xfrm>
          <a:prstGeom prst="rect">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6"/>
          <p:cNvSpPr/>
          <p:nvPr/>
        </p:nvSpPr>
        <p:spPr>
          <a:xfrm>
            <a:off x="4709160" y="1298448"/>
            <a:ext cx="1920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Trebuchet MS"/>
              <a:buNone/>
            </a:pPr>
            <a:r>
              <a:rPr b="1" i="0" lang="en-US" sz="1200" u="none" cap="none" strike="noStrike">
                <a:solidFill>
                  <a:srgbClr val="7C3AED"/>
                </a:solidFill>
                <a:latin typeface="Trebuchet MS"/>
                <a:ea typeface="Trebuchet MS"/>
                <a:cs typeface="Trebuchet MS"/>
                <a:sym typeface="Trebuchet MS"/>
              </a:rPr>
              <a:t>Left-Right (LR)</a:t>
            </a:r>
            <a:endParaRPr b="0" i="0" sz="1200" u="none" cap="none" strike="noStrike">
              <a:solidFill>
                <a:schemeClr val="dk1"/>
              </a:solidFill>
              <a:latin typeface="Calibri"/>
              <a:ea typeface="Calibri"/>
              <a:cs typeface="Calibri"/>
              <a:sym typeface="Calibri"/>
            </a:endParaRPr>
          </a:p>
        </p:txBody>
      </p:sp>
      <p:sp>
        <p:nvSpPr>
          <p:cNvPr id="487" name="Google Shape;487;p16"/>
          <p:cNvSpPr/>
          <p:nvPr/>
        </p:nvSpPr>
        <p:spPr>
          <a:xfrm>
            <a:off x="4709160" y="1645920"/>
            <a:ext cx="1828800" cy="18288"/>
          </a:xfrm>
          <a:prstGeom prst="rect">
            <a:avLst/>
          </a:prstGeom>
          <a:solidFill>
            <a:srgbClr val="3D4A5C"/>
          </a:solidFill>
          <a:ln cap="flat" cmpd="sng" w="12700">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6"/>
          <p:cNvSpPr/>
          <p:nvPr/>
        </p:nvSpPr>
        <p:spPr>
          <a:xfrm>
            <a:off x="4709160" y="1719072"/>
            <a:ext cx="192024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950"/>
              <a:buFont typeface="Calibri"/>
              <a:buNone/>
            </a:pPr>
            <a:r>
              <a:rPr b="0" i="0" lang="en-US" sz="950" u="none" cap="none" strike="noStrike">
                <a:solidFill>
                  <a:srgbClr val="F0F4FF"/>
                </a:solidFill>
                <a:latin typeface="Calibri"/>
                <a:ea typeface="Calibri"/>
                <a:cs typeface="Calibri"/>
                <a:sym typeface="Calibri"/>
              </a:rPr>
              <a:t>Inserción en subárbol derecho del hijo izquierdo. Los 3 nodos forman un zig-zag ↗↘</a:t>
            </a:r>
            <a:endParaRPr b="0" i="0" sz="950" u="none" cap="none" strike="noStrike">
              <a:solidFill>
                <a:schemeClr val="dk1"/>
              </a:solidFill>
              <a:latin typeface="Calibri"/>
              <a:ea typeface="Calibri"/>
              <a:cs typeface="Calibri"/>
              <a:sym typeface="Calibri"/>
            </a:endParaRPr>
          </a:p>
        </p:txBody>
      </p:sp>
      <p:sp>
        <p:nvSpPr>
          <p:cNvPr id="489" name="Google Shape;489;p16"/>
          <p:cNvSpPr/>
          <p:nvPr/>
        </p:nvSpPr>
        <p:spPr>
          <a:xfrm>
            <a:off x="4709160" y="2761488"/>
            <a:ext cx="1828800" cy="18288"/>
          </a:xfrm>
          <a:prstGeom prst="rect">
            <a:avLst/>
          </a:prstGeom>
          <a:solidFill>
            <a:srgbClr val="3D4A5C"/>
          </a:solidFill>
          <a:ln cap="flat" cmpd="sng" w="12700">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6"/>
          <p:cNvSpPr/>
          <p:nvPr/>
        </p:nvSpPr>
        <p:spPr>
          <a:xfrm>
            <a:off x="4709160" y="2834640"/>
            <a:ext cx="19202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900"/>
              <a:buFont typeface="Calibri"/>
              <a:buNone/>
            </a:pPr>
            <a:r>
              <a:rPr b="1" i="0" lang="en-US" sz="900" u="none" cap="none" strike="noStrike">
                <a:solidFill>
                  <a:srgbClr val="F59E0B"/>
                </a:solidFill>
                <a:latin typeface="Calibri"/>
                <a:ea typeface="Calibri"/>
                <a:cs typeface="Calibri"/>
                <a:sym typeface="Calibri"/>
              </a:rPr>
              <a:t>FIX:</a:t>
            </a:r>
            <a:endParaRPr b="0" i="0" sz="900" u="none" cap="none" strike="noStrike">
              <a:solidFill>
                <a:schemeClr val="dk1"/>
              </a:solidFill>
              <a:latin typeface="Calibri"/>
              <a:ea typeface="Calibri"/>
              <a:cs typeface="Calibri"/>
              <a:sym typeface="Calibri"/>
            </a:endParaRPr>
          </a:p>
        </p:txBody>
      </p:sp>
      <p:sp>
        <p:nvSpPr>
          <p:cNvPr id="491" name="Google Shape;491;p16"/>
          <p:cNvSpPr/>
          <p:nvPr/>
        </p:nvSpPr>
        <p:spPr>
          <a:xfrm>
            <a:off x="4709160" y="3035808"/>
            <a:ext cx="19202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100"/>
              <a:buFont typeface="Consolas"/>
              <a:buNone/>
            </a:pPr>
            <a:r>
              <a:rPr b="1" i="0" lang="en-US" sz="1100" u="none" cap="none" strike="noStrike">
                <a:solidFill>
                  <a:srgbClr val="10B981"/>
                </a:solidFill>
                <a:latin typeface="Consolas"/>
                <a:ea typeface="Consolas"/>
                <a:cs typeface="Consolas"/>
                <a:sym typeface="Consolas"/>
              </a:rPr>
              <a:t>Double Rotation</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0B981"/>
              </a:buClr>
              <a:buSzPts val="1100"/>
              <a:buFont typeface="Consolas"/>
              <a:buNone/>
            </a:pPr>
            <a:r>
              <a:rPr b="1" i="0" lang="en-US" sz="1100" u="none" cap="none" strike="noStrike">
                <a:solidFill>
                  <a:srgbClr val="10B981"/>
                </a:solidFill>
                <a:latin typeface="Consolas"/>
                <a:ea typeface="Consolas"/>
                <a:cs typeface="Consolas"/>
                <a:sym typeface="Consolas"/>
              </a:rPr>
              <a:t>Left→Right</a:t>
            </a:r>
            <a:endParaRPr b="0" i="0" sz="1100" u="none" cap="none" strike="noStrike">
              <a:solidFill>
                <a:schemeClr val="dk1"/>
              </a:solidFill>
              <a:latin typeface="Calibri"/>
              <a:ea typeface="Calibri"/>
              <a:cs typeface="Calibri"/>
              <a:sym typeface="Calibri"/>
            </a:endParaRPr>
          </a:p>
        </p:txBody>
      </p:sp>
      <p:sp>
        <p:nvSpPr>
          <p:cNvPr id="492" name="Google Shape;492;p16"/>
          <p:cNvSpPr/>
          <p:nvPr/>
        </p:nvSpPr>
        <p:spPr>
          <a:xfrm>
            <a:off x="4709160" y="3584448"/>
            <a:ext cx="19202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000"/>
              <a:buFont typeface="Calibri"/>
              <a:buNone/>
            </a:pPr>
            <a:r>
              <a:rPr b="0" i="0" lang="en-US" sz="1000" u="none" cap="none" strike="noStrike">
                <a:solidFill>
                  <a:srgbClr val="7C3AED"/>
                </a:solidFill>
                <a:latin typeface="Calibri"/>
                <a:ea typeface="Calibri"/>
                <a:cs typeface="Calibri"/>
                <a:sym typeface="Calibri"/>
              </a:rPr>
              <a:t>2 rotaciones</a:t>
            </a:r>
            <a:endParaRPr b="0" i="0" sz="1000" u="none" cap="none" strike="noStrike">
              <a:solidFill>
                <a:schemeClr val="dk1"/>
              </a:solidFill>
              <a:latin typeface="Calibri"/>
              <a:ea typeface="Calibri"/>
              <a:cs typeface="Calibri"/>
              <a:sym typeface="Calibri"/>
            </a:endParaRPr>
          </a:p>
        </p:txBody>
      </p:sp>
      <p:sp>
        <p:nvSpPr>
          <p:cNvPr id="493" name="Google Shape;493;p16"/>
          <p:cNvSpPr/>
          <p:nvPr/>
        </p:nvSpPr>
        <p:spPr>
          <a:xfrm>
            <a:off x="6858000" y="1188720"/>
            <a:ext cx="2103120" cy="3611880"/>
          </a:xfrm>
          <a:prstGeom prst="rect">
            <a:avLst/>
          </a:prstGeom>
          <a:solidFill>
            <a:srgbClr val="141829"/>
          </a:solidFill>
          <a:ln cap="flat" cmpd="sng" w="9525">
            <a:solidFill>
              <a:srgbClr val="7C3AED"/>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6"/>
          <p:cNvSpPr/>
          <p:nvPr/>
        </p:nvSpPr>
        <p:spPr>
          <a:xfrm>
            <a:off x="6858000" y="1188720"/>
            <a:ext cx="2103120" cy="54864"/>
          </a:xfrm>
          <a:prstGeom prst="rect">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6"/>
          <p:cNvSpPr/>
          <p:nvPr/>
        </p:nvSpPr>
        <p:spPr>
          <a:xfrm>
            <a:off x="6949440" y="1298448"/>
            <a:ext cx="1920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Trebuchet MS"/>
              <a:buNone/>
            </a:pPr>
            <a:r>
              <a:rPr b="1" i="0" lang="en-US" sz="1200" u="none" cap="none" strike="noStrike">
                <a:solidFill>
                  <a:srgbClr val="7C3AED"/>
                </a:solidFill>
                <a:latin typeface="Trebuchet MS"/>
                <a:ea typeface="Trebuchet MS"/>
                <a:cs typeface="Trebuchet MS"/>
                <a:sym typeface="Trebuchet MS"/>
              </a:rPr>
              <a:t>Right-Left (RL)</a:t>
            </a:r>
            <a:endParaRPr b="0" i="0" sz="1200" u="none" cap="none" strike="noStrike">
              <a:solidFill>
                <a:schemeClr val="dk1"/>
              </a:solidFill>
              <a:latin typeface="Calibri"/>
              <a:ea typeface="Calibri"/>
              <a:cs typeface="Calibri"/>
              <a:sym typeface="Calibri"/>
            </a:endParaRPr>
          </a:p>
        </p:txBody>
      </p:sp>
      <p:sp>
        <p:nvSpPr>
          <p:cNvPr id="496" name="Google Shape;496;p16"/>
          <p:cNvSpPr/>
          <p:nvPr/>
        </p:nvSpPr>
        <p:spPr>
          <a:xfrm>
            <a:off x="6949440" y="1645920"/>
            <a:ext cx="1828800" cy="18288"/>
          </a:xfrm>
          <a:prstGeom prst="rect">
            <a:avLst/>
          </a:prstGeom>
          <a:solidFill>
            <a:srgbClr val="3D4A5C"/>
          </a:solidFill>
          <a:ln cap="flat" cmpd="sng" w="12700">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6"/>
          <p:cNvSpPr/>
          <p:nvPr/>
        </p:nvSpPr>
        <p:spPr>
          <a:xfrm>
            <a:off x="6949440" y="1719072"/>
            <a:ext cx="192024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950"/>
              <a:buFont typeface="Calibri"/>
              <a:buNone/>
            </a:pPr>
            <a:r>
              <a:rPr b="0" i="0" lang="en-US" sz="950" u="none" cap="none" strike="noStrike">
                <a:solidFill>
                  <a:srgbClr val="F0F4FF"/>
                </a:solidFill>
                <a:latin typeface="Calibri"/>
                <a:ea typeface="Calibri"/>
                <a:cs typeface="Calibri"/>
                <a:sym typeface="Calibri"/>
              </a:rPr>
              <a:t>Inserción en subárbol izquierdo del hijo derecho. Los 3 nodos forman un zig-zag ↘↗</a:t>
            </a:r>
            <a:endParaRPr b="0" i="0" sz="950" u="none" cap="none" strike="noStrike">
              <a:solidFill>
                <a:schemeClr val="dk1"/>
              </a:solidFill>
              <a:latin typeface="Calibri"/>
              <a:ea typeface="Calibri"/>
              <a:cs typeface="Calibri"/>
              <a:sym typeface="Calibri"/>
            </a:endParaRPr>
          </a:p>
        </p:txBody>
      </p:sp>
      <p:sp>
        <p:nvSpPr>
          <p:cNvPr id="498" name="Google Shape;498;p16"/>
          <p:cNvSpPr/>
          <p:nvPr/>
        </p:nvSpPr>
        <p:spPr>
          <a:xfrm>
            <a:off x="6949440" y="2761488"/>
            <a:ext cx="1828800" cy="18288"/>
          </a:xfrm>
          <a:prstGeom prst="rect">
            <a:avLst/>
          </a:prstGeom>
          <a:solidFill>
            <a:srgbClr val="3D4A5C"/>
          </a:solidFill>
          <a:ln cap="flat" cmpd="sng" w="12700">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6"/>
          <p:cNvSpPr/>
          <p:nvPr/>
        </p:nvSpPr>
        <p:spPr>
          <a:xfrm>
            <a:off x="6949440" y="2834640"/>
            <a:ext cx="19202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900"/>
              <a:buFont typeface="Calibri"/>
              <a:buNone/>
            </a:pPr>
            <a:r>
              <a:rPr b="1" i="0" lang="en-US" sz="900" u="none" cap="none" strike="noStrike">
                <a:solidFill>
                  <a:srgbClr val="F59E0B"/>
                </a:solidFill>
                <a:latin typeface="Calibri"/>
                <a:ea typeface="Calibri"/>
                <a:cs typeface="Calibri"/>
                <a:sym typeface="Calibri"/>
              </a:rPr>
              <a:t>FIX:</a:t>
            </a:r>
            <a:endParaRPr b="0" i="0" sz="900" u="none" cap="none" strike="noStrike">
              <a:solidFill>
                <a:schemeClr val="dk1"/>
              </a:solidFill>
              <a:latin typeface="Calibri"/>
              <a:ea typeface="Calibri"/>
              <a:cs typeface="Calibri"/>
              <a:sym typeface="Calibri"/>
            </a:endParaRPr>
          </a:p>
        </p:txBody>
      </p:sp>
      <p:sp>
        <p:nvSpPr>
          <p:cNvPr id="500" name="Google Shape;500;p16"/>
          <p:cNvSpPr/>
          <p:nvPr/>
        </p:nvSpPr>
        <p:spPr>
          <a:xfrm>
            <a:off x="6949440" y="3035808"/>
            <a:ext cx="19202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100"/>
              <a:buFont typeface="Consolas"/>
              <a:buNone/>
            </a:pPr>
            <a:r>
              <a:rPr b="1" i="0" lang="en-US" sz="1100" u="none" cap="none" strike="noStrike">
                <a:solidFill>
                  <a:srgbClr val="10B981"/>
                </a:solidFill>
                <a:latin typeface="Consolas"/>
                <a:ea typeface="Consolas"/>
                <a:cs typeface="Consolas"/>
                <a:sym typeface="Consolas"/>
              </a:rPr>
              <a:t>Double Rotation</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0B981"/>
              </a:buClr>
              <a:buSzPts val="1100"/>
              <a:buFont typeface="Consolas"/>
              <a:buNone/>
            </a:pPr>
            <a:r>
              <a:rPr b="1" i="0" lang="en-US" sz="1100" u="none" cap="none" strike="noStrike">
                <a:solidFill>
                  <a:srgbClr val="10B981"/>
                </a:solidFill>
                <a:latin typeface="Consolas"/>
                <a:ea typeface="Consolas"/>
                <a:cs typeface="Consolas"/>
                <a:sym typeface="Consolas"/>
              </a:rPr>
              <a:t>Right→Left</a:t>
            </a:r>
            <a:endParaRPr b="0" i="0" sz="1100" u="none" cap="none" strike="noStrike">
              <a:solidFill>
                <a:schemeClr val="dk1"/>
              </a:solidFill>
              <a:latin typeface="Calibri"/>
              <a:ea typeface="Calibri"/>
              <a:cs typeface="Calibri"/>
              <a:sym typeface="Calibri"/>
            </a:endParaRPr>
          </a:p>
        </p:txBody>
      </p:sp>
      <p:sp>
        <p:nvSpPr>
          <p:cNvPr id="501" name="Google Shape;501;p16"/>
          <p:cNvSpPr/>
          <p:nvPr/>
        </p:nvSpPr>
        <p:spPr>
          <a:xfrm>
            <a:off x="6949440" y="3584448"/>
            <a:ext cx="19202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000"/>
              <a:buFont typeface="Calibri"/>
              <a:buNone/>
            </a:pPr>
            <a:r>
              <a:rPr b="0" i="0" lang="en-US" sz="1000" u="none" cap="none" strike="noStrike">
                <a:solidFill>
                  <a:srgbClr val="7C3AED"/>
                </a:solidFill>
                <a:latin typeface="Calibri"/>
                <a:ea typeface="Calibri"/>
                <a:cs typeface="Calibri"/>
                <a:sym typeface="Calibri"/>
              </a:rPr>
              <a:t>2 rotaciones</a:t>
            </a:r>
            <a:endParaRPr b="0" i="0" sz="1000" u="none" cap="none" strike="noStrike">
              <a:solidFill>
                <a:schemeClr val="dk1"/>
              </a:solidFill>
              <a:latin typeface="Calibri"/>
              <a:ea typeface="Calibri"/>
              <a:cs typeface="Calibri"/>
              <a:sym typeface="Calibri"/>
            </a:endParaRPr>
          </a:p>
        </p:txBody>
      </p:sp>
      <p:sp>
        <p:nvSpPr>
          <p:cNvPr id="502" name="Google Shape;502;p16"/>
          <p:cNvSpPr/>
          <p:nvPr/>
        </p:nvSpPr>
        <p:spPr>
          <a:xfrm>
            <a:off x="137160" y="4828032"/>
            <a:ext cx="8869680" cy="246888"/>
          </a:xfrm>
          <a:prstGeom prst="rect">
            <a:avLst/>
          </a:prstGeom>
          <a:solidFill>
            <a:srgbClr val="1A2035"/>
          </a:solidFill>
          <a:ln cap="flat" cmpd="sng" w="9525">
            <a:solidFill>
              <a:srgbClr val="0891B2"/>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6"/>
          <p:cNvSpPr/>
          <p:nvPr/>
        </p:nvSpPr>
        <p:spPr>
          <a:xfrm>
            <a:off x="274320" y="4828032"/>
            <a:ext cx="85953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4FF"/>
              </a:buClr>
              <a:buSzPts val="1000"/>
              <a:buFont typeface="Calibri"/>
              <a:buNone/>
            </a:pPr>
            <a:r>
              <a:rPr b="1" i="0" lang="en-US" sz="1000" u="none" cap="none" strike="noStrike">
                <a:solidFill>
                  <a:srgbClr val="00D4FF"/>
                </a:solidFill>
                <a:latin typeface="Calibri"/>
                <a:ea typeface="Calibri"/>
                <a:cs typeface="Calibri"/>
                <a:sym typeface="Calibri"/>
              </a:rPr>
              <a:t>REGLA CLAVE: </a:t>
            </a:r>
            <a:r>
              <a:rPr b="0" i="0" lang="en-US" sz="1000" u="none" cap="none" strike="noStrike">
                <a:solidFill>
                  <a:srgbClr val="F0F4FF"/>
                </a:solidFill>
                <a:latin typeface="Calibri"/>
                <a:ea typeface="Calibri"/>
                <a:cs typeface="Calibri"/>
                <a:sym typeface="Calibri"/>
              </a:rPr>
              <a:t>Línea recta (LL, RR) → 1 rotación.   Zig-zag (LR, RL) → 2 rotaciones.   La identificación es GEOMÉTRICA — basada en el path, no en los valores.</a:t>
            </a:r>
            <a:endParaRPr b="0" i="0" sz="1000" u="none" cap="none" strike="noStrike">
              <a:solidFill>
                <a:schemeClr val="dk1"/>
              </a:solidFill>
              <a:latin typeface="Calibri"/>
              <a:ea typeface="Calibri"/>
              <a:cs typeface="Calibri"/>
              <a:sym typeface="Calibri"/>
            </a:endParaRPr>
          </a:p>
        </p:txBody>
      </p:sp>
      <p:sp>
        <p:nvSpPr>
          <p:cNvPr id="504" name="Google Shape;504;p16"/>
          <p:cNvSpPr/>
          <p:nvPr/>
        </p:nvSpPr>
        <p:spPr>
          <a:xfrm>
            <a:off x="137160" y="4846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AED · T2 · AVL · Casos</a:t>
            </a:r>
            <a:endParaRPr b="0" i="0" sz="900" u="none" cap="none" strike="noStrike">
              <a:solidFill>
                <a:schemeClr val="dk1"/>
              </a:solidFill>
              <a:latin typeface="Calibri"/>
              <a:ea typeface="Calibri"/>
              <a:cs typeface="Calibri"/>
              <a:sym typeface="Calibri"/>
            </a:endParaRPr>
          </a:p>
        </p:txBody>
      </p:sp>
      <p:sp>
        <p:nvSpPr>
          <p:cNvPr id="505" name="Google Shape;505;p16"/>
          <p:cNvSpPr/>
          <p:nvPr/>
        </p:nvSpPr>
        <p:spPr>
          <a:xfrm>
            <a:off x="8503920" y="4846320"/>
            <a:ext cx="54864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F1A"/>
        </a:solidFill>
      </p:bgPr>
    </p:bg>
    <p:spTree>
      <p:nvGrpSpPr>
        <p:cNvPr id="510" name="Shape 510"/>
        <p:cNvGrpSpPr/>
        <p:nvPr/>
      </p:nvGrpSpPr>
      <p:grpSpPr>
        <a:xfrm>
          <a:off x="0" y="0"/>
          <a:ext cx="0" cy="0"/>
          <a:chOff x="0" y="0"/>
          <a:chExt cx="0" cy="0"/>
        </a:xfrm>
      </p:grpSpPr>
      <p:sp>
        <p:nvSpPr>
          <p:cNvPr id="511" name="Google Shape;511;p17"/>
          <p:cNvSpPr/>
          <p:nvPr/>
        </p:nvSpPr>
        <p:spPr>
          <a:xfrm>
            <a:off x="0" y="0"/>
            <a:ext cx="54864"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7"/>
          <p:cNvSpPr/>
          <p:nvPr/>
        </p:nvSpPr>
        <p:spPr>
          <a:xfrm>
            <a:off x="182880" y="137160"/>
            <a:ext cx="87782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2600"/>
              <a:buFont typeface="Trebuchet MS"/>
              <a:buNone/>
            </a:pPr>
            <a:r>
              <a:rPr b="1" i="0" lang="en-US" sz="2600" u="none" cap="none" strike="noStrike">
                <a:solidFill>
                  <a:srgbClr val="F0F4FF"/>
                </a:solidFill>
                <a:latin typeface="Trebuchet MS"/>
                <a:ea typeface="Trebuchet MS"/>
                <a:cs typeface="Trebuchet MS"/>
                <a:sym typeface="Trebuchet MS"/>
              </a:rPr>
              <a:t>Single Rotation — Fix para casos LL y RR</a:t>
            </a:r>
            <a:endParaRPr b="0" i="0" sz="2600" u="none" cap="none" strike="noStrike">
              <a:solidFill>
                <a:schemeClr val="dk1"/>
              </a:solidFill>
              <a:latin typeface="Calibri"/>
              <a:ea typeface="Calibri"/>
              <a:cs typeface="Calibri"/>
              <a:sym typeface="Calibri"/>
            </a:endParaRPr>
          </a:p>
        </p:txBody>
      </p:sp>
      <p:sp>
        <p:nvSpPr>
          <p:cNvPr id="513" name="Google Shape;513;p17"/>
          <p:cNvSpPr/>
          <p:nvPr/>
        </p:nvSpPr>
        <p:spPr>
          <a:xfrm>
            <a:off x="182880" y="749808"/>
            <a:ext cx="8778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1200"/>
              <a:buFont typeface="Calibri"/>
              <a:buNone/>
            </a:pPr>
            <a:r>
              <a:rPr b="0" i="1" lang="en-US" sz="1200" u="none" cap="none" strike="noStrike">
                <a:solidFill>
                  <a:srgbClr val="8892A4"/>
                </a:solidFill>
                <a:latin typeface="Calibri"/>
                <a:ea typeface="Calibri"/>
                <a:cs typeface="Calibri"/>
                <a:sym typeface="Calibri"/>
              </a:rPr>
              <a:t>Un movimiento, altura reducida en 1, BST property preservada</a:t>
            </a:r>
            <a:endParaRPr b="0" i="0" sz="1200" u="none" cap="none" strike="noStrike">
              <a:solidFill>
                <a:schemeClr val="dk1"/>
              </a:solidFill>
              <a:latin typeface="Calibri"/>
              <a:ea typeface="Calibri"/>
              <a:cs typeface="Calibri"/>
              <a:sym typeface="Calibri"/>
            </a:endParaRPr>
          </a:p>
        </p:txBody>
      </p:sp>
      <p:sp>
        <p:nvSpPr>
          <p:cNvPr id="514" name="Google Shape;514;p17"/>
          <p:cNvSpPr/>
          <p:nvPr/>
        </p:nvSpPr>
        <p:spPr>
          <a:xfrm>
            <a:off x="182880" y="1024128"/>
            <a:ext cx="1463040" cy="27432"/>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7"/>
          <p:cNvSpPr/>
          <p:nvPr/>
        </p:nvSpPr>
        <p:spPr>
          <a:xfrm>
            <a:off x="137160" y="1188720"/>
            <a:ext cx="4297680" cy="3611880"/>
          </a:xfrm>
          <a:prstGeom prst="rect">
            <a:avLst/>
          </a:prstGeom>
          <a:solidFill>
            <a:srgbClr val="141829"/>
          </a:solidFill>
          <a:ln cap="flat" cmpd="sng" w="9525">
            <a:solidFill>
              <a:srgbClr val="7C3AED"/>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7"/>
          <p:cNvSpPr/>
          <p:nvPr/>
        </p:nvSpPr>
        <p:spPr>
          <a:xfrm>
            <a:off x="274320" y="1344168"/>
            <a:ext cx="3290011" cy="256032"/>
          </a:xfrm>
          <a:prstGeom prst="roundRect">
            <a:avLst>
              <a:gd fmla="val 21429"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7"/>
          <p:cNvSpPr/>
          <p:nvPr/>
        </p:nvSpPr>
        <p:spPr>
          <a:xfrm>
            <a:off x="274320" y="1344168"/>
            <a:ext cx="3290011"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LEFT-LEFT CASE — rotateWithLeftChild</a:t>
            </a:r>
            <a:endParaRPr b="0" i="0" sz="800" u="none" cap="none" strike="noStrike">
              <a:solidFill>
                <a:schemeClr val="dk1"/>
              </a:solidFill>
              <a:latin typeface="Calibri"/>
              <a:ea typeface="Calibri"/>
              <a:cs typeface="Calibri"/>
              <a:sym typeface="Calibri"/>
            </a:endParaRPr>
          </a:p>
        </p:txBody>
      </p:sp>
      <p:sp>
        <p:nvSpPr>
          <p:cNvPr id="518" name="Google Shape;518;p17"/>
          <p:cNvSpPr/>
          <p:nvPr/>
        </p:nvSpPr>
        <p:spPr>
          <a:xfrm>
            <a:off x="274320" y="1664208"/>
            <a:ext cx="40233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000"/>
              <a:buFont typeface="Calibri"/>
              <a:buNone/>
            </a:pPr>
            <a:r>
              <a:rPr b="1" i="0" lang="en-US" sz="1000" u="none" cap="none" strike="noStrike">
                <a:solidFill>
                  <a:srgbClr val="EF4444"/>
                </a:solidFill>
                <a:latin typeface="Calibri"/>
                <a:ea typeface="Calibri"/>
                <a:cs typeface="Calibri"/>
                <a:sym typeface="Calibri"/>
              </a:rPr>
              <a:t>ANTES — k2 desbalanceado (bf=2):</a:t>
            </a:r>
            <a:endParaRPr b="0" i="0" sz="1000" u="none" cap="none" strike="noStrike">
              <a:solidFill>
                <a:schemeClr val="dk1"/>
              </a:solidFill>
              <a:latin typeface="Calibri"/>
              <a:ea typeface="Calibri"/>
              <a:cs typeface="Calibri"/>
              <a:sym typeface="Calibri"/>
            </a:endParaRPr>
          </a:p>
        </p:txBody>
      </p:sp>
      <p:sp>
        <p:nvSpPr>
          <p:cNvPr id="519" name="Google Shape;519;p17"/>
          <p:cNvSpPr/>
          <p:nvPr/>
        </p:nvSpPr>
        <p:spPr>
          <a:xfrm>
            <a:off x="2523744" y="1837944"/>
            <a:ext cx="438912" cy="438912"/>
          </a:xfrm>
          <a:prstGeom prst="ellipse">
            <a:avLst/>
          </a:prstGeom>
          <a:solidFill>
            <a:srgbClr val="1A2035"/>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7"/>
          <p:cNvSpPr/>
          <p:nvPr/>
        </p:nvSpPr>
        <p:spPr>
          <a:xfrm>
            <a:off x="2523744" y="1837944"/>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4444"/>
              </a:buClr>
              <a:buSzPts val="1200"/>
              <a:buFont typeface="Consolas"/>
              <a:buNone/>
            </a:pPr>
            <a:r>
              <a:rPr b="1" i="0" lang="en-US" sz="1200" u="none" cap="none" strike="noStrike">
                <a:solidFill>
                  <a:srgbClr val="EF4444"/>
                </a:solidFill>
                <a:latin typeface="Consolas"/>
                <a:ea typeface="Consolas"/>
                <a:cs typeface="Consolas"/>
                <a:sym typeface="Consolas"/>
              </a:rPr>
              <a:t>k2</a:t>
            </a:r>
            <a:endParaRPr b="0" i="0" sz="1200" u="none" cap="none" strike="noStrike">
              <a:solidFill>
                <a:schemeClr val="dk1"/>
              </a:solidFill>
              <a:latin typeface="Calibri"/>
              <a:ea typeface="Calibri"/>
              <a:cs typeface="Calibri"/>
              <a:sym typeface="Calibri"/>
            </a:endParaRPr>
          </a:p>
        </p:txBody>
      </p:sp>
      <p:sp>
        <p:nvSpPr>
          <p:cNvPr id="521" name="Google Shape;521;p17"/>
          <p:cNvSpPr/>
          <p:nvPr/>
        </p:nvSpPr>
        <p:spPr>
          <a:xfrm>
            <a:off x="1426464" y="2386584"/>
            <a:ext cx="438912" cy="438912"/>
          </a:xfrm>
          <a:prstGeom prst="ellipse">
            <a:avLst/>
          </a:prstGeom>
          <a:solidFill>
            <a:srgbClr val="1A2035"/>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7"/>
          <p:cNvSpPr/>
          <p:nvPr/>
        </p:nvSpPr>
        <p:spPr>
          <a:xfrm>
            <a:off x="1426464" y="2386584"/>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1200"/>
              <a:buFont typeface="Consolas"/>
              <a:buNone/>
            </a:pPr>
            <a:r>
              <a:rPr b="1" i="0" lang="en-US" sz="1200" u="none" cap="none" strike="noStrike">
                <a:solidFill>
                  <a:srgbClr val="F0F4FF"/>
                </a:solidFill>
                <a:latin typeface="Consolas"/>
                <a:ea typeface="Consolas"/>
                <a:cs typeface="Consolas"/>
                <a:sym typeface="Consolas"/>
              </a:rPr>
              <a:t>k1</a:t>
            </a:r>
            <a:endParaRPr b="0" i="0" sz="1200" u="none" cap="none" strike="noStrike">
              <a:solidFill>
                <a:schemeClr val="dk1"/>
              </a:solidFill>
              <a:latin typeface="Calibri"/>
              <a:ea typeface="Calibri"/>
              <a:cs typeface="Calibri"/>
              <a:sym typeface="Calibri"/>
            </a:endParaRPr>
          </a:p>
        </p:txBody>
      </p:sp>
      <p:sp>
        <p:nvSpPr>
          <p:cNvPr id="523" name="Google Shape;523;p17"/>
          <p:cNvSpPr/>
          <p:nvPr/>
        </p:nvSpPr>
        <p:spPr>
          <a:xfrm>
            <a:off x="640080" y="2834640"/>
            <a:ext cx="640080" cy="457200"/>
          </a:xfrm>
          <a:prstGeom prst="rect">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7"/>
          <p:cNvSpPr/>
          <p:nvPr/>
        </p:nvSpPr>
        <p:spPr>
          <a:xfrm>
            <a:off x="640080" y="2834640"/>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1000"/>
              <a:buFont typeface="Consolas"/>
              <a:buNone/>
            </a:pPr>
            <a:r>
              <a:rPr b="1" i="0" lang="en-US" sz="1000" u="none" cap="none" strike="noStrike">
                <a:solidFill>
                  <a:srgbClr val="F0F4FF"/>
                </a:solidFill>
                <a:latin typeface="Consolas"/>
                <a:ea typeface="Consolas"/>
                <a:cs typeface="Consolas"/>
                <a:sym typeface="Consolas"/>
              </a:rPr>
              <a:t>X</a:t>
            </a:r>
            <a:endParaRPr b="0" i="0" sz="1000" u="none" cap="none" strike="noStrike">
              <a:solidFill>
                <a:schemeClr val="dk1"/>
              </a:solidFill>
              <a:latin typeface="Calibri"/>
              <a:ea typeface="Calibri"/>
              <a:cs typeface="Calibri"/>
              <a:sym typeface="Calibri"/>
            </a:endParaRPr>
          </a:p>
        </p:txBody>
      </p:sp>
      <p:sp>
        <p:nvSpPr>
          <p:cNvPr id="525" name="Google Shape;525;p17"/>
          <p:cNvSpPr/>
          <p:nvPr/>
        </p:nvSpPr>
        <p:spPr>
          <a:xfrm>
            <a:off x="1417320" y="2834640"/>
            <a:ext cx="640080" cy="457200"/>
          </a:xfrm>
          <a:prstGeom prst="rect">
            <a:avLst/>
          </a:prstGeom>
          <a:solidFill>
            <a:srgbClr val="111526"/>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7"/>
          <p:cNvSpPr/>
          <p:nvPr/>
        </p:nvSpPr>
        <p:spPr>
          <a:xfrm>
            <a:off x="1417320" y="2834640"/>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92A4"/>
              </a:buClr>
              <a:buSzPts val="1000"/>
              <a:buFont typeface="Consolas"/>
              <a:buNone/>
            </a:pPr>
            <a:r>
              <a:rPr b="0" i="0" lang="en-US" sz="1000" u="none" cap="none" strike="noStrike">
                <a:solidFill>
                  <a:srgbClr val="8892A4"/>
                </a:solidFill>
                <a:latin typeface="Consolas"/>
                <a:ea typeface="Consolas"/>
                <a:cs typeface="Consolas"/>
                <a:sym typeface="Consolas"/>
              </a:rPr>
              <a:t>Y</a:t>
            </a:r>
            <a:endParaRPr b="0" i="0" sz="1000" u="none" cap="none" strike="noStrike">
              <a:solidFill>
                <a:schemeClr val="dk1"/>
              </a:solidFill>
              <a:latin typeface="Calibri"/>
              <a:ea typeface="Calibri"/>
              <a:cs typeface="Calibri"/>
              <a:sym typeface="Calibri"/>
            </a:endParaRPr>
          </a:p>
        </p:txBody>
      </p:sp>
      <p:sp>
        <p:nvSpPr>
          <p:cNvPr id="527" name="Google Shape;527;p17"/>
          <p:cNvSpPr/>
          <p:nvPr/>
        </p:nvSpPr>
        <p:spPr>
          <a:xfrm>
            <a:off x="2423160" y="2834640"/>
            <a:ext cx="640080" cy="457200"/>
          </a:xfrm>
          <a:prstGeom prst="rect">
            <a:avLst/>
          </a:prstGeom>
          <a:solidFill>
            <a:srgbClr val="111526"/>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7"/>
          <p:cNvSpPr/>
          <p:nvPr/>
        </p:nvSpPr>
        <p:spPr>
          <a:xfrm>
            <a:off x="2423160" y="2834640"/>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92A4"/>
              </a:buClr>
              <a:buSzPts val="1000"/>
              <a:buFont typeface="Consolas"/>
              <a:buNone/>
            </a:pPr>
            <a:r>
              <a:rPr b="0" i="0" lang="en-US" sz="1000" u="none" cap="none" strike="noStrike">
                <a:solidFill>
                  <a:srgbClr val="8892A4"/>
                </a:solidFill>
                <a:latin typeface="Consolas"/>
                <a:ea typeface="Consolas"/>
                <a:cs typeface="Consolas"/>
                <a:sym typeface="Consolas"/>
              </a:rPr>
              <a:t>Z</a:t>
            </a:r>
            <a:endParaRPr b="0" i="0" sz="1000" u="none" cap="none" strike="noStrike">
              <a:solidFill>
                <a:schemeClr val="dk1"/>
              </a:solidFill>
              <a:latin typeface="Calibri"/>
              <a:ea typeface="Calibri"/>
              <a:cs typeface="Calibri"/>
              <a:sym typeface="Calibri"/>
            </a:endParaRPr>
          </a:p>
        </p:txBody>
      </p:sp>
      <p:cxnSp>
        <p:nvCxnSpPr>
          <p:cNvPr id="529" name="Google Shape;529;p17"/>
          <p:cNvCxnSpPr/>
          <p:nvPr/>
        </p:nvCxnSpPr>
        <p:spPr>
          <a:xfrm flipH="1">
            <a:off x="1865376" y="2276856"/>
            <a:ext cx="877824" cy="109728"/>
          </a:xfrm>
          <a:prstGeom prst="straightConnector1">
            <a:avLst/>
          </a:prstGeom>
          <a:noFill/>
          <a:ln cap="flat" cmpd="sng" w="15225">
            <a:solidFill>
              <a:srgbClr val="EF4444"/>
            </a:solidFill>
            <a:prstDash val="solid"/>
            <a:round/>
            <a:headEnd len="sm" w="sm" type="none"/>
            <a:tailEnd len="sm" w="sm" type="none"/>
          </a:ln>
        </p:spPr>
      </p:cxnSp>
      <p:cxnSp>
        <p:nvCxnSpPr>
          <p:cNvPr id="530" name="Google Shape;530;p17"/>
          <p:cNvCxnSpPr/>
          <p:nvPr/>
        </p:nvCxnSpPr>
        <p:spPr>
          <a:xfrm>
            <a:off x="2743200" y="2276856"/>
            <a:ext cx="457200" cy="365760"/>
          </a:xfrm>
          <a:prstGeom prst="straightConnector1">
            <a:avLst/>
          </a:prstGeom>
          <a:noFill/>
          <a:ln cap="flat" cmpd="sng" w="15225">
            <a:solidFill>
              <a:srgbClr val="3D4A5C"/>
            </a:solidFill>
            <a:prstDash val="solid"/>
            <a:round/>
            <a:headEnd len="sm" w="sm" type="none"/>
            <a:tailEnd len="sm" w="sm" type="none"/>
          </a:ln>
        </p:spPr>
      </p:cxnSp>
      <p:cxnSp>
        <p:nvCxnSpPr>
          <p:cNvPr id="531" name="Google Shape;531;p17"/>
          <p:cNvCxnSpPr/>
          <p:nvPr/>
        </p:nvCxnSpPr>
        <p:spPr>
          <a:xfrm flipH="1">
            <a:off x="1280160" y="2825496"/>
            <a:ext cx="365760" cy="9144"/>
          </a:xfrm>
          <a:prstGeom prst="straightConnector1">
            <a:avLst/>
          </a:prstGeom>
          <a:noFill/>
          <a:ln cap="flat" cmpd="sng" w="15225">
            <a:solidFill>
              <a:srgbClr val="3D4A5C"/>
            </a:solidFill>
            <a:prstDash val="solid"/>
            <a:round/>
            <a:headEnd len="sm" w="sm" type="none"/>
            <a:tailEnd len="sm" w="sm" type="none"/>
          </a:ln>
        </p:spPr>
      </p:cxnSp>
      <p:cxnSp>
        <p:nvCxnSpPr>
          <p:cNvPr id="532" name="Google Shape;532;p17"/>
          <p:cNvCxnSpPr/>
          <p:nvPr/>
        </p:nvCxnSpPr>
        <p:spPr>
          <a:xfrm>
            <a:off x="1645920" y="2825496"/>
            <a:ext cx="365760" cy="9144"/>
          </a:xfrm>
          <a:prstGeom prst="straightConnector1">
            <a:avLst/>
          </a:prstGeom>
          <a:noFill/>
          <a:ln cap="flat" cmpd="sng" w="15225">
            <a:solidFill>
              <a:srgbClr val="3D4A5C"/>
            </a:solidFill>
            <a:prstDash val="solid"/>
            <a:round/>
            <a:headEnd len="sm" w="sm" type="none"/>
            <a:tailEnd len="sm" w="sm" type="none"/>
          </a:ln>
        </p:spPr>
      </p:cxnSp>
      <p:sp>
        <p:nvSpPr>
          <p:cNvPr id="533" name="Google Shape;533;p17"/>
          <p:cNvSpPr/>
          <p:nvPr/>
        </p:nvSpPr>
        <p:spPr>
          <a:xfrm>
            <a:off x="274320" y="3383280"/>
            <a:ext cx="40233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B981"/>
              </a:buClr>
              <a:buSzPts val="1000"/>
              <a:buFont typeface="Consolas"/>
              <a:buNone/>
            </a:pPr>
            <a:r>
              <a:rPr b="1" i="0" lang="en-US" sz="1000" u="none" cap="none" strike="noStrike">
                <a:solidFill>
                  <a:srgbClr val="10B981"/>
                </a:solidFill>
                <a:latin typeface="Consolas"/>
                <a:ea typeface="Consolas"/>
                <a:cs typeface="Consolas"/>
                <a:sym typeface="Consolas"/>
              </a:rPr>
              <a:t>↓  rotateWithLeftChild(k2)</a:t>
            </a:r>
            <a:endParaRPr b="0" i="0" sz="1000" u="none" cap="none" strike="noStrike">
              <a:solidFill>
                <a:schemeClr val="dk1"/>
              </a:solidFill>
              <a:latin typeface="Calibri"/>
              <a:ea typeface="Calibri"/>
              <a:cs typeface="Calibri"/>
              <a:sym typeface="Calibri"/>
            </a:endParaRPr>
          </a:p>
        </p:txBody>
      </p:sp>
      <p:sp>
        <p:nvSpPr>
          <p:cNvPr id="534" name="Google Shape;534;p17"/>
          <p:cNvSpPr/>
          <p:nvPr/>
        </p:nvSpPr>
        <p:spPr>
          <a:xfrm>
            <a:off x="274320" y="3703320"/>
            <a:ext cx="40233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000"/>
              <a:buFont typeface="Calibri"/>
              <a:buNone/>
            </a:pPr>
            <a:r>
              <a:rPr b="1" i="0" lang="en-US" sz="1000" u="none" cap="none" strike="noStrike">
                <a:solidFill>
                  <a:srgbClr val="10B981"/>
                </a:solidFill>
                <a:latin typeface="Calibri"/>
                <a:ea typeface="Calibri"/>
                <a:cs typeface="Calibri"/>
                <a:sym typeface="Calibri"/>
              </a:rPr>
              <a:t>DESPUÉS — k1 nueva raíz (bf=0):</a:t>
            </a:r>
            <a:endParaRPr b="0" i="0" sz="1000" u="none" cap="none" strike="noStrike">
              <a:solidFill>
                <a:schemeClr val="dk1"/>
              </a:solidFill>
              <a:latin typeface="Calibri"/>
              <a:ea typeface="Calibri"/>
              <a:cs typeface="Calibri"/>
              <a:sym typeface="Calibri"/>
            </a:endParaRPr>
          </a:p>
        </p:txBody>
      </p:sp>
      <p:sp>
        <p:nvSpPr>
          <p:cNvPr id="535" name="Google Shape;535;p17"/>
          <p:cNvSpPr/>
          <p:nvPr/>
        </p:nvSpPr>
        <p:spPr>
          <a:xfrm>
            <a:off x="1426464" y="3849624"/>
            <a:ext cx="438912" cy="438912"/>
          </a:xfrm>
          <a:prstGeom prst="ellipse">
            <a:avLst/>
          </a:prstGeom>
          <a:solidFill>
            <a:srgbClr val="1A2035"/>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7"/>
          <p:cNvSpPr/>
          <p:nvPr/>
        </p:nvSpPr>
        <p:spPr>
          <a:xfrm>
            <a:off x="1426464" y="3849624"/>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B981"/>
              </a:buClr>
              <a:buSzPts val="1200"/>
              <a:buFont typeface="Consolas"/>
              <a:buNone/>
            </a:pPr>
            <a:r>
              <a:rPr b="1" i="0" lang="en-US" sz="1200" u="none" cap="none" strike="noStrike">
                <a:solidFill>
                  <a:srgbClr val="10B981"/>
                </a:solidFill>
                <a:latin typeface="Consolas"/>
                <a:ea typeface="Consolas"/>
                <a:cs typeface="Consolas"/>
                <a:sym typeface="Consolas"/>
              </a:rPr>
              <a:t>k1</a:t>
            </a:r>
            <a:endParaRPr b="0" i="0" sz="1200" u="none" cap="none" strike="noStrike">
              <a:solidFill>
                <a:schemeClr val="dk1"/>
              </a:solidFill>
              <a:latin typeface="Calibri"/>
              <a:ea typeface="Calibri"/>
              <a:cs typeface="Calibri"/>
              <a:sym typeface="Calibri"/>
            </a:endParaRPr>
          </a:p>
        </p:txBody>
      </p:sp>
      <p:sp>
        <p:nvSpPr>
          <p:cNvPr id="537" name="Google Shape;537;p17"/>
          <p:cNvSpPr/>
          <p:nvPr/>
        </p:nvSpPr>
        <p:spPr>
          <a:xfrm>
            <a:off x="731520" y="4407408"/>
            <a:ext cx="365760" cy="365760"/>
          </a:xfrm>
          <a:prstGeom prst="ellipse">
            <a:avLst/>
          </a:prstGeom>
          <a:solidFill>
            <a:srgbClr val="7C3AED"/>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7"/>
          <p:cNvSpPr/>
          <p:nvPr/>
        </p:nvSpPr>
        <p:spPr>
          <a:xfrm>
            <a:off x="731520" y="4407408"/>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1200"/>
              <a:buFont typeface="Consolas"/>
              <a:buNone/>
            </a:pPr>
            <a:r>
              <a:rPr b="1" i="0" lang="en-US" sz="1200" u="none" cap="none" strike="noStrike">
                <a:solidFill>
                  <a:srgbClr val="F0F4FF"/>
                </a:solidFill>
                <a:latin typeface="Consolas"/>
                <a:ea typeface="Consolas"/>
                <a:cs typeface="Consolas"/>
                <a:sym typeface="Consolas"/>
              </a:rPr>
              <a:t>X</a:t>
            </a:r>
            <a:endParaRPr b="0" i="0" sz="1200" u="none" cap="none" strike="noStrike">
              <a:solidFill>
                <a:schemeClr val="dk1"/>
              </a:solidFill>
              <a:latin typeface="Calibri"/>
              <a:ea typeface="Calibri"/>
              <a:cs typeface="Calibri"/>
              <a:sym typeface="Calibri"/>
            </a:endParaRPr>
          </a:p>
        </p:txBody>
      </p:sp>
      <p:sp>
        <p:nvSpPr>
          <p:cNvPr id="539" name="Google Shape;539;p17"/>
          <p:cNvSpPr/>
          <p:nvPr/>
        </p:nvSpPr>
        <p:spPr>
          <a:xfrm>
            <a:off x="2157984" y="4370832"/>
            <a:ext cx="438912" cy="438912"/>
          </a:xfrm>
          <a:prstGeom prst="ellipse">
            <a:avLst/>
          </a:prstGeom>
          <a:solidFill>
            <a:srgbClr val="1A2035"/>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7"/>
          <p:cNvSpPr/>
          <p:nvPr/>
        </p:nvSpPr>
        <p:spPr>
          <a:xfrm>
            <a:off x="2157984" y="4370832"/>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1200"/>
              <a:buFont typeface="Consolas"/>
              <a:buNone/>
            </a:pPr>
            <a:r>
              <a:rPr b="1" i="0" lang="en-US" sz="1200" u="none" cap="none" strike="noStrike">
                <a:solidFill>
                  <a:srgbClr val="F0F4FF"/>
                </a:solidFill>
                <a:latin typeface="Consolas"/>
                <a:ea typeface="Consolas"/>
                <a:cs typeface="Consolas"/>
                <a:sym typeface="Consolas"/>
              </a:rPr>
              <a:t>k2</a:t>
            </a:r>
            <a:endParaRPr b="0" i="0" sz="1200" u="none" cap="none" strike="noStrike">
              <a:solidFill>
                <a:schemeClr val="dk1"/>
              </a:solidFill>
              <a:latin typeface="Calibri"/>
              <a:ea typeface="Calibri"/>
              <a:cs typeface="Calibri"/>
              <a:sym typeface="Calibri"/>
            </a:endParaRPr>
          </a:p>
        </p:txBody>
      </p:sp>
      <p:cxnSp>
        <p:nvCxnSpPr>
          <p:cNvPr id="541" name="Google Shape;541;p17"/>
          <p:cNvCxnSpPr/>
          <p:nvPr/>
        </p:nvCxnSpPr>
        <p:spPr>
          <a:xfrm flipH="1">
            <a:off x="1097280" y="4288536"/>
            <a:ext cx="548640" cy="118872"/>
          </a:xfrm>
          <a:prstGeom prst="straightConnector1">
            <a:avLst/>
          </a:prstGeom>
          <a:noFill/>
          <a:ln cap="flat" cmpd="sng" w="15225">
            <a:solidFill>
              <a:srgbClr val="10B981"/>
            </a:solidFill>
            <a:prstDash val="solid"/>
            <a:round/>
            <a:headEnd len="sm" w="sm" type="none"/>
            <a:tailEnd len="sm" w="sm" type="none"/>
          </a:ln>
        </p:spPr>
      </p:cxnSp>
      <p:cxnSp>
        <p:nvCxnSpPr>
          <p:cNvPr id="542" name="Google Shape;542;p17"/>
          <p:cNvCxnSpPr/>
          <p:nvPr/>
        </p:nvCxnSpPr>
        <p:spPr>
          <a:xfrm>
            <a:off x="1645920" y="4288536"/>
            <a:ext cx="512064" cy="118872"/>
          </a:xfrm>
          <a:prstGeom prst="straightConnector1">
            <a:avLst/>
          </a:prstGeom>
          <a:noFill/>
          <a:ln cap="flat" cmpd="sng" w="15225">
            <a:solidFill>
              <a:srgbClr val="10B981"/>
            </a:solidFill>
            <a:prstDash val="solid"/>
            <a:round/>
            <a:headEnd len="sm" w="sm" type="none"/>
            <a:tailEnd len="sm" w="sm" type="none"/>
          </a:ln>
        </p:spPr>
      </p:cxnSp>
      <p:sp>
        <p:nvSpPr>
          <p:cNvPr id="543" name="Google Shape;543;p17"/>
          <p:cNvSpPr/>
          <p:nvPr/>
        </p:nvSpPr>
        <p:spPr>
          <a:xfrm>
            <a:off x="4572000" y="1188720"/>
            <a:ext cx="4389120" cy="3611880"/>
          </a:xfrm>
          <a:prstGeom prst="rect">
            <a:avLst/>
          </a:prstGeom>
          <a:solidFill>
            <a:srgbClr val="141829"/>
          </a:solidFill>
          <a:ln cap="flat" cmpd="sng" w="9525">
            <a:solidFill>
              <a:srgbClr val="7C3AED"/>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7"/>
          <p:cNvSpPr/>
          <p:nvPr/>
        </p:nvSpPr>
        <p:spPr>
          <a:xfrm>
            <a:off x="4709160" y="1344168"/>
            <a:ext cx="2609698" cy="256032"/>
          </a:xfrm>
          <a:prstGeom prst="roundRect">
            <a:avLst>
              <a:gd fmla="val 21429"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7"/>
          <p:cNvSpPr/>
          <p:nvPr/>
        </p:nvSpPr>
        <p:spPr>
          <a:xfrm>
            <a:off x="4709160" y="1344168"/>
            <a:ext cx="2609698"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CÓDIGO — rotateWithLeftChild</a:t>
            </a:r>
            <a:endParaRPr b="0" i="0" sz="800" u="none" cap="none" strike="noStrike">
              <a:solidFill>
                <a:schemeClr val="dk1"/>
              </a:solidFill>
              <a:latin typeface="Calibri"/>
              <a:ea typeface="Calibri"/>
              <a:cs typeface="Calibri"/>
              <a:sym typeface="Calibri"/>
            </a:endParaRPr>
          </a:p>
        </p:txBody>
      </p:sp>
      <p:sp>
        <p:nvSpPr>
          <p:cNvPr id="546" name="Google Shape;546;p17"/>
          <p:cNvSpPr/>
          <p:nvPr/>
        </p:nvSpPr>
        <p:spPr>
          <a:xfrm>
            <a:off x="137160" y="4846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AED · T2 · AVL · Single Rotation</a:t>
            </a:r>
            <a:endParaRPr b="0" i="0" sz="900" u="none" cap="none" strike="noStrike">
              <a:solidFill>
                <a:schemeClr val="dk1"/>
              </a:solidFill>
              <a:latin typeface="Calibri"/>
              <a:ea typeface="Calibri"/>
              <a:cs typeface="Calibri"/>
              <a:sym typeface="Calibri"/>
            </a:endParaRPr>
          </a:p>
        </p:txBody>
      </p:sp>
      <p:sp>
        <p:nvSpPr>
          <p:cNvPr id="547" name="Google Shape;547;p17"/>
          <p:cNvSpPr/>
          <p:nvPr/>
        </p:nvSpPr>
        <p:spPr>
          <a:xfrm>
            <a:off x="8503920" y="4846320"/>
            <a:ext cx="54864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17</a:t>
            </a:r>
            <a:endParaRPr b="0" i="0" sz="900" u="none" cap="none" strike="noStrike">
              <a:solidFill>
                <a:schemeClr val="dk1"/>
              </a:solidFill>
              <a:latin typeface="Calibri"/>
              <a:ea typeface="Calibri"/>
              <a:cs typeface="Calibri"/>
              <a:sym typeface="Calibri"/>
            </a:endParaRPr>
          </a:p>
        </p:txBody>
      </p:sp>
      <p:sp>
        <p:nvSpPr>
          <p:cNvPr id="548" name="Google Shape;548;p17"/>
          <p:cNvSpPr txBox="1"/>
          <p:nvPr/>
        </p:nvSpPr>
        <p:spPr>
          <a:xfrm>
            <a:off x="4572063" y="1816450"/>
            <a:ext cx="4389000" cy="24936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US" sz="750">
                <a:solidFill>
                  <a:srgbClr val="FF7B72"/>
                </a:solidFill>
                <a:highlight>
                  <a:srgbClr val="121314"/>
                </a:highlight>
                <a:latin typeface="Courier New"/>
                <a:ea typeface="Courier New"/>
                <a:cs typeface="Courier New"/>
                <a:sym typeface="Courier New"/>
              </a:rPr>
              <a:t>template</a:t>
            </a:r>
            <a:r>
              <a:rPr lang="en-US" sz="750">
                <a:solidFill>
                  <a:srgbClr val="BBBEBF"/>
                </a:solidFill>
                <a:highlight>
                  <a:srgbClr val="121314"/>
                </a:highlight>
                <a:latin typeface="Courier New"/>
                <a:ea typeface="Courier New"/>
                <a:cs typeface="Courier New"/>
                <a:sym typeface="Courier New"/>
              </a:rPr>
              <a:t>&lt;</a:t>
            </a:r>
            <a:r>
              <a:rPr lang="en-US" sz="750">
                <a:solidFill>
                  <a:srgbClr val="FF7B72"/>
                </a:solidFill>
                <a:highlight>
                  <a:srgbClr val="121314"/>
                </a:highlight>
                <a:latin typeface="Courier New"/>
                <a:ea typeface="Courier New"/>
                <a:cs typeface="Courier New"/>
                <a:sym typeface="Courier New"/>
              </a:rPr>
              <a:t>typename</a:t>
            </a:r>
            <a:r>
              <a:rPr lang="en-US" sz="750">
                <a:solidFill>
                  <a:srgbClr val="BBBEBF"/>
                </a:solidFill>
                <a:highlight>
                  <a:srgbClr val="121314"/>
                </a:highlight>
                <a:latin typeface="Courier New"/>
                <a:ea typeface="Courier New"/>
                <a:cs typeface="Courier New"/>
                <a:sym typeface="Courier New"/>
              </a:rPr>
              <a:t> </a:t>
            </a:r>
            <a:r>
              <a:rPr lang="en-US" sz="750">
                <a:solidFill>
                  <a:srgbClr val="4EC9B0"/>
                </a:solidFill>
                <a:highlight>
                  <a:srgbClr val="121314"/>
                </a:highlight>
                <a:latin typeface="Courier New"/>
                <a:ea typeface="Courier New"/>
                <a:cs typeface="Courier New"/>
                <a:sym typeface="Courier New"/>
              </a:rPr>
              <a:t>Comparable</a:t>
            </a:r>
            <a:r>
              <a:rPr lang="en-US" sz="750">
                <a:solidFill>
                  <a:srgbClr val="BBBEBF"/>
                </a:solidFill>
                <a:highlight>
                  <a:srgbClr val="121314"/>
                </a:highlight>
                <a:latin typeface="Courier New"/>
                <a:ea typeface="Courier New"/>
                <a:cs typeface="Courier New"/>
                <a:sym typeface="Courier New"/>
              </a:rPr>
              <a:t>&gt;</a:t>
            </a:r>
            <a:endParaRPr sz="7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750">
                <a:solidFill>
                  <a:srgbClr val="4EC9B0"/>
                </a:solidFill>
                <a:highlight>
                  <a:srgbClr val="121314"/>
                </a:highlight>
                <a:latin typeface="Courier New"/>
                <a:ea typeface="Courier New"/>
                <a:cs typeface="Courier New"/>
                <a:sym typeface="Courier New"/>
              </a:rPr>
              <a:t>AvlNode</a:t>
            </a:r>
            <a:r>
              <a:rPr lang="en-US" sz="750">
                <a:solidFill>
                  <a:srgbClr val="BBBEBF"/>
                </a:solidFill>
                <a:highlight>
                  <a:srgbClr val="121314"/>
                </a:highlight>
                <a:latin typeface="Courier New"/>
                <a:ea typeface="Courier New"/>
                <a:cs typeface="Courier New"/>
                <a:sym typeface="Courier New"/>
              </a:rPr>
              <a:t>&lt;</a:t>
            </a:r>
            <a:r>
              <a:rPr lang="en-US" sz="750">
                <a:solidFill>
                  <a:srgbClr val="4EC9B0"/>
                </a:solidFill>
                <a:highlight>
                  <a:srgbClr val="121314"/>
                </a:highlight>
                <a:latin typeface="Courier New"/>
                <a:ea typeface="Courier New"/>
                <a:cs typeface="Courier New"/>
                <a:sym typeface="Courier New"/>
              </a:rPr>
              <a:t>Comparable</a:t>
            </a:r>
            <a:r>
              <a:rPr lang="en-US" sz="750">
                <a:solidFill>
                  <a:srgbClr val="BBBEBF"/>
                </a:solidFill>
                <a:highlight>
                  <a:srgbClr val="121314"/>
                </a:highlight>
                <a:latin typeface="Courier New"/>
                <a:ea typeface="Courier New"/>
                <a:cs typeface="Courier New"/>
                <a:sym typeface="Courier New"/>
              </a:rPr>
              <a:t>&gt;</a:t>
            </a:r>
            <a:r>
              <a:rPr lang="en-US" sz="750">
                <a:solidFill>
                  <a:srgbClr val="569CD6"/>
                </a:solidFill>
                <a:highlight>
                  <a:srgbClr val="121314"/>
                </a:highlight>
                <a:latin typeface="Courier New"/>
                <a:ea typeface="Courier New"/>
                <a:cs typeface="Courier New"/>
                <a:sym typeface="Courier New"/>
              </a:rPr>
              <a:t>*</a:t>
            </a:r>
            <a:r>
              <a:rPr lang="en-US" sz="750">
                <a:solidFill>
                  <a:srgbClr val="BBBEBF"/>
                </a:solidFill>
                <a:highlight>
                  <a:srgbClr val="121314"/>
                </a:highlight>
                <a:latin typeface="Courier New"/>
                <a:ea typeface="Courier New"/>
                <a:cs typeface="Courier New"/>
                <a:sym typeface="Courier New"/>
              </a:rPr>
              <a:t> </a:t>
            </a:r>
            <a:r>
              <a:rPr lang="en-US" sz="750">
                <a:solidFill>
                  <a:srgbClr val="D2A8FF"/>
                </a:solidFill>
                <a:highlight>
                  <a:srgbClr val="121314"/>
                </a:highlight>
                <a:latin typeface="Courier New"/>
                <a:ea typeface="Courier New"/>
                <a:cs typeface="Courier New"/>
                <a:sym typeface="Courier New"/>
              </a:rPr>
              <a:t>rotateWithLeftChild</a:t>
            </a:r>
            <a:r>
              <a:rPr lang="en-US" sz="750">
                <a:solidFill>
                  <a:srgbClr val="BBBEBF"/>
                </a:solidFill>
                <a:highlight>
                  <a:srgbClr val="121314"/>
                </a:highlight>
                <a:latin typeface="Courier New"/>
                <a:ea typeface="Courier New"/>
                <a:cs typeface="Courier New"/>
                <a:sym typeface="Courier New"/>
              </a:rPr>
              <a:t>(</a:t>
            </a:r>
            <a:r>
              <a:rPr lang="en-US" sz="750">
                <a:solidFill>
                  <a:srgbClr val="4EC9B0"/>
                </a:solidFill>
                <a:highlight>
                  <a:srgbClr val="121314"/>
                </a:highlight>
                <a:latin typeface="Courier New"/>
                <a:ea typeface="Courier New"/>
                <a:cs typeface="Courier New"/>
                <a:sym typeface="Courier New"/>
              </a:rPr>
              <a:t>AvlNode</a:t>
            </a:r>
            <a:r>
              <a:rPr lang="en-US" sz="750">
                <a:solidFill>
                  <a:srgbClr val="BBBEBF"/>
                </a:solidFill>
                <a:highlight>
                  <a:srgbClr val="121314"/>
                </a:highlight>
                <a:latin typeface="Courier New"/>
                <a:ea typeface="Courier New"/>
                <a:cs typeface="Courier New"/>
                <a:sym typeface="Courier New"/>
              </a:rPr>
              <a:t>&lt;</a:t>
            </a:r>
            <a:r>
              <a:rPr lang="en-US" sz="750">
                <a:solidFill>
                  <a:srgbClr val="4EC9B0"/>
                </a:solidFill>
                <a:highlight>
                  <a:srgbClr val="121314"/>
                </a:highlight>
                <a:latin typeface="Courier New"/>
                <a:ea typeface="Courier New"/>
                <a:cs typeface="Courier New"/>
                <a:sym typeface="Courier New"/>
              </a:rPr>
              <a:t>Comparable</a:t>
            </a:r>
            <a:r>
              <a:rPr lang="en-US" sz="750">
                <a:solidFill>
                  <a:srgbClr val="BBBEBF"/>
                </a:solidFill>
                <a:highlight>
                  <a:srgbClr val="121314"/>
                </a:highlight>
                <a:latin typeface="Courier New"/>
                <a:ea typeface="Courier New"/>
                <a:cs typeface="Courier New"/>
                <a:sym typeface="Courier New"/>
              </a:rPr>
              <a:t>&gt;</a:t>
            </a:r>
            <a:r>
              <a:rPr lang="en-US" sz="750">
                <a:solidFill>
                  <a:srgbClr val="569CD6"/>
                </a:solidFill>
                <a:highlight>
                  <a:srgbClr val="121314"/>
                </a:highlight>
                <a:latin typeface="Courier New"/>
                <a:ea typeface="Courier New"/>
                <a:cs typeface="Courier New"/>
                <a:sym typeface="Courier New"/>
              </a:rPr>
              <a:t>*</a:t>
            </a:r>
            <a:r>
              <a:rPr lang="en-US" sz="750">
                <a:solidFill>
                  <a:srgbClr val="BBBEBF"/>
                </a:solidFill>
                <a:highlight>
                  <a:srgbClr val="121314"/>
                </a:highlight>
                <a:latin typeface="Courier New"/>
                <a:ea typeface="Courier New"/>
                <a:cs typeface="Courier New"/>
                <a:sym typeface="Courier New"/>
              </a:rPr>
              <a:t> </a:t>
            </a:r>
            <a:r>
              <a:rPr lang="en-US" sz="750">
                <a:solidFill>
                  <a:srgbClr val="FFA657"/>
                </a:solidFill>
                <a:highlight>
                  <a:srgbClr val="121314"/>
                </a:highlight>
                <a:latin typeface="Courier New"/>
                <a:ea typeface="Courier New"/>
                <a:cs typeface="Courier New"/>
                <a:sym typeface="Courier New"/>
              </a:rPr>
              <a:t>root</a:t>
            </a:r>
            <a:r>
              <a:rPr lang="en-US" sz="750">
                <a:solidFill>
                  <a:srgbClr val="BBBEBF"/>
                </a:solidFill>
                <a:highlight>
                  <a:srgbClr val="121314"/>
                </a:highlight>
                <a:latin typeface="Courier New"/>
                <a:ea typeface="Courier New"/>
                <a:cs typeface="Courier New"/>
                <a:sym typeface="Courier New"/>
              </a:rPr>
              <a:t>)</a:t>
            </a:r>
            <a:endParaRPr sz="7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750">
                <a:solidFill>
                  <a:srgbClr val="BBBEBF"/>
                </a:solidFill>
                <a:highlight>
                  <a:srgbClr val="121314"/>
                </a:highlight>
                <a:latin typeface="Courier New"/>
                <a:ea typeface="Courier New"/>
                <a:cs typeface="Courier New"/>
                <a:sym typeface="Courier New"/>
              </a:rPr>
              <a:t>{</a:t>
            </a:r>
            <a:endParaRPr sz="7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750">
                <a:solidFill>
                  <a:srgbClr val="BBBEBF"/>
                </a:solidFill>
                <a:highlight>
                  <a:srgbClr val="121314"/>
                </a:highlight>
                <a:latin typeface="Courier New"/>
                <a:ea typeface="Courier New"/>
                <a:cs typeface="Courier New"/>
                <a:sym typeface="Courier New"/>
              </a:rPr>
              <a:t>   AvlNode</a:t>
            </a:r>
            <a:r>
              <a:rPr lang="en-US" sz="750">
                <a:solidFill>
                  <a:srgbClr val="D4D4D4"/>
                </a:solidFill>
                <a:highlight>
                  <a:srgbClr val="121314"/>
                </a:highlight>
                <a:latin typeface="Courier New"/>
                <a:ea typeface="Courier New"/>
                <a:cs typeface="Courier New"/>
                <a:sym typeface="Courier New"/>
              </a:rPr>
              <a:t>&lt;</a:t>
            </a:r>
            <a:r>
              <a:rPr lang="en-US" sz="750">
                <a:solidFill>
                  <a:srgbClr val="BBBEBF"/>
                </a:solidFill>
                <a:highlight>
                  <a:srgbClr val="121314"/>
                </a:highlight>
                <a:latin typeface="Courier New"/>
                <a:ea typeface="Courier New"/>
                <a:cs typeface="Courier New"/>
                <a:sym typeface="Courier New"/>
              </a:rPr>
              <a:t>Comparable</a:t>
            </a:r>
            <a:r>
              <a:rPr lang="en-US" sz="750">
                <a:solidFill>
                  <a:srgbClr val="D4D4D4"/>
                </a:solidFill>
                <a:highlight>
                  <a:srgbClr val="121314"/>
                </a:highlight>
                <a:latin typeface="Courier New"/>
                <a:ea typeface="Courier New"/>
                <a:cs typeface="Courier New"/>
                <a:sym typeface="Courier New"/>
              </a:rPr>
              <a:t>&gt;*</a:t>
            </a:r>
            <a:r>
              <a:rPr lang="en-US" sz="750">
                <a:solidFill>
                  <a:srgbClr val="BBBEBF"/>
                </a:solidFill>
                <a:highlight>
                  <a:srgbClr val="121314"/>
                </a:highlight>
                <a:latin typeface="Courier New"/>
                <a:ea typeface="Courier New"/>
                <a:cs typeface="Courier New"/>
                <a:sym typeface="Courier New"/>
              </a:rPr>
              <a:t> </a:t>
            </a:r>
            <a:r>
              <a:rPr lang="en-US" sz="750">
                <a:solidFill>
                  <a:srgbClr val="C9D1D9"/>
                </a:solidFill>
                <a:highlight>
                  <a:srgbClr val="121314"/>
                </a:highlight>
                <a:latin typeface="Courier New"/>
                <a:ea typeface="Courier New"/>
                <a:cs typeface="Courier New"/>
                <a:sym typeface="Courier New"/>
              </a:rPr>
              <a:t>newRoot</a:t>
            </a:r>
            <a:r>
              <a:rPr lang="en-US" sz="750">
                <a:solidFill>
                  <a:srgbClr val="BBBEBF"/>
                </a:solidFill>
                <a:highlight>
                  <a:srgbClr val="121314"/>
                </a:highlight>
                <a:latin typeface="Courier New"/>
                <a:ea typeface="Courier New"/>
                <a:cs typeface="Courier New"/>
                <a:sym typeface="Courier New"/>
              </a:rPr>
              <a:t> </a:t>
            </a:r>
            <a:r>
              <a:rPr lang="en-US" sz="750">
                <a:solidFill>
                  <a:srgbClr val="D4D4D4"/>
                </a:solidFill>
                <a:highlight>
                  <a:srgbClr val="121314"/>
                </a:highlight>
                <a:latin typeface="Courier New"/>
                <a:ea typeface="Courier New"/>
                <a:cs typeface="Courier New"/>
                <a:sym typeface="Courier New"/>
              </a:rPr>
              <a:t>=</a:t>
            </a:r>
            <a:r>
              <a:rPr lang="en-US" sz="750">
                <a:solidFill>
                  <a:srgbClr val="BBBEBF"/>
                </a:solidFill>
                <a:highlight>
                  <a:srgbClr val="121314"/>
                </a:highlight>
                <a:latin typeface="Courier New"/>
                <a:ea typeface="Courier New"/>
                <a:cs typeface="Courier New"/>
                <a:sym typeface="Courier New"/>
              </a:rPr>
              <a:t> </a:t>
            </a:r>
            <a:r>
              <a:rPr lang="en-US" sz="750">
                <a:solidFill>
                  <a:srgbClr val="C9D1D9"/>
                </a:solidFill>
                <a:highlight>
                  <a:srgbClr val="121314"/>
                </a:highlight>
                <a:latin typeface="Courier New"/>
                <a:ea typeface="Courier New"/>
                <a:cs typeface="Courier New"/>
                <a:sym typeface="Courier New"/>
              </a:rPr>
              <a:t>root</a:t>
            </a:r>
            <a:r>
              <a:rPr lang="en-US" sz="750">
                <a:solidFill>
                  <a:srgbClr val="BBBEBF"/>
                </a:solidFill>
                <a:highlight>
                  <a:srgbClr val="121314"/>
                </a:highlight>
                <a:latin typeface="Courier New"/>
                <a:ea typeface="Courier New"/>
                <a:cs typeface="Courier New"/>
                <a:sym typeface="Courier New"/>
              </a:rPr>
              <a:t>-&gt;</a:t>
            </a:r>
            <a:r>
              <a:rPr lang="en-US" sz="750">
                <a:solidFill>
                  <a:srgbClr val="C9D1D9"/>
                </a:solidFill>
                <a:highlight>
                  <a:srgbClr val="121314"/>
                </a:highlight>
                <a:latin typeface="Courier New"/>
                <a:ea typeface="Courier New"/>
                <a:cs typeface="Courier New"/>
                <a:sym typeface="Courier New"/>
              </a:rPr>
              <a:t>left</a:t>
            </a:r>
            <a:r>
              <a:rPr lang="en-US" sz="750">
                <a:solidFill>
                  <a:srgbClr val="BBBEBF"/>
                </a:solidFill>
                <a:highlight>
                  <a:srgbClr val="121314"/>
                </a:highlight>
                <a:latin typeface="Courier New"/>
                <a:ea typeface="Courier New"/>
                <a:cs typeface="Courier New"/>
                <a:sym typeface="Courier New"/>
              </a:rPr>
              <a:t>;</a:t>
            </a:r>
            <a:endParaRPr sz="7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7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750">
                <a:solidFill>
                  <a:srgbClr val="BBBEBF"/>
                </a:solidFill>
                <a:highlight>
                  <a:srgbClr val="121314"/>
                </a:highlight>
                <a:latin typeface="Courier New"/>
                <a:ea typeface="Courier New"/>
                <a:cs typeface="Courier New"/>
                <a:sym typeface="Courier New"/>
              </a:rPr>
              <a:t>   </a:t>
            </a:r>
            <a:r>
              <a:rPr lang="en-US" sz="750">
                <a:solidFill>
                  <a:srgbClr val="FFA657"/>
                </a:solidFill>
                <a:highlight>
                  <a:srgbClr val="121314"/>
                </a:highlight>
                <a:latin typeface="Courier New"/>
                <a:ea typeface="Courier New"/>
                <a:cs typeface="Courier New"/>
                <a:sym typeface="Courier New"/>
              </a:rPr>
              <a:t>root</a:t>
            </a:r>
            <a:r>
              <a:rPr lang="en-US" sz="750">
                <a:solidFill>
                  <a:srgbClr val="BBBEBF"/>
                </a:solidFill>
                <a:highlight>
                  <a:srgbClr val="121314"/>
                </a:highlight>
                <a:latin typeface="Courier New"/>
                <a:ea typeface="Courier New"/>
                <a:cs typeface="Courier New"/>
                <a:sym typeface="Courier New"/>
              </a:rPr>
              <a:t>-&gt;</a:t>
            </a:r>
            <a:r>
              <a:rPr lang="en-US" sz="750">
                <a:solidFill>
                  <a:srgbClr val="C9D1D9"/>
                </a:solidFill>
                <a:highlight>
                  <a:srgbClr val="121314"/>
                </a:highlight>
                <a:latin typeface="Courier New"/>
                <a:ea typeface="Courier New"/>
                <a:cs typeface="Courier New"/>
                <a:sym typeface="Courier New"/>
              </a:rPr>
              <a:t>left</a:t>
            </a:r>
            <a:r>
              <a:rPr lang="en-US" sz="750">
                <a:solidFill>
                  <a:srgbClr val="BBBEBF"/>
                </a:solidFill>
                <a:highlight>
                  <a:srgbClr val="121314"/>
                </a:highlight>
                <a:latin typeface="Courier New"/>
                <a:ea typeface="Courier New"/>
                <a:cs typeface="Courier New"/>
                <a:sym typeface="Courier New"/>
              </a:rPr>
              <a:t> </a:t>
            </a:r>
            <a:r>
              <a:rPr lang="en-US" sz="750">
                <a:solidFill>
                  <a:srgbClr val="D4D4D4"/>
                </a:solidFill>
                <a:highlight>
                  <a:srgbClr val="121314"/>
                </a:highlight>
                <a:latin typeface="Courier New"/>
                <a:ea typeface="Courier New"/>
                <a:cs typeface="Courier New"/>
                <a:sym typeface="Courier New"/>
              </a:rPr>
              <a:t>=</a:t>
            </a:r>
            <a:r>
              <a:rPr lang="en-US" sz="750">
                <a:solidFill>
                  <a:srgbClr val="BBBEBF"/>
                </a:solidFill>
                <a:highlight>
                  <a:srgbClr val="121314"/>
                </a:highlight>
                <a:latin typeface="Courier New"/>
                <a:ea typeface="Courier New"/>
                <a:cs typeface="Courier New"/>
                <a:sym typeface="Courier New"/>
              </a:rPr>
              <a:t> </a:t>
            </a:r>
            <a:r>
              <a:rPr lang="en-US" sz="750">
                <a:solidFill>
                  <a:srgbClr val="C9D1D9"/>
                </a:solidFill>
                <a:highlight>
                  <a:srgbClr val="121314"/>
                </a:highlight>
                <a:latin typeface="Courier New"/>
                <a:ea typeface="Courier New"/>
                <a:cs typeface="Courier New"/>
                <a:sym typeface="Courier New"/>
              </a:rPr>
              <a:t>newRoot</a:t>
            </a:r>
            <a:r>
              <a:rPr lang="en-US" sz="750">
                <a:solidFill>
                  <a:srgbClr val="BBBEBF"/>
                </a:solidFill>
                <a:highlight>
                  <a:srgbClr val="121314"/>
                </a:highlight>
                <a:latin typeface="Courier New"/>
                <a:ea typeface="Courier New"/>
                <a:cs typeface="Courier New"/>
                <a:sym typeface="Courier New"/>
              </a:rPr>
              <a:t>-&gt;</a:t>
            </a:r>
            <a:r>
              <a:rPr lang="en-US" sz="750">
                <a:solidFill>
                  <a:srgbClr val="C9D1D9"/>
                </a:solidFill>
                <a:highlight>
                  <a:srgbClr val="121314"/>
                </a:highlight>
                <a:latin typeface="Courier New"/>
                <a:ea typeface="Courier New"/>
                <a:cs typeface="Courier New"/>
                <a:sym typeface="Courier New"/>
              </a:rPr>
              <a:t>right</a:t>
            </a:r>
            <a:r>
              <a:rPr lang="en-US" sz="750">
                <a:solidFill>
                  <a:srgbClr val="BBBEBF"/>
                </a:solidFill>
                <a:highlight>
                  <a:srgbClr val="121314"/>
                </a:highlight>
                <a:latin typeface="Courier New"/>
                <a:ea typeface="Courier New"/>
                <a:cs typeface="Courier New"/>
                <a:sym typeface="Courier New"/>
              </a:rPr>
              <a:t>;</a:t>
            </a:r>
            <a:endParaRPr sz="7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750">
                <a:solidFill>
                  <a:srgbClr val="BBBEBF"/>
                </a:solidFill>
                <a:highlight>
                  <a:srgbClr val="121314"/>
                </a:highlight>
                <a:latin typeface="Courier New"/>
                <a:ea typeface="Courier New"/>
                <a:cs typeface="Courier New"/>
                <a:sym typeface="Courier New"/>
              </a:rPr>
              <a:t>   </a:t>
            </a:r>
            <a:r>
              <a:rPr lang="en-US" sz="750">
                <a:solidFill>
                  <a:srgbClr val="C9D1D9"/>
                </a:solidFill>
                <a:highlight>
                  <a:srgbClr val="121314"/>
                </a:highlight>
                <a:latin typeface="Courier New"/>
                <a:ea typeface="Courier New"/>
                <a:cs typeface="Courier New"/>
                <a:sym typeface="Courier New"/>
              </a:rPr>
              <a:t>newRoot</a:t>
            </a:r>
            <a:r>
              <a:rPr lang="en-US" sz="750">
                <a:solidFill>
                  <a:srgbClr val="BBBEBF"/>
                </a:solidFill>
                <a:highlight>
                  <a:srgbClr val="121314"/>
                </a:highlight>
                <a:latin typeface="Courier New"/>
                <a:ea typeface="Courier New"/>
                <a:cs typeface="Courier New"/>
                <a:sym typeface="Courier New"/>
              </a:rPr>
              <a:t>-&gt;</a:t>
            </a:r>
            <a:r>
              <a:rPr lang="en-US" sz="750">
                <a:solidFill>
                  <a:srgbClr val="C9D1D9"/>
                </a:solidFill>
                <a:highlight>
                  <a:srgbClr val="121314"/>
                </a:highlight>
                <a:latin typeface="Courier New"/>
                <a:ea typeface="Courier New"/>
                <a:cs typeface="Courier New"/>
                <a:sym typeface="Courier New"/>
              </a:rPr>
              <a:t>right</a:t>
            </a:r>
            <a:r>
              <a:rPr lang="en-US" sz="750">
                <a:solidFill>
                  <a:srgbClr val="BBBEBF"/>
                </a:solidFill>
                <a:highlight>
                  <a:srgbClr val="121314"/>
                </a:highlight>
                <a:latin typeface="Courier New"/>
                <a:ea typeface="Courier New"/>
                <a:cs typeface="Courier New"/>
                <a:sym typeface="Courier New"/>
              </a:rPr>
              <a:t> </a:t>
            </a:r>
            <a:r>
              <a:rPr lang="en-US" sz="750">
                <a:solidFill>
                  <a:srgbClr val="D4D4D4"/>
                </a:solidFill>
                <a:highlight>
                  <a:srgbClr val="121314"/>
                </a:highlight>
                <a:latin typeface="Courier New"/>
                <a:ea typeface="Courier New"/>
                <a:cs typeface="Courier New"/>
                <a:sym typeface="Courier New"/>
              </a:rPr>
              <a:t>=</a:t>
            </a:r>
            <a:r>
              <a:rPr lang="en-US" sz="750">
                <a:solidFill>
                  <a:srgbClr val="BBBEBF"/>
                </a:solidFill>
                <a:highlight>
                  <a:srgbClr val="121314"/>
                </a:highlight>
                <a:latin typeface="Courier New"/>
                <a:ea typeface="Courier New"/>
                <a:cs typeface="Courier New"/>
                <a:sym typeface="Courier New"/>
              </a:rPr>
              <a:t> root;</a:t>
            </a:r>
            <a:endParaRPr sz="7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7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750">
                <a:solidFill>
                  <a:srgbClr val="BBBEBF"/>
                </a:solidFill>
                <a:highlight>
                  <a:srgbClr val="121314"/>
                </a:highlight>
                <a:latin typeface="Courier New"/>
                <a:ea typeface="Courier New"/>
                <a:cs typeface="Courier New"/>
                <a:sym typeface="Courier New"/>
              </a:rPr>
              <a:t>   </a:t>
            </a:r>
            <a:r>
              <a:rPr lang="en-US" sz="750">
                <a:solidFill>
                  <a:srgbClr val="FFA657"/>
                </a:solidFill>
                <a:highlight>
                  <a:srgbClr val="121314"/>
                </a:highlight>
                <a:latin typeface="Courier New"/>
                <a:ea typeface="Courier New"/>
                <a:cs typeface="Courier New"/>
                <a:sym typeface="Courier New"/>
              </a:rPr>
              <a:t>root</a:t>
            </a:r>
            <a:r>
              <a:rPr lang="en-US" sz="750">
                <a:solidFill>
                  <a:srgbClr val="BBBEBF"/>
                </a:solidFill>
                <a:highlight>
                  <a:srgbClr val="121314"/>
                </a:highlight>
                <a:latin typeface="Courier New"/>
                <a:ea typeface="Courier New"/>
                <a:cs typeface="Courier New"/>
                <a:sym typeface="Courier New"/>
              </a:rPr>
              <a:t>-&gt;</a:t>
            </a:r>
            <a:r>
              <a:rPr lang="en-US" sz="750">
                <a:solidFill>
                  <a:srgbClr val="C9D1D9"/>
                </a:solidFill>
                <a:highlight>
                  <a:srgbClr val="121314"/>
                </a:highlight>
                <a:latin typeface="Courier New"/>
                <a:ea typeface="Courier New"/>
                <a:cs typeface="Courier New"/>
                <a:sym typeface="Courier New"/>
              </a:rPr>
              <a:t>height</a:t>
            </a:r>
            <a:r>
              <a:rPr lang="en-US" sz="750">
                <a:solidFill>
                  <a:srgbClr val="BBBEBF"/>
                </a:solidFill>
                <a:highlight>
                  <a:srgbClr val="121314"/>
                </a:highlight>
                <a:latin typeface="Courier New"/>
                <a:ea typeface="Courier New"/>
                <a:cs typeface="Courier New"/>
                <a:sym typeface="Courier New"/>
              </a:rPr>
              <a:t> </a:t>
            </a:r>
            <a:r>
              <a:rPr lang="en-US" sz="750">
                <a:solidFill>
                  <a:srgbClr val="D4D4D4"/>
                </a:solidFill>
                <a:highlight>
                  <a:srgbClr val="121314"/>
                </a:highlight>
                <a:latin typeface="Courier New"/>
                <a:ea typeface="Courier New"/>
                <a:cs typeface="Courier New"/>
                <a:sym typeface="Courier New"/>
              </a:rPr>
              <a:t>=</a:t>
            </a:r>
            <a:r>
              <a:rPr lang="en-US" sz="750">
                <a:solidFill>
                  <a:srgbClr val="BBBEBF"/>
                </a:solidFill>
                <a:highlight>
                  <a:srgbClr val="121314"/>
                </a:highlight>
                <a:latin typeface="Courier New"/>
                <a:ea typeface="Courier New"/>
                <a:cs typeface="Courier New"/>
                <a:sym typeface="Courier New"/>
              </a:rPr>
              <a:t> </a:t>
            </a:r>
            <a:r>
              <a:rPr lang="en-US" sz="750">
                <a:solidFill>
                  <a:srgbClr val="4EC9B0"/>
                </a:solidFill>
                <a:highlight>
                  <a:srgbClr val="121314"/>
                </a:highlight>
                <a:latin typeface="Courier New"/>
                <a:ea typeface="Courier New"/>
                <a:cs typeface="Courier New"/>
                <a:sym typeface="Courier New"/>
              </a:rPr>
              <a:t>std</a:t>
            </a:r>
            <a:r>
              <a:rPr lang="en-US" sz="750">
                <a:solidFill>
                  <a:srgbClr val="BBBEBF"/>
                </a:solidFill>
                <a:highlight>
                  <a:srgbClr val="121314"/>
                </a:highlight>
                <a:latin typeface="Courier New"/>
                <a:ea typeface="Courier New"/>
                <a:cs typeface="Courier New"/>
                <a:sym typeface="Courier New"/>
              </a:rPr>
              <a:t>::</a:t>
            </a:r>
            <a:r>
              <a:rPr lang="en-US" sz="750">
                <a:solidFill>
                  <a:srgbClr val="DCDCAA"/>
                </a:solidFill>
                <a:highlight>
                  <a:srgbClr val="121314"/>
                </a:highlight>
                <a:latin typeface="Courier New"/>
                <a:ea typeface="Courier New"/>
                <a:cs typeface="Courier New"/>
                <a:sym typeface="Courier New"/>
              </a:rPr>
              <a:t>max</a:t>
            </a:r>
            <a:r>
              <a:rPr lang="en-US" sz="750">
                <a:solidFill>
                  <a:srgbClr val="BBBEBF"/>
                </a:solidFill>
                <a:highlight>
                  <a:srgbClr val="121314"/>
                </a:highlight>
                <a:latin typeface="Courier New"/>
                <a:ea typeface="Courier New"/>
                <a:cs typeface="Courier New"/>
                <a:sym typeface="Courier New"/>
              </a:rPr>
              <a:t>(</a:t>
            </a:r>
            <a:r>
              <a:rPr lang="en-US" sz="750">
                <a:solidFill>
                  <a:srgbClr val="D2A8FF"/>
                </a:solidFill>
                <a:highlight>
                  <a:srgbClr val="121314"/>
                </a:highlight>
                <a:latin typeface="Courier New"/>
                <a:ea typeface="Courier New"/>
                <a:cs typeface="Courier New"/>
                <a:sym typeface="Courier New"/>
              </a:rPr>
              <a:t>height</a:t>
            </a:r>
            <a:r>
              <a:rPr lang="en-US" sz="750">
                <a:solidFill>
                  <a:srgbClr val="BBBEBF"/>
                </a:solidFill>
                <a:highlight>
                  <a:srgbClr val="121314"/>
                </a:highlight>
                <a:latin typeface="Courier New"/>
                <a:ea typeface="Courier New"/>
                <a:cs typeface="Courier New"/>
                <a:sym typeface="Courier New"/>
              </a:rPr>
              <a:t>(</a:t>
            </a:r>
            <a:r>
              <a:rPr lang="en-US" sz="750">
                <a:solidFill>
                  <a:srgbClr val="C9D1D9"/>
                </a:solidFill>
                <a:highlight>
                  <a:srgbClr val="121314"/>
                </a:highlight>
                <a:latin typeface="Courier New"/>
                <a:ea typeface="Courier New"/>
                <a:cs typeface="Courier New"/>
                <a:sym typeface="Courier New"/>
              </a:rPr>
              <a:t>root</a:t>
            </a:r>
            <a:r>
              <a:rPr lang="en-US" sz="750">
                <a:solidFill>
                  <a:srgbClr val="BBBEBF"/>
                </a:solidFill>
                <a:highlight>
                  <a:srgbClr val="121314"/>
                </a:highlight>
                <a:latin typeface="Courier New"/>
                <a:ea typeface="Courier New"/>
                <a:cs typeface="Courier New"/>
                <a:sym typeface="Courier New"/>
              </a:rPr>
              <a:t>-&gt;</a:t>
            </a:r>
            <a:r>
              <a:rPr lang="en-US" sz="750">
                <a:solidFill>
                  <a:srgbClr val="C9D1D9"/>
                </a:solidFill>
                <a:highlight>
                  <a:srgbClr val="121314"/>
                </a:highlight>
                <a:latin typeface="Courier New"/>
                <a:ea typeface="Courier New"/>
                <a:cs typeface="Courier New"/>
                <a:sym typeface="Courier New"/>
              </a:rPr>
              <a:t>left</a:t>
            </a:r>
            <a:r>
              <a:rPr lang="en-US" sz="750">
                <a:solidFill>
                  <a:srgbClr val="BBBEBF"/>
                </a:solidFill>
                <a:highlight>
                  <a:srgbClr val="121314"/>
                </a:highlight>
                <a:latin typeface="Courier New"/>
                <a:ea typeface="Courier New"/>
                <a:cs typeface="Courier New"/>
                <a:sym typeface="Courier New"/>
              </a:rPr>
              <a:t>), </a:t>
            </a:r>
            <a:r>
              <a:rPr lang="en-US" sz="750">
                <a:solidFill>
                  <a:srgbClr val="D2A8FF"/>
                </a:solidFill>
                <a:highlight>
                  <a:srgbClr val="121314"/>
                </a:highlight>
                <a:latin typeface="Courier New"/>
                <a:ea typeface="Courier New"/>
                <a:cs typeface="Courier New"/>
                <a:sym typeface="Courier New"/>
              </a:rPr>
              <a:t>height</a:t>
            </a:r>
            <a:r>
              <a:rPr lang="en-US" sz="750">
                <a:solidFill>
                  <a:srgbClr val="BBBEBF"/>
                </a:solidFill>
                <a:highlight>
                  <a:srgbClr val="121314"/>
                </a:highlight>
                <a:latin typeface="Courier New"/>
                <a:ea typeface="Courier New"/>
                <a:cs typeface="Courier New"/>
                <a:sym typeface="Courier New"/>
              </a:rPr>
              <a:t>(</a:t>
            </a:r>
            <a:r>
              <a:rPr lang="en-US" sz="750">
                <a:solidFill>
                  <a:srgbClr val="C9D1D9"/>
                </a:solidFill>
                <a:highlight>
                  <a:srgbClr val="121314"/>
                </a:highlight>
                <a:latin typeface="Courier New"/>
                <a:ea typeface="Courier New"/>
                <a:cs typeface="Courier New"/>
                <a:sym typeface="Courier New"/>
              </a:rPr>
              <a:t>root</a:t>
            </a:r>
            <a:r>
              <a:rPr lang="en-US" sz="750">
                <a:solidFill>
                  <a:srgbClr val="BBBEBF"/>
                </a:solidFill>
                <a:highlight>
                  <a:srgbClr val="121314"/>
                </a:highlight>
                <a:latin typeface="Courier New"/>
                <a:ea typeface="Courier New"/>
                <a:cs typeface="Courier New"/>
                <a:sym typeface="Courier New"/>
              </a:rPr>
              <a:t>-&gt;</a:t>
            </a:r>
            <a:r>
              <a:rPr lang="en-US" sz="750">
                <a:solidFill>
                  <a:srgbClr val="C9D1D9"/>
                </a:solidFill>
                <a:highlight>
                  <a:srgbClr val="121314"/>
                </a:highlight>
                <a:latin typeface="Courier New"/>
                <a:ea typeface="Courier New"/>
                <a:cs typeface="Courier New"/>
                <a:sym typeface="Courier New"/>
              </a:rPr>
              <a:t>right</a:t>
            </a:r>
            <a:r>
              <a:rPr lang="en-US" sz="750">
                <a:solidFill>
                  <a:srgbClr val="BBBEBF"/>
                </a:solidFill>
                <a:highlight>
                  <a:srgbClr val="121314"/>
                </a:highlight>
                <a:latin typeface="Courier New"/>
                <a:ea typeface="Courier New"/>
                <a:cs typeface="Courier New"/>
                <a:sym typeface="Courier New"/>
              </a:rPr>
              <a:t>)) </a:t>
            </a:r>
            <a:r>
              <a:rPr lang="en-US" sz="750">
                <a:solidFill>
                  <a:srgbClr val="D4D4D4"/>
                </a:solidFill>
                <a:highlight>
                  <a:srgbClr val="121314"/>
                </a:highlight>
                <a:latin typeface="Courier New"/>
                <a:ea typeface="Courier New"/>
                <a:cs typeface="Courier New"/>
                <a:sym typeface="Courier New"/>
              </a:rPr>
              <a:t>+</a:t>
            </a:r>
            <a:r>
              <a:rPr lang="en-US" sz="750">
                <a:solidFill>
                  <a:srgbClr val="BBBEBF"/>
                </a:solidFill>
                <a:highlight>
                  <a:srgbClr val="121314"/>
                </a:highlight>
                <a:latin typeface="Courier New"/>
                <a:ea typeface="Courier New"/>
                <a:cs typeface="Courier New"/>
                <a:sym typeface="Courier New"/>
              </a:rPr>
              <a:t> </a:t>
            </a:r>
            <a:r>
              <a:rPr lang="en-US" sz="750">
                <a:solidFill>
                  <a:srgbClr val="B5CEA8"/>
                </a:solidFill>
                <a:highlight>
                  <a:srgbClr val="121314"/>
                </a:highlight>
                <a:latin typeface="Courier New"/>
                <a:ea typeface="Courier New"/>
                <a:cs typeface="Courier New"/>
                <a:sym typeface="Courier New"/>
              </a:rPr>
              <a:t>1</a:t>
            </a:r>
            <a:r>
              <a:rPr lang="en-US" sz="750">
                <a:solidFill>
                  <a:srgbClr val="BBBEBF"/>
                </a:solidFill>
                <a:highlight>
                  <a:srgbClr val="121314"/>
                </a:highlight>
                <a:latin typeface="Courier New"/>
                <a:ea typeface="Courier New"/>
                <a:cs typeface="Courier New"/>
                <a:sym typeface="Courier New"/>
              </a:rPr>
              <a:t>;</a:t>
            </a:r>
            <a:endParaRPr sz="7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7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750">
                <a:solidFill>
                  <a:srgbClr val="BBBEBF"/>
                </a:solidFill>
                <a:highlight>
                  <a:srgbClr val="121314"/>
                </a:highlight>
                <a:latin typeface="Courier New"/>
                <a:ea typeface="Courier New"/>
                <a:cs typeface="Courier New"/>
                <a:sym typeface="Courier New"/>
              </a:rPr>
              <a:t>   </a:t>
            </a:r>
            <a:r>
              <a:rPr lang="en-US" sz="750">
                <a:solidFill>
                  <a:srgbClr val="C9D1D9"/>
                </a:solidFill>
                <a:highlight>
                  <a:srgbClr val="121314"/>
                </a:highlight>
                <a:latin typeface="Courier New"/>
                <a:ea typeface="Courier New"/>
                <a:cs typeface="Courier New"/>
                <a:sym typeface="Courier New"/>
              </a:rPr>
              <a:t>newRoot</a:t>
            </a:r>
            <a:r>
              <a:rPr lang="en-US" sz="750">
                <a:solidFill>
                  <a:srgbClr val="BBBEBF"/>
                </a:solidFill>
                <a:highlight>
                  <a:srgbClr val="121314"/>
                </a:highlight>
                <a:latin typeface="Courier New"/>
                <a:ea typeface="Courier New"/>
                <a:cs typeface="Courier New"/>
                <a:sym typeface="Courier New"/>
              </a:rPr>
              <a:t>-&gt;</a:t>
            </a:r>
            <a:r>
              <a:rPr lang="en-US" sz="750">
                <a:solidFill>
                  <a:srgbClr val="C9D1D9"/>
                </a:solidFill>
                <a:highlight>
                  <a:srgbClr val="121314"/>
                </a:highlight>
                <a:latin typeface="Courier New"/>
                <a:ea typeface="Courier New"/>
                <a:cs typeface="Courier New"/>
                <a:sym typeface="Courier New"/>
              </a:rPr>
              <a:t>height</a:t>
            </a:r>
            <a:r>
              <a:rPr lang="en-US" sz="750">
                <a:solidFill>
                  <a:srgbClr val="BBBEBF"/>
                </a:solidFill>
                <a:highlight>
                  <a:srgbClr val="121314"/>
                </a:highlight>
                <a:latin typeface="Courier New"/>
                <a:ea typeface="Courier New"/>
                <a:cs typeface="Courier New"/>
                <a:sym typeface="Courier New"/>
              </a:rPr>
              <a:t> </a:t>
            </a:r>
            <a:r>
              <a:rPr lang="en-US" sz="750">
                <a:solidFill>
                  <a:srgbClr val="D4D4D4"/>
                </a:solidFill>
                <a:highlight>
                  <a:srgbClr val="121314"/>
                </a:highlight>
                <a:latin typeface="Courier New"/>
                <a:ea typeface="Courier New"/>
                <a:cs typeface="Courier New"/>
                <a:sym typeface="Courier New"/>
              </a:rPr>
              <a:t>=</a:t>
            </a:r>
            <a:r>
              <a:rPr lang="en-US" sz="750">
                <a:solidFill>
                  <a:srgbClr val="BBBEBF"/>
                </a:solidFill>
                <a:highlight>
                  <a:srgbClr val="121314"/>
                </a:highlight>
                <a:latin typeface="Courier New"/>
                <a:ea typeface="Courier New"/>
                <a:cs typeface="Courier New"/>
                <a:sym typeface="Courier New"/>
              </a:rPr>
              <a:t> </a:t>
            </a:r>
            <a:r>
              <a:rPr lang="en-US" sz="750">
                <a:solidFill>
                  <a:srgbClr val="4EC9B0"/>
                </a:solidFill>
                <a:highlight>
                  <a:srgbClr val="121314"/>
                </a:highlight>
                <a:latin typeface="Courier New"/>
                <a:ea typeface="Courier New"/>
                <a:cs typeface="Courier New"/>
                <a:sym typeface="Courier New"/>
              </a:rPr>
              <a:t>std</a:t>
            </a:r>
            <a:r>
              <a:rPr lang="en-US" sz="750">
                <a:solidFill>
                  <a:srgbClr val="BBBEBF"/>
                </a:solidFill>
                <a:highlight>
                  <a:srgbClr val="121314"/>
                </a:highlight>
                <a:latin typeface="Courier New"/>
                <a:ea typeface="Courier New"/>
                <a:cs typeface="Courier New"/>
                <a:sym typeface="Courier New"/>
              </a:rPr>
              <a:t>::</a:t>
            </a:r>
            <a:r>
              <a:rPr lang="en-US" sz="750">
                <a:solidFill>
                  <a:srgbClr val="DCDCAA"/>
                </a:solidFill>
                <a:highlight>
                  <a:srgbClr val="121314"/>
                </a:highlight>
                <a:latin typeface="Courier New"/>
                <a:ea typeface="Courier New"/>
                <a:cs typeface="Courier New"/>
                <a:sym typeface="Courier New"/>
              </a:rPr>
              <a:t>max</a:t>
            </a:r>
            <a:r>
              <a:rPr lang="en-US" sz="750">
                <a:solidFill>
                  <a:srgbClr val="BBBEBF"/>
                </a:solidFill>
                <a:highlight>
                  <a:srgbClr val="121314"/>
                </a:highlight>
                <a:latin typeface="Courier New"/>
                <a:ea typeface="Courier New"/>
                <a:cs typeface="Courier New"/>
                <a:sym typeface="Courier New"/>
              </a:rPr>
              <a:t>(</a:t>
            </a:r>
            <a:r>
              <a:rPr lang="en-US" sz="750">
                <a:solidFill>
                  <a:srgbClr val="D2A8FF"/>
                </a:solidFill>
                <a:highlight>
                  <a:srgbClr val="121314"/>
                </a:highlight>
                <a:latin typeface="Courier New"/>
                <a:ea typeface="Courier New"/>
                <a:cs typeface="Courier New"/>
                <a:sym typeface="Courier New"/>
              </a:rPr>
              <a:t>height</a:t>
            </a:r>
            <a:r>
              <a:rPr lang="en-US" sz="750">
                <a:solidFill>
                  <a:srgbClr val="BBBEBF"/>
                </a:solidFill>
                <a:highlight>
                  <a:srgbClr val="121314"/>
                </a:highlight>
                <a:latin typeface="Courier New"/>
                <a:ea typeface="Courier New"/>
                <a:cs typeface="Courier New"/>
                <a:sym typeface="Courier New"/>
              </a:rPr>
              <a:t>(</a:t>
            </a:r>
            <a:r>
              <a:rPr lang="en-US" sz="750">
                <a:solidFill>
                  <a:srgbClr val="C9D1D9"/>
                </a:solidFill>
                <a:highlight>
                  <a:srgbClr val="121314"/>
                </a:highlight>
                <a:latin typeface="Courier New"/>
                <a:ea typeface="Courier New"/>
                <a:cs typeface="Courier New"/>
                <a:sym typeface="Courier New"/>
              </a:rPr>
              <a:t>newRoot</a:t>
            </a:r>
            <a:r>
              <a:rPr lang="en-US" sz="750">
                <a:solidFill>
                  <a:srgbClr val="BBBEBF"/>
                </a:solidFill>
                <a:highlight>
                  <a:srgbClr val="121314"/>
                </a:highlight>
                <a:latin typeface="Courier New"/>
                <a:ea typeface="Courier New"/>
                <a:cs typeface="Courier New"/>
                <a:sym typeface="Courier New"/>
              </a:rPr>
              <a:t>-&gt;</a:t>
            </a:r>
            <a:r>
              <a:rPr lang="en-US" sz="750">
                <a:solidFill>
                  <a:srgbClr val="C9D1D9"/>
                </a:solidFill>
                <a:highlight>
                  <a:srgbClr val="121314"/>
                </a:highlight>
                <a:latin typeface="Courier New"/>
                <a:ea typeface="Courier New"/>
                <a:cs typeface="Courier New"/>
                <a:sym typeface="Courier New"/>
              </a:rPr>
              <a:t>left</a:t>
            </a:r>
            <a:r>
              <a:rPr lang="en-US" sz="750">
                <a:solidFill>
                  <a:srgbClr val="BBBEBF"/>
                </a:solidFill>
                <a:highlight>
                  <a:srgbClr val="121314"/>
                </a:highlight>
                <a:latin typeface="Courier New"/>
                <a:ea typeface="Courier New"/>
                <a:cs typeface="Courier New"/>
                <a:sym typeface="Courier New"/>
              </a:rPr>
              <a:t>), </a:t>
            </a:r>
            <a:r>
              <a:rPr lang="en-US" sz="750">
                <a:solidFill>
                  <a:srgbClr val="D2A8FF"/>
                </a:solidFill>
                <a:highlight>
                  <a:srgbClr val="121314"/>
                </a:highlight>
                <a:latin typeface="Courier New"/>
                <a:ea typeface="Courier New"/>
                <a:cs typeface="Courier New"/>
                <a:sym typeface="Courier New"/>
              </a:rPr>
              <a:t>height</a:t>
            </a:r>
            <a:r>
              <a:rPr lang="en-US" sz="750">
                <a:solidFill>
                  <a:srgbClr val="BBBEBF"/>
                </a:solidFill>
                <a:highlight>
                  <a:srgbClr val="121314"/>
                </a:highlight>
                <a:latin typeface="Courier New"/>
                <a:ea typeface="Courier New"/>
                <a:cs typeface="Courier New"/>
                <a:sym typeface="Courier New"/>
              </a:rPr>
              <a:t>(</a:t>
            </a:r>
            <a:r>
              <a:rPr lang="en-US" sz="750">
                <a:solidFill>
                  <a:srgbClr val="C9D1D9"/>
                </a:solidFill>
                <a:highlight>
                  <a:srgbClr val="121314"/>
                </a:highlight>
                <a:latin typeface="Courier New"/>
                <a:ea typeface="Courier New"/>
                <a:cs typeface="Courier New"/>
                <a:sym typeface="Courier New"/>
              </a:rPr>
              <a:t>newRoot</a:t>
            </a:r>
            <a:r>
              <a:rPr lang="en-US" sz="750">
                <a:solidFill>
                  <a:srgbClr val="BBBEBF"/>
                </a:solidFill>
                <a:highlight>
                  <a:srgbClr val="121314"/>
                </a:highlight>
                <a:latin typeface="Courier New"/>
                <a:ea typeface="Courier New"/>
                <a:cs typeface="Courier New"/>
                <a:sym typeface="Courier New"/>
              </a:rPr>
              <a:t>-&gt;</a:t>
            </a:r>
            <a:r>
              <a:rPr lang="en-US" sz="750">
                <a:solidFill>
                  <a:srgbClr val="C9D1D9"/>
                </a:solidFill>
                <a:highlight>
                  <a:srgbClr val="121314"/>
                </a:highlight>
                <a:latin typeface="Courier New"/>
                <a:ea typeface="Courier New"/>
                <a:cs typeface="Courier New"/>
                <a:sym typeface="Courier New"/>
              </a:rPr>
              <a:t>right</a:t>
            </a:r>
            <a:r>
              <a:rPr lang="en-US" sz="750">
                <a:solidFill>
                  <a:srgbClr val="BBBEBF"/>
                </a:solidFill>
                <a:highlight>
                  <a:srgbClr val="121314"/>
                </a:highlight>
                <a:latin typeface="Courier New"/>
                <a:ea typeface="Courier New"/>
                <a:cs typeface="Courier New"/>
                <a:sym typeface="Courier New"/>
              </a:rPr>
              <a:t>)) </a:t>
            </a:r>
            <a:r>
              <a:rPr lang="en-US" sz="750">
                <a:solidFill>
                  <a:srgbClr val="D4D4D4"/>
                </a:solidFill>
                <a:highlight>
                  <a:srgbClr val="121314"/>
                </a:highlight>
                <a:latin typeface="Courier New"/>
                <a:ea typeface="Courier New"/>
                <a:cs typeface="Courier New"/>
                <a:sym typeface="Courier New"/>
              </a:rPr>
              <a:t>+</a:t>
            </a:r>
            <a:r>
              <a:rPr lang="en-US" sz="750">
                <a:solidFill>
                  <a:srgbClr val="BBBEBF"/>
                </a:solidFill>
                <a:highlight>
                  <a:srgbClr val="121314"/>
                </a:highlight>
                <a:latin typeface="Courier New"/>
                <a:ea typeface="Courier New"/>
                <a:cs typeface="Courier New"/>
                <a:sym typeface="Courier New"/>
              </a:rPr>
              <a:t> </a:t>
            </a:r>
            <a:r>
              <a:rPr lang="en-US" sz="750">
                <a:solidFill>
                  <a:srgbClr val="B5CEA8"/>
                </a:solidFill>
                <a:highlight>
                  <a:srgbClr val="121314"/>
                </a:highlight>
                <a:latin typeface="Courier New"/>
                <a:ea typeface="Courier New"/>
                <a:cs typeface="Courier New"/>
                <a:sym typeface="Courier New"/>
              </a:rPr>
              <a:t>1</a:t>
            </a:r>
            <a:r>
              <a:rPr lang="en-US" sz="750">
                <a:solidFill>
                  <a:srgbClr val="BBBEBF"/>
                </a:solidFill>
                <a:highlight>
                  <a:srgbClr val="121314"/>
                </a:highlight>
                <a:latin typeface="Courier New"/>
                <a:ea typeface="Courier New"/>
                <a:cs typeface="Courier New"/>
                <a:sym typeface="Courier New"/>
              </a:rPr>
              <a:t>;</a:t>
            </a:r>
            <a:endParaRPr sz="7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7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750">
                <a:solidFill>
                  <a:srgbClr val="BBBEBF"/>
                </a:solidFill>
                <a:highlight>
                  <a:srgbClr val="121314"/>
                </a:highlight>
                <a:latin typeface="Courier New"/>
                <a:ea typeface="Courier New"/>
                <a:cs typeface="Courier New"/>
                <a:sym typeface="Courier New"/>
              </a:rPr>
              <a:t>   </a:t>
            </a:r>
            <a:r>
              <a:rPr lang="en-US" sz="750">
                <a:solidFill>
                  <a:srgbClr val="C586C0"/>
                </a:solidFill>
                <a:highlight>
                  <a:srgbClr val="121314"/>
                </a:highlight>
                <a:latin typeface="Courier New"/>
                <a:ea typeface="Courier New"/>
                <a:cs typeface="Courier New"/>
                <a:sym typeface="Courier New"/>
              </a:rPr>
              <a:t>return</a:t>
            </a:r>
            <a:r>
              <a:rPr lang="en-US" sz="750">
                <a:solidFill>
                  <a:srgbClr val="BBBEBF"/>
                </a:solidFill>
                <a:highlight>
                  <a:srgbClr val="121314"/>
                </a:highlight>
                <a:latin typeface="Courier New"/>
                <a:ea typeface="Courier New"/>
                <a:cs typeface="Courier New"/>
                <a:sym typeface="Courier New"/>
              </a:rPr>
              <a:t> newRoot;</a:t>
            </a:r>
            <a:endParaRPr sz="7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750">
                <a:solidFill>
                  <a:srgbClr val="BBBEBF"/>
                </a:solidFill>
                <a:highlight>
                  <a:srgbClr val="121314"/>
                </a:highlight>
                <a:latin typeface="Courier New"/>
                <a:ea typeface="Courier New"/>
                <a:cs typeface="Courier New"/>
                <a:sym typeface="Courier New"/>
              </a:rPr>
              <a:t>}</a:t>
            </a:r>
            <a:endParaRPr sz="750">
              <a:solidFill>
                <a:srgbClr val="BBBEBF"/>
              </a:solidFill>
              <a:highlight>
                <a:srgbClr val="121314"/>
              </a:highlight>
              <a:latin typeface="Courier New"/>
              <a:ea typeface="Courier New"/>
              <a:cs typeface="Courier New"/>
              <a:sym typeface="Courier New"/>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F1A"/>
        </a:solidFill>
      </p:bgPr>
    </p:bg>
    <p:spTree>
      <p:nvGrpSpPr>
        <p:cNvPr id="553" name="Shape 553"/>
        <p:cNvGrpSpPr/>
        <p:nvPr/>
      </p:nvGrpSpPr>
      <p:grpSpPr>
        <a:xfrm>
          <a:off x="0" y="0"/>
          <a:ext cx="0" cy="0"/>
          <a:chOff x="0" y="0"/>
          <a:chExt cx="0" cy="0"/>
        </a:xfrm>
      </p:grpSpPr>
      <p:sp>
        <p:nvSpPr>
          <p:cNvPr id="554" name="Google Shape;554;p18"/>
          <p:cNvSpPr/>
          <p:nvPr/>
        </p:nvSpPr>
        <p:spPr>
          <a:xfrm>
            <a:off x="0" y="0"/>
            <a:ext cx="54864"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8"/>
          <p:cNvSpPr/>
          <p:nvPr/>
        </p:nvSpPr>
        <p:spPr>
          <a:xfrm>
            <a:off x="182880" y="137160"/>
            <a:ext cx="87782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2600"/>
              <a:buFont typeface="Trebuchet MS"/>
              <a:buNone/>
            </a:pPr>
            <a:r>
              <a:rPr b="1" i="0" lang="en-US" sz="2600" u="none" cap="none" strike="noStrike">
                <a:solidFill>
                  <a:srgbClr val="F0F4FF"/>
                </a:solidFill>
                <a:latin typeface="Trebuchet MS"/>
                <a:ea typeface="Trebuchet MS"/>
                <a:cs typeface="Trebuchet MS"/>
                <a:sym typeface="Trebuchet MS"/>
              </a:rPr>
              <a:t>Double Rotation — Fix para casos LR y RL</a:t>
            </a:r>
            <a:endParaRPr b="0" i="0" sz="2600" u="none" cap="none" strike="noStrike">
              <a:solidFill>
                <a:schemeClr val="dk1"/>
              </a:solidFill>
              <a:latin typeface="Calibri"/>
              <a:ea typeface="Calibri"/>
              <a:cs typeface="Calibri"/>
              <a:sym typeface="Calibri"/>
            </a:endParaRPr>
          </a:p>
        </p:txBody>
      </p:sp>
      <p:sp>
        <p:nvSpPr>
          <p:cNvPr id="556" name="Google Shape;556;p18"/>
          <p:cNvSpPr/>
          <p:nvPr/>
        </p:nvSpPr>
        <p:spPr>
          <a:xfrm>
            <a:off x="182880" y="749808"/>
            <a:ext cx="8778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1200"/>
              <a:buFont typeface="Calibri"/>
              <a:buNone/>
            </a:pPr>
            <a:r>
              <a:rPr b="0" i="1" lang="en-US" sz="1200" u="none" cap="none" strike="noStrike">
                <a:solidFill>
                  <a:srgbClr val="8892A4"/>
                </a:solidFill>
                <a:latin typeface="Calibri"/>
                <a:ea typeface="Calibri"/>
                <a:cs typeface="Calibri"/>
                <a:sym typeface="Calibri"/>
              </a:rPr>
              <a:t>Dos rotaciones porque una sola no reduce la altura</a:t>
            </a:r>
            <a:endParaRPr b="0" i="0" sz="1200" u="none" cap="none" strike="noStrike">
              <a:solidFill>
                <a:schemeClr val="dk1"/>
              </a:solidFill>
              <a:latin typeface="Calibri"/>
              <a:ea typeface="Calibri"/>
              <a:cs typeface="Calibri"/>
              <a:sym typeface="Calibri"/>
            </a:endParaRPr>
          </a:p>
        </p:txBody>
      </p:sp>
      <p:sp>
        <p:nvSpPr>
          <p:cNvPr id="557" name="Google Shape;557;p18"/>
          <p:cNvSpPr/>
          <p:nvPr/>
        </p:nvSpPr>
        <p:spPr>
          <a:xfrm>
            <a:off x="182880" y="1024128"/>
            <a:ext cx="1463040" cy="27432"/>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8"/>
          <p:cNvSpPr/>
          <p:nvPr/>
        </p:nvSpPr>
        <p:spPr>
          <a:xfrm>
            <a:off x="137160" y="1188720"/>
            <a:ext cx="4297680" cy="3611880"/>
          </a:xfrm>
          <a:prstGeom prst="rect">
            <a:avLst/>
          </a:prstGeom>
          <a:solidFill>
            <a:srgbClr val="141829"/>
          </a:solidFill>
          <a:ln cap="flat" cmpd="sng" w="9525">
            <a:solidFill>
              <a:srgbClr val="7C3AED"/>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8"/>
          <p:cNvSpPr/>
          <p:nvPr/>
        </p:nvSpPr>
        <p:spPr>
          <a:xfrm>
            <a:off x="160020" y="1344168"/>
            <a:ext cx="4225500" cy="255900"/>
          </a:xfrm>
          <a:prstGeom prst="roundRect">
            <a:avLst>
              <a:gd fmla="val 21429"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8"/>
          <p:cNvSpPr/>
          <p:nvPr/>
        </p:nvSpPr>
        <p:spPr>
          <a:xfrm>
            <a:off x="160020" y="1344168"/>
            <a:ext cx="42255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LEFT-RIGHT CASE — por qué 1 rotación no alcanza</a:t>
            </a:r>
            <a:endParaRPr b="0" i="0" sz="800" u="none" cap="none" strike="noStrike">
              <a:solidFill>
                <a:schemeClr val="dk1"/>
              </a:solidFill>
              <a:latin typeface="Calibri"/>
              <a:ea typeface="Calibri"/>
              <a:cs typeface="Calibri"/>
              <a:sym typeface="Calibri"/>
            </a:endParaRPr>
          </a:p>
        </p:txBody>
      </p:sp>
      <p:sp>
        <p:nvSpPr>
          <p:cNvPr id="561" name="Google Shape;561;p18"/>
          <p:cNvSpPr/>
          <p:nvPr/>
        </p:nvSpPr>
        <p:spPr>
          <a:xfrm>
            <a:off x="274320" y="1691640"/>
            <a:ext cx="3977640" cy="2971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1000"/>
              <a:buFont typeface="Calibri"/>
              <a:buNone/>
            </a:pPr>
            <a:r>
              <a:rPr b="0" i="0" lang="en-US" sz="1000" u="none" cap="none" strike="noStrike">
                <a:solidFill>
                  <a:srgbClr val="F0F4FF"/>
                </a:solidFill>
                <a:latin typeface="Calibri"/>
                <a:ea typeface="Calibri"/>
                <a:cs typeface="Calibri"/>
                <a:sym typeface="Calibri"/>
              </a:rPr>
              <a:t>Situación: root=5, left=2, right(2)=4. El nodo 4 está en el zig-zag interior.</a:t>
            </a:r>
            <a:br>
              <a:rPr b="0" i="0" lang="en-US" sz="1000" u="none" cap="none" strike="noStrike">
                <a:solidFill>
                  <a:srgbClr val="F0F4FF"/>
                </a:solidFill>
                <a:latin typeface="Calibri"/>
                <a:ea typeface="Calibri"/>
                <a:cs typeface="Calibri"/>
                <a:sym typeface="Calibri"/>
              </a:rPr>
            </a:br>
            <a:br>
              <a:rPr b="0" i="0" lang="en-US" sz="1000" u="none" cap="none" strike="noStrike">
                <a:solidFill>
                  <a:srgbClr val="F0F4FF"/>
                </a:solidFill>
                <a:latin typeface="Calibri"/>
                <a:ea typeface="Calibri"/>
                <a:cs typeface="Calibri"/>
                <a:sym typeface="Calibri"/>
              </a:rPr>
            </a:br>
            <a:r>
              <a:rPr b="1" i="0" lang="en-US" sz="1000" u="none" cap="none" strike="noStrike">
                <a:solidFill>
                  <a:srgbClr val="EF4444"/>
                </a:solidFill>
                <a:latin typeface="Calibri"/>
                <a:ea typeface="Calibri"/>
                <a:cs typeface="Calibri"/>
                <a:sym typeface="Calibri"/>
              </a:rPr>
              <a:t>Si aplicamos rotateWithLeftChild(5):</a:t>
            </a:r>
            <a:br>
              <a:rPr b="1" i="0" lang="en-US" sz="1000" u="none" cap="none" strike="noStrike">
                <a:solidFill>
                  <a:srgbClr val="EF4444"/>
                </a:solidFill>
                <a:latin typeface="Calibri"/>
                <a:ea typeface="Calibri"/>
                <a:cs typeface="Calibri"/>
                <a:sym typeface="Calibri"/>
              </a:rPr>
            </a:br>
            <a:r>
              <a:rPr b="0" i="0" lang="en-US" sz="1000" u="none" cap="none" strike="noStrike">
                <a:solidFill>
                  <a:srgbClr val="F0F4FF"/>
                </a:solidFill>
                <a:latin typeface="Calibri"/>
                <a:ea typeface="Calibri"/>
                <a:cs typeface="Calibri"/>
                <a:sym typeface="Calibri"/>
              </a:rPr>
              <a:t>→ 2 sube, 5 baja. Resultado: root=2, right=5, right(2)=4.</a:t>
            </a:r>
            <a:br>
              <a:rPr b="0" i="0" lang="en-US" sz="1000" u="none" cap="none" strike="noStrike">
                <a:solidFill>
                  <a:srgbClr val="F0F4FF"/>
                </a:solidFill>
                <a:latin typeface="Calibri"/>
                <a:ea typeface="Calibri"/>
                <a:cs typeface="Calibri"/>
                <a:sym typeface="Calibri"/>
              </a:rPr>
            </a:br>
            <a:r>
              <a:rPr b="0" i="0" lang="en-US" sz="1000" u="none" cap="none" strike="noStrike">
                <a:solidFill>
                  <a:srgbClr val="F0F4FF"/>
                </a:solidFill>
                <a:latin typeface="Calibri"/>
                <a:ea typeface="Calibri"/>
                <a:cs typeface="Calibri"/>
                <a:sym typeface="Calibri"/>
              </a:rPr>
              <a:t>Pero la altura del subárbol no cambió — 4 todavía está en el medio, el árbol tiene la misma profundidad que antes. La rotación simple no ayudó.</a:t>
            </a:r>
            <a:br>
              <a:rPr b="0" i="0" lang="en-US" sz="1000" u="none" cap="none" strike="noStrike">
                <a:solidFill>
                  <a:srgbClr val="F0F4FF"/>
                </a:solidFill>
                <a:latin typeface="Calibri"/>
                <a:ea typeface="Calibri"/>
                <a:cs typeface="Calibri"/>
                <a:sym typeface="Calibri"/>
              </a:rPr>
            </a:br>
            <a:br>
              <a:rPr b="0" i="0" lang="en-US" sz="1000" u="none" cap="none" strike="noStrike">
                <a:solidFill>
                  <a:srgbClr val="F0F4FF"/>
                </a:solidFill>
                <a:latin typeface="Calibri"/>
                <a:ea typeface="Calibri"/>
                <a:cs typeface="Calibri"/>
                <a:sym typeface="Calibri"/>
              </a:rPr>
            </a:br>
            <a:r>
              <a:rPr b="1" i="0" lang="en-US" sz="1000" u="none" cap="none" strike="noStrike">
                <a:solidFill>
                  <a:srgbClr val="10B981"/>
                </a:solidFill>
                <a:latin typeface="Calibri"/>
                <a:ea typeface="Calibri"/>
                <a:cs typeface="Calibri"/>
                <a:sym typeface="Calibri"/>
              </a:rPr>
              <a:t>Solución — Double Rotation (LR):</a:t>
            </a:r>
            <a:br>
              <a:rPr b="1" i="0" lang="en-US" sz="1000" u="none" cap="none" strike="noStrike">
                <a:solidFill>
                  <a:srgbClr val="10B981"/>
                </a:solidFill>
                <a:latin typeface="Calibri"/>
                <a:ea typeface="Calibri"/>
                <a:cs typeface="Calibri"/>
                <a:sym typeface="Calibri"/>
              </a:rPr>
            </a:br>
            <a:r>
              <a:rPr b="0" i="0" lang="en-US" sz="1000" u="none" cap="none" strike="noStrike">
                <a:solidFill>
                  <a:srgbClr val="F0F4FF"/>
                </a:solidFill>
                <a:latin typeface="Calibri"/>
                <a:ea typeface="Calibri"/>
                <a:cs typeface="Calibri"/>
                <a:sym typeface="Calibri"/>
              </a:rPr>
              <a:t>PASO 1: rotateWithRightChild(k1=2) → 4 sube, 2 baja. El path zig-zag se convierte en línea recta.</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00"/>
              <a:buFont typeface="Calibri"/>
              <a:buNone/>
            </a:pPr>
            <a:r>
              <a:rPr b="0" i="0" lang="en-US" sz="1000" u="none" cap="none" strike="noStrike">
                <a:solidFill>
                  <a:srgbClr val="F0F4FF"/>
                </a:solidFill>
                <a:latin typeface="Calibri"/>
                <a:ea typeface="Calibri"/>
                <a:cs typeface="Calibri"/>
                <a:sym typeface="Calibri"/>
              </a:rPr>
              <a:t>PASO 2: rotateWithLeftChild(k3=5) → 4 sube, 5 baja. Altura reducida.</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00"/>
              <a:buFont typeface="Calibri"/>
              <a:buNone/>
            </a:pPr>
            <a:r>
              <a:rPr b="0" i="0" lang="en-US" sz="1000" u="none" cap="none" strike="noStrike">
                <a:solidFill>
                  <a:srgbClr val="F0F4FF"/>
                </a:solidFill>
                <a:latin typeface="Calibri"/>
                <a:ea typeface="Calibri"/>
                <a:cs typeface="Calibri"/>
                <a:sym typeface="Calibri"/>
              </a:rPr>
              <a:t>Resultado: 4 es la nueva raíz, 2 a la izquierda, 5 a la derecha.</a:t>
            </a:r>
            <a:endParaRPr b="0" i="0" sz="1000" u="none" cap="none" strike="noStrike">
              <a:solidFill>
                <a:schemeClr val="dk1"/>
              </a:solidFill>
              <a:latin typeface="Calibri"/>
              <a:ea typeface="Calibri"/>
              <a:cs typeface="Calibri"/>
              <a:sym typeface="Calibri"/>
            </a:endParaRPr>
          </a:p>
        </p:txBody>
      </p:sp>
      <p:sp>
        <p:nvSpPr>
          <p:cNvPr id="562" name="Google Shape;562;p18"/>
          <p:cNvSpPr/>
          <p:nvPr/>
        </p:nvSpPr>
        <p:spPr>
          <a:xfrm>
            <a:off x="4572000" y="1188720"/>
            <a:ext cx="4389120" cy="3611880"/>
          </a:xfrm>
          <a:prstGeom prst="rect">
            <a:avLst/>
          </a:prstGeom>
          <a:solidFill>
            <a:srgbClr val="141829"/>
          </a:solidFill>
          <a:ln cap="flat" cmpd="sng" w="9525">
            <a:solidFill>
              <a:srgbClr val="7C3AED"/>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n-US" sz="750">
                <a:solidFill>
                  <a:srgbClr val="FF7B72"/>
                </a:solidFill>
                <a:highlight>
                  <a:srgbClr val="121314"/>
                </a:highlight>
                <a:latin typeface="Courier New"/>
                <a:ea typeface="Courier New"/>
                <a:cs typeface="Courier New"/>
                <a:sym typeface="Courier New"/>
              </a:rPr>
              <a:t>template</a:t>
            </a:r>
            <a:r>
              <a:rPr lang="en-US" sz="750">
                <a:solidFill>
                  <a:srgbClr val="BBBEBF"/>
                </a:solidFill>
                <a:highlight>
                  <a:srgbClr val="121314"/>
                </a:highlight>
                <a:latin typeface="Courier New"/>
                <a:ea typeface="Courier New"/>
                <a:cs typeface="Courier New"/>
                <a:sym typeface="Courier New"/>
              </a:rPr>
              <a:t>&lt;</a:t>
            </a:r>
            <a:r>
              <a:rPr lang="en-US" sz="750">
                <a:solidFill>
                  <a:srgbClr val="FF7B72"/>
                </a:solidFill>
                <a:highlight>
                  <a:srgbClr val="121314"/>
                </a:highlight>
                <a:latin typeface="Courier New"/>
                <a:ea typeface="Courier New"/>
                <a:cs typeface="Courier New"/>
                <a:sym typeface="Courier New"/>
              </a:rPr>
              <a:t>typename</a:t>
            </a:r>
            <a:r>
              <a:rPr lang="en-US" sz="750">
                <a:solidFill>
                  <a:srgbClr val="BBBEBF"/>
                </a:solidFill>
                <a:highlight>
                  <a:srgbClr val="121314"/>
                </a:highlight>
                <a:latin typeface="Courier New"/>
                <a:ea typeface="Courier New"/>
                <a:cs typeface="Courier New"/>
                <a:sym typeface="Courier New"/>
              </a:rPr>
              <a:t> </a:t>
            </a:r>
            <a:r>
              <a:rPr lang="en-US" sz="750">
                <a:solidFill>
                  <a:srgbClr val="4EC9B0"/>
                </a:solidFill>
                <a:highlight>
                  <a:srgbClr val="121314"/>
                </a:highlight>
                <a:latin typeface="Courier New"/>
                <a:ea typeface="Courier New"/>
                <a:cs typeface="Courier New"/>
                <a:sym typeface="Courier New"/>
              </a:rPr>
              <a:t>Comparable</a:t>
            </a:r>
            <a:r>
              <a:rPr lang="en-US" sz="750">
                <a:solidFill>
                  <a:srgbClr val="BBBEBF"/>
                </a:solidFill>
                <a:highlight>
                  <a:srgbClr val="121314"/>
                </a:highlight>
                <a:latin typeface="Courier New"/>
                <a:ea typeface="Courier New"/>
                <a:cs typeface="Courier New"/>
                <a:sym typeface="Courier New"/>
              </a:rPr>
              <a:t>&gt;</a:t>
            </a:r>
            <a:endParaRPr sz="7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750">
                <a:solidFill>
                  <a:srgbClr val="4EC9B0"/>
                </a:solidFill>
                <a:highlight>
                  <a:srgbClr val="121314"/>
                </a:highlight>
                <a:latin typeface="Courier New"/>
                <a:ea typeface="Courier New"/>
                <a:cs typeface="Courier New"/>
                <a:sym typeface="Courier New"/>
              </a:rPr>
              <a:t>AvlNode</a:t>
            </a:r>
            <a:r>
              <a:rPr lang="en-US" sz="750">
                <a:solidFill>
                  <a:srgbClr val="BBBEBF"/>
                </a:solidFill>
                <a:highlight>
                  <a:srgbClr val="121314"/>
                </a:highlight>
                <a:latin typeface="Courier New"/>
                <a:ea typeface="Courier New"/>
                <a:cs typeface="Courier New"/>
                <a:sym typeface="Courier New"/>
              </a:rPr>
              <a:t>&lt;</a:t>
            </a:r>
            <a:r>
              <a:rPr lang="en-US" sz="750">
                <a:solidFill>
                  <a:srgbClr val="4EC9B0"/>
                </a:solidFill>
                <a:highlight>
                  <a:srgbClr val="121314"/>
                </a:highlight>
                <a:latin typeface="Courier New"/>
                <a:ea typeface="Courier New"/>
                <a:cs typeface="Courier New"/>
                <a:sym typeface="Courier New"/>
              </a:rPr>
              <a:t>Comparable</a:t>
            </a:r>
            <a:r>
              <a:rPr lang="en-US" sz="750">
                <a:solidFill>
                  <a:srgbClr val="BBBEBF"/>
                </a:solidFill>
                <a:highlight>
                  <a:srgbClr val="121314"/>
                </a:highlight>
                <a:latin typeface="Courier New"/>
                <a:ea typeface="Courier New"/>
                <a:cs typeface="Courier New"/>
                <a:sym typeface="Courier New"/>
              </a:rPr>
              <a:t>&gt;</a:t>
            </a:r>
            <a:r>
              <a:rPr lang="en-US" sz="750">
                <a:solidFill>
                  <a:srgbClr val="569CD6"/>
                </a:solidFill>
                <a:highlight>
                  <a:srgbClr val="121314"/>
                </a:highlight>
                <a:latin typeface="Courier New"/>
                <a:ea typeface="Courier New"/>
                <a:cs typeface="Courier New"/>
                <a:sym typeface="Courier New"/>
              </a:rPr>
              <a:t>*</a:t>
            </a:r>
            <a:r>
              <a:rPr lang="en-US" sz="750">
                <a:solidFill>
                  <a:srgbClr val="BBBEBF"/>
                </a:solidFill>
                <a:highlight>
                  <a:srgbClr val="121314"/>
                </a:highlight>
                <a:latin typeface="Courier New"/>
                <a:ea typeface="Courier New"/>
                <a:cs typeface="Courier New"/>
                <a:sym typeface="Courier New"/>
              </a:rPr>
              <a:t> </a:t>
            </a:r>
            <a:r>
              <a:rPr lang="en-US" sz="750">
                <a:solidFill>
                  <a:srgbClr val="D2A8FF"/>
                </a:solidFill>
                <a:highlight>
                  <a:srgbClr val="121314"/>
                </a:highlight>
                <a:latin typeface="Courier New"/>
                <a:ea typeface="Courier New"/>
                <a:cs typeface="Courier New"/>
                <a:sym typeface="Courier New"/>
              </a:rPr>
              <a:t>doubleWithLeftChild</a:t>
            </a:r>
            <a:r>
              <a:rPr lang="en-US" sz="750">
                <a:solidFill>
                  <a:srgbClr val="BBBEBF"/>
                </a:solidFill>
                <a:highlight>
                  <a:srgbClr val="121314"/>
                </a:highlight>
                <a:latin typeface="Courier New"/>
                <a:ea typeface="Courier New"/>
                <a:cs typeface="Courier New"/>
                <a:sym typeface="Courier New"/>
              </a:rPr>
              <a:t>(</a:t>
            </a:r>
            <a:r>
              <a:rPr lang="en-US" sz="750">
                <a:solidFill>
                  <a:srgbClr val="4EC9B0"/>
                </a:solidFill>
                <a:highlight>
                  <a:srgbClr val="121314"/>
                </a:highlight>
                <a:latin typeface="Courier New"/>
                <a:ea typeface="Courier New"/>
                <a:cs typeface="Courier New"/>
                <a:sym typeface="Courier New"/>
              </a:rPr>
              <a:t>AvlNode</a:t>
            </a:r>
            <a:r>
              <a:rPr lang="en-US" sz="750">
                <a:solidFill>
                  <a:srgbClr val="BBBEBF"/>
                </a:solidFill>
                <a:highlight>
                  <a:srgbClr val="121314"/>
                </a:highlight>
                <a:latin typeface="Courier New"/>
                <a:ea typeface="Courier New"/>
                <a:cs typeface="Courier New"/>
                <a:sym typeface="Courier New"/>
              </a:rPr>
              <a:t>&lt;</a:t>
            </a:r>
            <a:r>
              <a:rPr lang="en-US" sz="750">
                <a:solidFill>
                  <a:srgbClr val="4EC9B0"/>
                </a:solidFill>
                <a:highlight>
                  <a:srgbClr val="121314"/>
                </a:highlight>
                <a:latin typeface="Courier New"/>
                <a:ea typeface="Courier New"/>
                <a:cs typeface="Courier New"/>
                <a:sym typeface="Courier New"/>
              </a:rPr>
              <a:t>Comparable</a:t>
            </a:r>
            <a:r>
              <a:rPr lang="en-US" sz="750">
                <a:solidFill>
                  <a:srgbClr val="BBBEBF"/>
                </a:solidFill>
                <a:highlight>
                  <a:srgbClr val="121314"/>
                </a:highlight>
                <a:latin typeface="Courier New"/>
                <a:ea typeface="Courier New"/>
                <a:cs typeface="Courier New"/>
                <a:sym typeface="Courier New"/>
              </a:rPr>
              <a:t>&gt;</a:t>
            </a:r>
            <a:r>
              <a:rPr lang="en-US" sz="750">
                <a:solidFill>
                  <a:srgbClr val="569CD6"/>
                </a:solidFill>
                <a:highlight>
                  <a:srgbClr val="121314"/>
                </a:highlight>
                <a:latin typeface="Courier New"/>
                <a:ea typeface="Courier New"/>
                <a:cs typeface="Courier New"/>
                <a:sym typeface="Courier New"/>
              </a:rPr>
              <a:t>*</a:t>
            </a:r>
            <a:r>
              <a:rPr lang="en-US" sz="750">
                <a:solidFill>
                  <a:srgbClr val="BBBEBF"/>
                </a:solidFill>
                <a:highlight>
                  <a:srgbClr val="121314"/>
                </a:highlight>
                <a:latin typeface="Courier New"/>
                <a:ea typeface="Courier New"/>
                <a:cs typeface="Courier New"/>
                <a:sym typeface="Courier New"/>
              </a:rPr>
              <a:t> </a:t>
            </a:r>
            <a:r>
              <a:rPr lang="en-US" sz="750">
                <a:solidFill>
                  <a:srgbClr val="FFA657"/>
                </a:solidFill>
                <a:highlight>
                  <a:srgbClr val="121314"/>
                </a:highlight>
                <a:latin typeface="Courier New"/>
                <a:ea typeface="Courier New"/>
                <a:cs typeface="Courier New"/>
                <a:sym typeface="Courier New"/>
              </a:rPr>
              <a:t>root</a:t>
            </a:r>
            <a:r>
              <a:rPr lang="en-US" sz="750">
                <a:solidFill>
                  <a:srgbClr val="BBBEBF"/>
                </a:solidFill>
                <a:highlight>
                  <a:srgbClr val="121314"/>
                </a:highlight>
                <a:latin typeface="Courier New"/>
                <a:ea typeface="Courier New"/>
                <a:cs typeface="Courier New"/>
                <a:sym typeface="Courier New"/>
              </a:rPr>
              <a:t>)</a:t>
            </a:r>
            <a:endParaRPr sz="7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750">
                <a:solidFill>
                  <a:srgbClr val="BBBEBF"/>
                </a:solidFill>
                <a:highlight>
                  <a:srgbClr val="121314"/>
                </a:highlight>
                <a:latin typeface="Courier New"/>
                <a:ea typeface="Courier New"/>
                <a:cs typeface="Courier New"/>
                <a:sym typeface="Courier New"/>
              </a:rPr>
              <a:t>{</a:t>
            </a:r>
            <a:endParaRPr sz="7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750">
                <a:solidFill>
                  <a:srgbClr val="BBBEBF"/>
                </a:solidFill>
                <a:highlight>
                  <a:srgbClr val="121314"/>
                </a:highlight>
                <a:latin typeface="Courier New"/>
                <a:ea typeface="Courier New"/>
                <a:cs typeface="Courier New"/>
                <a:sym typeface="Courier New"/>
              </a:rPr>
              <a:t>   </a:t>
            </a:r>
            <a:r>
              <a:rPr lang="en-US" sz="750">
                <a:solidFill>
                  <a:srgbClr val="FFA657"/>
                </a:solidFill>
                <a:highlight>
                  <a:srgbClr val="121314"/>
                </a:highlight>
                <a:latin typeface="Courier New"/>
                <a:ea typeface="Courier New"/>
                <a:cs typeface="Courier New"/>
                <a:sym typeface="Courier New"/>
              </a:rPr>
              <a:t>root</a:t>
            </a:r>
            <a:r>
              <a:rPr lang="en-US" sz="750">
                <a:solidFill>
                  <a:srgbClr val="BBBEBF"/>
                </a:solidFill>
                <a:highlight>
                  <a:srgbClr val="121314"/>
                </a:highlight>
                <a:latin typeface="Courier New"/>
                <a:ea typeface="Courier New"/>
                <a:cs typeface="Courier New"/>
                <a:sym typeface="Courier New"/>
              </a:rPr>
              <a:t>-&gt;</a:t>
            </a:r>
            <a:r>
              <a:rPr lang="en-US" sz="750">
                <a:solidFill>
                  <a:srgbClr val="C9D1D9"/>
                </a:solidFill>
                <a:highlight>
                  <a:srgbClr val="121314"/>
                </a:highlight>
                <a:latin typeface="Courier New"/>
                <a:ea typeface="Courier New"/>
                <a:cs typeface="Courier New"/>
                <a:sym typeface="Courier New"/>
              </a:rPr>
              <a:t>left</a:t>
            </a:r>
            <a:r>
              <a:rPr lang="en-US" sz="750">
                <a:solidFill>
                  <a:srgbClr val="BBBEBF"/>
                </a:solidFill>
                <a:highlight>
                  <a:srgbClr val="121314"/>
                </a:highlight>
                <a:latin typeface="Courier New"/>
                <a:ea typeface="Courier New"/>
                <a:cs typeface="Courier New"/>
                <a:sym typeface="Courier New"/>
              </a:rPr>
              <a:t> </a:t>
            </a:r>
            <a:r>
              <a:rPr lang="en-US" sz="750">
                <a:solidFill>
                  <a:srgbClr val="D4D4D4"/>
                </a:solidFill>
                <a:highlight>
                  <a:srgbClr val="121314"/>
                </a:highlight>
                <a:latin typeface="Courier New"/>
                <a:ea typeface="Courier New"/>
                <a:cs typeface="Courier New"/>
                <a:sym typeface="Courier New"/>
              </a:rPr>
              <a:t>=</a:t>
            </a:r>
            <a:r>
              <a:rPr lang="en-US" sz="750">
                <a:solidFill>
                  <a:srgbClr val="BBBEBF"/>
                </a:solidFill>
                <a:highlight>
                  <a:srgbClr val="121314"/>
                </a:highlight>
                <a:latin typeface="Courier New"/>
                <a:ea typeface="Courier New"/>
                <a:cs typeface="Courier New"/>
                <a:sym typeface="Courier New"/>
              </a:rPr>
              <a:t> </a:t>
            </a:r>
            <a:r>
              <a:rPr lang="en-US" sz="750">
                <a:solidFill>
                  <a:srgbClr val="D2A8FF"/>
                </a:solidFill>
                <a:highlight>
                  <a:srgbClr val="121314"/>
                </a:highlight>
                <a:latin typeface="Courier New"/>
                <a:ea typeface="Courier New"/>
                <a:cs typeface="Courier New"/>
                <a:sym typeface="Courier New"/>
              </a:rPr>
              <a:t>rotateWithRightChild</a:t>
            </a:r>
            <a:r>
              <a:rPr lang="en-US" sz="750">
                <a:solidFill>
                  <a:srgbClr val="BBBEBF"/>
                </a:solidFill>
                <a:highlight>
                  <a:srgbClr val="121314"/>
                </a:highlight>
                <a:latin typeface="Courier New"/>
                <a:ea typeface="Courier New"/>
                <a:cs typeface="Courier New"/>
                <a:sym typeface="Courier New"/>
              </a:rPr>
              <a:t>(</a:t>
            </a:r>
            <a:r>
              <a:rPr lang="en-US" sz="750">
                <a:solidFill>
                  <a:srgbClr val="C9D1D9"/>
                </a:solidFill>
                <a:highlight>
                  <a:srgbClr val="121314"/>
                </a:highlight>
                <a:latin typeface="Courier New"/>
                <a:ea typeface="Courier New"/>
                <a:cs typeface="Courier New"/>
                <a:sym typeface="Courier New"/>
              </a:rPr>
              <a:t>root</a:t>
            </a:r>
            <a:r>
              <a:rPr lang="en-US" sz="750">
                <a:solidFill>
                  <a:srgbClr val="BBBEBF"/>
                </a:solidFill>
                <a:highlight>
                  <a:srgbClr val="121314"/>
                </a:highlight>
                <a:latin typeface="Courier New"/>
                <a:ea typeface="Courier New"/>
                <a:cs typeface="Courier New"/>
                <a:sym typeface="Courier New"/>
              </a:rPr>
              <a:t>-&gt;</a:t>
            </a:r>
            <a:r>
              <a:rPr lang="en-US" sz="750">
                <a:solidFill>
                  <a:srgbClr val="C9D1D9"/>
                </a:solidFill>
                <a:highlight>
                  <a:srgbClr val="121314"/>
                </a:highlight>
                <a:latin typeface="Courier New"/>
                <a:ea typeface="Courier New"/>
                <a:cs typeface="Courier New"/>
                <a:sym typeface="Courier New"/>
              </a:rPr>
              <a:t>left</a:t>
            </a:r>
            <a:r>
              <a:rPr lang="en-US" sz="750">
                <a:solidFill>
                  <a:srgbClr val="BBBEBF"/>
                </a:solidFill>
                <a:highlight>
                  <a:srgbClr val="121314"/>
                </a:highlight>
                <a:latin typeface="Courier New"/>
                <a:ea typeface="Courier New"/>
                <a:cs typeface="Courier New"/>
                <a:sym typeface="Courier New"/>
              </a:rPr>
              <a:t>);</a:t>
            </a:r>
            <a:endParaRPr sz="7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7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750">
                <a:solidFill>
                  <a:srgbClr val="BBBEBF"/>
                </a:solidFill>
                <a:highlight>
                  <a:srgbClr val="121314"/>
                </a:highlight>
                <a:latin typeface="Courier New"/>
                <a:ea typeface="Courier New"/>
                <a:cs typeface="Courier New"/>
                <a:sym typeface="Courier New"/>
              </a:rPr>
              <a:t>   </a:t>
            </a:r>
            <a:r>
              <a:rPr lang="en-US" sz="750">
                <a:solidFill>
                  <a:srgbClr val="C586C0"/>
                </a:solidFill>
                <a:highlight>
                  <a:srgbClr val="121314"/>
                </a:highlight>
                <a:latin typeface="Courier New"/>
                <a:ea typeface="Courier New"/>
                <a:cs typeface="Courier New"/>
                <a:sym typeface="Courier New"/>
              </a:rPr>
              <a:t>return</a:t>
            </a:r>
            <a:r>
              <a:rPr lang="en-US" sz="750">
                <a:solidFill>
                  <a:srgbClr val="BBBEBF"/>
                </a:solidFill>
                <a:highlight>
                  <a:srgbClr val="121314"/>
                </a:highlight>
                <a:latin typeface="Courier New"/>
                <a:ea typeface="Courier New"/>
                <a:cs typeface="Courier New"/>
                <a:sym typeface="Courier New"/>
              </a:rPr>
              <a:t> </a:t>
            </a:r>
            <a:r>
              <a:rPr lang="en-US" sz="750">
                <a:solidFill>
                  <a:srgbClr val="D2A8FF"/>
                </a:solidFill>
                <a:highlight>
                  <a:srgbClr val="121314"/>
                </a:highlight>
                <a:latin typeface="Courier New"/>
                <a:ea typeface="Courier New"/>
                <a:cs typeface="Courier New"/>
                <a:sym typeface="Courier New"/>
              </a:rPr>
              <a:t>rotateWithLeftChild</a:t>
            </a:r>
            <a:r>
              <a:rPr lang="en-US" sz="750">
                <a:solidFill>
                  <a:srgbClr val="BBBEBF"/>
                </a:solidFill>
                <a:highlight>
                  <a:srgbClr val="121314"/>
                </a:highlight>
                <a:latin typeface="Courier New"/>
                <a:ea typeface="Courier New"/>
                <a:cs typeface="Courier New"/>
                <a:sym typeface="Courier New"/>
              </a:rPr>
              <a:t>(root);</a:t>
            </a:r>
            <a:endParaRPr sz="7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750">
                <a:solidFill>
                  <a:srgbClr val="BBBEBF"/>
                </a:solidFill>
                <a:highlight>
                  <a:srgbClr val="121314"/>
                </a:highlight>
                <a:latin typeface="Courier New"/>
                <a:ea typeface="Courier New"/>
                <a:cs typeface="Courier New"/>
                <a:sym typeface="Courier New"/>
              </a:rPr>
              <a:t>}</a:t>
            </a:r>
            <a:endParaRPr sz="7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7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750">
                <a:solidFill>
                  <a:srgbClr val="FF7B72"/>
                </a:solidFill>
                <a:highlight>
                  <a:srgbClr val="121314"/>
                </a:highlight>
                <a:latin typeface="Courier New"/>
                <a:ea typeface="Courier New"/>
                <a:cs typeface="Courier New"/>
                <a:sym typeface="Courier New"/>
              </a:rPr>
              <a:t>template</a:t>
            </a:r>
            <a:r>
              <a:rPr lang="en-US" sz="750">
                <a:solidFill>
                  <a:srgbClr val="BBBEBF"/>
                </a:solidFill>
                <a:highlight>
                  <a:srgbClr val="121314"/>
                </a:highlight>
                <a:latin typeface="Courier New"/>
                <a:ea typeface="Courier New"/>
                <a:cs typeface="Courier New"/>
                <a:sym typeface="Courier New"/>
              </a:rPr>
              <a:t>&lt;</a:t>
            </a:r>
            <a:r>
              <a:rPr lang="en-US" sz="750">
                <a:solidFill>
                  <a:srgbClr val="FF7B72"/>
                </a:solidFill>
                <a:highlight>
                  <a:srgbClr val="121314"/>
                </a:highlight>
                <a:latin typeface="Courier New"/>
                <a:ea typeface="Courier New"/>
                <a:cs typeface="Courier New"/>
                <a:sym typeface="Courier New"/>
              </a:rPr>
              <a:t>typename</a:t>
            </a:r>
            <a:r>
              <a:rPr lang="en-US" sz="750">
                <a:solidFill>
                  <a:srgbClr val="BBBEBF"/>
                </a:solidFill>
                <a:highlight>
                  <a:srgbClr val="121314"/>
                </a:highlight>
                <a:latin typeface="Courier New"/>
                <a:ea typeface="Courier New"/>
                <a:cs typeface="Courier New"/>
                <a:sym typeface="Courier New"/>
              </a:rPr>
              <a:t> </a:t>
            </a:r>
            <a:r>
              <a:rPr lang="en-US" sz="750">
                <a:solidFill>
                  <a:srgbClr val="4EC9B0"/>
                </a:solidFill>
                <a:highlight>
                  <a:srgbClr val="121314"/>
                </a:highlight>
                <a:latin typeface="Courier New"/>
                <a:ea typeface="Courier New"/>
                <a:cs typeface="Courier New"/>
                <a:sym typeface="Courier New"/>
              </a:rPr>
              <a:t>Comparable</a:t>
            </a:r>
            <a:r>
              <a:rPr lang="en-US" sz="750">
                <a:solidFill>
                  <a:srgbClr val="BBBEBF"/>
                </a:solidFill>
                <a:highlight>
                  <a:srgbClr val="121314"/>
                </a:highlight>
                <a:latin typeface="Courier New"/>
                <a:ea typeface="Courier New"/>
                <a:cs typeface="Courier New"/>
                <a:sym typeface="Courier New"/>
              </a:rPr>
              <a:t>&gt;</a:t>
            </a:r>
            <a:endParaRPr sz="7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750">
                <a:solidFill>
                  <a:srgbClr val="4EC9B0"/>
                </a:solidFill>
                <a:highlight>
                  <a:srgbClr val="121314"/>
                </a:highlight>
                <a:latin typeface="Courier New"/>
                <a:ea typeface="Courier New"/>
                <a:cs typeface="Courier New"/>
                <a:sym typeface="Courier New"/>
              </a:rPr>
              <a:t>AvlNode</a:t>
            </a:r>
            <a:r>
              <a:rPr lang="en-US" sz="750">
                <a:solidFill>
                  <a:srgbClr val="BBBEBF"/>
                </a:solidFill>
                <a:highlight>
                  <a:srgbClr val="121314"/>
                </a:highlight>
                <a:latin typeface="Courier New"/>
                <a:ea typeface="Courier New"/>
                <a:cs typeface="Courier New"/>
                <a:sym typeface="Courier New"/>
              </a:rPr>
              <a:t>&lt;</a:t>
            </a:r>
            <a:r>
              <a:rPr lang="en-US" sz="750">
                <a:solidFill>
                  <a:srgbClr val="4EC9B0"/>
                </a:solidFill>
                <a:highlight>
                  <a:srgbClr val="121314"/>
                </a:highlight>
                <a:latin typeface="Courier New"/>
                <a:ea typeface="Courier New"/>
                <a:cs typeface="Courier New"/>
                <a:sym typeface="Courier New"/>
              </a:rPr>
              <a:t>Comparable</a:t>
            </a:r>
            <a:r>
              <a:rPr lang="en-US" sz="750">
                <a:solidFill>
                  <a:srgbClr val="BBBEBF"/>
                </a:solidFill>
                <a:highlight>
                  <a:srgbClr val="121314"/>
                </a:highlight>
                <a:latin typeface="Courier New"/>
                <a:ea typeface="Courier New"/>
                <a:cs typeface="Courier New"/>
                <a:sym typeface="Courier New"/>
              </a:rPr>
              <a:t>&gt;</a:t>
            </a:r>
            <a:r>
              <a:rPr lang="en-US" sz="750">
                <a:solidFill>
                  <a:srgbClr val="569CD6"/>
                </a:solidFill>
                <a:highlight>
                  <a:srgbClr val="121314"/>
                </a:highlight>
                <a:latin typeface="Courier New"/>
                <a:ea typeface="Courier New"/>
                <a:cs typeface="Courier New"/>
                <a:sym typeface="Courier New"/>
              </a:rPr>
              <a:t>*</a:t>
            </a:r>
            <a:r>
              <a:rPr lang="en-US" sz="750">
                <a:solidFill>
                  <a:srgbClr val="BBBEBF"/>
                </a:solidFill>
                <a:highlight>
                  <a:srgbClr val="121314"/>
                </a:highlight>
                <a:latin typeface="Courier New"/>
                <a:ea typeface="Courier New"/>
                <a:cs typeface="Courier New"/>
                <a:sym typeface="Courier New"/>
              </a:rPr>
              <a:t> </a:t>
            </a:r>
            <a:r>
              <a:rPr lang="en-US" sz="750">
                <a:solidFill>
                  <a:srgbClr val="D2A8FF"/>
                </a:solidFill>
                <a:highlight>
                  <a:srgbClr val="121314"/>
                </a:highlight>
                <a:latin typeface="Courier New"/>
                <a:ea typeface="Courier New"/>
                <a:cs typeface="Courier New"/>
                <a:sym typeface="Courier New"/>
              </a:rPr>
              <a:t>doubleWithRightChild</a:t>
            </a:r>
            <a:r>
              <a:rPr lang="en-US" sz="750">
                <a:solidFill>
                  <a:srgbClr val="BBBEBF"/>
                </a:solidFill>
                <a:highlight>
                  <a:srgbClr val="121314"/>
                </a:highlight>
                <a:latin typeface="Courier New"/>
                <a:ea typeface="Courier New"/>
                <a:cs typeface="Courier New"/>
                <a:sym typeface="Courier New"/>
              </a:rPr>
              <a:t>(</a:t>
            </a:r>
            <a:r>
              <a:rPr lang="en-US" sz="750">
                <a:solidFill>
                  <a:srgbClr val="4EC9B0"/>
                </a:solidFill>
                <a:highlight>
                  <a:srgbClr val="121314"/>
                </a:highlight>
                <a:latin typeface="Courier New"/>
                <a:ea typeface="Courier New"/>
                <a:cs typeface="Courier New"/>
                <a:sym typeface="Courier New"/>
              </a:rPr>
              <a:t>AvlNode</a:t>
            </a:r>
            <a:r>
              <a:rPr lang="en-US" sz="750">
                <a:solidFill>
                  <a:srgbClr val="BBBEBF"/>
                </a:solidFill>
                <a:highlight>
                  <a:srgbClr val="121314"/>
                </a:highlight>
                <a:latin typeface="Courier New"/>
                <a:ea typeface="Courier New"/>
                <a:cs typeface="Courier New"/>
                <a:sym typeface="Courier New"/>
              </a:rPr>
              <a:t>&lt;</a:t>
            </a:r>
            <a:r>
              <a:rPr lang="en-US" sz="750">
                <a:solidFill>
                  <a:srgbClr val="4EC9B0"/>
                </a:solidFill>
                <a:highlight>
                  <a:srgbClr val="121314"/>
                </a:highlight>
                <a:latin typeface="Courier New"/>
                <a:ea typeface="Courier New"/>
                <a:cs typeface="Courier New"/>
                <a:sym typeface="Courier New"/>
              </a:rPr>
              <a:t>Comparable</a:t>
            </a:r>
            <a:r>
              <a:rPr lang="en-US" sz="750">
                <a:solidFill>
                  <a:srgbClr val="BBBEBF"/>
                </a:solidFill>
                <a:highlight>
                  <a:srgbClr val="121314"/>
                </a:highlight>
                <a:latin typeface="Courier New"/>
                <a:ea typeface="Courier New"/>
                <a:cs typeface="Courier New"/>
                <a:sym typeface="Courier New"/>
              </a:rPr>
              <a:t>&gt;</a:t>
            </a:r>
            <a:r>
              <a:rPr lang="en-US" sz="750">
                <a:solidFill>
                  <a:srgbClr val="569CD6"/>
                </a:solidFill>
                <a:highlight>
                  <a:srgbClr val="121314"/>
                </a:highlight>
                <a:latin typeface="Courier New"/>
                <a:ea typeface="Courier New"/>
                <a:cs typeface="Courier New"/>
                <a:sym typeface="Courier New"/>
              </a:rPr>
              <a:t>*</a:t>
            </a:r>
            <a:r>
              <a:rPr lang="en-US" sz="750">
                <a:solidFill>
                  <a:srgbClr val="BBBEBF"/>
                </a:solidFill>
                <a:highlight>
                  <a:srgbClr val="121314"/>
                </a:highlight>
                <a:latin typeface="Courier New"/>
                <a:ea typeface="Courier New"/>
                <a:cs typeface="Courier New"/>
                <a:sym typeface="Courier New"/>
              </a:rPr>
              <a:t> </a:t>
            </a:r>
            <a:r>
              <a:rPr lang="en-US" sz="750">
                <a:solidFill>
                  <a:srgbClr val="FFA657"/>
                </a:solidFill>
                <a:highlight>
                  <a:srgbClr val="121314"/>
                </a:highlight>
                <a:latin typeface="Courier New"/>
                <a:ea typeface="Courier New"/>
                <a:cs typeface="Courier New"/>
                <a:sym typeface="Courier New"/>
              </a:rPr>
              <a:t>root</a:t>
            </a:r>
            <a:r>
              <a:rPr lang="en-US" sz="750">
                <a:solidFill>
                  <a:srgbClr val="BBBEBF"/>
                </a:solidFill>
                <a:highlight>
                  <a:srgbClr val="121314"/>
                </a:highlight>
                <a:latin typeface="Courier New"/>
                <a:ea typeface="Courier New"/>
                <a:cs typeface="Courier New"/>
                <a:sym typeface="Courier New"/>
              </a:rPr>
              <a:t>)</a:t>
            </a:r>
            <a:endParaRPr sz="7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750">
                <a:solidFill>
                  <a:srgbClr val="BBBEBF"/>
                </a:solidFill>
                <a:highlight>
                  <a:srgbClr val="121314"/>
                </a:highlight>
                <a:latin typeface="Courier New"/>
                <a:ea typeface="Courier New"/>
                <a:cs typeface="Courier New"/>
                <a:sym typeface="Courier New"/>
              </a:rPr>
              <a:t>{</a:t>
            </a:r>
            <a:endParaRPr sz="7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750">
                <a:solidFill>
                  <a:srgbClr val="BBBEBF"/>
                </a:solidFill>
                <a:highlight>
                  <a:srgbClr val="121314"/>
                </a:highlight>
                <a:latin typeface="Courier New"/>
                <a:ea typeface="Courier New"/>
                <a:cs typeface="Courier New"/>
                <a:sym typeface="Courier New"/>
              </a:rPr>
              <a:t>   </a:t>
            </a:r>
            <a:r>
              <a:rPr lang="en-US" sz="750">
                <a:solidFill>
                  <a:srgbClr val="FFA657"/>
                </a:solidFill>
                <a:highlight>
                  <a:srgbClr val="121314"/>
                </a:highlight>
                <a:latin typeface="Courier New"/>
                <a:ea typeface="Courier New"/>
                <a:cs typeface="Courier New"/>
                <a:sym typeface="Courier New"/>
              </a:rPr>
              <a:t>root</a:t>
            </a:r>
            <a:r>
              <a:rPr lang="en-US" sz="750">
                <a:solidFill>
                  <a:srgbClr val="BBBEBF"/>
                </a:solidFill>
                <a:highlight>
                  <a:srgbClr val="121314"/>
                </a:highlight>
                <a:latin typeface="Courier New"/>
                <a:ea typeface="Courier New"/>
                <a:cs typeface="Courier New"/>
                <a:sym typeface="Courier New"/>
              </a:rPr>
              <a:t>-&gt;</a:t>
            </a:r>
            <a:r>
              <a:rPr lang="en-US" sz="750">
                <a:solidFill>
                  <a:srgbClr val="C9D1D9"/>
                </a:solidFill>
                <a:highlight>
                  <a:srgbClr val="121314"/>
                </a:highlight>
                <a:latin typeface="Courier New"/>
                <a:ea typeface="Courier New"/>
                <a:cs typeface="Courier New"/>
                <a:sym typeface="Courier New"/>
              </a:rPr>
              <a:t>right</a:t>
            </a:r>
            <a:r>
              <a:rPr lang="en-US" sz="750">
                <a:solidFill>
                  <a:srgbClr val="BBBEBF"/>
                </a:solidFill>
                <a:highlight>
                  <a:srgbClr val="121314"/>
                </a:highlight>
                <a:latin typeface="Courier New"/>
                <a:ea typeface="Courier New"/>
                <a:cs typeface="Courier New"/>
                <a:sym typeface="Courier New"/>
              </a:rPr>
              <a:t> </a:t>
            </a:r>
            <a:r>
              <a:rPr lang="en-US" sz="750">
                <a:solidFill>
                  <a:srgbClr val="D4D4D4"/>
                </a:solidFill>
                <a:highlight>
                  <a:srgbClr val="121314"/>
                </a:highlight>
                <a:latin typeface="Courier New"/>
                <a:ea typeface="Courier New"/>
                <a:cs typeface="Courier New"/>
                <a:sym typeface="Courier New"/>
              </a:rPr>
              <a:t>=</a:t>
            </a:r>
            <a:r>
              <a:rPr lang="en-US" sz="750">
                <a:solidFill>
                  <a:srgbClr val="BBBEBF"/>
                </a:solidFill>
                <a:highlight>
                  <a:srgbClr val="121314"/>
                </a:highlight>
                <a:latin typeface="Courier New"/>
                <a:ea typeface="Courier New"/>
                <a:cs typeface="Courier New"/>
                <a:sym typeface="Courier New"/>
              </a:rPr>
              <a:t> </a:t>
            </a:r>
            <a:r>
              <a:rPr lang="en-US" sz="750">
                <a:solidFill>
                  <a:srgbClr val="D2A8FF"/>
                </a:solidFill>
                <a:highlight>
                  <a:srgbClr val="121314"/>
                </a:highlight>
                <a:latin typeface="Courier New"/>
                <a:ea typeface="Courier New"/>
                <a:cs typeface="Courier New"/>
                <a:sym typeface="Courier New"/>
              </a:rPr>
              <a:t>rotateWithLeftChild</a:t>
            </a:r>
            <a:r>
              <a:rPr lang="en-US" sz="750">
                <a:solidFill>
                  <a:srgbClr val="BBBEBF"/>
                </a:solidFill>
                <a:highlight>
                  <a:srgbClr val="121314"/>
                </a:highlight>
                <a:latin typeface="Courier New"/>
                <a:ea typeface="Courier New"/>
                <a:cs typeface="Courier New"/>
                <a:sym typeface="Courier New"/>
              </a:rPr>
              <a:t>(</a:t>
            </a:r>
            <a:r>
              <a:rPr lang="en-US" sz="750">
                <a:solidFill>
                  <a:srgbClr val="C9D1D9"/>
                </a:solidFill>
                <a:highlight>
                  <a:srgbClr val="121314"/>
                </a:highlight>
                <a:latin typeface="Courier New"/>
                <a:ea typeface="Courier New"/>
                <a:cs typeface="Courier New"/>
                <a:sym typeface="Courier New"/>
              </a:rPr>
              <a:t>root</a:t>
            </a:r>
            <a:r>
              <a:rPr lang="en-US" sz="750">
                <a:solidFill>
                  <a:srgbClr val="BBBEBF"/>
                </a:solidFill>
                <a:highlight>
                  <a:srgbClr val="121314"/>
                </a:highlight>
                <a:latin typeface="Courier New"/>
                <a:ea typeface="Courier New"/>
                <a:cs typeface="Courier New"/>
                <a:sym typeface="Courier New"/>
              </a:rPr>
              <a:t>-&gt;</a:t>
            </a:r>
            <a:r>
              <a:rPr lang="en-US" sz="750">
                <a:solidFill>
                  <a:srgbClr val="C9D1D9"/>
                </a:solidFill>
                <a:highlight>
                  <a:srgbClr val="121314"/>
                </a:highlight>
                <a:latin typeface="Courier New"/>
                <a:ea typeface="Courier New"/>
                <a:cs typeface="Courier New"/>
                <a:sym typeface="Courier New"/>
              </a:rPr>
              <a:t>right</a:t>
            </a:r>
            <a:r>
              <a:rPr lang="en-US" sz="750">
                <a:solidFill>
                  <a:srgbClr val="BBBEBF"/>
                </a:solidFill>
                <a:highlight>
                  <a:srgbClr val="121314"/>
                </a:highlight>
                <a:latin typeface="Courier New"/>
                <a:ea typeface="Courier New"/>
                <a:cs typeface="Courier New"/>
                <a:sym typeface="Courier New"/>
              </a:rPr>
              <a:t>);</a:t>
            </a:r>
            <a:endParaRPr sz="7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7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750">
                <a:solidFill>
                  <a:srgbClr val="BBBEBF"/>
                </a:solidFill>
                <a:highlight>
                  <a:srgbClr val="121314"/>
                </a:highlight>
                <a:latin typeface="Courier New"/>
                <a:ea typeface="Courier New"/>
                <a:cs typeface="Courier New"/>
                <a:sym typeface="Courier New"/>
              </a:rPr>
              <a:t>   </a:t>
            </a:r>
            <a:r>
              <a:rPr lang="en-US" sz="750">
                <a:solidFill>
                  <a:srgbClr val="C586C0"/>
                </a:solidFill>
                <a:highlight>
                  <a:srgbClr val="121314"/>
                </a:highlight>
                <a:latin typeface="Courier New"/>
                <a:ea typeface="Courier New"/>
                <a:cs typeface="Courier New"/>
                <a:sym typeface="Courier New"/>
              </a:rPr>
              <a:t>return</a:t>
            </a:r>
            <a:r>
              <a:rPr lang="en-US" sz="750">
                <a:solidFill>
                  <a:srgbClr val="BBBEBF"/>
                </a:solidFill>
                <a:highlight>
                  <a:srgbClr val="121314"/>
                </a:highlight>
                <a:latin typeface="Courier New"/>
                <a:ea typeface="Courier New"/>
                <a:cs typeface="Courier New"/>
                <a:sym typeface="Courier New"/>
              </a:rPr>
              <a:t> </a:t>
            </a:r>
            <a:r>
              <a:rPr lang="en-US" sz="750">
                <a:solidFill>
                  <a:srgbClr val="D2A8FF"/>
                </a:solidFill>
                <a:highlight>
                  <a:srgbClr val="121314"/>
                </a:highlight>
                <a:latin typeface="Courier New"/>
                <a:ea typeface="Courier New"/>
                <a:cs typeface="Courier New"/>
                <a:sym typeface="Courier New"/>
              </a:rPr>
              <a:t>rotateWithRightChild</a:t>
            </a:r>
            <a:r>
              <a:rPr lang="en-US" sz="750">
                <a:solidFill>
                  <a:srgbClr val="BBBEBF"/>
                </a:solidFill>
                <a:highlight>
                  <a:srgbClr val="121314"/>
                </a:highlight>
                <a:latin typeface="Courier New"/>
                <a:ea typeface="Courier New"/>
                <a:cs typeface="Courier New"/>
                <a:sym typeface="Courier New"/>
              </a:rPr>
              <a:t>(root);</a:t>
            </a:r>
            <a:endParaRPr sz="7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750">
                <a:solidFill>
                  <a:srgbClr val="BBBEBF"/>
                </a:solidFill>
                <a:highlight>
                  <a:srgbClr val="121314"/>
                </a:highlight>
                <a:latin typeface="Courier New"/>
                <a:ea typeface="Courier New"/>
                <a:cs typeface="Courier New"/>
                <a:sym typeface="Courier New"/>
              </a:rPr>
              <a:t>}</a:t>
            </a:r>
            <a:endParaRPr sz="750">
              <a:solidFill>
                <a:srgbClr val="BBBEBF"/>
              </a:solidFill>
              <a:highlight>
                <a:srgbClr val="121314"/>
              </a:highlight>
              <a:latin typeface="Courier New"/>
              <a:ea typeface="Courier New"/>
              <a:cs typeface="Courier New"/>
              <a:sym typeface="Courier New"/>
            </a:endParaRPr>
          </a:p>
        </p:txBody>
      </p:sp>
      <p:sp>
        <p:nvSpPr>
          <p:cNvPr id="563" name="Google Shape;563;p18"/>
          <p:cNvSpPr/>
          <p:nvPr/>
        </p:nvSpPr>
        <p:spPr>
          <a:xfrm>
            <a:off x="4709160" y="1344168"/>
            <a:ext cx="2609698" cy="256032"/>
          </a:xfrm>
          <a:prstGeom prst="roundRect">
            <a:avLst>
              <a:gd fmla="val 21429"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8"/>
          <p:cNvSpPr/>
          <p:nvPr/>
        </p:nvSpPr>
        <p:spPr>
          <a:xfrm>
            <a:off x="4709160" y="1344168"/>
            <a:ext cx="2609698"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CÓDIGO — doubleWithLeftChild</a:t>
            </a:r>
            <a:endParaRPr b="0" i="0" sz="800" u="none" cap="none" strike="noStrike">
              <a:solidFill>
                <a:schemeClr val="dk1"/>
              </a:solidFill>
              <a:latin typeface="Calibri"/>
              <a:ea typeface="Calibri"/>
              <a:cs typeface="Calibri"/>
              <a:sym typeface="Calibri"/>
            </a:endParaRPr>
          </a:p>
        </p:txBody>
      </p:sp>
      <p:sp>
        <p:nvSpPr>
          <p:cNvPr id="565" name="Google Shape;565;p18"/>
          <p:cNvSpPr/>
          <p:nvPr/>
        </p:nvSpPr>
        <p:spPr>
          <a:xfrm>
            <a:off x="4709160" y="4023360"/>
            <a:ext cx="41148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566" name="Google Shape;566;p18"/>
          <p:cNvSpPr/>
          <p:nvPr/>
        </p:nvSpPr>
        <p:spPr>
          <a:xfrm>
            <a:off x="137160" y="4846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AED · T2 · AVL · Double Rotation</a:t>
            </a:r>
            <a:endParaRPr b="0" i="0" sz="900" u="none" cap="none" strike="noStrike">
              <a:solidFill>
                <a:schemeClr val="dk1"/>
              </a:solidFill>
              <a:latin typeface="Calibri"/>
              <a:ea typeface="Calibri"/>
              <a:cs typeface="Calibri"/>
              <a:sym typeface="Calibri"/>
            </a:endParaRPr>
          </a:p>
        </p:txBody>
      </p:sp>
      <p:sp>
        <p:nvSpPr>
          <p:cNvPr id="567" name="Google Shape;567;p18"/>
          <p:cNvSpPr/>
          <p:nvPr/>
        </p:nvSpPr>
        <p:spPr>
          <a:xfrm>
            <a:off x="8503920" y="4846320"/>
            <a:ext cx="54864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18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F1A"/>
        </a:solidFill>
      </p:bgPr>
    </p:bg>
    <p:spTree>
      <p:nvGrpSpPr>
        <p:cNvPr id="572" name="Shape 572"/>
        <p:cNvGrpSpPr/>
        <p:nvPr/>
      </p:nvGrpSpPr>
      <p:grpSpPr>
        <a:xfrm>
          <a:off x="0" y="0"/>
          <a:ext cx="0" cy="0"/>
          <a:chOff x="0" y="0"/>
          <a:chExt cx="0" cy="0"/>
        </a:xfrm>
      </p:grpSpPr>
      <p:sp>
        <p:nvSpPr>
          <p:cNvPr id="573" name="Google Shape;573;p19"/>
          <p:cNvSpPr/>
          <p:nvPr/>
        </p:nvSpPr>
        <p:spPr>
          <a:xfrm>
            <a:off x="0" y="0"/>
            <a:ext cx="54864"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9"/>
          <p:cNvSpPr/>
          <p:nvPr/>
        </p:nvSpPr>
        <p:spPr>
          <a:xfrm>
            <a:off x="182880" y="137160"/>
            <a:ext cx="87782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2600"/>
              <a:buFont typeface="Trebuchet MS"/>
              <a:buNone/>
            </a:pPr>
            <a:r>
              <a:rPr b="1" i="0" lang="en-US" sz="2600" u="none" cap="none" strike="noStrike">
                <a:solidFill>
                  <a:srgbClr val="F0F4FF"/>
                </a:solidFill>
                <a:latin typeface="Trebuchet MS"/>
                <a:ea typeface="Trebuchet MS"/>
                <a:cs typeface="Trebuchet MS"/>
                <a:sym typeface="Trebuchet MS"/>
              </a:rPr>
              <a:t>AVL — La garantía logarítmica y el costo</a:t>
            </a:r>
            <a:endParaRPr b="0" i="0" sz="2600" u="none" cap="none" strike="noStrike">
              <a:solidFill>
                <a:schemeClr val="dk1"/>
              </a:solidFill>
              <a:latin typeface="Calibri"/>
              <a:ea typeface="Calibri"/>
              <a:cs typeface="Calibri"/>
              <a:sym typeface="Calibri"/>
            </a:endParaRPr>
          </a:p>
        </p:txBody>
      </p:sp>
      <p:sp>
        <p:nvSpPr>
          <p:cNvPr id="575" name="Google Shape;575;p19"/>
          <p:cNvSpPr/>
          <p:nvPr/>
        </p:nvSpPr>
        <p:spPr>
          <a:xfrm>
            <a:off x="182880" y="749808"/>
            <a:ext cx="8778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1200"/>
              <a:buFont typeface="Calibri"/>
              <a:buNone/>
            </a:pPr>
            <a:r>
              <a:rPr b="0" i="1" lang="en-US" sz="1200" u="none" cap="none" strike="noStrike">
                <a:solidFill>
                  <a:srgbClr val="8892A4"/>
                </a:solidFill>
                <a:latin typeface="Calibri"/>
                <a:ea typeface="Calibri"/>
                <a:cs typeface="Calibri"/>
                <a:sym typeface="Calibri"/>
              </a:rPr>
              <a:t>h ≤ 1.44 × log₂(n+2) — matemáticamente probado</a:t>
            </a:r>
            <a:endParaRPr b="0" i="0" sz="1200" u="none" cap="none" strike="noStrike">
              <a:solidFill>
                <a:schemeClr val="dk1"/>
              </a:solidFill>
              <a:latin typeface="Calibri"/>
              <a:ea typeface="Calibri"/>
              <a:cs typeface="Calibri"/>
              <a:sym typeface="Calibri"/>
            </a:endParaRPr>
          </a:p>
        </p:txBody>
      </p:sp>
      <p:sp>
        <p:nvSpPr>
          <p:cNvPr id="576" name="Google Shape;576;p19"/>
          <p:cNvSpPr/>
          <p:nvPr/>
        </p:nvSpPr>
        <p:spPr>
          <a:xfrm>
            <a:off x="182880" y="1024128"/>
            <a:ext cx="1463040" cy="27432"/>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9"/>
          <p:cNvSpPr/>
          <p:nvPr/>
        </p:nvSpPr>
        <p:spPr>
          <a:xfrm>
            <a:off x="137160" y="1188720"/>
            <a:ext cx="4297680" cy="1417320"/>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9"/>
          <p:cNvSpPr/>
          <p:nvPr/>
        </p:nvSpPr>
        <p:spPr>
          <a:xfrm>
            <a:off x="274320" y="1325880"/>
            <a:ext cx="2949854" cy="256032"/>
          </a:xfrm>
          <a:prstGeom prst="roundRect">
            <a:avLst>
              <a:gd fmla="val 21429"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9"/>
          <p:cNvSpPr/>
          <p:nvPr/>
        </p:nvSpPr>
        <p:spPr>
          <a:xfrm>
            <a:off x="274320" y="1325880"/>
            <a:ext cx="2949854"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LA PRUEBA — Fibonacci connection</a:t>
            </a:r>
            <a:endParaRPr b="0" i="0" sz="800" u="none" cap="none" strike="noStrike">
              <a:solidFill>
                <a:schemeClr val="dk1"/>
              </a:solidFill>
              <a:latin typeface="Calibri"/>
              <a:ea typeface="Calibri"/>
              <a:cs typeface="Calibri"/>
              <a:sym typeface="Calibri"/>
            </a:endParaRPr>
          </a:p>
        </p:txBody>
      </p:sp>
      <p:sp>
        <p:nvSpPr>
          <p:cNvPr id="580" name="Google Shape;580;p19"/>
          <p:cNvSpPr/>
          <p:nvPr/>
        </p:nvSpPr>
        <p:spPr>
          <a:xfrm>
            <a:off x="274320" y="1664208"/>
            <a:ext cx="4023360" cy="8503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El árbol AVL más DELGADO (mínimos nodos para una altura h) sigue la recurrencia de Fibonacci: S(h) = S(h-1) + S(h-2) + 1. Como la secuencia de Fibonacci crece exponencialmente, S(h) ≈ φʰ/√5 donde φ=1.618. Por lo tanto h ≤ log_φ(n) ≈ 1.44 × log₂(n). Para n=10M: h ≤ 1.44×24 ≈ 35 comparaciones.</a:t>
            </a:r>
            <a:endParaRPr b="0" i="0" sz="1050" u="none" cap="none" strike="noStrike">
              <a:solidFill>
                <a:schemeClr val="dk1"/>
              </a:solidFill>
              <a:latin typeface="Calibri"/>
              <a:ea typeface="Calibri"/>
              <a:cs typeface="Calibri"/>
              <a:sym typeface="Calibri"/>
            </a:endParaRPr>
          </a:p>
        </p:txBody>
      </p:sp>
      <p:sp>
        <p:nvSpPr>
          <p:cNvPr id="581" name="Google Shape;581;p19"/>
          <p:cNvSpPr/>
          <p:nvPr/>
        </p:nvSpPr>
        <p:spPr>
          <a:xfrm>
            <a:off x="137160" y="2670048"/>
            <a:ext cx="4297680" cy="2130552"/>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9"/>
          <p:cNvSpPr/>
          <p:nvPr/>
        </p:nvSpPr>
        <p:spPr>
          <a:xfrm>
            <a:off x="274320" y="2807208"/>
            <a:ext cx="1759306" cy="256032"/>
          </a:xfrm>
          <a:prstGeom prst="roundRect">
            <a:avLst>
              <a:gd fmla="val 21429" name="adj"/>
            </a:avLst>
          </a:prstGeom>
          <a:solidFill>
            <a:srgbClr val="10B981"/>
          </a:solidFill>
          <a:ln cap="flat" cmpd="sng" w="1270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9"/>
          <p:cNvSpPr/>
          <p:nvPr/>
        </p:nvSpPr>
        <p:spPr>
          <a:xfrm>
            <a:off x="274320" y="2807208"/>
            <a:ext cx="1759306"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COSTO VS BENEFICIO</a:t>
            </a:r>
            <a:endParaRPr b="0" i="0" sz="800" u="none" cap="none" strike="noStrike">
              <a:solidFill>
                <a:schemeClr val="dk1"/>
              </a:solidFill>
              <a:latin typeface="Calibri"/>
              <a:ea typeface="Calibri"/>
              <a:cs typeface="Calibri"/>
              <a:sym typeface="Calibri"/>
            </a:endParaRPr>
          </a:p>
        </p:txBody>
      </p:sp>
      <p:sp>
        <p:nvSpPr>
          <p:cNvPr id="584" name="Google Shape;584;p19"/>
          <p:cNvSpPr/>
          <p:nvPr/>
        </p:nvSpPr>
        <p:spPr>
          <a:xfrm>
            <a:off x="274320" y="3145536"/>
            <a:ext cx="4023360" cy="1563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BENEFICIO: O(log n) garantizado para search, insert y delete. Sin sorpresas con datos ordenados.</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COSTO: cada inserción/eliminación puede disparar hasta 1 rotación (simple o doble) para restaurar el balance. La rotación es O(1) pero tiene overhead constante. Las alturas se actualizan en el backtrack recursivo.</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En la práctica: AVL es más rígido que Red-Black y hace más rotaciones en secuencias de inserciones. Red-Black acepta un desequilibrio ligeramente mayor a cambio de menos rotaciones.</a:t>
            </a:r>
            <a:endParaRPr b="0" i="0" sz="1050" u="none" cap="none" strike="noStrike">
              <a:solidFill>
                <a:schemeClr val="dk1"/>
              </a:solidFill>
              <a:latin typeface="Calibri"/>
              <a:ea typeface="Calibri"/>
              <a:cs typeface="Calibri"/>
              <a:sym typeface="Calibri"/>
            </a:endParaRPr>
          </a:p>
        </p:txBody>
      </p:sp>
      <p:sp>
        <p:nvSpPr>
          <p:cNvPr id="585" name="Google Shape;585;p19"/>
          <p:cNvSpPr/>
          <p:nvPr/>
        </p:nvSpPr>
        <p:spPr>
          <a:xfrm>
            <a:off x="4572000" y="1188720"/>
            <a:ext cx="4389120" cy="1417320"/>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9"/>
          <p:cNvSpPr/>
          <p:nvPr/>
        </p:nvSpPr>
        <p:spPr>
          <a:xfrm>
            <a:off x="4709160" y="1325880"/>
            <a:ext cx="2269541" cy="256032"/>
          </a:xfrm>
          <a:prstGeom prst="roundRect">
            <a:avLst>
              <a:gd fmla="val 21429" name="adj"/>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9"/>
          <p:cNvSpPr/>
          <p:nvPr/>
        </p:nvSpPr>
        <p:spPr>
          <a:xfrm>
            <a:off x="4709160" y="1325880"/>
            <a:ext cx="2269541"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PARA LOS TICKETS DEL CEO</a:t>
            </a:r>
            <a:endParaRPr b="0" i="0" sz="800" u="none" cap="none" strike="noStrike">
              <a:solidFill>
                <a:schemeClr val="dk1"/>
              </a:solidFill>
              <a:latin typeface="Calibri"/>
              <a:ea typeface="Calibri"/>
              <a:cs typeface="Calibri"/>
              <a:sym typeface="Calibri"/>
            </a:endParaRPr>
          </a:p>
        </p:txBody>
      </p:sp>
      <p:sp>
        <p:nvSpPr>
          <p:cNvPr id="588" name="Google Shape;588;p19"/>
          <p:cNvSpPr/>
          <p:nvPr/>
        </p:nvSpPr>
        <p:spPr>
          <a:xfrm>
            <a:off x="4709160" y="1664208"/>
            <a:ext cx="4114800" cy="8503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Con AVL, los 2M tickets insertados en orden secuencial producen un árbol de altura ≤ 35. Cada inserción dispara como máximo 1 rotación. Cada búsqueda tarda a lo sumo 35 comparaciones — siempre, independientemente del orden de llegada de los tickets.</a:t>
            </a:r>
            <a:endParaRPr b="0" i="0" sz="1050" u="none" cap="none" strike="noStrike">
              <a:solidFill>
                <a:schemeClr val="dk1"/>
              </a:solidFill>
              <a:latin typeface="Calibri"/>
              <a:ea typeface="Calibri"/>
              <a:cs typeface="Calibri"/>
              <a:sym typeface="Calibri"/>
            </a:endParaRPr>
          </a:p>
        </p:txBody>
      </p:sp>
      <p:sp>
        <p:nvSpPr>
          <p:cNvPr id="589" name="Google Shape;589;p19"/>
          <p:cNvSpPr/>
          <p:nvPr/>
        </p:nvSpPr>
        <p:spPr>
          <a:xfrm>
            <a:off x="4572000" y="2670048"/>
            <a:ext cx="4389120" cy="2130552"/>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9"/>
          <p:cNvSpPr/>
          <p:nvPr/>
        </p:nvSpPr>
        <p:spPr>
          <a:xfrm>
            <a:off x="4709160" y="2807208"/>
            <a:ext cx="1759306" cy="256032"/>
          </a:xfrm>
          <a:prstGeom prst="roundRect">
            <a:avLst>
              <a:gd fmla="val 21429" name="adj"/>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9"/>
          <p:cNvSpPr/>
          <p:nvPr/>
        </p:nvSpPr>
        <p:spPr>
          <a:xfrm>
            <a:off x="4709160" y="2807208"/>
            <a:ext cx="1759306"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AVL EN LA PRÁCTICA</a:t>
            </a:r>
            <a:endParaRPr b="0" i="0" sz="800" u="none" cap="none" strike="noStrike">
              <a:solidFill>
                <a:schemeClr val="dk1"/>
              </a:solidFill>
              <a:latin typeface="Calibri"/>
              <a:ea typeface="Calibri"/>
              <a:cs typeface="Calibri"/>
              <a:sym typeface="Calibri"/>
            </a:endParaRPr>
          </a:p>
        </p:txBody>
      </p:sp>
      <p:sp>
        <p:nvSpPr>
          <p:cNvPr id="592" name="Google Shape;592;p19"/>
          <p:cNvSpPr/>
          <p:nvPr/>
        </p:nvSpPr>
        <p:spPr>
          <a:xfrm>
            <a:off x="4709160" y="3145536"/>
            <a:ext cx="4114800" cy="1563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std::map y std::set en C++ NO usan AVL internamente — usan Red-Black trees. La razón: Red-Black garantiza como máximo 2 rotaciones por inserción y ninguna por búsqueda, mientras que AVL puede requerir O(log n) rotaciones en el backtrack. Para cargas de trabajo con muchas inserciones y pocas búsquedas, Red-Black es más eficiente en la práctica.</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AVL es preferible cuando las búsquedas son mucho más frecuentes que las inserciones — el árbol más balanceado garantiza trayectorias de búsqueda más cortas.</a:t>
            </a:r>
            <a:endParaRPr b="0" i="0" sz="1050" u="none" cap="none" strike="noStrike">
              <a:solidFill>
                <a:schemeClr val="dk1"/>
              </a:solidFill>
              <a:latin typeface="Calibri"/>
              <a:ea typeface="Calibri"/>
              <a:cs typeface="Calibri"/>
              <a:sym typeface="Calibri"/>
            </a:endParaRPr>
          </a:p>
        </p:txBody>
      </p:sp>
      <p:sp>
        <p:nvSpPr>
          <p:cNvPr id="593" name="Google Shape;593;p19"/>
          <p:cNvSpPr/>
          <p:nvPr/>
        </p:nvSpPr>
        <p:spPr>
          <a:xfrm>
            <a:off x="137160" y="4846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AED · T2 · AVL · Garantía</a:t>
            </a:r>
            <a:endParaRPr b="0" i="0" sz="900" u="none" cap="none" strike="noStrike">
              <a:solidFill>
                <a:schemeClr val="dk1"/>
              </a:solidFill>
              <a:latin typeface="Calibri"/>
              <a:ea typeface="Calibri"/>
              <a:cs typeface="Calibri"/>
              <a:sym typeface="Calibri"/>
            </a:endParaRPr>
          </a:p>
        </p:txBody>
      </p:sp>
      <p:sp>
        <p:nvSpPr>
          <p:cNvPr id="594" name="Google Shape;594;p19"/>
          <p:cNvSpPr/>
          <p:nvPr/>
        </p:nvSpPr>
        <p:spPr>
          <a:xfrm>
            <a:off x="8503920" y="4846320"/>
            <a:ext cx="54864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19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F1A"/>
        </a:solidFill>
      </p:bgPr>
    </p:bg>
    <p:spTree>
      <p:nvGrpSpPr>
        <p:cNvPr id="599" name="Shape 599"/>
        <p:cNvGrpSpPr/>
        <p:nvPr/>
      </p:nvGrpSpPr>
      <p:grpSpPr>
        <a:xfrm>
          <a:off x="0" y="0"/>
          <a:ext cx="0" cy="0"/>
          <a:chOff x="0" y="0"/>
          <a:chExt cx="0" cy="0"/>
        </a:xfrm>
      </p:grpSpPr>
      <p:sp>
        <p:nvSpPr>
          <p:cNvPr id="600" name="Google Shape;600;p20"/>
          <p:cNvSpPr/>
          <p:nvPr/>
        </p:nvSpPr>
        <p:spPr>
          <a:xfrm>
            <a:off x="0" y="0"/>
            <a:ext cx="54864"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0"/>
          <p:cNvSpPr/>
          <p:nvPr/>
        </p:nvSpPr>
        <p:spPr>
          <a:xfrm>
            <a:off x="182880" y="137160"/>
            <a:ext cx="87782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2600"/>
              <a:buFont typeface="Trebuchet MS"/>
              <a:buNone/>
            </a:pPr>
            <a:r>
              <a:rPr b="1" i="0" lang="en-US" sz="2600" u="none" cap="none" strike="noStrike">
                <a:solidFill>
                  <a:srgbClr val="F0F4FF"/>
                </a:solidFill>
                <a:latin typeface="Trebuchet MS"/>
                <a:ea typeface="Trebuchet MS"/>
                <a:cs typeface="Trebuchet MS"/>
                <a:sym typeface="Trebuchet MS"/>
              </a:rPr>
              <a:t>Errores comunes — AVL</a:t>
            </a:r>
            <a:endParaRPr b="0" i="0" sz="2600" u="none" cap="none" strike="noStrike">
              <a:solidFill>
                <a:schemeClr val="dk1"/>
              </a:solidFill>
              <a:latin typeface="Calibri"/>
              <a:ea typeface="Calibri"/>
              <a:cs typeface="Calibri"/>
              <a:sym typeface="Calibri"/>
            </a:endParaRPr>
          </a:p>
        </p:txBody>
      </p:sp>
      <p:sp>
        <p:nvSpPr>
          <p:cNvPr id="602" name="Google Shape;602;p20"/>
          <p:cNvSpPr/>
          <p:nvPr/>
        </p:nvSpPr>
        <p:spPr>
          <a:xfrm>
            <a:off x="182880" y="749808"/>
            <a:ext cx="8778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1200"/>
              <a:buFont typeface="Calibri"/>
              <a:buNone/>
            </a:pPr>
            <a:r>
              <a:rPr b="0" i="1" lang="en-US" sz="1200" u="none" cap="none" strike="noStrike">
                <a:solidFill>
                  <a:srgbClr val="8892A4"/>
                </a:solidFill>
                <a:latin typeface="Calibri"/>
                <a:ea typeface="Calibri"/>
                <a:cs typeface="Calibri"/>
                <a:sym typeface="Calibri"/>
              </a:rPr>
              <a:t>Los que más rompen en implementación</a:t>
            </a:r>
            <a:endParaRPr b="0" i="0" sz="1200" u="none" cap="none" strike="noStrike">
              <a:solidFill>
                <a:schemeClr val="dk1"/>
              </a:solidFill>
              <a:latin typeface="Calibri"/>
              <a:ea typeface="Calibri"/>
              <a:cs typeface="Calibri"/>
              <a:sym typeface="Calibri"/>
            </a:endParaRPr>
          </a:p>
        </p:txBody>
      </p:sp>
      <p:sp>
        <p:nvSpPr>
          <p:cNvPr id="603" name="Google Shape;603;p20"/>
          <p:cNvSpPr/>
          <p:nvPr/>
        </p:nvSpPr>
        <p:spPr>
          <a:xfrm>
            <a:off x="182880" y="1024128"/>
            <a:ext cx="1463040" cy="27432"/>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0"/>
          <p:cNvSpPr/>
          <p:nvPr/>
        </p:nvSpPr>
        <p:spPr>
          <a:xfrm>
            <a:off x="137160" y="1097280"/>
            <a:ext cx="2834640" cy="3840480"/>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0"/>
          <p:cNvSpPr/>
          <p:nvPr/>
        </p:nvSpPr>
        <p:spPr>
          <a:xfrm>
            <a:off x="137160" y="1097280"/>
            <a:ext cx="45720" cy="3840480"/>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0"/>
          <p:cNvSpPr/>
          <p:nvPr/>
        </p:nvSpPr>
        <p:spPr>
          <a:xfrm>
            <a:off x="274320" y="1188720"/>
            <a:ext cx="2651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000"/>
              <a:buFont typeface="Calibri"/>
              <a:buNone/>
            </a:pPr>
            <a:r>
              <a:rPr b="1" i="0" lang="en-US" sz="1000" u="none" cap="none" strike="noStrike">
                <a:solidFill>
                  <a:srgbClr val="EF4444"/>
                </a:solidFill>
                <a:latin typeface="Calibri"/>
                <a:ea typeface="Calibri"/>
                <a:cs typeface="Calibri"/>
                <a:sym typeface="Calibri"/>
              </a:rPr>
              <a:t>Subtree Orphanage — no asignar el retorno</a:t>
            </a:r>
            <a:endParaRPr b="0" i="0" sz="1000" u="none" cap="none" strike="noStrike">
              <a:solidFill>
                <a:schemeClr val="dk1"/>
              </a:solidFill>
              <a:latin typeface="Calibri"/>
              <a:ea typeface="Calibri"/>
              <a:cs typeface="Calibri"/>
              <a:sym typeface="Calibri"/>
            </a:endParaRPr>
          </a:p>
        </p:txBody>
      </p:sp>
      <p:sp>
        <p:nvSpPr>
          <p:cNvPr id="607" name="Google Shape;607;p20"/>
          <p:cNvSpPr/>
          <p:nvPr/>
        </p:nvSpPr>
        <p:spPr>
          <a:xfrm>
            <a:off x="274320" y="1463040"/>
            <a:ext cx="2560320" cy="18288"/>
          </a:xfrm>
          <a:prstGeom prst="rect">
            <a:avLst/>
          </a:prstGeom>
          <a:solidFill>
            <a:srgbClr val="7F1D1D"/>
          </a:solidFill>
          <a:ln cap="flat" cmpd="sng" w="12700">
            <a:solidFill>
              <a:srgbClr val="7F1D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20"/>
          <p:cNvSpPr/>
          <p:nvPr/>
        </p:nvSpPr>
        <p:spPr>
          <a:xfrm>
            <a:off x="274320" y="1499616"/>
            <a:ext cx="26517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750"/>
              <a:buFont typeface="Calibri"/>
              <a:buNone/>
            </a:pPr>
            <a:r>
              <a:rPr b="1" i="0" lang="en-US" sz="750" u="none" cap="none" strike="noStrike">
                <a:solidFill>
                  <a:srgbClr val="EF4444"/>
                </a:solidFill>
                <a:latin typeface="Calibri"/>
                <a:ea typeface="Calibri"/>
                <a:cs typeface="Calibri"/>
                <a:sym typeface="Calibri"/>
              </a:rPr>
              <a:t>✗ INCORRECTO</a:t>
            </a:r>
            <a:endParaRPr b="0" i="0" sz="750" u="none" cap="none" strike="noStrike">
              <a:solidFill>
                <a:schemeClr val="dk1"/>
              </a:solidFill>
              <a:latin typeface="Calibri"/>
              <a:ea typeface="Calibri"/>
              <a:cs typeface="Calibri"/>
              <a:sym typeface="Calibri"/>
            </a:endParaRPr>
          </a:p>
        </p:txBody>
      </p:sp>
      <p:sp>
        <p:nvSpPr>
          <p:cNvPr id="609" name="Google Shape;609;p20"/>
          <p:cNvSpPr/>
          <p:nvPr/>
        </p:nvSpPr>
        <p:spPr>
          <a:xfrm>
            <a:off x="274320" y="1682496"/>
            <a:ext cx="2651760" cy="7498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9999"/>
              </a:buClr>
              <a:buSzPts val="850"/>
              <a:buFont typeface="Consolas"/>
              <a:buNone/>
            </a:pPr>
            <a:r>
              <a:rPr b="0" i="0" lang="en-US" sz="850" u="none" cap="none" strike="noStrike">
                <a:solidFill>
                  <a:srgbClr val="FF9999"/>
                </a:solidFill>
                <a:latin typeface="Consolas"/>
                <a:ea typeface="Consolas"/>
                <a:cs typeface="Consolas"/>
                <a:sym typeface="Consolas"/>
              </a:rPr>
              <a:t>// INCORRECTO — rotación huérfana:</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850" u="none" cap="none" strike="noStrike">
                <a:solidFill>
                  <a:srgbClr val="FF9999"/>
                </a:solidFill>
                <a:latin typeface="Consolas"/>
                <a:ea typeface="Consolas"/>
                <a:cs typeface="Consolas"/>
                <a:sym typeface="Consolas"/>
              </a:rPr>
              <a:t>void insert(Comparable x,</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850" u="none" cap="none" strike="noStrike">
                <a:solidFill>
                  <a:srgbClr val="FF9999"/>
                </a:solidFill>
                <a:latin typeface="Consolas"/>
                <a:ea typeface="Consolas"/>
                <a:cs typeface="Consolas"/>
                <a:sym typeface="Consolas"/>
              </a:rPr>
              <a:t>            AvlNode*&amp; t) {</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850" u="none" cap="none" strike="noStrike">
                <a:solidFill>
                  <a:srgbClr val="FF9999"/>
                </a:solidFill>
                <a:latin typeface="Consolas"/>
                <a:ea typeface="Consolas"/>
                <a:cs typeface="Consolas"/>
                <a:sym typeface="Consolas"/>
              </a:rPr>
              <a:t>  // ...</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850" u="none" cap="none" strike="noStrike">
                <a:solidFill>
                  <a:srgbClr val="FF9999"/>
                </a:solidFill>
                <a:latin typeface="Consolas"/>
                <a:ea typeface="Consolas"/>
                <a:cs typeface="Consolas"/>
                <a:sym typeface="Consolas"/>
              </a:rPr>
              <a:t>  if (bf == 2) {</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850" u="none" cap="none" strike="noStrike">
                <a:solidFill>
                  <a:srgbClr val="FF9999"/>
                </a:solidFill>
                <a:latin typeface="Consolas"/>
                <a:ea typeface="Consolas"/>
                <a:cs typeface="Consolas"/>
                <a:sym typeface="Consolas"/>
              </a:rPr>
              <a:t>    rotateWithLeftChild(t);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850" u="none" cap="none" strike="noStrike">
                <a:solidFill>
                  <a:srgbClr val="FF9999"/>
                </a:solidFill>
                <a:latin typeface="Consolas"/>
                <a:ea typeface="Consolas"/>
                <a:cs typeface="Consolas"/>
                <a:sym typeface="Consolas"/>
              </a:rPr>
              <a:t>    // ← resultado ignorado!</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850" u="none" cap="none" strike="noStrike">
                <a:solidFill>
                  <a:srgbClr val="FF9999"/>
                </a:solidFill>
                <a:latin typeface="Consolas"/>
                <a:ea typeface="Consolas"/>
                <a:cs typeface="Consolas"/>
                <a:sym typeface="Consolas"/>
              </a:rPr>
              <a:t>    // t sigue apuntando al</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850" u="none" cap="none" strike="noStrike">
                <a:solidFill>
                  <a:srgbClr val="FF9999"/>
                </a:solidFill>
                <a:latin typeface="Consolas"/>
                <a:ea typeface="Consolas"/>
                <a:cs typeface="Consolas"/>
                <a:sym typeface="Consolas"/>
              </a:rPr>
              <a:t>    // nodo viejo k2</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850" u="none" cap="none" strike="noStrike">
                <a:solidFill>
                  <a:srgbClr val="FF9999"/>
                </a:solidFill>
                <a:latin typeface="Consolas"/>
                <a:ea typeface="Consolas"/>
                <a:cs typeface="Consolas"/>
                <a:sym typeface="Consolas"/>
              </a:rPr>
              <a:t>  }</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850" u="none" cap="none" strike="noStrike">
                <a:solidFill>
                  <a:srgbClr val="FF9999"/>
                </a:solidFill>
                <a:latin typeface="Consolas"/>
                <a:ea typeface="Consolas"/>
                <a:cs typeface="Consolas"/>
                <a:sym typeface="Consolas"/>
              </a:rPr>
              <a:t>}</a:t>
            </a:r>
            <a:endParaRPr b="0" i="0" sz="850" u="none" cap="none" strike="noStrike">
              <a:solidFill>
                <a:schemeClr val="dk1"/>
              </a:solidFill>
              <a:latin typeface="Calibri"/>
              <a:ea typeface="Calibri"/>
              <a:cs typeface="Calibri"/>
              <a:sym typeface="Calibri"/>
            </a:endParaRPr>
          </a:p>
        </p:txBody>
      </p:sp>
      <p:sp>
        <p:nvSpPr>
          <p:cNvPr id="610" name="Google Shape;610;p20"/>
          <p:cNvSpPr/>
          <p:nvPr/>
        </p:nvSpPr>
        <p:spPr>
          <a:xfrm>
            <a:off x="274320" y="2468880"/>
            <a:ext cx="26517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750"/>
              <a:buFont typeface="Calibri"/>
              <a:buNone/>
            </a:pPr>
            <a:r>
              <a:rPr b="1" i="0" lang="en-US" sz="750" u="none" cap="none" strike="noStrike">
                <a:solidFill>
                  <a:srgbClr val="F59E0B"/>
                </a:solidFill>
                <a:latin typeface="Calibri"/>
                <a:ea typeface="Calibri"/>
                <a:cs typeface="Calibri"/>
                <a:sym typeface="Calibri"/>
              </a:rPr>
              <a:t>CONSECUENCIA</a:t>
            </a:r>
            <a:endParaRPr b="0" i="0" sz="750" u="none" cap="none" strike="noStrike">
              <a:solidFill>
                <a:schemeClr val="dk1"/>
              </a:solidFill>
              <a:latin typeface="Calibri"/>
              <a:ea typeface="Calibri"/>
              <a:cs typeface="Calibri"/>
              <a:sym typeface="Calibri"/>
            </a:endParaRPr>
          </a:p>
        </p:txBody>
      </p:sp>
      <p:sp>
        <p:nvSpPr>
          <p:cNvPr id="611" name="Google Shape;611;p20"/>
          <p:cNvSpPr/>
          <p:nvPr/>
        </p:nvSpPr>
        <p:spPr>
          <a:xfrm>
            <a:off x="274320" y="2651760"/>
            <a:ext cx="265176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850"/>
              <a:buFont typeface="Calibri"/>
              <a:buNone/>
            </a:pPr>
            <a:r>
              <a:rPr b="0" i="0" lang="en-US" sz="850" u="none" cap="none" strike="noStrike">
                <a:solidFill>
                  <a:srgbClr val="F0F4FF"/>
                </a:solidFill>
                <a:latin typeface="Calibri"/>
                <a:ea typeface="Calibri"/>
                <a:cs typeface="Calibri"/>
                <a:sym typeface="Calibri"/>
              </a:rPr>
              <a:t>El subárbol rotado se desconecta del árbol. k1 (la nueva raíz) queda en memoria pero es inaccesible desde la raíz. El árbol 'original' sigue desbalanceado porque t no fue actualizado. Datos perdidos permanentemente.</a:t>
            </a:r>
            <a:endParaRPr b="0" i="0" sz="850" u="none" cap="none" strike="noStrike">
              <a:solidFill>
                <a:schemeClr val="dk1"/>
              </a:solidFill>
              <a:latin typeface="Calibri"/>
              <a:ea typeface="Calibri"/>
              <a:cs typeface="Calibri"/>
              <a:sym typeface="Calibri"/>
            </a:endParaRPr>
          </a:p>
        </p:txBody>
      </p:sp>
      <p:sp>
        <p:nvSpPr>
          <p:cNvPr id="612" name="Google Shape;612;p20"/>
          <p:cNvSpPr/>
          <p:nvPr/>
        </p:nvSpPr>
        <p:spPr>
          <a:xfrm>
            <a:off x="274320" y="3401568"/>
            <a:ext cx="26517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750"/>
              <a:buFont typeface="Calibri"/>
              <a:buNone/>
            </a:pPr>
            <a:r>
              <a:rPr b="1" i="0" lang="en-US" sz="750" u="none" cap="none" strike="noStrike">
                <a:solidFill>
                  <a:srgbClr val="10B981"/>
                </a:solidFill>
                <a:latin typeface="Calibri"/>
                <a:ea typeface="Calibri"/>
                <a:cs typeface="Calibri"/>
                <a:sym typeface="Calibri"/>
              </a:rPr>
              <a:t>✓ CORRECTO</a:t>
            </a:r>
            <a:endParaRPr b="0" i="0" sz="750" u="none" cap="none" strike="noStrike">
              <a:solidFill>
                <a:schemeClr val="dk1"/>
              </a:solidFill>
              <a:latin typeface="Calibri"/>
              <a:ea typeface="Calibri"/>
              <a:cs typeface="Calibri"/>
              <a:sym typeface="Calibri"/>
            </a:endParaRPr>
          </a:p>
        </p:txBody>
      </p:sp>
      <p:sp>
        <p:nvSpPr>
          <p:cNvPr id="613" name="Google Shape;613;p20"/>
          <p:cNvSpPr/>
          <p:nvPr/>
        </p:nvSpPr>
        <p:spPr>
          <a:xfrm>
            <a:off x="274320" y="3584448"/>
            <a:ext cx="26517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CORRECTO — asignar retorno:</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if (bf == 2 &amp;&amp;</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height(t-&gt;left-&gt;left) &gt;=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height(t-&gt;left-&gt;right))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t = rotateWithLeftChild(t);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else</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t = doubleWithLeftChild(t);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t ahora apunta a la nueva raíz</a:t>
            </a:r>
            <a:endParaRPr b="0" i="0" sz="850" u="none" cap="none" strike="noStrike">
              <a:solidFill>
                <a:schemeClr val="dk1"/>
              </a:solidFill>
              <a:latin typeface="Calibri"/>
              <a:ea typeface="Calibri"/>
              <a:cs typeface="Calibri"/>
              <a:sym typeface="Calibri"/>
            </a:endParaRPr>
          </a:p>
        </p:txBody>
      </p:sp>
      <p:sp>
        <p:nvSpPr>
          <p:cNvPr id="614" name="Google Shape;614;p20"/>
          <p:cNvSpPr/>
          <p:nvPr/>
        </p:nvSpPr>
        <p:spPr>
          <a:xfrm>
            <a:off x="3154680" y="1097280"/>
            <a:ext cx="2834640" cy="3840480"/>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0"/>
          <p:cNvSpPr/>
          <p:nvPr/>
        </p:nvSpPr>
        <p:spPr>
          <a:xfrm>
            <a:off x="3154680" y="1097280"/>
            <a:ext cx="45720" cy="3840480"/>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20"/>
          <p:cNvSpPr/>
          <p:nvPr/>
        </p:nvSpPr>
        <p:spPr>
          <a:xfrm>
            <a:off x="3291840" y="1188720"/>
            <a:ext cx="2651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000"/>
              <a:buFont typeface="Calibri"/>
              <a:buNone/>
            </a:pPr>
            <a:r>
              <a:rPr b="1" i="0" lang="en-US" sz="1000" u="none" cap="none" strike="noStrike">
                <a:solidFill>
                  <a:srgbClr val="EF4444"/>
                </a:solidFill>
                <a:latin typeface="Calibri"/>
                <a:ea typeface="Calibri"/>
                <a:cs typeface="Calibri"/>
                <a:sym typeface="Calibri"/>
              </a:rPr>
              <a:t>Inside case con single rotation</a:t>
            </a:r>
            <a:endParaRPr b="0" i="0" sz="1000" u="none" cap="none" strike="noStrike">
              <a:solidFill>
                <a:schemeClr val="dk1"/>
              </a:solidFill>
              <a:latin typeface="Calibri"/>
              <a:ea typeface="Calibri"/>
              <a:cs typeface="Calibri"/>
              <a:sym typeface="Calibri"/>
            </a:endParaRPr>
          </a:p>
        </p:txBody>
      </p:sp>
      <p:sp>
        <p:nvSpPr>
          <p:cNvPr id="617" name="Google Shape;617;p20"/>
          <p:cNvSpPr/>
          <p:nvPr/>
        </p:nvSpPr>
        <p:spPr>
          <a:xfrm>
            <a:off x="3291840" y="1463040"/>
            <a:ext cx="2560320" cy="18288"/>
          </a:xfrm>
          <a:prstGeom prst="rect">
            <a:avLst/>
          </a:prstGeom>
          <a:solidFill>
            <a:srgbClr val="7F1D1D"/>
          </a:solidFill>
          <a:ln cap="flat" cmpd="sng" w="12700">
            <a:solidFill>
              <a:srgbClr val="7F1D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0"/>
          <p:cNvSpPr/>
          <p:nvPr/>
        </p:nvSpPr>
        <p:spPr>
          <a:xfrm>
            <a:off x="3291840" y="1499616"/>
            <a:ext cx="26517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750"/>
              <a:buFont typeface="Calibri"/>
              <a:buNone/>
            </a:pPr>
            <a:r>
              <a:rPr b="1" i="0" lang="en-US" sz="750" u="none" cap="none" strike="noStrike">
                <a:solidFill>
                  <a:srgbClr val="EF4444"/>
                </a:solidFill>
                <a:latin typeface="Calibri"/>
                <a:ea typeface="Calibri"/>
                <a:cs typeface="Calibri"/>
                <a:sym typeface="Calibri"/>
              </a:rPr>
              <a:t>✗ INCORRECTO</a:t>
            </a:r>
            <a:endParaRPr b="0" i="0" sz="750" u="none" cap="none" strike="noStrike">
              <a:solidFill>
                <a:schemeClr val="dk1"/>
              </a:solidFill>
              <a:latin typeface="Calibri"/>
              <a:ea typeface="Calibri"/>
              <a:cs typeface="Calibri"/>
              <a:sym typeface="Calibri"/>
            </a:endParaRPr>
          </a:p>
        </p:txBody>
      </p:sp>
      <p:sp>
        <p:nvSpPr>
          <p:cNvPr id="619" name="Google Shape;619;p20"/>
          <p:cNvSpPr/>
          <p:nvPr/>
        </p:nvSpPr>
        <p:spPr>
          <a:xfrm>
            <a:off x="3291840" y="1682496"/>
            <a:ext cx="2651760" cy="7498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9999"/>
              </a:buClr>
              <a:buSzPts val="850"/>
              <a:buFont typeface="Consolas"/>
              <a:buNone/>
            </a:pPr>
            <a:r>
              <a:rPr b="0" i="0" lang="en-US" sz="850" u="none" cap="none" strike="noStrike">
                <a:solidFill>
                  <a:srgbClr val="FF9999"/>
                </a:solidFill>
                <a:latin typeface="Consolas"/>
                <a:ea typeface="Consolas"/>
                <a:cs typeface="Consolas"/>
                <a:sym typeface="Consolas"/>
              </a:rPr>
              <a:t>// Árbol: root=5, left=2, right(2)=4</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850" u="none" cap="none" strike="noStrike">
                <a:solidFill>
                  <a:srgbClr val="FF9999"/>
                </a:solidFill>
                <a:latin typeface="Consolas"/>
                <a:ea typeface="Consolas"/>
                <a:cs typeface="Consolas"/>
                <a:sym typeface="Consolas"/>
              </a:rPr>
              <a:t>// Es Left-RIGHT (zig-zag)</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850" u="none" cap="none" strike="noStrike">
                <a:solidFill>
                  <a:srgbClr val="FF9999"/>
                </a:solidFill>
                <a:latin typeface="Consolas"/>
                <a:ea typeface="Consolas"/>
                <a:cs typeface="Consolas"/>
                <a:sym typeface="Consolas"/>
              </a:rPr>
              <a:t>// Estudiante aplica single:</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850" u="none" cap="none" strike="noStrike">
                <a:solidFill>
                  <a:srgbClr val="FF9999"/>
                </a:solidFill>
                <a:latin typeface="Consolas"/>
                <a:ea typeface="Consolas"/>
                <a:cs typeface="Consolas"/>
                <a:sym typeface="Consolas"/>
              </a:rPr>
              <a:t>t = rotateWithLeftChild(t);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850" u="none" cap="none" strike="noStrike">
                <a:solidFill>
                  <a:srgbClr val="FF9999"/>
                </a:solidFill>
                <a:latin typeface="Consolas"/>
                <a:ea typeface="Consolas"/>
                <a:cs typeface="Consolas"/>
                <a:sym typeface="Consolas"/>
              </a:rPr>
              <a:t>// Resultado: root=2, right=5</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850" u="none" cap="none" strike="noStrike">
                <a:solidFill>
                  <a:srgbClr val="FF9999"/>
                </a:solidFill>
                <a:latin typeface="Consolas"/>
                <a:ea typeface="Consolas"/>
                <a:cs typeface="Consolas"/>
                <a:sym typeface="Consolas"/>
              </a:rPr>
              <a:t>//            right(2)=4</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850" u="none" cap="none" strike="noStrike">
                <a:solidFill>
                  <a:srgbClr val="FF9999"/>
                </a:solidFill>
                <a:latin typeface="Consolas"/>
                <a:ea typeface="Consolas"/>
                <a:cs typeface="Consolas"/>
                <a:sym typeface="Consolas"/>
              </a:rPr>
              <a:t>// Altura: igual que antes</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850" u="none" cap="none" strike="noStrike">
                <a:solidFill>
                  <a:srgbClr val="FF9999"/>
                </a:solidFill>
                <a:latin typeface="Consolas"/>
                <a:ea typeface="Consolas"/>
                <a:cs typeface="Consolas"/>
                <a:sym typeface="Consolas"/>
              </a:rPr>
              <a:t>// Balance: sigue siendo 2</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850" u="none" cap="none" strike="noStrike">
                <a:solidFill>
                  <a:srgbClr val="FF9999"/>
                </a:solidFill>
                <a:latin typeface="Consolas"/>
                <a:ea typeface="Consolas"/>
                <a:cs typeface="Consolas"/>
                <a:sym typeface="Consolas"/>
              </a:rPr>
              <a:t>// Fix: no funcionó</a:t>
            </a:r>
            <a:endParaRPr b="0" i="0" sz="850" u="none" cap="none" strike="noStrike">
              <a:solidFill>
                <a:schemeClr val="dk1"/>
              </a:solidFill>
              <a:latin typeface="Calibri"/>
              <a:ea typeface="Calibri"/>
              <a:cs typeface="Calibri"/>
              <a:sym typeface="Calibri"/>
            </a:endParaRPr>
          </a:p>
        </p:txBody>
      </p:sp>
      <p:sp>
        <p:nvSpPr>
          <p:cNvPr id="620" name="Google Shape;620;p20"/>
          <p:cNvSpPr/>
          <p:nvPr/>
        </p:nvSpPr>
        <p:spPr>
          <a:xfrm>
            <a:off x="3291840" y="2468880"/>
            <a:ext cx="26517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750"/>
              <a:buFont typeface="Calibri"/>
              <a:buNone/>
            </a:pPr>
            <a:r>
              <a:rPr b="1" i="0" lang="en-US" sz="750" u="none" cap="none" strike="noStrike">
                <a:solidFill>
                  <a:srgbClr val="F59E0B"/>
                </a:solidFill>
                <a:latin typeface="Calibri"/>
                <a:ea typeface="Calibri"/>
                <a:cs typeface="Calibri"/>
                <a:sym typeface="Calibri"/>
              </a:rPr>
              <a:t>CONSECUENCIA</a:t>
            </a:r>
            <a:endParaRPr b="0" i="0" sz="750" u="none" cap="none" strike="noStrike">
              <a:solidFill>
                <a:schemeClr val="dk1"/>
              </a:solidFill>
              <a:latin typeface="Calibri"/>
              <a:ea typeface="Calibri"/>
              <a:cs typeface="Calibri"/>
              <a:sym typeface="Calibri"/>
            </a:endParaRPr>
          </a:p>
        </p:txBody>
      </p:sp>
      <p:sp>
        <p:nvSpPr>
          <p:cNvPr id="621" name="Google Shape;621;p20"/>
          <p:cNvSpPr/>
          <p:nvPr/>
        </p:nvSpPr>
        <p:spPr>
          <a:xfrm>
            <a:off x="3291840" y="2651760"/>
            <a:ext cx="265176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850"/>
              <a:buFont typeface="Calibri"/>
              <a:buNone/>
            </a:pPr>
            <a:r>
              <a:rPr b="0" i="0" lang="en-US" sz="850" u="none" cap="none" strike="noStrike">
                <a:solidFill>
                  <a:srgbClr val="F0F4FF"/>
                </a:solidFill>
                <a:latin typeface="Calibri"/>
                <a:ea typeface="Calibri"/>
                <a:cs typeface="Calibri"/>
                <a:sym typeface="Calibri"/>
              </a:rPr>
              <a:t>La single rotation en un caso zig-zag no reduce la altura. El árbol queda con la misma profundidad y el mismo balance factor violado. La propiedad AVL sigue sin cumplirse.</a:t>
            </a:r>
            <a:endParaRPr b="0" i="0" sz="850" u="none" cap="none" strike="noStrike">
              <a:solidFill>
                <a:schemeClr val="dk1"/>
              </a:solidFill>
              <a:latin typeface="Calibri"/>
              <a:ea typeface="Calibri"/>
              <a:cs typeface="Calibri"/>
              <a:sym typeface="Calibri"/>
            </a:endParaRPr>
          </a:p>
        </p:txBody>
      </p:sp>
      <p:sp>
        <p:nvSpPr>
          <p:cNvPr id="622" name="Google Shape;622;p20"/>
          <p:cNvSpPr/>
          <p:nvPr/>
        </p:nvSpPr>
        <p:spPr>
          <a:xfrm>
            <a:off x="3291840" y="3401568"/>
            <a:ext cx="26517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750"/>
              <a:buFont typeface="Calibri"/>
              <a:buNone/>
            </a:pPr>
            <a:r>
              <a:rPr b="1" i="0" lang="en-US" sz="750" u="none" cap="none" strike="noStrike">
                <a:solidFill>
                  <a:srgbClr val="10B981"/>
                </a:solidFill>
                <a:latin typeface="Calibri"/>
                <a:ea typeface="Calibri"/>
                <a:cs typeface="Calibri"/>
                <a:sym typeface="Calibri"/>
              </a:rPr>
              <a:t>✓ CORRECTO</a:t>
            </a:r>
            <a:endParaRPr b="0" i="0" sz="750" u="none" cap="none" strike="noStrike">
              <a:solidFill>
                <a:schemeClr val="dk1"/>
              </a:solidFill>
              <a:latin typeface="Calibri"/>
              <a:ea typeface="Calibri"/>
              <a:cs typeface="Calibri"/>
              <a:sym typeface="Calibri"/>
            </a:endParaRPr>
          </a:p>
        </p:txBody>
      </p:sp>
      <p:sp>
        <p:nvSpPr>
          <p:cNvPr id="623" name="Google Shape;623;p20"/>
          <p:cNvSpPr/>
          <p:nvPr/>
        </p:nvSpPr>
        <p:spPr>
          <a:xfrm>
            <a:off x="3291840" y="3584448"/>
            <a:ext cx="26517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Identificar correctamente:</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if (height(t-&gt;left-&gt;left) &gt;=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height(t-&gt;left-&gt;right))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t = rotateWithLeftChild(t); // LL</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else</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t = doubleWithLeftChild(t); // LR</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La condición distingue</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línea recta de zig-zag</a:t>
            </a:r>
            <a:endParaRPr b="0" i="0" sz="850" u="none" cap="none" strike="noStrike">
              <a:solidFill>
                <a:schemeClr val="dk1"/>
              </a:solidFill>
              <a:latin typeface="Calibri"/>
              <a:ea typeface="Calibri"/>
              <a:cs typeface="Calibri"/>
              <a:sym typeface="Calibri"/>
            </a:endParaRPr>
          </a:p>
        </p:txBody>
      </p:sp>
      <p:sp>
        <p:nvSpPr>
          <p:cNvPr id="624" name="Google Shape;624;p20"/>
          <p:cNvSpPr/>
          <p:nvPr/>
        </p:nvSpPr>
        <p:spPr>
          <a:xfrm>
            <a:off x="6172200" y="1097280"/>
            <a:ext cx="2834640" cy="3840480"/>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0"/>
          <p:cNvSpPr/>
          <p:nvPr/>
        </p:nvSpPr>
        <p:spPr>
          <a:xfrm>
            <a:off x="6172200" y="1097280"/>
            <a:ext cx="45720" cy="3840480"/>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0"/>
          <p:cNvSpPr/>
          <p:nvPr/>
        </p:nvSpPr>
        <p:spPr>
          <a:xfrm>
            <a:off x="6309360" y="1188720"/>
            <a:ext cx="2651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000"/>
              <a:buFont typeface="Calibri"/>
              <a:buNone/>
            </a:pPr>
            <a:r>
              <a:rPr b="1" i="0" lang="en-US" sz="1000" u="none" cap="none" strike="noStrike">
                <a:solidFill>
                  <a:srgbClr val="EF4444"/>
                </a:solidFill>
                <a:latin typeface="Calibri"/>
                <a:ea typeface="Calibri"/>
                <a:cs typeface="Calibri"/>
                <a:sym typeface="Calibri"/>
              </a:rPr>
              <a:t>Height calculado recursivamente</a:t>
            </a:r>
            <a:endParaRPr b="0" i="0" sz="1000" u="none" cap="none" strike="noStrike">
              <a:solidFill>
                <a:schemeClr val="dk1"/>
              </a:solidFill>
              <a:latin typeface="Calibri"/>
              <a:ea typeface="Calibri"/>
              <a:cs typeface="Calibri"/>
              <a:sym typeface="Calibri"/>
            </a:endParaRPr>
          </a:p>
        </p:txBody>
      </p:sp>
      <p:sp>
        <p:nvSpPr>
          <p:cNvPr id="627" name="Google Shape;627;p20"/>
          <p:cNvSpPr/>
          <p:nvPr/>
        </p:nvSpPr>
        <p:spPr>
          <a:xfrm>
            <a:off x="6309360" y="1463040"/>
            <a:ext cx="2560320" cy="18288"/>
          </a:xfrm>
          <a:prstGeom prst="rect">
            <a:avLst/>
          </a:prstGeom>
          <a:solidFill>
            <a:srgbClr val="7F1D1D"/>
          </a:solidFill>
          <a:ln cap="flat" cmpd="sng" w="12700">
            <a:solidFill>
              <a:srgbClr val="7F1D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20"/>
          <p:cNvSpPr/>
          <p:nvPr/>
        </p:nvSpPr>
        <p:spPr>
          <a:xfrm>
            <a:off x="6309360" y="1499616"/>
            <a:ext cx="26517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750"/>
              <a:buFont typeface="Calibri"/>
              <a:buNone/>
            </a:pPr>
            <a:r>
              <a:rPr b="1" i="0" lang="en-US" sz="750" u="none" cap="none" strike="noStrike">
                <a:solidFill>
                  <a:srgbClr val="EF4444"/>
                </a:solidFill>
                <a:latin typeface="Calibri"/>
                <a:ea typeface="Calibri"/>
                <a:cs typeface="Calibri"/>
                <a:sym typeface="Calibri"/>
              </a:rPr>
              <a:t>✗ INCORRECTO</a:t>
            </a:r>
            <a:endParaRPr b="0" i="0" sz="750" u="none" cap="none" strike="noStrike">
              <a:solidFill>
                <a:schemeClr val="dk1"/>
              </a:solidFill>
              <a:latin typeface="Calibri"/>
              <a:ea typeface="Calibri"/>
              <a:cs typeface="Calibri"/>
              <a:sym typeface="Calibri"/>
            </a:endParaRPr>
          </a:p>
        </p:txBody>
      </p:sp>
      <p:sp>
        <p:nvSpPr>
          <p:cNvPr id="629" name="Google Shape;629;p20"/>
          <p:cNvSpPr/>
          <p:nvPr/>
        </p:nvSpPr>
        <p:spPr>
          <a:xfrm>
            <a:off x="6309360" y="1682496"/>
            <a:ext cx="2651760" cy="7498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9999"/>
              </a:buClr>
              <a:buSzPts val="850"/>
              <a:buFont typeface="Consolas"/>
              <a:buNone/>
            </a:pPr>
            <a:r>
              <a:rPr b="0" i="0" lang="en-US" sz="850" u="none" cap="none" strike="noStrike">
                <a:solidFill>
                  <a:srgbClr val="FF9999"/>
                </a:solidFill>
                <a:latin typeface="Consolas"/>
                <a:ea typeface="Consolas"/>
                <a:cs typeface="Consolas"/>
                <a:sym typeface="Consolas"/>
              </a:rPr>
              <a:t>// LENTO — O(n) por llamada:</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850" u="none" cap="none" strike="noStrike">
                <a:solidFill>
                  <a:srgbClr val="FF9999"/>
                </a:solidFill>
                <a:latin typeface="Consolas"/>
                <a:ea typeface="Consolas"/>
                <a:cs typeface="Consolas"/>
                <a:sym typeface="Consolas"/>
              </a:rPr>
              <a:t>int height(AvlNode* t) {</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850" u="none" cap="none" strike="noStrike">
                <a:solidFill>
                  <a:srgbClr val="FF9999"/>
                </a:solidFill>
                <a:latin typeface="Consolas"/>
                <a:ea typeface="Consolas"/>
                <a:cs typeface="Consolas"/>
                <a:sym typeface="Consolas"/>
              </a:rPr>
              <a:t>  if (t == nullptr) return -1;</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850" u="none" cap="none" strike="noStrike">
                <a:solidFill>
                  <a:srgbClr val="FF9999"/>
                </a:solidFill>
                <a:latin typeface="Consolas"/>
                <a:ea typeface="Consolas"/>
                <a:cs typeface="Consolas"/>
                <a:sym typeface="Consolas"/>
              </a:rPr>
              <a:t>  return 1 + max(</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850" u="none" cap="none" strike="noStrike">
                <a:solidFill>
                  <a:srgbClr val="FF9999"/>
                </a:solidFill>
                <a:latin typeface="Consolas"/>
                <a:ea typeface="Consolas"/>
                <a:cs typeface="Consolas"/>
                <a:sym typeface="Consolas"/>
              </a:rPr>
              <a:t>    height(t-&gt;left),  // O(n)</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850" u="none" cap="none" strike="noStrike">
                <a:solidFill>
                  <a:srgbClr val="FF9999"/>
                </a:solidFill>
                <a:latin typeface="Consolas"/>
                <a:ea typeface="Consolas"/>
                <a:cs typeface="Consolas"/>
                <a:sym typeface="Consolas"/>
              </a:rPr>
              <a:t>    height(t-&gt;right)  // O(n)</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850" u="none" cap="none" strike="noStrike">
                <a:solidFill>
                  <a:srgbClr val="FF9999"/>
                </a:solidFill>
                <a:latin typeface="Consolas"/>
                <a:ea typeface="Consolas"/>
                <a:cs typeface="Consolas"/>
                <a:sym typeface="Consolas"/>
              </a:rPr>
              <a:t>  );</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850" u="none" cap="none" strike="noStrike">
                <a:solidFill>
                  <a:srgbClr val="FF9999"/>
                </a:solidFill>
                <a:latin typeface="Consolas"/>
                <a:ea typeface="Consolas"/>
                <a:cs typeface="Consolas"/>
                <a:sym typeface="Consolas"/>
              </a:rPr>
              <a: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850" u="none" cap="none" strike="noStrike">
                <a:solidFill>
                  <a:srgbClr val="FF9999"/>
                </a:solidFill>
                <a:latin typeface="Consolas"/>
                <a:ea typeface="Consolas"/>
                <a:cs typeface="Consolas"/>
                <a:sym typeface="Consolas"/>
              </a:rPr>
              <a:t>// En cada inserción: O(n)</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850" u="none" cap="none" strike="noStrike">
                <a:solidFill>
                  <a:srgbClr val="FF9999"/>
                </a:solidFill>
                <a:latin typeface="Consolas"/>
                <a:ea typeface="Consolas"/>
                <a:cs typeface="Consolas"/>
                <a:sym typeface="Consolas"/>
              </a:rPr>
              <a:t>// Total para n inserciones:</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850" u="none" cap="none" strike="noStrike">
                <a:solidFill>
                  <a:srgbClr val="FF9999"/>
                </a:solidFill>
                <a:latin typeface="Consolas"/>
                <a:ea typeface="Consolas"/>
                <a:cs typeface="Consolas"/>
                <a:sym typeface="Consolas"/>
              </a:rPr>
              <a:t>// O(n²) — peor que BST</a:t>
            </a:r>
            <a:endParaRPr b="0" i="0" sz="850" u="none" cap="none" strike="noStrike">
              <a:solidFill>
                <a:schemeClr val="dk1"/>
              </a:solidFill>
              <a:latin typeface="Calibri"/>
              <a:ea typeface="Calibri"/>
              <a:cs typeface="Calibri"/>
              <a:sym typeface="Calibri"/>
            </a:endParaRPr>
          </a:p>
        </p:txBody>
      </p:sp>
      <p:sp>
        <p:nvSpPr>
          <p:cNvPr id="630" name="Google Shape;630;p20"/>
          <p:cNvSpPr/>
          <p:nvPr/>
        </p:nvSpPr>
        <p:spPr>
          <a:xfrm>
            <a:off x="6309360" y="2468880"/>
            <a:ext cx="26517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750"/>
              <a:buFont typeface="Calibri"/>
              <a:buNone/>
            </a:pPr>
            <a:r>
              <a:rPr b="1" i="0" lang="en-US" sz="750" u="none" cap="none" strike="noStrike">
                <a:solidFill>
                  <a:srgbClr val="F59E0B"/>
                </a:solidFill>
                <a:latin typeface="Calibri"/>
                <a:ea typeface="Calibri"/>
                <a:cs typeface="Calibri"/>
                <a:sym typeface="Calibri"/>
              </a:rPr>
              <a:t>CONSECUENCIA</a:t>
            </a:r>
            <a:endParaRPr b="0" i="0" sz="750" u="none" cap="none" strike="noStrike">
              <a:solidFill>
                <a:schemeClr val="dk1"/>
              </a:solidFill>
              <a:latin typeface="Calibri"/>
              <a:ea typeface="Calibri"/>
              <a:cs typeface="Calibri"/>
              <a:sym typeface="Calibri"/>
            </a:endParaRPr>
          </a:p>
        </p:txBody>
      </p:sp>
      <p:sp>
        <p:nvSpPr>
          <p:cNvPr id="631" name="Google Shape;631;p20"/>
          <p:cNvSpPr/>
          <p:nvPr/>
        </p:nvSpPr>
        <p:spPr>
          <a:xfrm>
            <a:off x="6309360" y="2651760"/>
            <a:ext cx="265176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850"/>
              <a:buFont typeface="Calibri"/>
              <a:buNone/>
            </a:pPr>
            <a:r>
              <a:rPr b="0" i="0" lang="en-US" sz="850" u="none" cap="none" strike="noStrike">
                <a:solidFill>
                  <a:srgbClr val="F0F4FF"/>
                </a:solidFill>
                <a:latin typeface="Calibri"/>
                <a:ea typeface="Calibri"/>
                <a:cs typeface="Calibri"/>
                <a:sym typeface="Calibri"/>
              </a:rPr>
              <a:t>Recalcular height en cada inserción es O(n). Con n inserciones: O(n²) total. Un árbol AVL con esta implementación es más lento que un BST simple para construcción.</a:t>
            </a:r>
            <a:endParaRPr b="0" i="0" sz="850" u="none" cap="none" strike="noStrike">
              <a:solidFill>
                <a:schemeClr val="dk1"/>
              </a:solidFill>
              <a:latin typeface="Calibri"/>
              <a:ea typeface="Calibri"/>
              <a:cs typeface="Calibri"/>
              <a:sym typeface="Calibri"/>
            </a:endParaRPr>
          </a:p>
        </p:txBody>
      </p:sp>
      <p:sp>
        <p:nvSpPr>
          <p:cNvPr id="632" name="Google Shape;632;p20"/>
          <p:cNvSpPr/>
          <p:nvPr/>
        </p:nvSpPr>
        <p:spPr>
          <a:xfrm>
            <a:off x="6309360" y="3401568"/>
            <a:ext cx="26517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750"/>
              <a:buFont typeface="Calibri"/>
              <a:buNone/>
            </a:pPr>
            <a:r>
              <a:rPr b="1" i="0" lang="en-US" sz="750" u="none" cap="none" strike="noStrike">
                <a:solidFill>
                  <a:srgbClr val="10B981"/>
                </a:solidFill>
                <a:latin typeface="Calibri"/>
                <a:ea typeface="Calibri"/>
                <a:cs typeface="Calibri"/>
                <a:sym typeface="Calibri"/>
              </a:rPr>
              <a:t>✓ CORRECTO</a:t>
            </a:r>
            <a:endParaRPr b="0" i="0" sz="750" u="none" cap="none" strike="noStrike">
              <a:solidFill>
                <a:schemeClr val="dk1"/>
              </a:solidFill>
              <a:latin typeface="Calibri"/>
              <a:ea typeface="Calibri"/>
              <a:cs typeface="Calibri"/>
              <a:sym typeface="Calibri"/>
            </a:endParaRPr>
          </a:p>
        </p:txBody>
      </p:sp>
      <p:sp>
        <p:nvSpPr>
          <p:cNvPr id="633" name="Google Shape;633;p20"/>
          <p:cNvSpPr/>
          <p:nvPr/>
        </p:nvSpPr>
        <p:spPr>
          <a:xfrm>
            <a:off x="6309360" y="3584448"/>
            <a:ext cx="26517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Almacenar en el nodo:</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struct AvlNode {</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Comparable element;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AvlNode* left;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AvlNode* right;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int height; // ← stored!</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Actualizar en O(1):</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t-&gt;height = max(</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height(t-&gt;left),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height(t-&gt;right)) + 1;</a:t>
            </a:r>
            <a:endParaRPr b="0" i="0" sz="850" u="none" cap="none" strike="noStrike">
              <a:solidFill>
                <a:schemeClr val="dk1"/>
              </a:solidFill>
              <a:latin typeface="Calibri"/>
              <a:ea typeface="Calibri"/>
              <a:cs typeface="Calibri"/>
              <a:sym typeface="Calibri"/>
            </a:endParaRPr>
          </a:p>
        </p:txBody>
      </p:sp>
      <p:sp>
        <p:nvSpPr>
          <p:cNvPr id="634" name="Google Shape;634;p20"/>
          <p:cNvSpPr/>
          <p:nvPr/>
        </p:nvSpPr>
        <p:spPr>
          <a:xfrm>
            <a:off x="137160" y="4846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AED · T2 · AVL · Errores</a:t>
            </a:r>
            <a:endParaRPr b="0" i="0" sz="900" u="none" cap="none" strike="noStrike">
              <a:solidFill>
                <a:schemeClr val="dk1"/>
              </a:solidFill>
              <a:latin typeface="Calibri"/>
              <a:ea typeface="Calibri"/>
              <a:cs typeface="Calibri"/>
              <a:sym typeface="Calibri"/>
            </a:endParaRPr>
          </a:p>
        </p:txBody>
      </p:sp>
      <p:sp>
        <p:nvSpPr>
          <p:cNvPr id="635" name="Google Shape;635;p20"/>
          <p:cNvSpPr/>
          <p:nvPr/>
        </p:nvSpPr>
        <p:spPr>
          <a:xfrm>
            <a:off x="8503920" y="4846320"/>
            <a:ext cx="54864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20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F1A"/>
        </a:solidFill>
      </p:bgPr>
    </p:bg>
    <p:spTree>
      <p:nvGrpSpPr>
        <p:cNvPr id="640" name="Shape 640"/>
        <p:cNvGrpSpPr/>
        <p:nvPr/>
      </p:nvGrpSpPr>
      <p:grpSpPr>
        <a:xfrm>
          <a:off x="0" y="0"/>
          <a:ext cx="0" cy="0"/>
          <a:chOff x="0" y="0"/>
          <a:chExt cx="0" cy="0"/>
        </a:xfrm>
      </p:grpSpPr>
      <p:sp>
        <p:nvSpPr>
          <p:cNvPr id="641" name="Google Shape;641;p21"/>
          <p:cNvSpPr/>
          <p:nvPr/>
        </p:nvSpPr>
        <p:spPr>
          <a:xfrm>
            <a:off x="0" y="0"/>
            <a:ext cx="54864"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1"/>
          <p:cNvSpPr/>
          <p:nvPr/>
        </p:nvSpPr>
        <p:spPr>
          <a:xfrm>
            <a:off x="182880" y="137160"/>
            <a:ext cx="87782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2600"/>
              <a:buFont typeface="Trebuchet MS"/>
              <a:buNone/>
            </a:pPr>
            <a:r>
              <a:rPr b="1" i="0" lang="en-US" sz="2600" u="none" cap="none" strike="noStrike">
                <a:solidFill>
                  <a:srgbClr val="F0F4FF"/>
                </a:solidFill>
                <a:latin typeface="Trebuchet MS"/>
                <a:ea typeface="Trebuchet MS"/>
                <a:cs typeface="Trebuchet MS"/>
                <a:sym typeface="Trebuchet MS"/>
              </a:rPr>
              <a:t>En resumen — AVL</a:t>
            </a:r>
            <a:endParaRPr b="0" i="0" sz="2600" u="none" cap="none" strike="noStrike">
              <a:solidFill>
                <a:schemeClr val="dk1"/>
              </a:solidFill>
              <a:latin typeface="Calibri"/>
              <a:ea typeface="Calibri"/>
              <a:cs typeface="Calibri"/>
              <a:sym typeface="Calibri"/>
            </a:endParaRPr>
          </a:p>
        </p:txBody>
      </p:sp>
      <p:sp>
        <p:nvSpPr>
          <p:cNvPr id="643" name="Google Shape;643;p21"/>
          <p:cNvSpPr/>
          <p:nvPr/>
        </p:nvSpPr>
        <p:spPr>
          <a:xfrm>
            <a:off x="182880" y="1024128"/>
            <a:ext cx="1463040" cy="27432"/>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1"/>
          <p:cNvSpPr/>
          <p:nvPr/>
        </p:nvSpPr>
        <p:spPr>
          <a:xfrm>
            <a:off x="137160" y="4498848"/>
            <a:ext cx="886968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B981"/>
              </a:buClr>
              <a:buSzPts val="1100"/>
              <a:buFont typeface="Calibri"/>
              <a:buNone/>
            </a:pPr>
            <a:r>
              <a:rPr b="1" i="0" lang="en-US" sz="1100" u="none" cap="none" strike="noStrike">
                <a:solidFill>
                  <a:srgbClr val="10B981"/>
                </a:solidFill>
                <a:latin typeface="Calibri"/>
                <a:ea typeface="Calibri"/>
                <a:cs typeface="Calibri"/>
                <a:sym typeface="Calibri"/>
              </a:rPr>
              <a:t>O(log n) garantizado. </a:t>
            </a:r>
            <a:r>
              <a:rPr b="0" i="0" lang="en-US" sz="1100" u="none" cap="none" strike="noStrike">
                <a:solidFill>
                  <a:srgbClr val="00D4FF"/>
                </a:solidFill>
                <a:latin typeface="Calibri"/>
                <a:ea typeface="Calibri"/>
                <a:cs typeface="Calibri"/>
                <a:sym typeface="Calibri"/>
              </a:rPr>
              <a:t>Línea recta → 1 rotación. </a:t>
            </a:r>
            <a:r>
              <a:rPr b="0" i="0" lang="en-US" sz="1100" u="none" cap="none" strike="noStrike">
                <a:solidFill>
                  <a:srgbClr val="7C3AED"/>
                </a:solidFill>
                <a:latin typeface="Calibri"/>
                <a:ea typeface="Calibri"/>
                <a:cs typeface="Calibri"/>
                <a:sym typeface="Calibri"/>
              </a:rPr>
              <a:t>Zig-zag → 2 rotaciones. </a:t>
            </a:r>
            <a:r>
              <a:rPr b="1" i="0" lang="en-US" sz="1100" u="none" cap="none" strike="noStrike">
                <a:solidFill>
                  <a:srgbClr val="F59E0B"/>
                </a:solidFill>
                <a:latin typeface="Calibri"/>
                <a:ea typeface="Calibri"/>
                <a:cs typeface="Calibri"/>
                <a:sym typeface="Calibri"/>
              </a:rPr>
              <a:t>height almacenada, nunca recalculada.</a:t>
            </a:r>
            <a:endParaRPr b="0" i="0" sz="1100" u="none" cap="none" strike="noStrike">
              <a:solidFill>
                <a:schemeClr val="dk1"/>
              </a:solidFill>
              <a:latin typeface="Calibri"/>
              <a:ea typeface="Calibri"/>
              <a:cs typeface="Calibri"/>
              <a:sym typeface="Calibri"/>
            </a:endParaRPr>
          </a:p>
        </p:txBody>
      </p:sp>
      <p:sp>
        <p:nvSpPr>
          <p:cNvPr id="645" name="Google Shape;645;p21"/>
          <p:cNvSpPr/>
          <p:nvPr/>
        </p:nvSpPr>
        <p:spPr>
          <a:xfrm>
            <a:off x="137160" y="4846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AED · T2 · AVL · Resumen</a:t>
            </a:r>
            <a:endParaRPr b="0" i="0" sz="900" u="none" cap="none" strike="noStrike">
              <a:solidFill>
                <a:schemeClr val="dk1"/>
              </a:solidFill>
              <a:latin typeface="Calibri"/>
              <a:ea typeface="Calibri"/>
              <a:cs typeface="Calibri"/>
              <a:sym typeface="Calibri"/>
            </a:endParaRPr>
          </a:p>
        </p:txBody>
      </p:sp>
      <p:sp>
        <p:nvSpPr>
          <p:cNvPr id="646" name="Google Shape;646;p21"/>
          <p:cNvSpPr/>
          <p:nvPr/>
        </p:nvSpPr>
        <p:spPr>
          <a:xfrm>
            <a:off x="8503920" y="4846320"/>
            <a:ext cx="54864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21</a:t>
            </a:r>
            <a:endParaRPr b="0" i="0" sz="900" u="none" cap="none" strike="noStrike">
              <a:solidFill>
                <a:schemeClr val="dk1"/>
              </a:solidFill>
              <a:latin typeface="Calibri"/>
              <a:ea typeface="Calibri"/>
              <a:cs typeface="Calibri"/>
              <a:sym typeface="Calibri"/>
            </a:endParaRPr>
          </a:p>
        </p:txBody>
      </p:sp>
      <p:pic>
        <p:nvPicPr>
          <p:cNvPr id="647" name="Google Shape;647;p21"/>
          <p:cNvPicPr preferRelativeResize="0"/>
          <p:nvPr/>
        </p:nvPicPr>
        <p:blipFill>
          <a:blip r:embed="rId3">
            <a:alphaModFix/>
          </a:blip>
          <a:stretch>
            <a:fillRect/>
          </a:stretch>
        </p:blipFill>
        <p:spPr>
          <a:xfrm>
            <a:off x="1702972" y="1036327"/>
            <a:ext cx="6149542" cy="343509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F1A"/>
        </a:solidFill>
      </p:bgPr>
    </p:bg>
    <p:spTree>
      <p:nvGrpSpPr>
        <p:cNvPr id="652" name="Shape 652"/>
        <p:cNvGrpSpPr/>
        <p:nvPr/>
      </p:nvGrpSpPr>
      <p:grpSpPr>
        <a:xfrm>
          <a:off x="0" y="0"/>
          <a:ext cx="0" cy="0"/>
          <a:chOff x="0" y="0"/>
          <a:chExt cx="0" cy="0"/>
        </a:xfrm>
      </p:grpSpPr>
      <p:sp>
        <p:nvSpPr>
          <p:cNvPr id="653" name="Google Shape;653;p22"/>
          <p:cNvSpPr/>
          <p:nvPr/>
        </p:nvSpPr>
        <p:spPr>
          <a:xfrm>
            <a:off x="0" y="0"/>
            <a:ext cx="54864"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22"/>
          <p:cNvSpPr/>
          <p:nvPr/>
        </p:nvSpPr>
        <p:spPr>
          <a:xfrm>
            <a:off x="182880" y="137160"/>
            <a:ext cx="87782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2600"/>
              <a:buFont typeface="Trebuchet MS"/>
              <a:buNone/>
            </a:pPr>
            <a:r>
              <a:rPr b="1" i="0" lang="en-US" sz="2600" u="none" cap="none" strike="noStrike">
                <a:solidFill>
                  <a:srgbClr val="F0F4FF"/>
                </a:solidFill>
                <a:latin typeface="Trebuchet MS"/>
                <a:ea typeface="Trebuchet MS"/>
                <a:cs typeface="Trebuchet MS"/>
                <a:sym typeface="Trebuchet MS"/>
              </a:rPr>
              <a:t>Red-Black Tree — Las 5 propiedades</a:t>
            </a:r>
            <a:endParaRPr b="0" i="0" sz="2600" u="none" cap="none" strike="noStrike">
              <a:solidFill>
                <a:schemeClr val="dk1"/>
              </a:solidFill>
              <a:latin typeface="Calibri"/>
              <a:ea typeface="Calibri"/>
              <a:cs typeface="Calibri"/>
              <a:sym typeface="Calibri"/>
            </a:endParaRPr>
          </a:p>
        </p:txBody>
      </p:sp>
      <p:sp>
        <p:nvSpPr>
          <p:cNvPr id="655" name="Google Shape;655;p22"/>
          <p:cNvSpPr/>
          <p:nvPr/>
        </p:nvSpPr>
        <p:spPr>
          <a:xfrm>
            <a:off x="182880" y="749808"/>
            <a:ext cx="8778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1200"/>
              <a:buFont typeface="Calibri"/>
              <a:buNone/>
            </a:pPr>
            <a:r>
              <a:rPr b="0" i="1" lang="en-US" sz="1200" u="none" cap="none" strike="noStrike">
                <a:solidFill>
                  <a:srgbClr val="8892A4"/>
                </a:solidFill>
                <a:latin typeface="Calibri"/>
                <a:ea typeface="Calibri"/>
                <a:cs typeface="Calibri"/>
                <a:sym typeface="Calibri"/>
              </a:rPr>
              <a:t>El balance relajado que usa std::map internamente</a:t>
            </a:r>
            <a:endParaRPr b="0" i="0" sz="1200" u="none" cap="none" strike="noStrike">
              <a:solidFill>
                <a:schemeClr val="dk1"/>
              </a:solidFill>
              <a:latin typeface="Calibri"/>
              <a:ea typeface="Calibri"/>
              <a:cs typeface="Calibri"/>
              <a:sym typeface="Calibri"/>
            </a:endParaRPr>
          </a:p>
        </p:txBody>
      </p:sp>
      <p:sp>
        <p:nvSpPr>
          <p:cNvPr id="656" name="Google Shape;656;p22"/>
          <p:cNvSpPr/>
          <p:nvPr/>
        </p:nvSpPr>
        <p:spPr>
          <a:xfrm>
            <a:off x="182880" y="1024128"/>
            <a:ext cx="1463040" cy="27432"/>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2"/>
          <p:cNvSpPr/>
          <p:nvPr/>
        </p:nvSpPr>
        <p:spPr>
          <a:xfrm>
            <a:off x="137160" y="1188720"/>
            <a:ext cx="5029200" cy="621792"/>
          </a:xfrm>
          <a:prstGeom prst="rect">
            <a:avLst/>
          </a:prstGeom>
          <a:solidFill>
            <a:srgbClr val="141829"/>
          </a:solidFill>
          <a:ln cap="flat" cmpd="sng" w="9525">
            <a:solidFill>
              <a:srgbClr val="EF4444"/>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2"/>
          <p:cNvSpPr/>
          <p:nvPr/>
        </p:nvSpPr>
        <p:spPr>
          <a:xfrm>
            <a:off x="137160" y="1188720"/>
            <a:ext cx="45720" cy="621792"/>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2"/>
          <p:cNvSpPr/>
          <p:nvPr/>
        </p:nvSpPr>
        <p:spPr>
          <a:xfrm>
            <a:off x="274320" y="1243584"/>
            <a:ext cx="32004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600"/>
              <a:buFont typeface="Trebuchet MS"/>
              <a:buNone/>
            </a:pPr>
            <a:r>
              <a:rPr b="1" i="0" lang="en-US" sz="1600" u="none" cap="none" strike="noStrike">
                <a:solidFill>
                  <a:srgbClr val="EF4444"/>
                </a:solidFill>
                <a:latin typeface="Trebuchet MS"/>
                <a:ea typeface="Trebuchet MS"/>
                <a:cs typeface="Trebuchet MS"/>
                <a:sym typeface="Trebuchet MS"/>
              </a:rPr>
              <a:t>1.</a:t>
            </a:r>
            <a:endParaRPr b="0" i="0" sz="1600" u="none" cap="none" strike="noStrike">
              <a:solidFill>
                <a:schemeClr val="dk1"/>
              </a:solidFill>
              <a:latin typeface="Calibri"/>
              <a:ea typeface="Calibri"/>
              <a:cs typeface="Calibri"/>
              <a:sym typeface="Calibri"/>
            </a:endParaRPr>
          </a:p>
        </p:txBody>
      </p:sp>
      <p:sp>
        <p:nvSpPr>
          <p:cNvPr id="660" name="Google Shape;660;p22"/>
          <p:cNvSpPr/>
          <p:nvPr/>
        </p:nvSpPr>
        <p:spPr>
          <a:xfrm>
            <a:off x="621792" y="1243584"/>
            <a:ext cx="4462272"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Todo nodo es RED o BLACK.</a:t>
            </a:r>
            <a:endParaRPr b="0" i="0" sz="1050" u="none" cap="none" strike="noStrike">
              <a:solidFill>
                <a:schemeClr val="dk1"/>
              </a:solidFill>
              <a:latin typeface="Calibri"/>
              <a:ea typeface="Calibri"/>
              <a:cs typeface="Calibri"/>
              <a:sym typeface="Calibri"/>
            </a:endParaRPr>
          </a:p>
        </p:txBody>
      </p:sp>
      <p:sp>
        <p:nvSpPr>
          <p:cNvPr id="661" name="Google Shape;661;p22"/>
          <p:cNvSpPr/>
          <p:nvPr/>
        </p:nvSpPr>
        <p:spPr>
          <a:xfrm>
            <a:off x="137160" y="1874520"/>
            <a:ext cx="5029200" cy="621792"/>
          </a:xfrm>
          <a:prstGeom prst="rect">
            <a:avLst/>
          </a:prstGeom>
          <a:solidFill>
            <a:srgbClr val="141829"/>
          </a:solidFill>
          <a:ln cap="flat" cmpd="sng" w="9525">
            <a:solidFill>
              <a:srgbClr val="EF4444"/>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22"/>
          <p:cNvSpPr/>
          <p:nvPr/>
        </p:nvSpPr>
        <p:spPr>
          <a:xfrm>
            <a:off x="137160" y="1874520"/>
            <a:ext cx="45720" cy="621792"/>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22"/>
          <p:cNvSpPr/>
          <p:nvPr/>
        </p:nvSpPr>
        <p:spPr>
          <a:xfrm>
            <a:off x="274320" y="1929384"/>
            <a:ext cx="32004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600"/>
              <a:buFont typeface="Trebuchet MS"/>
              <a:buNone/>
            </a:pPr>
            <a:r>
              <a:rPr b="1" i="0" lang="en-US" sz="1600" u="none" cap="none" strike="noStrike">
                <a:solidFill>
                  <a:srgbClr val="EF4444"/>
                </a:solidFill>
                <a:latin typeface="Trebuchet MS"/>
                <a:ea typeface="Trebuchet MS"/>
                <a:cs typeface="Trebuchet MS"/>
                <a:sym typeface="Trebuchet MS"/>
              </a:rPr>
              <a:t>2.</a:t>
            </a:r>
            <a:endParaRPr b="0" i="0" sz="1600" u="none" cap="none" strike="noStrike">
              <a:solidFill>
                <a:schemeClr val="dk1"/>
              </a:solidFill>
              <a:latin typeface="Calibri"/>
              <a:ea typeface="Calibri"/>
              <a:cs typeface="Calibri"/>
              <a:sym typeface="Calibri"/>
            </a:endParaRPr>
          </a:p>
        </p:txBody>
      </p:sp>
      <p:sp>
        <p:nvSpPr>
          <p:cNvPr id="664" name="Google Shape;664;p22"/>
          <p:cNvSpPr/>
          <p:nvPr/>
        </p:nvSpPr>
        <p:spPr>
          <a:xfrm>
            <a:off x="621792" y="1929384"/>
            <a:ext cx="4462272"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La raíz es siempre BLACK.</a:t>
            </a:r>
            <a:endParaRPr b="0" i="0" sz="1050" u="none" cap="none" strike="noStrike">
              <a:solidFill>
                <a:schemeClr val="dk1"/>
              </a:solidFill>
              <a:latin typeface="Calibri"/>
              <a:ea typeface="Calibri"/>
              <a:cs typeface="Calibri"/>
              <a:sym typeface="Calibri"/>
            </a:endParaRPr>
          </a:p>
        </p:txBody>
      </p:sp>
      <p:sp>
        <p:nvSpPr>
          <p:cNvPr id="665" name="Google Shape;665;p22"/>
          <p:cNvSpPr/>
          <p:nvPr/>
        </p:nvSpPr>
        <p:spPr>
          <a:xfrm>
            <a:off x="137160" y="2560320"/>
            <a:ext cx="5029200" cy="621792"/>
          </a:xfrm>
          <a:prstGeom prst="rect">
            <a:avLst/>
          </a:prstGeom>
          <a:solidFill>
            <a:srgbClr val="141829"/>
          </a:solidFill>
          <a:ln cap="flat" cmpd="sng" w="9525">
            <a:solidFill>
              <a:srgbClr val="EF4444"/>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22"/>
          <p:cNvSpPr/>
          <p:nvPr/>
        </p:nvSpPr>
        <p:spPr>
          <a:xfrm>
            <a:off x="137160" y="2560320"/>
            <a:ext cx="45720" cy="621792"/>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22"/>
          <p:cNvSpPr/>
          <p:nvPr/>
        </p:nvSpPr>
        <p:spPr>
          <a:xfrm>
            <a:off x="274320" y="2615184"/>
            <a:ext cx="32004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600"/>
              <a:buFont typeface="Trebuchet MS"/>
              <a:buNone/>
            </a:pPr>
            <a:r>
              <a:rPr b="1" i="0" lang="en-US" sz="1600" u="none" cap="none" strike="noStrike">
                <a:solidFill>
                  <a:srgbClr val="EF4444"/>
                </a:solidFill>
                <a:latin typeface="Trebuchet MS"/>
                <a:ea typeface="Trebuchet MS"/>
                <a:cs typeface="Trebuchet MS"/>
                <a:sym typeface="Trebuchet MS"/>
              </a:rPr>
              <a:t>3.</a:t>
            </a:r>
            <a:endParaRPr b="0" i="0" sz="1600" u="none" cap="none" strike="noStrike">
              <a:solidFill>
                <a:schemeClr val="dk1"/>
              </a:solidFill>
              <a:latin typeface="Calibri"/>
              <a:ea typeface="Calibri"/>
              <a:cs typeface="Calibri"/>
              <a:sym typeface="Calibri"/>
            </a:endParaRPr>
          </a:p>
        </p:txBody>
      </p:sp>
      <p:sp>
        <p:nvSpPr>
          <p:cNvPr id="668" name="Google Shape;668;p22"/>
          <p:cNvSpPr/>
          <p:nvPr/>
        </p:nvSpPr>
        <p:spPr>
          <a:xfrm>
            <a:off x="621792" y="2615184"/>
            <a:ext cx="4462272"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Todo nodo NIL (hoja sentinela) es BLACK.</a:t>
            </a:r>
            <a:endParaRPr b="0" i="0" sz="1050" u="none" cap="none" strike="noStrike">
              <a:solidFill>
                <a:schemeClr val="dk1"/>
              </a:solidFill>
              <a:latin typeface="Calibri"/>
              <a:ea typeface="Calibri"/>
              <a:cs typeface="Calibri"/>
              <a:sym typeface="Calibri"/>
            </a:endParaRPr>
          </a:p>
        </p:txBody>
      </p:sp>
      <p:sp>
        <p:nvSpPr>
          <p:cNvPr id="669" name="Google Shape;669;p22"/>
          <p:cNvSpPr/>
          <p:nvPr/>
        </p:nvSpPr>
        <p:spPr>
          <a:xfrm>
            <a:off x="137160" y="3246120"/>
            <a:ext cx="5029200" cy="621792"/>
          </a:xfrm>
          <a:prstGeom prst="rect">
            <a:avLst/>
          </a:prstGeom>
          <a:solidFill>
            <a:srgbClr val="141829"/>
          </a:solidFill>
          <a:ln cap="flat" cmpd="sng" w="9525">
            <a:solidFill>
              <a:srgbClr val="EF4444"/>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22"/>
          <p:cNvSpPr/>
          <p:nvPr/>
        </p:nvSpPr>
        <p:spPr>
          <a:xfrm>
            <a:off x="137160" y="3246120"/>
            <a:ext cx="45720" cy="621792"/>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22"/>
          <p:cNvSpPr/>
          <p:nvPr/>
        </p:nvSpPr>
        <p:spPr>
          <a:xfrm>
            <a:off x="274320" y="3300984"/>
            <a:ext cx="32004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600"/>
              <a:buFont typeface="Trebuchet MS"/>
              <a:buNone/>
            </a:pPr>
            <a:r>
              <a:rPr b="1" i="0" lang="en-US" sz="1600" u="none" cap="none" strike="noStrike">
                <a:solidFill>
                  <a:srgbClr val="EF4444"/>
                </a:solidFill>
                <a:latin typeface="Trebuchet MS"/>
                <a:ea typeface="Trebuchet MS"/>
                <a:cs typeface="Trebuchet MS"/>
                <a:sym typeface="Trebuchet MS"/>
              </a:rPr>
              <a:t>4.</a:t>
            </a:r>
            <a:endParaRPr b="0" i="0" sz="1600" u="none" cap="none" strike="noStrike">
              <a:solidFill>
                <a:schemeClr val="dk1"/>
              </a:solidFill>
              <a:latin typeface="Calibri"/>
              <a:ea typeface="Calibri"/>
              <a:cs typeface="Calibri"/>
              <a:sym typeface="Calibri"/>
            </a:endParaRPr>
          </a:p>
        </p:txBody>
      </p:sp>
      <p:sp>
        <p:nvSpPr>
          <p:cNvPr id="672" name="Google Shape;672;p22"/>
          <p:cNvSpPr/>
          <p:nvPr/>
        </p:nvSpPr>
        <p:spPr>
          <a:xfrm>
            <a:off x="621792" y="3300984"/>
            <a:ext cx="4462272"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Un nodo RED no puede tener hijos RED (no hay dos rojos consecutivos en ningún path).</a:t>
            </a:r>
            <a:endParaRPr b="0" i="0" sz="1050" u="none" cap="none" strike="noStrike">
              <a:solidFill>
                <a:schemeClr val="dk1"/>
              </a:solidFill>
              <a:latin typeface="Calibri"/>
              <a:ea typeface="Calibri"/>
              <a:cs typeface="Calibri"/>
              <a:sym typeface="Calibri"/>
            </a:endParaRPr>
          </a:p>
        </p:txBody>
      </p:sp>
      <p:sp>
        <p:nvSpPr>
          <p:cNvPr id="673" name="Google Shape;673;p22"/>
          <p:cNvSpPr/>
          <p:nvPr/>
        </p:nvSpPr>
        <p:spPr>
          <a:xfrm>
            <a:off x="137160" y="3931920"/>
            <a:ext cx="5029200" cy="621792"/>
          </a:xfrm>
          <a:prstGeom prst="rect">
            <a:avLst/>
          </a:prstGeom>
          <a:solidFill>
            <a:srgbClr val="141829"/>
          </a:solidFill>
          <a:ln cap="flat" cmpd="sng" w="9525">
            <a:solidFill>
              <a:srgbClr val="F59E0B"/>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22"/>
          <p:cNvSpPr/>
          <p:nvPr/>
        </p:nvSpPr>
        <p:spPr>
          <a:xfrm>
            <a:off x="137160" y="3931920"/>
            <a:ext cx="45720" cy="621792"/>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22"/>
          <p:cNvSpPr/>
          <p:nvPr/>
        </p:nvSpPr>
        <p:spPr>
          <a:xfrm>
            <a:off x="274320" y="3986784"/>
            <a:ext cx="32004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600"/>
              <a:buFont typeface="Trebuchet MS"/>
              <a:buNone/>
            </a:pPr>
            <a:r>
              <a:rPr b="1" i="0" lang="en-US" sz="1600" u="none" cap="none" strike="noStrike">
                <a:solidFill>
                  <a:srgbClr val="F59E0B"/>
                </a:solidFill>
                <a:latin typeface="Trebuchet MS"/>
                <a:ea typeface="Trebuchet MS"/>
                <a:cs typeface="Trebuchet MS"/>
                <a:sym typeface="Trebuchet MS"/>
              </a:rPr>
              <a:t>5.</a:t>
            </a:r>
            <a:endParaRPr b="0" i="0" sz="1600" u="none" cap="none" strike="noStrike">
              <a:solidFill>
                <a:schemeClr val="dk1"/>
              </a:solidFill>
              <a:latin typeface="Calibri"/>
              <a:ea typeface="Calibri"/>
              <a:cs typeface="Calibri"/>
              <a:sym typeface="Calibri"/>
            </a:endParaRPr>
          </a:p>
        </p:txBody>
      </p:sp>
      <p:sp>
        <p:nvSpPr>
          <p:cNvPr id="676" name="Google Shape;676;p22"/>
          <p:cNvSpPr/>
          <p:nvPr/>
        </p:nvSpPr>
        <p:spPr>
          <a:xfrm>
            <a:off x="621792" y="3986784"/>
            <a:ext cx="4462272"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Todo path desde cualquier nodo hasta sus hojas NIL contiene el mismo número de nodos BLACK (black-height).</a:t>
            </a:r>
            <a:endParaRPr b="0" i="0" sz="1050" u="none" cap="none" strike="noStrike">
              <a:solidFill>
                <a:schemeClr val="dk1"/>
              </a:solidFill>
              <a:latin typeface="Calibri"/>
              <a:ea typeface="Calibri"/>
              <a:cs typeface="Calibri"/>
              <a:sym typeface="Calibri"/>
            </a:endParaRPr>
          </a:p>
        </p:txBody>
      </p:sp>
      <p:sp>
        <p:nvSpPr>
          <p:cNvPr id="677" name="Google Shape;677;p22"/>
          <p:cNvSpPr/>
          <p:nvPr/>
        </p:nvSpPr>
        <p:spPr>
          <a:xfrm>
            <a:off x="5349240" y="1188720"/>
            <a:ext cx="3611880" cy="1719072"/>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22"/>
          <p:cNvSpPr/>
          <p:nvPr/>
        </p:nvSpPr>
        <p:spPr>
          <a:xfrm>
            <a:off x="5486400" y="1325880"/>
            <a:ext cx="1759306" cy="256032"/>
          </a:xfrm>
          <a:prstGeom prst="roundRect">
            <a:avLst>
              <a:gd fmla="val 21429" name="adj"/>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22"/>
          <p:cNvSpPr/>
          <p:nvPr/>
        </p:nvSpPr>
        <p:spPr>
          <a:xfrm>
            <a:off x="5486400" y="1325880"/>
            <a:ext cx="1759306"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BLACK-HEIGHT bh(x)</a:t>
            </a:r>
            <a:endParaRPr b="0" i="0" sz="800" u="none" cap="none" strike="noStrike">
              <a:solidFill>
                <a:schemeClr val="dk1"/>
              </a:solidFill>
              <a:latin typeface="Calibri"/>
              <a:ea typeface="Calibri"/>
              <a:cs typeface="Calibri"/>
              <a:sym typeface="Calibri"/>
            </a:endParaRPr>
          </a:p>
        </p:txBody>
      </p:sp>
      <p:sp>
        <p:nvSpPr>
          <p:cNvPr id="680" name="Google Shape;680;p22"/>
          <p:cNvSpPr/>
          <p:nvPr/>
        </p:nvSpPr>
        <p:spPr>
          <a:xfrm>
            <a:off x="5486400" y="1664208"/>
            <a:ext cx="3337560" cy="11521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La black-height bh(x) de un nodo x es el número de nodos BLACK en cualquier path desde x hasta una hoja NIL, sin contar x mismo.</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La propiedad 5 garantiza que bh(x) es ÚNICA para cada nodo — todos los paths tienen la misma cantidad de nodos BLACK.</a:t>
            </a:r>
            <a:endParaRPr b="0" i="0" sz="1050" u="none" cap="none" strike="noStrike">
              <a:solidFill>
                <a:schemeClr val="dk1"/>
              </a:solidFill>
              <a:latin typeface="Calibri"/>
              <a:ea typeface="Calibri"/>
              <a:cs typeface="Calibri"/>
              <a:sym typeface="Calibri"/>
            </a:endParaRPr>
          </a:p>
        </p:txBody>
      </p:sp>
      <p:sp>
        <p:nvSpPr>
          <p:cNvPr id="681" name="Google Shape;681;p22"/>
          <p:cNvSpPr/>
          <p:nvPr/>
        </p:nvSpPr>
        <p:spPr>
          <a:xfrm>
            <a:off x="5349240" y="2971800"/>
            <a:ext cx="3611880" cy="1234440"/>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22"/>
          <p:cNvSpPr/>
          <p:nvPr/>
        </p:nvSpPr>
        <p:spPr>
          <a:xfrm>
            <a:off x="5486400" y="3108960"/>
            <a:ext cx="1759306" cy="256032"/>
          </a:xfrm>
          <a:prstGeom prst="roundRect">
            <a:avLst>
              <a:gd fmla="val 21429" name="adj"/>
            </a:avLst>
          </a:prstGeom>
          <a:solidFill>
            <a:srgbClr val="10B981"/>
          </a:solidFill>
          <a:ln cap="flat" cmpd="sng" w="1270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2"/>
          <p:cNvSpPr/>
          <p:nvPr/>
        </p:nvSpPr>
        <p:spPr>
          <a:xfrm>
            <a:off x="5486400" y="3108960"/>
            <a:ext cx="1759306"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GARANTÍA DE ALTURA</a:t>
            </a:r>
            <a:endParaRPr b="0" i="0" sz="800" u="none" cap="none" strike="noStrike">
              <a:solidFill>
                <a:schemeClr val="dk1"/>
              </a:solidFill>
              <a:latin typeface="Calibri"/>
              <a:ea typeface="Calibri"/>
              <a:cs typeface="Calibri"/>
              <a:sym typeface="Calibri"/>
            </a:endParaRPr>
          </a:p>
        </p:txBody>
      </p:sp>
      <p:sp>
        <p:nvSpPr>
          <p:cNvPr id="684" name="Google Shape;684;p22"/>
          <p:cNvSpPr/>
          <p:nvPr/>
        </p:nvSpPr>
        <p:spPr>
          <a:xfrm>
            <a:off x="5486400" y="3447288"/>
            <a:ext cx="3337560" cy="6675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850" u="none" cap="none" strike="noStrike">
                <a:solidFill>
                  <a:srgbClr val="F0F4FF"/>
                </a:solidFill>
                <a:latin typeface="Calibri"/>
                <a:ea typeface="Calibri"/>
                <a:cs typeface="Calibri"/>
                <a:sym typeface="Calibri"/>
              </a:rPr>
              <a:t>Las 5 propiedades juntas garantizan:</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850" u="none" cap="none" strike="noStrike">
                <a:solidFill>
                  <a:srgbClr val="F0F4FF"/>
                </a:solidFill>
                <a:latin typeface="Calibri"/>
                <a:ea typeface="Calibri"/>
                <a:cs typeface="Calibri"/>
                <a:sym typeface="Calibri"/>
              </a:rPr>
              <a:t>h ≤ 2 × log₂(n+1)</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850" u="none" cap="none" strike="noStrike">
                <a:solidFill>
                  <a:srgbClr val="F0F4FF"/>
                </a:solidFill>
                <a:latin typeface="Calibri"/>
                <a:ea typeface="Calibri"/>
                <a:cs typeface="Calibri"/>
                <a:sym typeface="Calibri"/>
              </a:rPr>
              <a:t>Menos estricto que AVL (1.44 log n) pero suficiente para O(log n). El beneficio: menos rotaciones durante inserciones.</a:t>
            </a:r>
            <a:endParaRPr b="0" i="0" sz="850" u="none" cap="none" strike="noStrike">
              <a:solidFill>
                <a:schemeClr val="dk1"/>
              </a:solidFill>
              <a:latin typeface="Calibri"/>
              <a:ea typeface="Calibri"/>
              <a:cs typeface="Calibri"/>
              <a:sym typeface="Calibri"/>
            </a:endParaRPr>
          </a:p>
        </p:txBody>
      </p:sp>
      <p:sp>
        <p:nvSpPr>
          <p:cNvPr id="685" name="Google Shape;685;p22"/>
          <p:cNvSpPr/>
          <p:nvPr/>
        </p:nvSpPr>
        <p:spPr>
          <a:xfrm>
            <a:off x="5349250" y="4270251"/>
            <a:ext cx="3612000" cy="701700"/>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22"/>
          <p:cNvSpPr/>
          <p:nvPr/>
        </p:nvSpPr>
        <p:spPr>
          <a:xfrm>
            <a:off x="5486400" y="4407408"/>
            <a:ext cx="1005840" cy="256032"/>
          </a:xfrm>
          <a:prstGeom prst="roundRect">
            <a:avLst>
              <a:gd fmla="val 21429" name="adj"/>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22"/>
          <p:cNvSpPr/>
          <p:nvPr/>
        </p:nvSpPr>
        <p:spPr>
          <a:xfrm>
            <a:off x="5486400" y="4407408"/>
            <a:ext cx="1005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VS AVL</a:t>
            </a:r>
            <a:endParaRPr b="0" i="0" sz="800" u="none" cap="none" strike="noStrike">
              <a:solidFill>
                <a:schemeClr val="dk1"/>
              </a:solidFill>
              <a:latin typeface="Calibri"/>
              <a:ea typeface="Calibri"/>
              <a:cs typeface="Calibri"/>
              <a:sym typeface="Calibri"/>
            </a:endParaRPr>
          </a:p>
        </p:txBody>
      </p:sp>
      <p:sp>
        <p:nvSpPr>
          <p:cNvPr id="688" name="Google Shape;688;p22"/>
          <p:cNvSpPr/>
          <p:nvPr/>
        </p:nvSpPr>
        <p:spPr>
          <a:xfrm flipH="1" rot="-5871">
            <a:off x="5486422" y="4709050"/>
            <a:ext cx="3337505" cy="36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850" u="none" cap="none" strike="noStrike">
                <a:solidFill>
                  <a:srgbClr val="F0F4FF"/>
                </a:solidFill>
                <a:latin typeface="Calibri"/>
                <a:ea typeface="Calibri"/>
                <a:cs typeface="Calibri"/>
                <a:sym typeface="Calibri"/>
              </a:rPr>
              <a:t>AVL: max 1.44 log n altura, hasta O(log n) rotaciones por insert.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850" u="none" cap="none" strike="noStrike">
                <a:solidFill>
                  <a:srgbClr val="F0F4FF"/>
                </a:solidFill>
                <a:latin typeface="Calibri"/>
                <a:ea typeface="Calibri"/>
                <a:cs typeface="Calibri"/>
                <a:sym typeface="Calibri"/>
              </a:rPr>
              <a:t>RB: max 2 log n altura, máximo 2 rotaciones por insert.</a:t>
            </a:r>
            <a:endParaRPr b="0" i="0" sz="850" u="none" cap="none" strike="noStrike">
              <a:solidFill>
                <a:schemeClr val="dk1"/>
              </a:solidFill>
              <a:latin typeface="Calibri"/>
              <a:ea typeface="Calibri"/>
              <a:cs typeface="Calibri"/>
              <a:sym typeface="Calibri"/>
            </a:endParaRPr>
          </a:p>
        </p:txBody>
      </p:sp>
      <p:sp>
        <p:nvSpPr>
          <p:cNvPr id="689" name="Google Shape;689;p22"/>
          <p:cNvSpPr/>
          <p:nvPr/>
        </p:nvSpPr>
        <p:spPr>
          <a:xfrm>
            <a:off x="137160" y="4846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AED · T3 · Red-Black · Propiedades</a:t>
            </a:r>
            <a:endParaRPr b="0" i="0" sz="900" u="none" cap="none" strike="noStrike">
              <a:solidFill>
                <a:schemeClr val="dk1"/>
              </a:solidFill>
              <a:latin typeface="Calibri"/>
              <a:ea typeface="Calibri"/>
              <a:cs typeface="Calibri"/>
              <a:sym typeface="Calibri"/>
            </a:endParaRPr>
          </a:p>
        </p:txBody>
      </p:sp>
      <p:sp>
        <p:nvSpPr>
          <p:cNvPr id="690" name="Google Shape;690;p22"/>
          <p:cNvSpPr/>
          <p:nvPr/>
        </p:nvSpPr>
        <p:spPr>
          <a:xfrm>
            <a:off x="8503920" y="4846320"/>
            <a:ext cx="54864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22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F1A"/>
        </a:solidFill>
      </p:bgPr>
    </p:bg>
    <p:spTree>
      <p:nvGrpSpPr>
        <p:cNvPr id="695" name="Shape 695"/>
        <p:cNvGrpSpPr/>
        <p:nvPr/>
      </p:nvGrpSpPr>
      <p:grpSpPr>
        <a:xfrm>
          <a:off x="0" y="0"/>
          <a:ext cx="0" cy="0"/>
          <a:chOff x="0" y="0"/>
          <a:chExt cx="0" cy="0"/>
        </a:xfrm>
      </p:grpSpPr>
      <p:sp>
        <p:nvSpPr>
          <p:cNvPr id="696" name="Google Shape;696;p23"/>
          <p:cNvSpPr/>
          <p:nvPr/>
        </p:nvSpPr>
        <p:spPr>
          <a:xfrm>
            <a:off x="0" y="0"/>
            <a:ext cx="54864"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23"/>
          <p:cNvSpPr/>
          <p:nvPr/>
        </p:nvSpPr>
        <p:spPr>
          <a:xfrm>
            <a:off x="182880" y="137160"/>
            <a:ext cx="87782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2600"/>
              <a:buFont typeface="Trebuchet MS"/>
              <a:buNone/>
            </a:pPr>
            <a:r>
              <a:rPr b="1" i="0" lang="en-US" sz="2600" u="none" cap="none" strike="noStrike">
                <a:solidFill>
                  <a:srgbClr val="F0F4FF"/>
                </a:solidFill>
                <a:latin typeface="Trebuchet MS"/>
                <a:ea typeface="Trebuchet MS"/>
                <a:cs typeface="Trebuchet MS"/>
                <a:sym typeface="Trebuchet MS"/>
              </a:rPr>
              <a:t>Implementación — Sentinel, Rotaciones y Rebalanceo</a:t>
            </a:r>
            <a:endParaRPr b="0" i="0" sz="2600" u="none" cap="none" strike="noStrike">
              <a:solidFill>
                <a:schemeClr val="dk1"/>
              </a:solidFill>
              <a:latin typeface="Calibri"/>
              <a:ea typeface="Calibri"/>
              <a:cs typeface="Calibri"/>
              <a:sym typeface="Calibri"/>
            </a:endParaRPr>
          </a:p>
        </p:txBody>
      </p:sp>
      <p:sp>
        <p:nvSpPr>
          <p:cNvPr id="698" name="Google Shape;698;p23"/>
          <p:cNvSpPr/>
          <p:nvPr/>
        </p:nvSpPr>
        <p:spPr>
          <a:xfrm>
            <a:off x="182880" y="749808"/>
            <a:ext cx="8778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1200"/>
              <a:buFont typeface="Calibri"/>
              <a:buNone/>
            </a:pPr>
            <a:r>
              <a:rPr b="0" i="1" lang="en-US" sz="1200" u="none" cap="none" strike="noStrike">
                <a:solidFill>
                  <a:srgbClr val="8892A4"/>
                </a:solidFill>
                <a:latin typeface="Calibri"/>
                <a:ea typeface="Calibri"/>
                <a:cs typeface="Calibri"/>
                <a:sym typeface="Calibri"/>
              </a:rPr>
              <a:t>Los tres mecanismos que hacen funcionar el Red-Black</a:t>
            </a:r>
            <a:endParaRPr b="0" i="0" sz="1200" u="none" cap="none" strike="noStrike">
              <a:solidFill>
                <a:schemeClr val="dk1"/>
              </a:solidFill>
              <a:latin typeface="Calibri"/>
              <a:ea typeface="Calibri"/>
              <a:cs typeface="Calibri"/>
              <a:sym typeface="Calibri"/>
            </a:endParaRPr>
          </a:p>
        </p:txBody>
      </p:sp>
      <p:sp>
        <p:nvSpPr>
          <p:cNvPr id="699" name="Google Shape;699;p23"/>
          <p:cNvSpPr/>
          <p:nvPr/>
        </p:nvSpPr>
        <p:spPr>
          <a:xfrm>
            <a:off x="182880" y="1024128"/>
            <a:ext cx="1463040" cy="27432"/>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23"/>
          <p:cNvSpPr/>
          <p:nvPr/>
        </p:nvSpPr>
        <p:spPr>
          <a:xfrm>
            <a:off x="137160" y="1188720"/>
            <a:ext cx="2743200" cy="1417320"/>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23"/>
          <p:cNvSpPr/>
          <p:nvPr/>
        </p:nvSpPr>
        <p:spPr>
          <a:xfrm>
            <a:off x="274320" y="1325880"/>
            <a:ext cx="1844345" cy="256032"/>
          </a:xfrm>
          <a:prstGeom prst="roundRect">
            <a:avLst>
              <a:gd fmla="val 21429" name="adj"/>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23"/>
          <p:cNvSpPr/>
          <p:nvPr/>
        </p:nvSpPr>
        <p:spPr>
          <a:xfrm>
            <a:off x="274320" y="1325880"/>
            <a:ext cx="1844345"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SENTINEL NODE T.nil</a:t>
            </a:r>
            <a:endParaRPr b="0" i="0" sz="800" u="none" cap="none" strike="noStrike">
              <a:solidFill>
                <a:schemeClr val="dk1"/>
              </a:solidFill>
              <a:latin typeface="Calibri"/>
              <a:ea typeface="Calibri"/>
              <a:cs typeface="Calibri"/>
              <a:sym typeface="Calibri"/>
            </a:endParaRPr>
          </a:p>
        </p:txBody>
      </p:sp>
      <p:sp>
        <p:nvSpPr>
          <p:cNvPr id="703" name="Google Shape;703;p23"/>
          <p:cNvSpPr/>
          <p:nvPr/>
        </p:nvSpPr>
        <p:spPr>
          <a:xfrm>
            <a:off x="274320" y="1664208"/>
            <a:ext cx="2468880" cy="8503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950" u="none" cap="none" strike="noStrike">
                <a:solidFill>
                  <a:srgbClr val="F0F4FF"/>
                </a:solidFill>
                <a:latin typeface="Calibri"/>
                <a:ea typeface="Calibri"/>
                <a:cs typeface="Calibri"/>
                <a:sym typeface="Calibri"/>
              </a:rPr>
              <a:t>Un único nodo BLACK compartido que reemplaza todos los punteros NULL. Permite que el código de rotación y rebalanceo acceda a .color y .parent sin verificar nullptr en cada paso. T.nil.color = BLACK siempre — esto satisface la propiedad 3 automáticamente.</a:t>
            </a:r>
            <a:endParaRPr b="0" i="0" sz="950" u="none" cap="none" strike="noStrike">
              <a:solidFill>
                <a:schemeClr val="dk1"/>
              </a:solidFill>
              <a:latin typeface="Calibri"/>
              <a:ea typeface="Calibri"/>
              <a:cs typeface="Calibri"/>
              <a:sym typeface="Calibri"/>
            </a:endParaRPr>
          </a:p>
        </p:txBody>
      </p:sp>
      <p:sp>
        <p:nvSpPr>
          <p:cNvPr id="704" name="Google Shape;704;p23"/>
          <p:cNvSpPr/>
          <p:nvPr/>
        </p:nvSpPr>
        <p:spPr>
          <a:xfrm>
            <a:off x="137160" y="2670048"/>
            <a:ext cx="2743200" cy="2130552"/>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23"/>
          <p:cNvSpPr/>
          <p:nvPr/>
        </p:nvSpPr>
        <p:spPr>
          <a:xfrm>
            <a:off x="274320" y="2807208"/>
            <a:ext cx="2439619" cy="256032"/>
          </a:xfrm>
          <a:prstGeom prst="roundRect">
            <a:avLst>
              <a:gd fmla="val 21429"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23"/>
          <p:cNvSpPr/>
          <p:nvPr/>
        </p:nvSpPr>
        <p:spPr>
          <a:xfrm>
            <a:off x="274320" y="2807208"/>
            <a:ext cx="2439619"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ROTACIONES — igual que AVL</a:t>
            </a:r>
            <a:endParaRPr b="0" i="0" sz="800" u="none" cap="none" strike="noStrike">
              <a:solidFill>
                <a:schemeClr val="dk1"/>
              </a:solidFill>
              <a:latin typeface="Calibri"/>
              <a:ea typeface="Calibri"/>
              <a:cs typeface="Calibri"/>
              <a:sym typeface="Calibri"/>
            </a:endParaRPr>
          </a:p>
        </p:txBody>
      </p:sp>
      <p:sp>
        <p:nvSpPr>
          <p:cNvPr id="707" name="Google Shape;707;p23"/>
          <p:cNvSpPr/>
          <p:nvPr/>
        </p:nvSpPr>
        <p:spPr>
          <a:xfrm>
            <a:off x="274320" y="3145536"/>
            <a:ext cx="2468880" cy="1563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Las rotaciones Left-Rotate y Right-Rotate son idénticas a las de AVL en mecánica. La diferencia está en el disparo: AVL usa la diferencia de altura como criterio, Red-Black usa el color del 'uncle' (tío) del nodo insertado.</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Left-Rotate(T,x): y = x.right; x.right = y.left; y.left = x. Actualizar padres.</a:t>
            </a:r>
            <a:endParaRPr b="0" i="0" sz="1050" u="none" cap="none" strike="noStrike">
              <a:solidFill>
                <a:schemeClr val="dk1"/>
              </a:solidFill>
              <a:latin typeface="Calibri"/>
              <a:ea typeface="Calibri"/>
              <a:cs typeface="Calibri"/>
              <a:sym typeface="Calibri"/>
            </a:endParaRPr>
          </a:p>
        </p:txBody>
      </p:sp>
      <p:sp>
        <p:nvSpPr>
          <p:cNvPr id="708" name="Google Shape;708;p23"/>
          <p:cNvSpPr/>
          <p:nvPr/>
        </p:nvSpPr>
        <p:spPr>
          <a:xfrm>
            <a:off x="3017520" y="1188720"/>
            <a:ext cx="2880360" cy="1417320"/>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23"/>
          <p:cNvSpPr/>
          <p:nvPr/>
        </p:nvSpPr>
        <p:spPr>
          <a:xfrm>
            <a:off x="3154680" y="1325880"/>
            <a:ext cx="1759306" cy="256032"/>
          </a:xfrm>
          <a:prstGeom prst="roundRect">
            <a:avLst>
              <a:gd fmla="val 21429" name="adj"/>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23"/>
          <p:cNvSpPr/>
          <p:nvPr/>
        </p:nvSpPr>
        <p:spPr>
          <a:xfrm>
            <a:off x="3154680" y="1325880"/>
            <a:ext cx="1759306"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CASO 1 — Uncle RED</a:t>
            </a:r>
            <a:endParaRPr b="0" i="0" sz="800" u="none" cap="none" strike="noStrike">
              <a:solidFill>
                <a:schemeClr val="dk1"/>
              </a:solidFill>
              <a:latin typeface="Calibri"/>
              <a:ea typeface="Calibri"/>
              <a:cs typeface="Calibri"/>
              <a:sym typeface="Calibri"/>
            </a:endParaRPr>
          </a:p>
        </p:txBody>
      </p:sp>
      <p:sp>
        <p:nvSpPr>
          <p:cNvPr id="711" name="Google Shape;711;p23"/>
          <p:cNvSpPr/>
          <p:nvPr/>
        </p:nvSpPr>
        <p:spPr>
          <a:xfrm>
            <a:off x="3154680" y="1664208"/>
            <a:ext cx="2606040" cy="8503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950" u="none" cap="none" strike="noStrike">
                <a:solidFill>
                  <a:srgbClr val="F0F4FF"/>
                </a:solidFill>
                <a:latin typeface="Calibri"/>
                <a:ea typeface="Calibri"/>
                <a:cs typeface="Calibri"/>
                <a:sym typeface="Calibri"/>
              </a:rPr>
              <a:t>Si el tío (uncle) de z es RED:</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950" u="none" cap="none" strike="noStrike">
                <a:solidFill>
                  <a:srgbClr val="F0F4FF"/>
                </a:solidFill>
                <a:latin typeface="Calibri"/>
                <a:ea typeface="Calibri"/>
                <a:cs typeface="Calibri"/>
                <a:sym typeface="Calibri"/>
              </a:rPr>
              <a:t>→ Recolorear padre y tío a BLACK.</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950" u="none" cap="none" strike="noStrike">
                <a:solidFill>
                  <a:srgbClr val="F0F4FF"/>
                </a:solidFill>
                <a:latin typeface="Calibri"/>
                <a:ea typeface="Calibri"/>
                <a:cs typeface="Calibri"/>
                <a:sym typeface="Calibri"/>
              </a:rPr>
              <a:t>→ Recolorear abuelo a RED.</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950" u="none" cap="none" strike="noStrike">
                <a:solidFill>
                  <a:srgbClr val="F0F4FF"/>
                </a:solidFill>
                <a:latin typeface="Calibri"/>
                <a:ea typeface="Calibri"/>
                <a:cs typeface="Calibri"/>
                <a:sym typeface="Calibri"/>
              </a:rPr>
              <a:t>→ Mover z al abuelo y continuar.</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950" u="none" cap="none" strike="noStrike">
                <a:solidFill>
                  <a:srgbClr val="F0F4FF"/>
                </a:solidFill>
                <a:latin typeface="Calibri"/>
                <a:ea typeface="Calibri"/>
                <a:cs typeface="Calibri"/>
                <a:sym typeface="Calibri"/>
              </a:rPr>
              <a:t>No requiere rotación. El problema 'sube' por el árbol.</a:t>
            </a:r>
            <a:endParaRPr b="0" i="0" sz="950" u="none" cap="none" strike="noStrike">
              <a:solidFill>
                <a:schemeClr val="dk1"/>
              </a:solidFill>
              <a:latin typeface="Calibri"/>
              <a:ea typeface="Calibri"/>
              <a:cs typeface="Calibri"/>
              <a:sym typeface="Calibri"/>
            </a:endParaRPr>
          </a:p>
        </p:txBody>
      </p:sp>
      <p:sp>
        <p:nvSpPr>
          <p:cNvPr id="712" name="Google Shape;712;p23"/>
          <p:cNvSpPr/>
          <p:nvPr/>
        </p:nvSpPr>
        <p:spPr>
          <a:xfrm>
            <a:off x="3017520" y="2670048"/>
            <a:ext cx="2880360" cy="2130552"/>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23"/>
          <p:cNvSpPr/>
          <p:nvPr/>
        </p:nvSpPr>
        <p:spPr>
          <a:xfrm>
            <a:off x="3154680" y="2807208"/>
            <a:ext cx="2694737" cy="256032"/>
          </a:xfrm>
          <a:prstGeom prst="roundRect">
            <a:avLst>
              <a:gd fmla="val 21429" name="adj"/>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23"/>
          <p:cNvSpPr/>
          <p:nvPr/>
        </p:nvSpPr>
        <p:spPr>
          <a:xfrm>
            <a:off x="3154680" y="2807208"/>
            <a:ext cx="2694737"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CASO 2 → CASO 3 — Uncle BLACK</a:t>
            </a:r>
            <a:endParaRPr b="0" i="0" sz="800" u="none" cap="none" strike="noStrike">
              <a:solidFill>
                <a:schemeClr val="dk1"/>
              </a:solidFill>
              <a:latin typeface="Calibri"/>
              <a:ea typeface="Calibri"/>
              <a:cs typeface="Calibri"/>
              <a:sym typeface="Calibri"/>
            </a:endParaRPr>
          </a:p>
        </p:txBody>
      </p:sp>
      <p:sp>
        <p:nvSpPr>
          <p:cNvPr id="715" name="Google Shape;715;p23"/>
          <p:cNvSpPr/>
          <p:nvPr/>
        </p:nvSpPr>
        <p:spPr>
          <a:xfrm>
            <a:off x="3154680" y="3145536"/>
            <a:ext cx="2606040" cy="1563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CASO 2 (zig-zag): z es hijo derecho, padre es hijo izquierdo.</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 Left-Rotate en el padre. → Convierte en Caso 3.</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CASO 3 (línea recta): z es hijo izquierdo, padre es hijo izquierdo.</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 Recolorear padre a BLACK, abuelo a RED.</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 Right-Rotate en el abuelo.</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Casos simétricos existen para derecha.</a:t>
            </a:r>
            <a:endParaRPr b="0" i="0" sz="1050" u="none" cap="none" strike="noStrike">
              <a:solidFill>
                <a:schemeClr val="dk1"/>
              </a:solidFill>
              <a:latin typeface="Calibri"/>
              <a:ea typeface="Calibri"/>
              <a:cs typeface="Calibri"/>
              <a:sym typeface="Calibri"/>
            </a:endParaRPr>
          </a:p>
        </p:txBody>
      </p:sp>
      <p:sp>
        <p:nvSpPr>
          <p:cNvPr id="716" name="Google Shape;716;p23"/>
          <p:cNvSpPr/>
          <p:nvPr/>
        </p:nvSpPr>
        <p:spPr>
          <a:xfrm>
            <a:off x="6035040" y="1188720"/>
            <a:ext cx="2926080" cy="1417320"/>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3"/>
          <p:cNvSpPr/>
          <p:nvPr/>
        </p:nvSpPr>
        <p:spPr>
          <a:xfrm>
            <a:off x="6172200" y="1325875"/>
            <a:ext cx="2571600" cy="228600"/>
          </a:xfrm>
          <a:prstGeom prst="roundRect">
            <a:avLst>
              <a:gd fmla="val 21429" name="adj"/>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23"/>
          <p:cNvSpPr/>
          <p:nvPr/>
        </p:nvSpPr>
        <p:spPr>
          <a:xfrm>
            <a:off x="6172200" y="1325875"/>
            <a:ext cx="25716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ERROR CRÍTICO — Uncle color blindness</a:t>
            </a:r>
            <a:endParaRPr b="0" i="0" sz="800" u="none" cap="none" strike="noStrike">
              <a:solidFill>
                <a:schemeClr val="dk1"/>
              </a:solidFill>
              <a:latin typeface="Calibri"/>
              <a:ea typeface="Calibri"/>
              <a:cs typeface="Calibri"/>
              <a:sym typeface="Calibri"/>
            </a:endParaRPr>
          </a:p>
        </p:txBody>
      </p:sp>
      <p:sp>
        <p:nvSpPr>
          <p:cNvPr id="719" name="Google Shape;719;p23"/>
          <p:cNvSpPr/>
          <p:nvPr/>
        </p:nvSpPr>
        <p:spPr>
          <a:xfrm>
            <a:off x="6172200" y="1664208"/>
            <a:ext cx="2651760" cy="8503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Aplicar rotación sin verificar primero el color del uncle. Si el uncle es RED, la rotación rompería la black-height (propiedad 5). El recoloreo (Caso 1) es siempre el primer check.</a:t>
            </a:r>
            <a:endParaRPr b="0" i="0" sz="1050" u="none" cap="none" strike="noStrike">
              <a:solidFill>
                <a:schemeClr val="dk1"/>
              </a:solidFill>
              <a:latin typeface="Calibri"/>
              <a:ea typeface="Calibri"/>
              <a:cs typeface="Calibri"/>
              <a:sym typeface="Calibri"/>
            </a:endParaRPr>
          </a:p>
        </p:txBody>
      </p:sp>
      <p:sp>
        <p:nvSpPr>
          <p:cNvPr id="720" name="Google Shape;720;p23"/>
          <p:cNvSpPr/>
          <p:nvPr/>
        </p:nvSpPr>
        <p:spPr>
          <a:xfrm>
            <a:off x="6035040" y="2670048"/>
            <a:ext cx="2926080" cy="2130552"/>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23"/>
          <p:cNvSpPr/>
          <p:nvPr/>
        </p:nvSpPr>
        <p:spPr>
          <a:xfrm>
            <a:off x="6172200" y="2807208"/>
            <a:ext cx="1164031" cy="256032"/>
          </a:xfrm>
          <a:prstGeom prst="roundRect">
            <a:avLst>
              <a:gd fmla="val 21429" name="adj"/>
            </a:avLst>
          </a:prstGeom>
          <a:solidFill>
            <a:srgbClr val="10B981"/>
          </a:solidFill>
          <a:ln cap="flat" cmpd="sng" w="1270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23"/>
          <p:cNvSpPr/>
          <p:nvPr/>
        </p:nvSpPr>
        <p:spPr>
          <a:xfrm>
            <a:off x="6172200" y="2807208"/>
            <a:ext cx="1164031"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REGLA FINAL</a:t>
            </a:r>
            <a:endParaRPr b="0" i="0" sz="800" u="none" cap="none" strike="noStrike">
              <a:solidFill>
                <a:schemeClr val="dk1"/>
              </a:solidFill>
              <a:latin typeface="Calibri"/>
              <a:ea typeface="Calibri"/>
              <a:cs typeface="Calibri"/>
              <a:sym typeface="Calibri"/>
            </a:endParaRPr>
          </a:p>
        </p:txBody>
      </p:sp>
      <p:sp>
        <p:nvSpPr>
          <p:cNvPr id="723" name="Google Shape;723;p23"/>
          <p:cNvSpPr/>
          <p:nvPr/>
        </p:nvSpPr>
        <p:spPr>
          <a:xfrm>
            <a:off x="6172200" y="3145536"/>
            <a:ext cx="2651760" cy="1563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950" u="none" cap="none" strike="noStrike">
                <a:solidFill>
                  <a:srgbClr val="F0F4FF"/>
                </a:solidFill>
                <a:latin typeface="Calibri"/>
                <a:ea typeface="Calibri"/>
                <a:cs typeface="Calibri"/>
                <a:sym typeface="Calibri"/>
              </a:rPr>
              <a:t>Al terminar INSERT-FIXUP:</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950" u="none" cap="none" strike="noStrike">
                <a:solidFill>
                  <a:srgbClr val="F0F4FF"/>
                </a:solidFill>
                <a:latin typeface="Calibri"/>
                <a:ea typeface="Calibri"/>
                <a:cs typeface="Calibri"/>
                <a:sym typeface="Calibri"/>
              </a:rPr>
              <a:t>t.root.color = BLACK;</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950" u="none" cap="none" strike="noStrike">
                <a:solidFill>
                  <a:srgbClr val="F0F4FF"/>
                </a:solidFill>
                <a:latin typeface="Calibri"/>
                <a:ea typeface="Calibri"/>
                <a:cs typeface="Calibri"/>
                <a:sym typeface="Calibri"/>
              </a:rPr>
              <a:t>Siempre. Incondicionalmente. Las rotaciones pueden dejar la raíz RED — esta línea garantiza la propiedad 2.</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950" u="none" cap="none" strike="noStrike">
                <a:solidFill>
                  <a:srgbClr val="F0F4FF"/>
                </a:solidFill>
                <a:latin typeface="Calibri"/>
                <a:ea typeface="Calibri"/>
                <a:cs typeface="Calibri"/>
                <a:sym typeface="Calibri"/>
              </a:rPr>
              <a:t>Este es el error más silencioso: el árbol funciona correctamente para todo excepto para la propiedad 2 — que solo falla en casos edge con estructuras muy específicas.</a:t>
            </a:r>
            <a:endParaRPr b="0" i="0" sz="950" u="none" cap="none" strike="noStrike">
              <a:solidFill>
                <a:schemeClr val="dk1"/>
              </a:solidFill>
              <a:latin typeface="Calibri"/>
              <a:ea typeface="Calibri"/>
              <a:cs typeface="Calibri"/>
              <a:sym typeface="Calibri"/>
            </a:endParaRPr>
          </a:p>
        </p:txBody>
      </p:sp>
      <p:sp>
        <p:nvSpPr>
          <p:cNvPr id="724" name="Google Shape;724;p23"/>
          <p:cNvSpPr/>
          <p:nvPr/>
        </p:nvSpPr>
        <p:spPr>
          <a:xfrm>
            <a:off x="137160" y="4846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AED · T3 · Red-Black · Implementación</a:t>
            </a:r>
            <a:endParaRPr b="0" i="0" sz="900" u="none" cap="none" strike="noStrike">
              <a:solidFill>
                <a:schemeClr val="dk1"/>
              </a:solidFill>
              <a:latin typeface="Calibri"/>
              <a:ea typeface="Calibri"/>
              <a:cs typeface="Calibri"/>
              <a:sym typeface="Calibri"/>
            </a:endParaRPr>
          </a:p>
        </p:txBody>
      </p:sp>
      <p:sp>
        <p:nvSpPr>
          <p:cNvPr id="725" name="Google Shape;725;p23"/>
          <p:cNvSpPr/>
          <p:nvPr/>
        </p:nvSpPr>
        <p:spPr>
          <a:xfrm>
            <a:off x="8503920" y="4846320"/>
            <a:ext cx="54864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23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F1A"/>
        </a:solidFill>
      </p:bgPr>
    </p:bg>
    <p:spTree>
      <p:nvGrpSpPr>
        <p:cNvPr id="730" name="Shape 730"/>
        <p:cNvGrpSpPr/>
        <p:nvPr/>
      </p:nvGrpSpPr>
      <p:grpSpPr>
        <a:xfrm>
          <a:off x="0" y="0"/>
          <a:ext cx="0" cy="0"/>
          <a:chOff x="0" y="0"/>
          <a:chExt cx="0" cy="0"/>
        </a:xfrm>
      </p:grpSpPr>
      <p:sp>
        <p:nvSpPr>
          <p:cNvPr id="731" name="Google Shape;731;p24"/>
          <p:cNvSpPr/>
          <p:nvPr/>
        </p:nvSpPr>
        <p:spPr>
          <a:xfrm>
            <a:off x="0" y="0"/>
            <a:ext cx="54864"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24"/>
          <p:cNvSpPr/>
          <p:nvPr/>
        </p:nvSpPr>
        <p:spPr>
          <a:xfrm>
            <a:off x="182880" y="137160"/>
            <a:ext cx="87782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2600"/>
              <a:buFont typeface="Trebuchet MS"/>
              <a:buNone/>
            </a:pPr>
            <a:r>
              <a:rPr b="1" i="0" lang="en-US" sz="2600" u="none" cap="none" strike="noStrike">
                <a:solidFill>
                  <a:srgbClr val="F0F4FF"/>
                </a:solidFill>
                <a:latin typeface="Trebuchet MS"/>
                <a:ea typeface="Trebuchet MS"/>
                <a:cs typeface="Trebuchet MS"/>
                <a:sym typeface="Trebuchet MS"/>
              </a:rPr>
              <a:t>Errores comunes — Red-Black</a:t>
            </a:r>
            <a:endParaRPr b="0" i="0" sz="2600" u="none" cap="none" strike="noStrike">
              <a:solidFill>
                <a:schemeClr val="dk1"/>
              </a:solidFill>
              <a:latin typeface="Calibri"/>
              <a:ea typeface="Calibri"/>
              <a:cs typeface="Calibri"/>
              <a:sym typeface="Calibri"/>
            </a:endParaRPr>
          </a:p>
        </p:txBody>
      </p:sp>
      <p:sp>
        <p:nvSpPr>
          <p:cNvPr id="733" name="Google Shape;733;p24"/>
          <p:cNvSpPr/>
          <p:nvPr/>
        </p:nvSpPr>
        <p:spPr>
          <a:xfrm>
            <a:off x="182880" y="749808"/>
            <a:ext cx="8778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1200"/>
              <a:buFont typeface="Calibri"/>
              <a:buNone/>
            </a:pPr>
            <a:r>
              <a:rPr b="0" i="1" lang="en-US" sz="1200" u="none" cap="none" strike="noStrike">
                <a:solidFill>
                  <a:srgbClr val="8892A4"/>
                </a:solidFill>
                <a:latin typeface="Calibri"/>
                <a:ea typeface="Calibri"/>
                <a:cs typeface="Calibri"/>
                <a:sym typeface="Calibri"/>
              </a:rPr>
              <a:t>Los cuatro que rompen en silencio</a:t>
            </a:r>
            <a:endParaRPr b="0" i="0" sz="1200" u="none" cap="none" strike="noStrike">
              <a:solidFill>
                <a:schemeClr val="dk1"/>
              </a:solidFill>
              <a:latin typeface="Calibri"/>
              <a:ea typeface="Calibri"/>
              <a:cs typeface="Calibri"/>
              <a:sym typeface="Calibri"/>
            </a:endParaRPr>
          </a:p>
        </p:txBody>
      </p:sp>
      <p:sp>
        <p:nvSpPr>
          <p:cNvPr id="734" name="Google Shape;734;p24"/>
          <p:cNvSpPr/>
          <p:nvPr/>
        </p:nvSpPr>
        <p:spPr>
          <a:xfrm>
            <a:off x="182880" y="1024128"/>
            <a:ext cx="1463040" cy="27432"/>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24"/>
          <p:cNvSpPr/>
          <p:nvPr/>
        </p:nvSpPr>
        <p:spPr>
          <a:xfrm>
            <a:off x="137160" y="1097280"/>
            <a:ext cx="2148840" cy="3840480"/>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24"/>
          <p:cNvSpPr/>
          <p:nvPr/>
        </p:nvSpPr>
        <p:spPr>
          <a:xfrm>
            <a:off x="137160" y="1097280"/>
            <a:ext cx="45720" cy="3840480"/>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24"/>
          <p:cNvSpPr/>
          <p:nvPr/>
        </p:nvSpPr>
        <p:spPr>
          <a:xfrm>
            <a:off x="274320" y="1188720"/>
            <a:ext cx="1965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000"/>
              <a:buFont typeface="Calibri"/>
              <a:buNone/>
            </a:pPr>
            <a:r>
              <a:rPr b="1" i="0" lang="en-US" sz="1000" u="none" cap="none" strike="noStrike">
                <a:solidFill>
                  <a:srgbClr val="EF4444"/>
                </a:solidFill>
                <a:latin typeface="Calibri"/>
                <a:ea typeface="Calibri"/>
                <a:cs typeface="Calibri"/>
                <a:sym typeface="Calibri"/>
              </a:rPr>
              <a:t>Sentinel neglect — usar nullptr</a:t>
            </a:r>
            <a:endParaRPr b="0" i="0" sz="1000" u="none" cap="none" strike="noStrike">
              <a:solidFill>
                <a:schemeClr val="dk1"/>
              </a:solidFill>
              <a:latin typeface="Calibri"/>
              <a:ea typeface="Calibri"/>
              <a:cs typeface="Calibri"/>
              <a:sym typeface="Calibri"/>
            </a:endParaRPr>
          </a:p>
        </p:txBody>
      </p:sp>
      <p:sp>
        <p:nvSpPr>
          <p:cNvPr id="738" name="Google Shape;738;p24"/>
          <p:cNvSpPr/>
          <p:nvPr/>
        </p:nvSpPr>
        <p:spPr>
          <a:xfrm>
            <a:off x="274320" y="1463040"/>
            <a:ext cx="1874520" cy="18288"/>
          </a:xfrm>
          <a:prstGeom prst="rect">
            <a:avLst/>
          </a:prstGeom>
          <a:solidFill>
            <a:srgbClr val="7F1D1D"/>
          </a:solidFill>
          <a:ln cap="flat" cmpd="sng" w="12700">
            <a:solidFill>
              <a:srgbClr val="7F1D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24"/>
          <p:cNvSpPr/>
          <p:nvPr/>
        </p:nvSpPr>
        <p:spPr>
          <a:xfrm>
            <a:off x="274320" y="1499616"/>
            <a:ext cx="19659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750"/>
              <a:buFont typeface="Calibri"/>
              <a:buNone/>
            </a:pPr>
            <a:r>
              <a:rPr b="1" i="0" lang="en-US" sz="750" u="none" cap="none" strike="noStrike">
                <a:solidFill>
                  <a:srgbClr val="EF4444"/>
                </a:solidFill>
                <a:latin typeface="Calibri"/>
                <a:ea typeface="Calibri"/>
                <a:cs typeface="Calibri"/>
                <a:sym typeface="Calibri"/>
              </a:rPr>
              <a:t>✗ INCORRECTO</a:t>
            </a:r>
            <a:endParaRPr b="0" i="0" sz="750" u="none" cap="none" strike="noStrike">
              <a:solidFill>
                <a:schemeClr val="dk1"/>
              </a:solidFill>
              <a:latin typeface="Calibri"/>
              <a:ea typeface="Calibri"/>
              <a:cs typeface="Calibri"/>
              <a:sym typeface="Calibri"/>
            </a:endParaRPr>
          </a:p>
        </p:txBody>
      </p:sp>
      <p:sp>
        <p:nvSpPr>
          <p:cNvPr id="740" name="Google Shape;740;p24"/>
          <p:cNvSpPr/>
          <p:nvPr/>
        </p:nvSpPr>
        <p:spPr>
          <a:xfrm>
            <a:off x="274320" y="1682496"/>
            <a:ext cx="1965960" cy="7498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9999"/>
              </a:buClr>
              <a:buSzPts val="850"/>
              <a:buFont typeface="Consolas"/>
              <a:buNone/>
            </a:pPr>
            <a:r>
              <a:rPr b="0" i="0" lang="en-US" sz="650" u="none" cap="none" strike="noStrike">
                <a:solidFill>
                  <a:srgbClr val="FF9999"/>
                </a:solidFill>
                <a:latin typeface="Consolas"/>
                <a:ea typeface="Consolas"/>
                <a:cs typeface="Consolas"/>
                <a:sym typeface="Consolas"/>
              </a:rPr>
              <a:t>// INCORRECTO:</a:t>
            </a:r>
            <a:endParaRPr b="0" i="0" sz="6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650" u="none" cap="none" strike="noStrike">
                <a:solidFill>
                  <a:srgbClr val="FF9999"/>
                </a:solidFill>
                <a:latin typeface="Consolas"/>
                <a:ea typeface="Consolas"/>
                <a:cs typeface="Consolas"/>
                <a:sym typeface="Consolas"/>
              </a:rPr>
              <a:t>if (x-&gt;left != nullptr &amp;&amp;</a:t>
            </a:r>
            <a:endParaRPr b="0" i="0" sz="6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650" u="none" cap="none" strike="noStrike">
                <a:solidFill>
                  <a:srgbClr val="FF9999"/>
                </a:solidFill>
                <a:latin typeface="Consolas"/>
                <a:ea typeface="Consolas"/>
                <a:cs typeface="Consolas"/>
                <a:sym typeface="Consolas"/>
              </a:rPr>
              <a:t>    x-&gt;left-&gt;color == RED)</a:t>
            </a:r>
            <a:endParaRPr b="0" i="0" sz="6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650" u="none" cap="none" strike="noStrike">
                <a:solidFill>
                  <a:srgbClr val="FF9999"/>
                </a:solidFill>
                <a:latin typeface="Consolas"/>
                <a:ea typeface="Consolas"/>
                <a:cs typeface="Consolas"/>
                <a:sym typeface="Consolas"/>
              </a:rPr>
              <a:t>// Si x-&gt;left es nullptr:</a:t>
            </a:r>
            <a:endParaRPr b="0" i="0" sz="6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650" u="none" cap="none" strike="noStrike">
                <a:solidFill>
                  <a:srgbClr val="FF9999"/>
                </a:solidFill>
                <a:latin typeface="Consolas"/>
                <a:ea typeface="Consolas"/>
                <a:cs typeface="Consolas"/>
                <a:sym typeface="Consolas"/>
              </a:rPr>
              <a:t>// → segfault al acceder .color</a:t>
            </a:r>
            <a:endParaRPr b="0" i="0" sz="6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650" u="none" cap="none" strike="noStrike">
                <a:solidFill>
                  <a:srgbClr val="FF9999"/>
                </a:solidFill>
                <a:latin typeface="Consolas"/>
                <a:ea typeface="Consolas"/>
                <a:cs typeface="Consolas"/>
                <a:sym typeface="Consolas"/>
              </a:rPr>
              <a:t>// El código se llena de ifs</a:t>
            </a:r>
            <a:endParaRPr b="0" i="0" sz="6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650" u="none" cap="none" strike="noStrike">
                <a:solidFill>
                  <a:srgbClr val="FF9999"/>
                </a:solidFill>
                <a:latin typeface="Consolas"/>
                <a:ea typeface="Consolas"/>
                <a:cs typeface="Consolas"/>
                <a:sym typeface="Consolas"/>
              </a:rPr>
              <a:t>// → imposible de mantener</a:t>
            </a:r>
            <a:endParaRPr b="0" i="0" sz="650" u="none" cap="none" strike="noStrike">
              <a:solidFill>
                <a:schemeClr val="dk1"/>
              </a:solidFill>
              <a:latin typeface="Calibri"/>
              <a:ea typeface="Calibri"/>
              <a:cs typeface="Calibri"/>
              <a:sym typeface="Calibri"/>
            </a:endParaRPr>
          </a:p>
        </p:txBody>
      </p:sp>
      <p:sp>
        <p:nvSpPr>
          <p:cNvPr id="741" name="Google Shape;741;p24"/>
          <p:cNvSpPr/>
          <p:nvPr/>
        </p:nvSpPr>
        <p:spPr>
          <a:xfrm>
            <a:off x="274320" y="2468880"/>
            <a:ext cx="19659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750"/>
              <a:buFont typeface="Calibri"/>
              <a:buNone/>
            </a:pPr>
            <a:r>
              <a:rPr b="1" i="0" lang="en-US" sz="750" u="none" cap="none" strike="noStrike">
                <a:solidFill>
                  <a:srgbClr val="F59E0B"/>
                </a:solidFill>
                <a:latin typeface="Calibri"/>
                <a:ea typeface="Calibri"/>
                <a:cs typeface="Calibri"/>
                <a:sym typeface="Calibri"/>
              </a:rPr>
              <a:t>CONSECUENCIA</a:t>
            </a:r>
            <a:endParaRPr b="0" i="0" sz="750" u="none" cap="none" strike="noStrike">
              <a:solidFill>
                <a:schemeClr val="dk1"/>
              </a:solidFill>
              <a:latin typeface="Calibri"/>
              <a:ea typeface="Calibri"/>
              <a:cs typeface="Calibri"/>
              <a:sym typeface="Calibri"/>
            </a:endParaRPr>
          </a:p>
        </p:txBody>
      </p:sp>
      <p:sp>
        <p:nvSpPr>
          <p:cNvPr id="742" name="Google Shape;742;p24"/>
          <p:cNvSpPr/>
          <p:nvPr/>
        </p:nvSpPr>
        <p:spPr>
          <a:xfrm>
            <a:off x="274320" y="2651760"/>
            <a:ext cx="196596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850"/>
              <a:buFont typeface="Calibri"/>
              <a:buNone/>
            </a:pPr>
            <a:r>
              <a:rPr b="0" i="0" lang="en-US" sz="850" u="none" cap="none" strike="noStrike">
                <a:solidFill>
                  <a:srgbClr val="F0F4FF"/>
                </a:solidFill>
                <a:latin typeface="Calibri"/>
                <a:ea typeface="Calibri"/>
                <a:cs typeface="Calibri"/>
                <a:sym typeface="Calibri"/>
              </a:rPr>
              <a:t>Crash en acceso a .color de nullptr. El código se llena de verificaciones anidadas que son fuente de bugs. Las propiedades del árbol son difíciles de mantener sin el sentinel.</a:t>
            </a:r>
            <a:endParaRPr b="0" i="0" sz="850" u="none" cap="none" strike="noStrike">
              <a:solidFill>
                <a:schemeClr val="dk1"/>
              </a:solidFill>
              <a:latin typeface="Calibri"/>
              <a:ea typeface="Calibri"/>
              <a:cs typeface="Calibri"/>
              <a:sym typeface="Calibri"/>
            </a:endParaRPr>
          </a:p>
        </p:txBody>
      </p:sp>
      <p:sp>
        <p:nvSpPr>
          <p:cNvPr id="743" name="Google Shape;743;p24"/>
          <p:cNvSpPr/>
          <p:nvPr/>
        </p:nvSpPr>
        <p:spPr>
          <a:xfrm>
            <a:off x="274320" y="3401568"/>
            <a:ext cx="19659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750"/>
              <a:buFont typeface="Calibri"/>
              <a:buNone/>
            </a:pPr>
            <a:r>
              <a:rPr b="1" i="0" lang="en-US" sz="750" u="none" cap="none" strike="noStrike">
                <a:solidFill>
                  <a:srgbClr val="10B981"/>
                </a:solidFill>
                <a:latin typeface="Calibri"/>
                <a:ea typeface="Calibri"/>
                <a:cs typeface="Calibri"/>
                <a:sym typeface="Calibri"/>
              </a:rPr>
              <a:t>✓ CORRECTO</a:t>
            </a:r>
            <a:endParaRPr b="0" i="0" sz="750" u="none" cap="none" strike="noStrike">
              <a:solidFill>
                <a:schemeClr val="dk1"/>
              </a:solidFill>
              <a:latin typeface="Calibri"/>
              <a:ea typeface="Calibri"/>
              <a:cs typeface="Calibri"/>
              <a:sym typeface="Calibri"/>
            </a:endParaRPr>
          </a:p>
        </p:txBody>
      </p:sp>
      <p:sp>
        <p:nvSpPr>
          <p:cNvPr id="744" name="Google Shape;744;p24"/>
          <p:cNvSpPr/>
          <p:nvPr/>
        </p:nvSpPr>
        <p:spPr>
          <a:xfrm>
            <a:off x="274320" y="3584448"/>
            <a:ext cx="19659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T.nil: nodo BLACK compartido</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T.nil = new RBNode();</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T.nil-&gt;color = BLACK;</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Todos los NULL → T.nil:</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if (x-&gt;left != T.nil &amp;&amp;</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x-&gt;left-&gt;color == RED)</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Nunca falla</a:t>
            </a:r>
            <a:endParaRPr b="0" i="0" sz="850" u="none" cap="none" strike="noStrike">
              <a:solidFill>
                <a:schemeClr val="dk1"/>
              </a:solidFill>
              <a:latin typeface="Calibri"/>
              <a:ea typeface="Calibri"/>
              <a:cs typeface="Calibri"/>
              <a:sym typeface="Calibri"/>
            </a:endParaRPr>
          </a:p>
        </p:txBody>
      </p:sp>
      <p:sp>
        <p:nvSpPr>
          <p:cNvPr id="745" name="Google Shape;745;p24"/>
          <p:cNvSpPr/>
          <p:nvPr/>
        </p:nvSpPr>
        <p:spPr>
          <a:xfrm>
            <a:off x="2423160" y="1097280"/>
            <a:ext cx="2148840" cy="3840480"/>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24"/>
          <p:cNvSpPr/>
          <p:nvPr/>
        </p:nvSpPr>
        <p:spPr>
          <a:xfrm>
            <a:off x="2423160" y="1097280"/>
            <a:ext cx="45720" cy="3840480"/>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24"/>
          <p:cNvSpPr/>
          <p:nvPr/>
        </p:nvSpPr>
        <p:spPr>
          <a:xfrm>
            <a:off x="2560320" y="1188720"/>
            <a:ext cx="1965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000"/>
              <a:buFont typeface="Calibri"/>
              <a:buNone/>
            </a:pPr>
            <a:r>
              <a:rPr b="1" i="0" lang="en-US" sz="1000" u="none" cap="none" strike="noStrike">
                <a:solidFill>
                  <a:srgbClr val="EF4444"/>
                </a:solidFill>
                <a:latin typeface="Calibri"/>
                <a:ea typeface="Calibri"/>
                <a:cs typeface="Calibri"/>
                <a:sym typeface="Calibri"/>
              </a:rPr>
              <a:t>Subtree Orphanage en rotación</a:t>
            </a:r>
            <a:endParaRPr b="0" i="0" sz="1000" u="none" cap="none" strike="noStrike">
              <a:solidFill>
                <a:schemeClr val="dk1"/>
              </a:solidFill>
              <a:latin typeface="Calibri"/>
              <a:ea typeface="Calibri"/>
              <a:cs typeface="Calibri"/>
              <a:sym typeface="Calibri"/>
            </a:endParaRPr>
          </a:p>
        </p:txBody>
      </p:sp>
      <p:sp>
        <p:nvSpPr>
          <p:cNvPr id="748" name="Google Shape;748;p24"/>
          <p:cNvSpPr/>
          <p:nvPr/>
        </p:nvSpPr>
        <p:spPr>
          <a:xfrm>
            <a:off x="2560320" y="1463040"/>
            <a:ext cx="1874520" cy="18288"/>
          </a:xfrm>
          <a:prstGeom prst="rect">
            <a:avLst/>
          </a:prstGeom>
          <a:solidFill>
            <a:srgbClr val="7F1D1D"/>
          </a:solidFill>
          <a:ln cap="flat" cmpd="sng" w="12700">
            <a:solidFill>
              <a:srgbClr val="7F1D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24"/>
          <p:cNvSpPr/>
          <p:nvPr/>
        </p:nvSpPr>
        <p:spPr>
          <a:xfrm>
            <a:off x="2560320" y="1499616"/>
            <a:ext cx="19659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750"/>
              <a:buFont typeface="Calibri"/>
              <a:buNone/>
            </a:pPr>
            <a:r>
              <a:rPr b="1" i="0" lang="en-US" sz="750" u="none" cap="none" strike="noStrike">
                <a:solidFill>
                  <a:srgbClr val="EF4444"/>
                </a:solidFill>
                <a:latin typeface="Calibri"/>
                <a:ea typeface="Calibri"/>
                <a:cs typeface="Calibri"/>
                <a:sym typeface="Calibri"/>
              </a:rPr>
              <a:t>✗ INCORRECTO</a:t>
            </a:r>
            <a:endParaRPr b="0" i="0" sz="750" u="none" cap="none" strike="noStrike">
              <a:solidFill>
                <a:schemeClr val="dk1"/>
              </a:solidFill>
              <a:latin typeface="Calibri"/>
              <a:ea typeface="Calibri"/>
              <a:cs typeface="Calibri"/>
              <a:sym typeface="Calibri"/>
            </a:endParaRPr>
          </a:p>
        </p:txBody>
      </p:sp>
      <p:sp>
        <p:nvSpPr>
          <p:cNvPr id="750" name="Google Shape;750;p24"/>
          <p:cNvSpPr/>
          <p:nvPr/>
        </p:nvSpPr>
        <p:spPr>
          <a:xfrm>
            <a:off x="2560320" y="1682496"/>
            <a:ext cx="1965960" cy="7498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LEFT-ROTATE(x):</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y = x-&gt;right;</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x-&gt;right = y-&gt;left;</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y-&gt;left = x;</a:t>
            </a:r>
            <a:endParaRPr b="0" i="0" sz="4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Falta:</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y-&gt;parent = x-&gt;parent</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actualizar x-&gt;parent-&gt;left</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o x-&gt;parent-&gt;right</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El subárbol queda suelto</a:t>
            </a:r>
            <a:endParaRPr b="0" i="0" sz="550" u="none" cap="none" strike="noStrike">
              <a:solidFill>
                <a:schemeClr val="dk1"/>
              </a:solidFill>
              <a:latin typeface="Calibri"/>
              <a:ea typeface="Calibri"/>
              <a:cs typeface="Calibri"/>
              <a:sym typeface="Calibri"/>
            </a:endParaRPr>
          </a:p>
        </p:txBody>
      </p:sp>
      <p:sp>
        <p:nvSpPr>
          <p:cNvPr id="751" name="Google Shape;751;p24"/>
          <p:cNvSpPr/>
          <p:nvPr/>
        </p:nvSpPr>
        <p:spPr>
          <a:xfrm>
            <a:off x="2560320" y="2468880"/>
            <a:ext cx="19659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750"/>
              <a:buFont typeface="Calibri"/>
              <a:buNone/>
            </a:pPr>
            <a:r>
              <a:rPr b="1" i="0" lang="en-US" sz="750" u="none" cap="none" strike="noStrike">
                <a:solidFill>
                  <a:srgbClr val="F59E0B"/>
                </a:solidFill>
                <a:latin typeface="Calibri"/>
                <a:ea typeface="Calibri"/>
                <a:cs typeface="Calibri"/>
                <a:sym typeface="Calibri"/>
              </a:rPr>
              <a:t>CONSECUENCIA</a:t>
            </a:r>
            <a:endParaRPr b="0" i="0" sz="750" u="none" cap="none" strike="noStrike">
              <a:solidFill>
                <a:schemeClr val="dk1"/>
              </a:solidFill>
              <a:latin typeface="Calibri"/>
              <a:ea typeface="Calibri"/>
              <a:cs typeface="Calibri"/>
              <a:sym typeface="Calibri"/>
            </a:endParaRPr>
          </a:p>
        </p:txBody>
      </p:sp>
      <p:sp>
        <p:nvSpPr>
          <p:cNvPr id="752" name="Google Shape;752;p24"/>
          <p:cNvSpPr/>
          <p:nvPr/>
        </p:nvSpPr>
        <p:spPr>
          <a:xfrm>
            <a:off x="2560320" y="2651760"/>
            <a:ext cx="196596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850"/>
              <a:buFont typeface="Calibri"/>
              <a:buNone/>
            </a:pPr>
            <a:r>
              <a:rPr b="0" i="0" lang="en-US" sz="850" u="none" cap="none" strike="noStrike">
                <a:solidFill>
                  <a:srgbClr val="F0F4FF"/>
                </a:solidFill>
                <a:latin typeface="Calibri"/>
                <a:ea typeface="Calibri"/>
                <a:cs typeface="Calibri"/>
                <a:sym typeface="Calibri"/>
              </a:rPr>
              <a:t>El subárbol rotado se desconecta del árbol padre. Los nodos son inaccesibles desde la raíz. SEARCH falla para nodos en el subárbol huérfano. Memory leak permanente.</a:t>
            </a:r>
            <a:endParaRPr b="0" i="0" sz="850" u="none" cap="none" strike="noStrike">
              <a:solidFill>
                <a:schemeClr val="dk1"/>
              </a:solidFill>
              <a:latin typeface="Calibri"/>
              <a:ea typeface="Calibri"/>
              <a:cs typeface="Calibri"/>
              <a:sym typeface="Calibri"/>
            </a:endParaRPr>
          </a:p>
        </p:txBody>
      </p:sp>
      <p:sp>
        <p:nvSpPr>
          <p:cNvPr id="753" name="Google Shape;753;p24"/>
          <p:cNvSpPr/>
          <p:nvPr/>
        </p:nvSpPr>
        <p:spPr>
          <a:xfrm>
            <a:off x="2560320" y="3401568"/>
            <a:ext cx="19659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750"/>
              <a:buFont typeface="Calibri"/>
              <a:buNone/>
            </a:pPr>
            <a:r>
              <a:rPr b="1" i="0" lang="en-US" sz="750" u="none" cap="none" strike="noStrike">
                <a:solidFill>
                  <a:srgbClr val="10B981"/>
                </a:solidFill>
                <a:latin typeface="Calibri"/>
                <a:ea typeface="Calibri"/>
                <a:cs typeface="Calibri"/>
                <a:sym typeface="Calibri"/>
              </a:rPr>
              <a:t>✓ CORRECTO</a:t>
            </a:r>
            <a:endParaRPr b="0" i="0" sz="750" u="none" cap="none" strike="noStrike">
              <a:solidFill>
                <a:schemeClr val="dk1"/>
              </a:solidFill>
              <a:latin typeface="Calibri"/>
              <a:ea typeface="Calibri"/>
              <a:cs typeface="Calibri"/>
              <a:sym typeface="Calibri"/>
            </a:endParaRPr>
          </a:p>
        </p:txBody>
      </p:sp>
      <p:sp>
        <p:nvSpPr>
          <p:cNvPr id="754" name="Google Shape;754;p24"/>
          <p:cNvSpPr/>
          <p:nvPr/>
        </p:nvSpPr>
        <p:spPr>
          <a:xfrm>
            <a:off x="2560320" y="3584448"/>
            <a:ext cx="19659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void leftRotate(RBTree&amp; 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RBNode* x) {</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RBNode* y = x-&gt;right;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x-&gt;right = y-&gt;left;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if (y-&gt;left != T.nil)</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y-&gt;left-&gt;parent = x;</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y-&gt;parent = x-&gt;parent;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if (x-&gt;parent == T.nil)</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T.root = y;</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else if (x == x-&gt;parent-&gt;left)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x-&gt;parent-&gt;left = y;</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else x-&gt;parent-&gt;right = y;</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y-&gt;left = x; x-&gt;parent = y;</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a:t>
            </a:r>
            <a:endParaRPr b="0" i="0" sz="850" u="none" cap="none" strike="noStrike">
              <a:solidFill>
                <a:schemeClr val="dk1"/>
              </a:solidFill>
              <a:latin typeface="Calibri"/>
              <a:ea typeface="Calibri"/>
              <a:cs typeface="Calibri"/>
              <a:sym typeface="Calibri"/>
            </a:endParaRPr>
          </a:p>
        </p:txBody>
      </p:sp>
      <p:sp>
        <p:nvSpPr>
          <p:cNvPr id="755" name="Google Shape;755;p24"/>
          <p:cNvSpPr/>
          <p:nvPr/>
        </p:nvSpPr>
        <p:spPr>
          <a:xfrm>
            <a:off x="4709160" y="1097280"/>
            <a:ext cx="2148840" cy="3840480"/>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24"/>
          <p:cNvSpPr/>
          <p:nvPr/>
        </p:nvSpPr>
        <p:spPr>
          <a:xfrm>
            <a:off x="4709160" y="1097280"/>
            <a:ext cx="45720" cy="3840480"/>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24"/>
          <p:cNvSpPr/>
          <p:nvPr/>
        </p:nvSpPr>
        <p:spPr>
          <a:xfrm>
            <a:off x="4846320" y="1188720"/>
            <a:ext cx="1965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000"/>
              <a:buFont typeface="Calibri"/>
              <a:buNone/>
            </a:pPr>
            <a:r>
              <a:rPr b="1" i="0" lang="en-US" sz="1000" u="none" cap="none" strike="noStrike">
                <a:solidFill>
                  <a:srgbClr val="EF4444"/>
                </a:solidFill>
                <a:latin typeface="Calibri"/>
                <a:ea typeface="Calibri"/>
                <a:cs typeface="Calibri"/>
                <a:sym typeface="Calibri"/>
              </a:rPr>
              <a:t>Uncle color blindness</a:t>
            </a:r>
            <a:endParaRPr b="0" i="0" sz="1000" u="none" cap="none" strike="noStrike">
              <a:solidFill>
                <a:schemeClr val="dk1"/>
              </a:solidFill>
              <a:latin typeface="Calibri"/>
              <a:ea typeface="Calibri"/>
              <a:cs typeface="Calibri"/>
              <a:sym typeface="Calibri"/>
            </a:endParaRPr>
          </a:p>
        </p:txBody>
      </p:sp>
      <p:sp>
        <p:nvSpPr>
          <p:cNvPr id="758" name="Google Shape;758;p24"/>
          <p:cNvSpPr/>
          <p:nvPr/>
        </p:nvSpPr>
        <p:spPr>
          <a:xfrm>
            <a:off x="4846320" y="1463040"/>
            <a:ext cx="1874520" cy="18288"/>
          </a:xfrm>
          <a:prstGeom prst="rect">
            <a:avLst/>
          </a:prstGeom>
          <a:solidFill>
            <a:srgbClr val="7F1D1D"/>
          </a:solidFill>
          <a:ln cap="flat" cmpd="sng" w="12700">
            <a:solidFill>
              <a:srgbClr val="7F1D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24"/>
          <p:cNvSpPr/>
          <p:nvPr/>
        </p:nvSpPr>
        <p:spPr>
          <a:xfrm>
            <a:off x="4846320" y="1499616"/>
            <a:ext cx="19659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750"/>
              <a:buFont typeface="Calibri"/>
              <a:buNone/>
            </a:pPr>
            <a:r>
              <a:rPr b="1" i="0" lang="en-US" sz="750" u="none" cap="none" strike="noStrike">
                <a:solidFill>
                  <a:srgbClr val="EF4444"/>
                </a:solidFill>
                <a:latin typeface="Calibri"/>
                <a:ea typeface="Calibri"/>
                <a:cs typeface="Calibri"/>
                <a:sym typeface="Calibri"/>
              </a:rPr>
              <a:t>✗ INCORRECTO</a:t>
            </a:r>
            <a:endParaRPr b="0" i="0" sz="750" u="none" cap="none" strike="noStrike">
              <a:solidFill>
                <a:schemeClr val="dk1"/>
              </a:solidFill>
              <a:latin typeface="Calibri"/>
              <a:ea typeface="Calibri"/>
              <a:cs typeface="Calibri"/>
              <a:sym typeface="Calibri"/>
            </a:endParaRPr>
          </a:p>
        </p:txBody>
      </p:sp>
      <p:sp>
        <p:nvSpPr>
          <p:cNvPr id="760" name="Google Shape;760;p24"/>
          <p:cNvSpPr/>
          <p:nvPr/>
        </p:nvSpPr>
        <p:spPr>
          <a:xfrm>
            <a:off x="4846320" y="1682496"/>
            <a:ext cx="1965960" cy="7498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9999"/>
              </a:buClr>
              <a:buSzPts val="850"/>
              <a:buFont typeface="Consolas"/>
              <a:buNone/>
            </a:pPr>
            <a:r>
              <a:rPr b="0" i="0" lang="en-US" sz="450" u="none" cap="none" strike="noStrike">
                <a:solidFill>
                  <a:srgbClr val="FF9999"/>
                </a:solidFill>
                <a:latin typeface="Consolas"/>
                <a:ea typeface="Consolas"/>
                <a:cs typeface="Consolas"/>
                <a:sym typeface="Consolas"/>
              </a:rPr>
              <a:t>// INCORRECTO: siempre rotar</a:t>
            </a:r>
            <a:endParaRPr b="0" i="0" sz="4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450" u="none" cap="none" strike="noStrike">
                <a:solidFill>
                  <a:srgbClr val="FF9999"/>
                </a:solidFill>
                <a:latin typeface="Consolas"/>
                <a:ea typeface="Consolas"/>
                <a:cs typeface="Consolas"/>
                <a:sym typeface="Consolas"/>
              </a:rPr>
              <a:t>void fixup(RBTree&amp; T,</a:t>
            </a:r>
            <a:endParaRPr b="0" i="0" sz="4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450" u="none" cap="none" strike="noStrike">
                <a:solidFill>
                  <a:srgbClr val="FF9999"/>
                </a:solidFill>
                <a:latin typeface="Consolas"/>
                <a:ea typeface="Consolas"/>
                <a:cs typeface="Consolas"/>
                <a:sym typeface="Consolas"/>
              </a:rPr>
              <a:t>           RBNode* z) {</a:t>
            </a:r>
            <a:endParaRPr b="0" i="0" sz="4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450" u="none" cap="none" strike="noStrike">
                <a:solidFill>
                  <a:srgbClr val="FF9999"/>
                </a:solidFill>
                <a:latin typeface="Consolas"/>
                <a:ea typeface="Consolas"/>
                <a:cs typeface="Consolas"/>
                <a:sym typeface="Consolas"/>
              </a:rPr>
              <a:t>  while (z-&gt;parent-&gt;color==RED){</a:t>
            </a:r>
            <a:endParaRPr b="0" i="0" sz="4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450" u="none" cap="none" strike="noStrike">
                <a:solidFill>
                  <a:srgbClr val="FF9999"/>
                </a:solidFill>
                <a:latin typeface="Consolas"/>
                <a:ea typeface="Consolas"/>
                <a:cs typeface="Consolas"/>
                <a:sym typeface="Consolas"/>
              </a:rPr>
              <a:t>    // rotar sin verificar uncle</a:t>
            </a:r>
            <a:endParaRPr b="0" i="0" sz="4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450" u="none" cap="none" strike="noStrike">
                <a:solidFill>
                  <a:srgbClr val="FF9999"/>
                </a:solidFill>
                <a:latin typeface="Consolas"/>
                <a:ea typeface="Consolas"/>
                <a:cs typeface="Consolas"/>
                <a:sym typeface="Consolas"/>
              </a:rPr>
              <a:t>    leftRotate(T, z-&gt;parent);</a:t>
            </a:r>
            <a:endParaRPr b="0" i="0" sz="4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450" u="none" cap="none" strike="noStrike">
                <a:solidFill>
                  <a:srgbClr val="FF9999"/>
                </a:solidFill>
                <a:latin typeface="Consolas"/>
                <a:ea typeface="Consolas"/>
                <a:cs typeface="Consolas"/>
                <a:sym typeface="Consolas"/>
              </a:rPr>
              <a:t>    // Si uncle era RED:</a:t>
            </a:r>
            <a:endParaRPr b="0" i="0" sz="4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450" u="none" cap="none" strike="noStrike">
                <a:solidFill>
                  <a:srgbClr val="FF9999"/>
                </a:solidFill>
                <a:latin typeface="Consolas"/>
                <a:ea typeface="Consolas"/>
                <a:cs typeface="Consolas"/>
                <a:sym typeface="Consolas"/>
              </a:rPr>
              <a:t>    // rompió black-height</a:t>
            </a:r>
            <a:endParaRPr b="0" i="0" sz="4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450" u="none" cap="none" strike="noStrike">
                <a:solidFill>
                  <a:srgbClr val="FF9999"/>
                </a:solidFill>
                <a:latin typeface="Consolas"/>
                <a:ea typeface="Consolas"/>
                <a:cs typeface="Consolas"/>
                <a:sym typeface="Consolas"/>
              </a:rPr>
              <a:t>    // propiedad 5 violada</a:t>
            </a:r>
            <a:endParaRPr b="0" i="0" sz="4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450" u="none" cap="none" strike="noStrike">
                <a:solidFill>
                  <a:srgbClr val="FF9999"/>
                </a:solidFill>
                <a:latin typeface="Consolas"/>
                <a:ea typeface="Consolas"/>
                <a:cs typeface="Consolas"/>
                <a:sym typeface="Consolas"/>
              </a:rPr>
              <a:t>  }</a:t>
            </a:r>
            <a:endParaRPr b="0" i="0" sz="4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450" u="none" cap="none" strike="noStrike">
                <a:solidFill>
                  <a:srgbClr val="FF9999"/>
                </a:solidFill>
                <a:latin typeface="Consolas"/>
                <a:ea typeface="Consolas"/>
                <a:cs typeface="Consolas"/>
                <a:sym typeface="Consolas"/>
              </a:rPr>
              <a:t>}</a:t>
            </a:r>
            <a:endParaRPr b="0" i="0" sz="450" u="none" cap="none" strike="noStrike">
              <a:solidFill>
                <a:schemeClr val="dk1"/>
              </a:solidFill>
              <a:latin typeface="Calibri"/>
              <a:ea typeface="Calibri"/>
              <a:cs typeface="Calibri"/>
              <a:sym typeface="Calibri"/>
            </a:endParaRPr>
          </a:p>
        </p:txBody>
      </p:sp>
      <p:sp>
        <p:nvSpPr>
          <p:cNvPr id="761" name="Google Shape;761;p24"/>
          <p:cNvSpPr/>
          <p:nvPr/>
        </p:nvSpPr>
        <p:spPr>
          <a:xfrm>
            <a:off x="4846320" y="2468880"/>
            <a:ext cx="19659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750"/>
              <a:buFont typeface="Calibri"/>
              <a:buNone/>
            </a:pPr>
            <a:r>
              <a:rPr b="1" i="0" lang="en-US" sz="750" u="none" cap="none" strike="noStrike">
                <a:solidFill>
                  <a:srgbClr val="F59E0B"/>
                </a:solidFill>
                <a:latin typeface="Calibri"/>
                <a:ea typeface="Calibri"/>
                <a:cs typeface="Calibri"/>
                <a:sym typeface="Calibri"/>
              </a:rPr>
              <a:t>CONSECUENCIA</a:t>
            </a:r>
            <a:endParaRPr b="0" i="0" sz="750" u="none" cap="none" strike="noStrike">
              <a:solidFill>
                <a:schemeClr val="dk1"/>
              </a:solidFill>
              <a:latin typeface="Calibri"/>
              <a:ea typeface="Calibri"/>
              <a:cs typeface="Calibri"/>
              <a:sym typeface="Calibri"/>
            </a:endParaRPr>
          </a:p>
        </p:txBody>
      </p:sp>
      <p:sp>
        <p:nvSpPr>
          <p:cNvPr id="762" name="Google Shape;762;p24"/>
          <p:cNvSpPr/>
          <p:nvPr/>
        </p:nvSpPr>
        <p:spPr>
          <a:xfrm>
            <a:off x="4846320" y="2651760"/>
            <a:ext cx="196596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850"/>
              <a:buFont typeface="Calibri"/>
              <a:buNone/>
            </a:pPr>
            <a:r>
              <a:rPr b="0" i="0" lang="en-US" sz="850" u="none" cap="none" strike="noStrike">
                <a:solidFill>
                  <a:srgbClr val="F0F4FF"/>
                </a:solidFill>
                <a:latin typeface="Calibri"/>
                <a:ea typeface="Calibri"/>
                <a:cs typeface="Calibri"/>
                <a:sym typeface="Calibri"/>
              </a:rPr>
              <a:t>Si el uncle es RED y se aplica rotación, la black-height cambia en algunos paths. La propiedad 5 queda violada. El árbol parece funcional pero produce búsquedas incorrectas en casos específicos.</a:t>
            </a:r>
            <a:endParaRPr b="0" i="0" sz="850" u="none" cap="none" strike="noStrike">
              <a:solidFill>
                <a:schemeClr val="dk1"/>
              </a:solidFill>
              <a:latin typeface="Calibri"/>
              <a:ea typeface="Calibri"/>
              <a:cs typeface="Calibri"/>
              <a:sym typeface="Calibri"/>
            </a:endParaRPr>
          </a:p>
        </p:txBody>
      </p:sp>
      <p:sp>
        <p:nvSpPr>
          <p:cNvPr id="763" name="Google Shape;763;p24"/>
          <p:cNvSpPr/>
          <p:nvPr/>
        </p:nvSpPr>
        <p:spPr>
          <a:xfrm>
            <a:off x="4846320" y="3401568"/>
            <a:ext cx="19659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750"/>
              <a:buFont typeface="Calibri"/>
              <a:buNone/>
            </a:pPr>
            <a:r>
              <a:rPr b="1" i="0" lang="en-US" sz="750" u="none" cap="none" strike="noStrike">
                <a:solidFill>
                  <a:srgbClr val="10B981"/>
                </a:solidFill>
                <a:latin typeface="Calibri"/>
                <a:ea typeface="Calibri"/>
                <a:cs typeface="Calibri"/>
                <a:sym typeface="Calibri"/>
              </a:rPr>
              <a:t>✓ CORRECTO</a:t>
            </a:r>
            <a:endParaRPr b="0" i="0" sz="750" u="none" cap="none" strike="noStrike">
              <a:solidFill>
                <a:schemeClr val="dk1"/>
              </a:solidFill>
              <a:latin typeface="Calibri"/>
              <a:ea typeface="Calibri"/>
              <a:cs typeface="Calibri"/>
              <a:sym typeface="Calibri"/>
            </a:endParaRPr>
          </a:p>
        </p:txBody>
      </p:sp>
      <p:sp>
        <p:nvSpPr>
          <p:cNvPr id="764" name="Google Shape;764;p24"/>
          <p:cNvSpPr/>
          <p:nvPr/>
        </p:nvSpPr>
        <p:spPr>
          <a:xfrm>
            <a:off x="4846320" y="3584448"/>
            <a:ext cx="19659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Verificar uncle PRIMERO:</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if (uncle-&gt;color == RED) {</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 Caso 1: recolorear</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z-&gt;parent-&gt;color = BLACK;</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uncle-&gt;color = BLACK;</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z-&gt;parent-&gt;parent-&gt;color = RED;</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z = z-&gt;parent-&gt;parent;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else {</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 Casos 2 y 3: rotar</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a:t>
            </a:r>
            <a:endParaRPr b="0" i="0" sz="850" u="none" cap="none" strike="noStrike">
              <a:solidFill>
                <a:schemeClr val="dk1"/>
              </a:solidFill>
              <a:latin typeface="Calibri"/>
              <a:ea typeface="Calibri"/>
              <a:cs typeface="Calibri"/>
              <a:sym typeface="Calibri"/>
            </a:endParaRPr>
          </a:p>
        </p:txBody>
      </p:sp>
      <p:sp>
        <p:nvSpPr>
          <p:cNvPr id="765" name="Google Shape;765;p24"/>
          <p:cNvSpPr/>
          <p:nvPr/>
        </p:nvSpPr>
        <p:spPr>
          <a:xfrm>
            <a:off x="6858000" y="1097280"/>
            <a:ext cx="2148840" cy="3840480"/>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24"/>
          <p:cNvSpPr/>
          <p:nvPr/>
        </p:nvSpPr>
        <p:spPr>
          <a:xfrm>
            <a:off x="6858000" y="1097280"/>
            <a:ext cx="45720" cy="3840480"/>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24"/>
          <p:cNvSpPr/>
          <p:nvPr/>
        </p:nvSpPr>
        <p:spPr>
          <a:xfrm>
            <a:off x="6995160" y="1188720"/>
            <a:ext cx="1965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000"/>
              <a:buFont typeface="Calibri"/>
              <a:buNone/>
            </a:pPr>
            <a:r>
              <a:rPr b="1" i="0" lang="en-US" sz="1000" u="none" cap="none" strike="noStrike">
                <a:solidFill>
                  <a:srgbClr val="EF4444"/>
                </a:solidFill>
                <a:latin typeface="Calibri"/>
                <a:ea typeface="Calibri"/>
                <a:cs typeface="Calibri"/>
                <a:sym typeface="Calibri"/>
              </a:rPr>
              <a:t>Olvidar colorear raíz BLACK</a:t>
            </a:r>
            <a:endParaRPr b="0" i="0" sz="1000" u="none" cap="none" strike="noStrike">
              <a:solidFill>
                <a:schemeClr val="dk1"/>
              </a:solidFill>
              <a:latin typeface="Calibri"/>
              <a:ea typeface="Calibri"/>
              <a:cs typeface="Calibri"/>
              <a:sym typeface="Calibri"/>
            </a:endParaRPr>
          </a:p>
        </p:txBody>
      </p:sp>
      <p:sp>
        <p:nvSpPr>
          <p:cNvPr id="768" name="Google Shape;768;p24"/>
          <p:cNvSpPr/>
          <p:nvPr/>
        </p:nvSpPr>
        <p:spPr>
          <a:xfrm>
            <a:off x="6995160" y="1463040"/>
            <a:ext cx="1874520" cy="18288"/>
          </a:xfrm>
          <a:prstGeom prst="rect">
            <a:avLst/>
          </a:prstGeom>
          <a:solidFill>
            <a:srgbClr val="7F1D1D"/>
          </a:solidFill>
          <a:ln cap="flat" cmpd="sng" w="12700">
            <a:solidFill>
              <a:srgbClr val="7F1D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4"/>
          <p:cNvSpPr/>
          <p:nvPr/>
        </p:nvSpPr>
        <p:spPr>
          <a:xfrm>
            <a:off x="6995160" y="1499616"/>
            <a:ext cx="19659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750"/>
              <a:buFont typeface="Calibri"/>
              <a:buNone/>
            </a:pPr>
            <a:r>
              <a:rPr b="1" i="0" lang="en-US" sz="750" u="none" cap="none" strike="noStrike">
                <a:solidFill>
                  <a:srgbClr val="EF4444"/>
                </a:solidFill>
                <a:latin typeface="Calibri"/>
                <a:ea typeface="Calibri"/>
                <a:cs typeface="Calibri"/>
                <a:sym typeface="Calibri"/>
              </a:rPr>
              <a:t>✗ INCORRECTO</a:t>
            </a:r>
            <a:endParaRPr b="0" i="0" sz="750" u="none" cap="none" strike="noStrike">
              <a:solidFill>
                <a:schemeClr val="dk1"/>
              </a:solidFill>
              <a:latin typeface="Calibri"/>
              <a:ea typeface="Calibri"/>
              <a:cs typeface="Calibri"/>
              <a:sym typeface="Calibri"/>
            </a:endParaRPr>
          </a:p>
        </p:txBody>
      </p:sp>
      <p:sp>
        <p:nvSpPr>
          <p:cNvPr id="770" name="Google Shape;770;p24"/>
          <p:cNvSpPr/>
          <p:nvPr/>
        </p:nvSpPr>
        <p:spPr>
          <a:xfrm>
            <a:off x="6995160" y="1682496"/>
            <a:ext cx="1965960" cy="7498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void insert(RBTree&amp; T,</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RBNode* z) {</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 ...</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rbInsertFixup(T, z);</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 ← falta:</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 T.root-&gt;color = BLACK;</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 Las rotaciones pueden</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 dejar la raíz RED</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 Propiedad 2 violada</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a:t>
            </a:r>
            <a:endParaRPr b="0" i="0" sz="550" u="none" cap="none" strike="noStrike">
              <a:solidFill>
                <a:schemeClr val="dk1"/>
              </a:solidFill>
              <a:latin typeface="Calibri"/>
              <a:ea typeface="Calibri"/>
              <a:cs typeface="Calibri"/>
              <a:sym typeface="Calibri"/>
            </a:endParaRPr>
          </a:p>
        </p:txBody>
      </p:sp>
      <p:sp>
        <p:nvSpPr>
          <p:cNvPr id="771" name="Google Shape;771;p24"/>
          <p:cNvSpPr/>
          <p:nvPr/>
        </p:nvSpPr>
        <p:spPr>
          <a:xfrm>
            <a:off x="6995160" y="2468880"/>
            <a:ext cx="19659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750"/>
              <a:buFont typeface="Calibri"/>
              <a:buNone/>
            </a:pPr>
            <a:r>
              <a:rPr b="1" i="0" lang="en-US" sz="750" u="none" cap="none" strike="noStrike">
                <a:solidFill>
                  <a:srgbClr val="F59E0B"/>
                </a:solidFill>
                <a:latin typeface="Calibri"/>
                <a:ea typeface="Calibri"/>
                <a:cs typeface="Calibri"/>
                <a:sym typeface="Calibri"/>
              </a:rPr>
              <a:t>CONSECUENCIA</a:t>
            </a:r>
            <a:endParaRPr b="0" i="0" sz="750" u="none" cap="none" strike="noStrike">
              <a:solidFill>
                <a:schemeClr val="dk1"/>
              </a:solidFill>
              <a:latin typeface="Calibri"/>
              <a:ea typeface="Calibri"/>
              <a:cs typeface="Calibri"/>
              <a:sym typeface="Calibri"/>
            </a:endParaRPr>
          </a:p>
        </p:txBody>
      </p:sp>
      <p:sp>
        <p:nvSpPr>
          <p:cNvPr id="772" name="Google Shape;772;p24"/>
          <p:cNvSpPr/>
          <p:nvPr/>
        </p:nvSpPr>
        <p:spPr>
          <a:xfrm>
            <a:off x="6995160" y="2651760"/>
            <a:ext cx="196596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850"/>
              <a:buFont typeface="Calibri"/>
              <a:buNone/>
            </a:pPr>
            <a:r>
              <a:rPr b="0" i="0" lang="en-US" sz="850" u="none" cap="none" strike="noStrike">
                <a:solidFill>
                  <a:srgbClr val="F0F4FF"/>
                </a:solidFill>
                <a:latin typeface="Calibri"/>
                <a:ea typeface="Calibri"/>
                <a:cs typeface="Calibri"/>
                <a:sym typeface="Calibri"/>
              </a:rPr>
              <a:t>La raíz RED viola la propiedad 2. En el próximo INSERT, el fixup puede asumir que el padre de la raíz es BLACK (por la propiedad 2) y producir lógica incorrecta. Bug latente que aparece solo en secuencias específicas de inserciones.</a:t>
            </a:r>
            <a:endParaRPr b="0" i="0" sz="850" u="none" cap="none" strike="noStrike">
              <a:solidFill>
                <a:schemeClr val="dk1"/>
              </a:solidFill>
              <a:latin typeface="Calibri"/>
              <a:ea typeface="Calibri"/>
              <a:cs typeface="Calibri"/>
              <a:sym typeface="Calibri"/>
            </a:endParaRPr>
          </a:p>
        </p:txBody>
      </p:sp>
      <p:sp>
        <p:nvSpPr>
          <p:cNvPr id="773" name="Google Shape;773;p24"/>
          <p:cNvSpPr/>
          <p:nvPr/>
        </p:nvSpPr>
        <p:spPr>
          <a:xfrm>
            <a:off x="6995160" y="3401568"/>
            <a:ext cx="19659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750"/>
              <a:buFont typeface="Calibri"/>
              <a:buNone/>
            </a:pPr>
            <a:r>
              <a:rPr b="1" i="0" lang="en-US" sz="750" u="none" cap="none" strike="noStrike">
                <a:solidFill>
                  <a:srgbClr val="10B981"/>
                </a:solidFill>
                <a:latin typeface="Calibri"/>
                <a:ea typeface="Calibri"/>
                <a:cs typeface="Calibri"/>
                <a:sym typeface="Calibri"/>
              </a:rPr>
              <a:t>✓ CORRECTO</a:t>
            </a:r>
            <a:endParaRPr b="0" i="0" sz="750" u="none" cap="none" strike="noStrike">
              <a:solidFill>
                <a:schemeClr val="dk1"/>
              </a:solidFill>
              <a:latin typeface="Calibri"/>
              <a:ea typeface="Calibri"/>
              <a:cs typeface="Calibri"/>
              <a:sym typeface="Calibri"/>
            </a:endParaRPr>
          </a:p>
        </p:txBody>
      </p:sp>
      <p:sp>
        <p:nvSpPr>
          <p:cNvPr id="774" name="Google Shape;774;p24"/>
          <p:cNvSpPr/>
          <p:nvPr/>
        </p:nvSpPr>
        <p:spPr>
          <a:xfrm>
            <a:off x="6995160" y="3584448"/>
            <a:ext cx="19659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void rbInsert(RBTree&amp; 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RBNode* z) {</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 ... insertar ...</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rbInsertFixup(T, z);</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 SIEMPRE, incondicionalmente:</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T.root-&gt;color = BLACK;</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a:t>
            </a:r>
            <a:endParaRPr b="0" i="0" sz="850" u="none" cap="none" strike="noStrike">
              <a:solidFill>
                <a:schemeClr val="dk1"/>
              </a:solidFill>
              <a:latin typeface="Calibri"/>
              <a:ea typeface="Calibri"/>
              <a:cs typeface="Calibri"/>
              <a:sym typeface="Calibri"/>
            </a:endParaRPr>
          </a:p>
        </p:txBody>
      </p:sp>
      <p:sp>
        <p:nvSpPr>
          <p:cNvPr id="775" name="Google Shape;775;p24"/>
          <p:cNvSpPr/>
          <p:nvPr/>
        </p:nvSpPr>
        <p:spPr>
          <a:xfrm>
            <a:off x="137160" y="4846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AED · T3 · Red-Black · Errores</a:t>
            </a:r>
            <a:endParaRPr b="0" i="0" sz="900" u="none" cap="none" strike="noStrike">
              <a:solidFill>
                <a:schemeClr val="dk1"/>
              </a:solidFill>
              <a:latin typeface="Calibri"/>
              <a:ea typeface="Calibri"/>
              <a:cs typeface="Calibri"/>
              <a:sym typeface="Calibri"/>
            </a:endParaRPr>
          </a:p>
        </p:txBody>
      </p:sp>
      <p:sp>
        <p:nvSpPr>
          <p:cNvPr id="776" name="Google Shape;776;p24"/>
          <p:cNvSpPr/>
          <p:nvPr/>
        </p:nvSpPr>
        <p:spPr>
          <a:xfrm>
            <a:off x="8503920" y="4846320"/>
            <a:ext cx="54864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F1A"/>
        </a:solidFill>
      </p:bgPr>
    </p:bg>
    <p:spTree>
      <p:nvGrpSpPr>
        <p:cNvPr id="781" name="Shape 781"/>
        <p:cNvGrpSpPr/>
        <p:nvPr/>
      </p:nvGrpSpPr>
      <p:grpSpPr>
        <a:xfrm>
          <a:off x="0" y="0"/>
          <a:ext cx="0" cy="0"/>
          <a:chOff x="0" y="0"/>
          <a:chExt cx="0" cy="0"/>
        </a:xfrm>
      </p:grpSpPr>
      <p:sp>
        <p:nvSpPr>
          <p:cNvPr id="782" name="Google Shape;782;p25"/>
          <p:cNvSpPr/>
          <p:nvPr/>
        </p:nvSpPr>
        <p:spPr>
          <a:xfrm>
            <a:off x="0" y="0"/>
            <a:ext cx="54864"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25"/>
          <p:cNvSpPr/>
          <p:nvPr/>
        </p:nvSpPr>
        <p:spPr>
          <a:xfrm>
            <a:off x="182880" y="137160"/>
            <a:ext cx="87782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2600"/>
              <a:buFont typeface="Trebuchet MS"/>
              <a:buNone/>
            </a:pPr>
            <a:r>
              <a:rPr b="1" i="0" lang="en-US" sz="2600" u="none" cap="none" strike="noStrike">
                <a:solidFill>
                  <a:srgbClr val="F0F4FF"/>
                </a:solidFill>
                <a:latin typeface="Trebuchet MS"/>
                <a:ea typeface="Trebuchet MS"/>
                <a:cs typeface="Trebuchet MS"/>
                <a:sym typeface="Trebuchet MS"/>
              </a:rPr>
              <a:t>Tree Traversals — Los tres recorridos fundamentales</a:t>
            </a:r>
            <a:endParaRPr b="0" i="0" sz="2600" u="none" cap="none" strike="noStrike">
              <a:solidFill>
                <a:schemeClr val="dk1"/>
              </a:solidFill>
              <a:latin typeface="Calibri"/>
              <a:ea typeface="Calibri"/>
              <a:cs typeface="Calibri"/>
              <a:sym typeface="Calibri"/>
            </a:endParaRPr>
          </a:p>
        </p:txBody>
      </p:sp>
      <p:sp>
        <p:nvSpPr>
          <p:cNvPr id="784" name="Google Shape;784;p25"/>
          <p:cNvSpPr/>
          <p:nvPr/>
        </p:nvSpPr>
        <p:spPr>
          <a:xfrm>
            <a:off x="182880" y="749808"/>
            <a:ext cx="8778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1200"/>
              <a:buFont typeface="Calibri"/>
              <a:buNone/>
            </a:pPr>
            <a:r>
              <a:rPr b="0" i="1" lang="en-US" sz="1200" u="none" cap="none" strike="noStrike">
                <a:solidFill>
                  <a:srgbClr val="8892A4"/>
                </a:solidFill>
                <a:latin typeface="Calibri"/>
                <a:ea typeface="Calibri"/>
                <a:cs typeface="Calibri"/>
                <a:sym typeface="Calibri"/>
              </a:rPr>
              <a:t>Cómo visitás todos los nodos determina el output</a:t>
            </a:r>
            <a:endParaRPr b="0" i="0" sz="1200" u="none" cap="none" strike="noStrike">
              <a:solidFill>
                <a:schemeClr val="dk1"/>
              </a:solidFill>
              <a:latin typeface="Calibri"/>
              <a:ea typeface="Calibri"/>
              <a:cs typeface="Calibri"/>
              <a:sym typeface="Calibri"/>
            </a:endParaRPr>
          </a:p>
        </p:txBody>
      </p:sp>
      <p:sp>
        <p:nvSpPr>
          <p:cNvPr id="785" name="Google Shape;785;p25"/>
          <p:cNvSpPr/>
          <p:nvPr/>
        </p:nvSpPr>
        <p:spPr>
          <a:xfrm>
            <a:off x="182880" y="1024128"/>
            <a:ext cx="1463040" cy="27432"/>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25"/>
          <p:cNvSpPr/>
          <p:nvPr/>
        </p:nvSpPr>
        <p:spPr>
          <a:xfrm>
            <a:off x="137160" y="1188720"/>
            <a:ext cx="2834640" cy="3657600"/>
          </a:xfrm>
          <a:prstGeom prst="rect">
            <a:avLst/>
          </a:prstGeom>
          <a:solidFill>
            <a:srgbClr val="141829"/>
          </a:solidFill>
          <a:ln cap="flat" cmpd="sng" w="9525">
            <a:solidFill>
              <a:srgbClr val="10B981"/>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25"/>
          <p:cNvSpPr/>
          <p:nvPr/>
        </p:nvSpPr>
        <p:spPr>
          <a:xfrm>
            <a:off x="137160" y="1188720"/>
            <a:ext cx="2834640" cy="54864"/>
          </a:xfrm>
          <a:prstGeom prst="rect">
            <a:avLst/>
          </a:prstGeom>
          <a:solidFill>
            <a:srgbClr val="10B981"/>
          </a:solidFill>
          <a:ln cap="flat" cmpd="sng" w="1270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25"/>
          <p:cNvSpPr/>
          <p:nvPr/>
        </p:nvSpPr>
        <p:spPr>
          <a:xfrm>
            <a:off x="246888" y="1298448"/>
            <a:ext cx="261518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400"/>
              <a:buFont typeface="Trebuchet MS"/>
              <a:buNone/>
            </a:pPr>
            <a:r>
              <a:rPr b="1" i="0" lang="en-US" sz="1400" u="none" cap="none" strike="noStrike">
                <a:solidFill>
                  <a:srgbClr val="10B981"/>
                </a:solidFill>
                <a:latin typeface="Trebuchet MS"/>
                <a:ea typeface="Trebuchet MS"/>
                <a:cs typeface="Trebuchet MS"/>
                <a:sym typeface="Trebuchet MS"/>
              </a:rPr>
              <a:t>PREORDER</a:t>
            </a:r>
            <a:endParaRPr b="0" i="0" sz="1400" u="none" cap="none" strike="noStrike">
              <a:solidFill>
                <a:schemeClr val="dk1"/>
              </a:solidFill>
              <a:latin typeface="Calibri"/>
              <a:ea typeface="Calibri"/>
              <a:cs typeface="Calibri"/>
              <a:sym typeface="Calibri"/>
            </a:endParaRPr>
          </a:p>
        </p:txBody>
      </p:sp>
      <p:sp>
        <p:nvSpPr>
          <p:cNvPr id="789" name="Google Shape;789;p25"/>
          <p:cNvSpPr/>
          <p:nvPr/>
        </p:nvSpPr>
        <p:spPr>
          <a:xfrm>
            <a:off x="246888" y="1591056"/>
            <a:ext cx="2615184"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1000"/>
              <a:buFont typeface="Consolas"/>
              <a:buNone/>
            </a:pPr>
            <a:r>
              <a:rPr b="0" i="0" lang="en-US" sz="1000" u="none" cap="none" strike="noStrike">
                <a:solidFill>
                  <a:srgbClr val="F0F4FF"/>
                </a:solidFill>
                <a:latin typeface="Consolas"/>
                <a:ea typeface="Consolas"/>
                <a:cs typeface="Consolas"/>
                <a:sym typeface="Consolas"/>
              </a:rPr>
              <a:t>Root → Left → Right</a:t>
            </a:r>
            <a:endParaRPr b="0" i="0" sz="1000" u="none" cap="none" strike="noStrike">
              <a:solidFill>
                <a:schemeClr val="dk1"/>
              </a:solidFill>
              <a:latin typeface="Calibri"/>
              <a:ea typeface="Calibri"/>
              <a:cs typeface="Calibri"/>
              <a:sym typeface="Calibri"/>
            </a:endParaRPr>
          </a:p>
        </p:txBody>
      </p:sp>
      <p:sp>
        <p:nvSpPr>
          <p:cNvPr id="790" name="Google Shape;790;p25"/>
          <p:cNvSpPr/>
          <p:nvPr/>
        </p:nvSpPr>
        <p:spPr>
          <a:xfrm>
            <a:off x="246888" y="1847088"/>
            <a:ext cx="2578608" cy="18288"/>
          </a:xfrm>
          <a:prstGeom prst="rect">
            <a:avLst/>
          </a:prstGeom>
          <a:solidFill>
            <a:srgbClr val="3D4A5C"/>
          </a:solidFill>
          <a:ln cap="flat" cmpd="sng" w="12700">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25"/>
          <p:cNvSpPr/>
          <p:nvPr/>
        </p:nvSpPr>
        <p:spPr>
          <a:xfrm>
            <a:off x="246888" y="1920240"/>
            <a:ext cx="2615184"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950"/>
              <a:buFont typeface="Calibri"/>
              <a:buNone/>
            </a:pPr>
            <a:r>
              <a:rPr b="0" i="0" lang="en-US" sz="950" u="none" cap="none" strike="noStrike">
                <a:solidFill>
                  <a:srgbClr val="F0F4FF"/>
                </a:solidFill>
                <a:latin typeface="Calibri"/>
                <a:ea typeface="Calibri"/>
                <a:cs typeface="Calibri"/>
                <a:sym typeface="Calibri"/>
              </a:rPr>
              <a:t>Visita el nodo ANTES de procesar sus hijos. El padre siempre se procesa antes que cualquier descendiente.</a:t>
            </a:r>
            <a:endParaRPr b="0" i="0" sz="950" u="none" cap="none" strike="noStrike">
              <a:solidFill>
                <a:schemeClr val="dk1"/>
              </a:solidFill>
              <a:latin typeface="Calibri"/>
              <a:ea typeface="Calibri"/>
              <a:cs typeface="Calibri"/>
              <a:sym typeface="Calibri"/>
            </a:endParaRPr>
          </a:p>
        </p:txBody>
      </p:sp>
      <p:sp>
        <p:nvSpPr>
          <p:cNvPr id="792" name="Google Shape;792;p25"/>
          <p:cNvSpPr/>
          <p:nvPr/>
        </p:nvSpPr>
        <p:spPr>
          <a:xfrm>
            <a:off x="246888" y="2651760"/>
            <a:ext cx="261518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900"/>
              <a:buFont typeface="Calibri"/>
              <a:buNone/>
            </a:pPr>
            <a:r>
              <a:rPr b="1" i="0" lang="en-US" sz="900" u="none" cap="none" strike="noStrike">
                <a:solidFill>
                  <a:srgbClr val="10B981"/>
                </a:solidFill>
                <a:latin typeface="Calibri"/>
                <a:ea typeface="Calibri"/>
                <a:cs typeface="Calibri"/>
                <a:sym typeface="Calibri"/>
              </a:rPr>
              <a:t>Usos:</a:t>
            </a:r>
            <a:endParaRPr b="0" i="0" sz="900" u="none" cap="none" strike="noStrike">
              <a:solidFill>
                <a:schemeClr val="dk1"/>
              </a:solidFill>
              <a:latin typeface="Calibri"/>
              <a:ea typeface="Calibri"/>
              <a:cs typeface="Calibri"/>
              <a:sym typeface="Calibri"/>
            </a:endParaRPr>
          </a:p>
        </p:txBody>
      </p:sp>
      <p:sp>
        <p:nvSpPr>
          <p:cNvPr id="793" name="Google Shape;793;p25"/>
          <p:cNvSpPr/>
          <p:nvPr/>
        </p:nvSpPr>
        <p:spPr>
          <a:xfrm>
            <a:off x="246888" y="2852928"/>
            <a:ext cx="2615184" cy="8046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880"/>
              <a:buFont typeface="Calibri"/>
              <a:buNone/>
            </a:pPr>
            <a:r>
              <a:rPr b="0" i="0" lang="en-US" sz="880" u="none" cap="none" strike="noStrike">
                <a:solidFill>
                  <a:srgbClr val="8892A4"/>
                </a:solidFill>
                <a:latin typeface="Calibri"/>
                <a:ea typeface="Calibri"/>
                <a:cs typeface="Calibri"/>
                <a:sym typeface="Calibri"/>
              </a:rPr>
              <a:t>• Copiar la estructura del árbol</a:t>
            </a:r>
            <a:endParaRPr b="0" i="0" sz="88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892A4"/>
              </a:buClr>
              <a:buSzPts val="880"/>
              <a:buFont typeface="Calibri"/>
              <a:buNone/>
            </a:pPr>
            <a:r>
              <a:rPr b="0" i="0" lang="en-US" sz="880" u="none" cap="none" strike="noStrike">
                <a:solidFill>
                  <a:srgbClr val="8892A4"/>
                </a:solidFill>
                <a:latin typeface="Calibri"/>
                <a:ea typeface="Calibri"/>
                <a:cs typeface="Calibri"/>
                <a:sym typeface="Calibri"/>
              </a:rPr>
              <a:t>• Listar directorios (padre antes que contenido)</a:t>
            </a:r>
            <a:endParaRPr b="0" i="0" sz="88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892A4"/>
              </a:buClr>
              <a:buSzPts val="880"/>
              <a:buFont typeface="Calibri"/>
              <a:buNone/>
            </a:pPr>
            <a:r>
              <a:rPr b="0" i="0" lang="en-US" sz="880" u="none" cap="none" strike="noStrike">
                <a:solidFill>
                  <a:srgbClr val="8892A4"/>
                </a:solidFill>
                <a:latin typeface="Calibri"/>
                <a:ea typeface="Calibri"/>
                <a:cs typeface="Calibri"/>
                <a:sym typeface="Calibri"/>
              </a:rPr>
              <a:t>• Generar notación prefija (polish notation)</a:t>
            </a:r>
            <a:endParaRPr b="0" i="0" sz="88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892A4"/>
              </a:buClr>
              <a:buSzPts val="880"/>
              <a:buFont typeface="Calibri"/>
              <a:buNone/>
            </a:pPr>
            <a:r>
              <a:rPr b="0" i="0" lang="en-US" sz="880" u="none" cap="none" strike="noStrike">
                <a:solidFill>
                  <a:srgbClr val="8892A4"/>
                </a:solidFill>
                <a:latin typeface="Calibri"/>
                <a:ea typeface="Calibri"/>
                <a:cs typeface="Calibri"/>
                <a:sym typeface="Calibri"/>
              </a:rPr>
              <a:t>• Serializar/deserializar árboles</a:t>
            </a:r>
            <a:endParaRPr b="0" i="0" sz="880" u="none" cap="none" strike="noStrike">
              <a:solidFill>
                <a:schemeClr val="dk1"/>
              </a:solidFill>
              <a:latin typeface="Calibri"/>
              <a:ea typeface="Calibri"/>
              <a:cs typeface="Calibri"/>
              <a:sym typeface="Calibri"/>
            </a:endParaRPr>
          </a:p>
        </p:txBody>
      </p:sp>
      <p:sp>
        <p:nvSpPr>
          <p:cNvPr id="794" name="Google Shape;794;p25"/>
          <p:cNvSpPr/>
          <p:nvPr/>
        </p:nvSpPr>
        <p:spPr>
          <a:xfrm>
            <a:off x="246888" y="3703320"/>
            <a:ext cx="2615184"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850"/>
              <a:buFont typeface="Consolas"/>
              <a:buNone/>
            </a:pPr>
            <a:r>
              <a:rPr b="0" i="0" lang="en-US" sz="850" u="none" cap="none" strike="noStrike">
                <a:solidFill>
                  <a:srgbClr val="10B981"/>
                </a:solidFill>
                <a:latin typeface="Consolas"/>
                <a:ea typeface="Consolas"/>
                <a:cs typeface="Consolas"/>
                <a:sym typeface="Consolas"/>
              </a:rPr>
              <a:t>Tree {6,2,8,1,4}:</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0B981"/>
              </a:buClr>
              <a:buSzPts val="850"/>
              <a:buFont typeface="Consolas"/>
              <a:buNone/>
            </a:pPr>
            <a:r>
              <a:rPr b="0" i="0" lang="en-US" sz="850" u="none" cap="none" strike="noStrike">
                <a:solidFill>
                  <a:srgbClr val="10B981"/>
                </a:solidFill>
                <a:latin typeface="Consolas"/>
                <a:ea typeface="Consolas"/>
                <a:cs typeface="Consolas"/>
                <a:sym typeface="Consolas"/>
              </a:rPr>
              <a:t>Preorder: 6, 2, 1, 4, 8</a:t>
            </a:r>
            <a:endParaRPr b="0" i="0" sz="850" u="none" cap="none" strike="noStrike">
              <a:solidFill>
                <a:schemeClr val="dk1"/>
              </a:solidFill>
              <a:latin typeface="Calibri"/>
              <a:ea typeface="Calibri"/>
              <a:cs typeface="Calibri"/>
              <a:sym typeface="Calibri"/>
            </a:endParaRPr>
          </a:p>
        </p:txBody>
      </p:sp>
      <p:sp>
        <p:nvSpPr>
          <p:cNvPr id="795" name="Google Shape;795;p25"/>
          <p:cNvSpPr/>
          <p:nvPr/>
        </p:nvSpPr>
        <p:spPr>
          <a:xfrm>
            <a:off x="246888" y="4133088"/>
            <a:ext cx="2615184"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750"/>
              <a:buFont typeface="Consolas"/>
              <a:buNone/>
            </a:pPr>
            <a:r>
              <a:rPr b="0" i="0" lang="en-US" sz="750" u="none" cap="none" strike="noStrike">
                <a:solidFill>
                  <a:srgbClr val="8892A4"/>
                </a:solidFill>
                <a:latin typeface="Consolas"/>
                <a:ea typeface="Consolas"/>
                <a:cs typeface="Consolas"/>
                <a:sym typeface="Consolas"/>
              </a:rPr>
              <a:t>void preorder(Node* t) {</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892A4"/>
              </a:buClr>
              <a:buSzPts val="750"/>
              <a:buFont typeface="Consolas"/>
              <a:buNone/>
            </a:pPr>
            <a:r>
              <a:rPr b="0" i="0" lang="en-US" sz="750" u="none" cap="none" strike="noStrike">
                <a:solidFill>
                  <a:srgbClr val="8892A4"/>
                </a:solidFill>
                <a:latin typeface="Consolas"/>
                <a:ea typeface="Consolas"/>
                <a:cs typeface="Consolas"/>
                <a:sym typeface="Consolas"/>
              </a:rPr>
              <a:t>  if (!t) return;</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892A4"/>
              </a:buClr>
              <a:buSzPts val="750"/>
              <a:buFont typeface="Consolas"/>
              <a:buNone/>
            </a:pPr>
            <a:r>
              <a:rPr b="0" i="0" lang="en-US" sz="750" u="none" cap="none" strike="noStrike">
                <a:solidFill>
                  <a:srgbClr val="8892A4"/>
                </a:solidFill>
                <a:latin typeface="Consolas"/>
                <a:ea typeface="Consolas"/>
                <a:cs typeface="Consolas"/>
                <a:sym typeface="Consolas"/>
              </a:rPr>
              <a:t>  process(t-&gt;element); // Root</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892A4"/>
              </a:buClr>
              <a:buSzPts val="750"/>
              <a:buFont typeface="Consolas"/>
              <a:buNone/>
            </a:pPr>
            <a:r>
              <a:rPr b="0" i="0" lang="en-US" sz="750" u="none" cap="none" strike="noStrike">
                <a:solidFill>
                  <a:srgbClr val="8892A4"/>
                </a:solidFill>
                <a:latin typeface="Consolas"/>
                <a:ea typeface="Consolas"/>
                <a:cs typeface="Consolas"/>
                <a:sym typeface="Consolas"/>
              </a:rPr>
              <a:t>  preorder(t-&gt;left);   // Left</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892A4"/>
              </a:buClr>
              <a:buSzPts val="750"/>
              <a:buFont typeface="Consolas"/>
              <a:buNone/>
            </a:pPr>
            <a:r>
              <a:rPr b="0" i="0" lang="en-US" sz="750" u="none" cap="none" strike="noStrike">
                <a:solidFill>
                  <a:srgbClr val="8892A4"/>
                </a:solidFill>
                <a:latin typeface="Consolas"/>
                <a:ea typeface="Consolas"/>
                <a:cs typeface="Consolas"/>
                <a:sym typeface="Consolas"/>
              </a:rPr>
              <a:t>  preorder(t-&gt;right);  // Right</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892A4"/>
              </a:buClr>
              <a:buSzPts val="750"/>
              <a:buFont typeface="Consolas"/>
              <a:buNone/>
            </a:pPr>
            <a:r>
              <a:rPr b="0" i="0" lang="en-US" sz="750" u="none" cap="none" strike="noStrike">
                <a:solidFill>
                  <a:srgbClr val="8892A4"/>
                </a:solidFill>
                <a:latin typeface="Consolas"/>
                <a:ea typeface="Consolas"/>
                <a:cs typeface="Consolas"/>
                <a:sym typeface="Consolas"/>
              </a:rPr>
              <a:t>}</a:t>
            </a:r>
            <a:endParaRPr b="0" i="0" sz="750" u="none" cap="none" strike="noStrike">
              <a:solidFill>
                <a:schemeClr val="dk1"/>
              </a:solidFill>
              <a:latin typeface="Calibri"/>
              <a:ea typeface="Calibri"/>
              <a:cs typeface="Calibri"/>
              <a:sym typeface="Calibri"/>
            </a:endParaRPr>
          </a:p>
        </p:txBody>
      </p:sp>
      <p:sp>
        <p:nvSpPr>
          <p:cNvPr id="796" name="Google Shape;796;p25"/>
          <p:cNvSpPr/>
          <p:nvPr/>
        </p:nvSpPr>
        <p:spPr>
          <a:xfrm>
            <a:off x="3108960" y="1188720"/>
            <a:ext cx="2834640" cy="3657600"/>
          </a:xfrm>
          <a:prstGeom prst="rect">
            <a:avLst/>
          </a:prstGeom>
          <a:solidFill>
            <a:srgbClr val="141829"/>
          </a:solidFill>
          <a:ln cap="flat" cmpd="sng" w="9525">
            <a:solidFill>
              <a:srgbClr val="0891B2"/>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25"/>
          <p:cNvSpPr/>
          <p:nvPr/>
        </p:nvSpPr>
        <p:spPr>
          <a:xfrm>
            <a:off x="3108960" y="1188720"/>
            <a:ext cx="2834640" cy="54864"/>
          </a:xfrm>
          <a:prstGeom prst="rect">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5"/>
          <p:cNvSpPr/>
          <p:nvPr/>
        </p:nvSpPr>
        <p:spPr>
          <a:xfrm>
            <a:off x="3218688" y="1298448"/>
            <a:ext cx="261518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400"/>
              <a:buFont typeface="Trebuchet MS"/>
              <a:buNone/>
            </a:pPr>
            <a:r>
              <a:rPr b="1" i="0" lang="en-US" sz="1400" u="none" cap="none" strike="noStrike">
                <a:solidFill>
                  <a:srgbClr val="0891B2"/>
                </a:solidFill>
                <a:latin typeface="Trebuchet MS"/>
                <a:ea typeface="Trebuchet MS"/>
                <a:cs typeface="Trebuchet MS"/>
                <a:sym typeface="Trebuchet MS"/>
              </a:rPr>
              <a:t>INORDER</a:t>
            </a:r>
            <a:endParaRPr b="0" i="0" sz="1400" u="none" cap="none" strike="noStrike">
              <a:solidFill>
                <a:schemeClr val="dk1"/>
              </a:solidFill>
              <a:latin typeface="Calibri"/>
              <a:ea typeface="Calibri"/>
              <a:cs typeface="Calibri"/>
              <a:sym typeface="Calibri"/>
            </a:endParaRPr>
          </a:p>
        </p:txBody>
      </p:sp>
      <p:sp>
        <p:nvSpPr>
          <p:cNvPr id="799" name="Google Shape;799;p25"/>
          <p:cNvSpPr/>
          <p:nvPr/>
        </p:nvSpPr>
        <p:spPr>
          <a:xfrm>
            <a:off x="3218688" y="1591056"/>
            <a:ext cx="2615184"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1000"/>
              <a:buFont typeface="Consolas"/>
              <a:buNone/>
            </a:pPr>
            <a:r>
              <a:rPr b="0" i="0" lang="en-US" sz="1000" u="none" cap="none" strike="noStrike">
                <a:solidFill>
                  <a:srgbClr val="F0F4FF"/>
                </a:solidFill>
                <a:latin typeface="Consolas"/>
                <a:ea typeface="Consolas"/>
                <a:cs typeface="Consolas"/>
                <a:sym typeface="Consolas"/>
              </a:rPr>
              <a:t>Left → Root → Right</a:t>
            </a:r>
            <a:endParaRPr b="0" i="0" sz="1000" u="none" cap="none" strike="noStrike">
              <a:solidFill>
                <a:schemeClr val="dk1"/>
              </a:solidFill>
              <a:latin typeface="Calibri"/>
              <a:ea typeface="Calibri"/>
              <a:cs typeface="Calibri"/>
              <a:sym typeface="Calibri"/>
            </a:endParaRPr>
          </a:p>
        </p:txBody>
      </p:sp>
      <p:sp>
        <p:nvSpPr>
          <p:cNvPr id="800" name="Google Shape;800;p25"/>
          <p:cNvSpPr/>
          <p:nvPr/>
        </p:nvSpPr>
        <p:spPr>
          <a:xfrm>
            <a:off x="3218688" y="1847088"/>
            <a:ext cx="2578608" cy="18288"/>
          </a:xfrm>
          <a:prstGeom prst="rect">
            <a:avLst/>
          </a:prstGeom>
          <a:solidFill>
            <a:srgbClr val="3D4A5C"/>
          </a:solidFill>
          <a:ln cap="flat" cmpd="sng" w="12700">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25"/>
          <p:cNvSpPr/>
          <p:nvPr/>
        </p:nvSpPr>
        <p:spPr>
          <a:xfrm>
            <a:off x="3218688" y="1920240"/>
            <a:ext cx="2615184"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950"/>
              <a:buFont typeface="Calibri"/>
              <a:buNone/>
            </a:pPr>
            <a:r>
              <a:rPr b="0" i="0" lang="en-US" sz="950" u="none" cap="none" strike="noStrike">
                <a:solidFill>
                  <a:srgbClr val="F0F4FF"/>
                </a:solidFill>
                <a:latin typeface="Calibri"/>
                <a:ea typeface="Calibri"/>
                <a:cs typeface="Calibri"/>
                <a:sym typeface="Calibri"/>
              </a:rPr>
              <a:t>Visita el nodo ENTRE sus subárboles izquierdo y derecho. En un BST, produce output en orden ascendente.</a:t>
            </a:r>
            <a:endParaRPr b="0" i="0" sz="950" u="none" cap="none" strike="noStrike">
              <a:solidFill>
                <a:schemeClr val="dk1"/>
              </a:solidFill>
              <a:latin typeface="Calibri"/>
              <a:ea typeface="Calibri"/>
              <a:cs typeface="Calibri"/>
              <a:sym typeface="Calibri"/>
            </a:endParaRPr>
          </a:p>
        </p:txBody>
      </p:sp>
      <p:sp>
        <p:nvSpPr>
          <p:cNvPr id="802" name="Google Shape;802;p25"/>
          <p:cNvSpPr/>
          <p:nvPr/>
        </p:nvSpPr>
        <p:spPr>
          <a:xfrm>
            <a:off x="3218688" y="2651760"/>
            <a:ext cx="261518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900"/>
              <a:buFont typeface="Calibri"/>
              <a:buNone/>
            </a:pPr>
            <a:r>
              <a:rPr b="1" i="0" lang="en-US" sz="900" u="none" cap="none" strike="noStrike">
                <a:solidFill>
                  <a:srgbClr val="0891B2"/>
                </a:solidFill>
                <a:latin typeface="Calibri"/>
                <a:ea typeface="Calibri"/>
                <a:cs typeface="Calibri"/>
                <a:sym typeface="Calibri"/>
              </a:rPr>
              <a:t>Usos:</a:t>
            </a:r>
            <a:endParaRPr b="0" i="0" sz="900" u="none" cap="none" strike="noStrike">
              <a:solidFill>
                <a:schemeClr val="dk1"/>
              </a:solidFill>
              <a:latin typeface="Calibri"/>
              <a:ea typeface="Calibri"/>
              <a:cs typeface="Calibri"/>
              <a:sym typeface="Calibri"/>
            </a:endParaRPr>
          </a:p>
        </p:txBody>
      </p:sp>
      <p:sp>
        <p:nvSpPr>
          <p:cNvPr id="803" name="Google Shape;803;p25"/>
          <p:cNvSpPr/>
          <p:nvPr/>
        </p:nvSpPr>
        <p:spPr>
          <a:xfrm>
            <a:off x="3218688" y="2852928"/>
            <a:ext cx="2615184" cy="8046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880"/>
              <a:buFont typeface="Calibri"/>
              <a:buNone/>
            </a:pPr>
            <a:r>
              <a:rPr b="0" i="0" lang="en-US" sz="880" u="none" cap="none" strike="noStrike">
                <a:solidFill>
                  <a:srgbClr val="8892A4"/>
                </a:solidFill>
                <a:latin typeface="Calibri"/>
                <a:ea typeface="Calibri"/>
                <a:cs typeface="Calibri"/>
                <a:sym typeface="Calibri"/>
              </a:rPr>
              <a:t>• Extraer elementos de un BST en orden ordenado</a:t>
            </a:r>
            <a:endParaRPr b="0" i="0" sz="88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892A4"/>
              </a:buClr>
              <a:buSzPts val="880"/>
              <a:buFont typeface="Calibri"/>
              <a:buNone/>
            </a:pPr>
            <a:r>
              <a:rPr b="0" i="0" lang="en-US" sz="880" u="none" cap="none" strike="noStrike">
                <a:solidFill>
                  <a:srgbClr val="8892A4"/>
                </a:solidFill>
                <a:latin typeface="Calibri"/>
                <a:ea typeface="Calibri"/>
                <a:cs typeface="Calibri"/>
                <a:sym typeface="Calibri"/>
              </a:rPr>
              <a:t>• Validar si un árbol es un BST válido</a:t>
            </a:r>
            <a:endParaRPr b="0" i="0" sz="88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892A4"/>
              </a:buClr>
              <a:buSzPts val="880"/>
              <a:buFont typeface="Calibri"/>
              <a:buNone/>
            </a:pPr>
            <a:r>
              <a:rPr b="0" i="0" lang="en-US" sz="880" u="none" cap="none" strike="noStrike">
                <a:solidFill>
                  <a:srgbClr val="8892A4"/>
                </a:solidFill>
                <a:latin typeface="Calibri"/>
                <a:ea typeface="Calibri"/>
                <a:cs typeface="Calibri"/>
                <a:sym typeface="Calibri"/>
              </a:rPr>
              <a:t>• Generar expresiones infix</a:t>
            </a:r>
            <a:endParaRPr b="0" i="0" sz="88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892A4"/>
              </a:buClr>
              <a:buSzPts val="880"/>
              <a:buFont typeface="Calibri"/>
              <a:buNone/>
            </a:pPr>
            <a:r>
              <a:rPr b="0" i="0" lang="en-US" sz="880" u="none" cap="none" strike="noStrike">
                <a:solidFill>
                  <a:srgbClr val="8892A4"/>
                </a:solidFill>
                <a:latin typeface="Calibri"/>
                <a:ea typeface="Calibri"/>
                <a:cs typeface="Calibri"/>
                <a:sym typeface="Calibri"/>
              </a:rPr>
              <a:t>• Sorting en O(n) desde un BST ya construido</a:t>
            </a:r>
            <a:endParaRPr b="0" i="0" sz="880" u="none" cap="none" strike="noStrike">
              <a:solidFill>
                <a:schemeClr val="dk1"/>
              </a:solidFill>
              <a:latin typeface="Calibri"/>
              <a:ea typeface="Calibri"/>
              <a:cs typeface="Calibri"/>
              <a:sym typeface="Calibri"/>
            </a:endParaRPr>
          </a:p>
        </p:txBody>
      </p:sp>
      <p:sp>
        <p:nvSpPr>
          <p:cNvPr id="804" name="Google Shape;804;p25"/>
          <p:cNvSpPr/>
          <p:nvPr/>
        </p:nvSpPr>
        <p:spPr>
          <a:xfrm>
            <a:off x="3218688" y="3703320"/>
            <a:ext cx="2615184"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850"/>
              <a:buFont typeface="Consolas"/>
              <a:buNone/>
            </a:pPr>
            <a:r>
              <a:rPr b="0" i="0" lang="en-US" sz="850" u="none" cap="none" strike="noStrike">
                <a:solidFill>
                  <a:srgbClr val="0891B2"/>
                </a:solidFill>
                <a:latin typeface="Consolas"/>
                <a:ea typeface="Consolas"/>
                <a:cs typeface="Consolas"/>
                <a:sym typeface="Consolas"/>
              </a:rPr>
              <a:t>Tree {6,2,8,1,4}:</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891B2"/>
              </a:buClr>
              <a:buSzPts val="850"/>
              <a:buFont typeface="Consolas"/>
              <a:buNone/>
            </a:pPr>
            <a:r>
              <a:rPr b="0" i="0" lang="en-US" sz="850" u="none" cap="none" strike="noStrike">
                <a:solidFill>
                  <a:srgbClr val="0891B2"/>
                </a:solidFill>
                <a:latin typeface="Consolas"/>
                <a:ea typeface="Consolas"/>
                <a:cs typeface="Consolas"/>
                <a:sym typeface="Consolas"/>
              </a:rPr>
              <a:t>Inorder: 1, 2, 4, 6, 8 ← SORTED</a:t>
            </a:r>
            <a:endParaRPr b="0" i="0" sz="850" u="none" cap="none" strike="noStrike">
              <a:solidFill>
                <a:schemeClr val="dk1"/>
              </a:solidFill>
              <a:latin typeface="Calibri"/>
              <a:ea typeface="Calibri"/>
              <a:cs typeface="Calibri"/>
              <a:sym typeface="Calibri"/>
            </a:endParaRPr>
          </a:p>
        </p:txBody>
      </p:sp>
      <p:sp>
        <p:nvSpPr>
          <p:cNvPr id="805" name="Google Shape;805;p25"/>
          <p:cNvSpPr/>
          <p:nvPr/>
        </p:nvSpPr>
        <p:spPr>
          <a:xfrm>
            <a:off x="3218688" y="4133088"/>
            <a:ext cx="2615184"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750"/>
              <a:buFont typeface="Consolas"/>
              <a:buNone/>
            </a:pPr>
            <a:r>
              <a:rPr b="0" i="0" lang="en-US" sz="750" u="none" cap="none" strike="noStrike">
                <a:solidFill>
                  <a:srgbClr val="8892A4"/>
                </a:solidFill>
                <a:latin typeface="Consolas"/>
                <a:ea typeface="Consolas"/>
                <a:cs typeface="Consolas"/>
                <a:sym typeface="Consolas"/>
              </a:rPr>
              <a:t>void inorder(Node* t) {</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892A4"/>
              </a:buClr>
              <a:buSzPts val="750"/>
              <a:buFont typeface="Consolas"/>
              <a:buNone/>
            </a:pPr>
            <a:r>
              <a:rPr b="0" i="0" lang="en-US" sz="750" u="none" cap="none" strike="noStrike">
                <a:solidFill>
                  <a:srgbClr val="8892A4"/>
                </a:solidFill>
                <a:latin typeface="Consolas"/>
                <a:ea typeface="Consolas"/>
                <a:cs typeface="Consolas"/>
                <a:sym typeface="Consolas"/>
              </a:rPr>
              <a:t>  if (!t) return;</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892A4"/>
              </a:buClr>
              <a:buSzPts val="750"/>
              <a:buFont typeface="Consolas"/>
              <a:buNone/>
            </a:pPr>
            <a:r>
              <a:rPr b="0" i="0" lang="en-US" sz="750" u="none" cap="none" strike="noStrike">
                <a:solidFill>
                  <a:srgbClr val="8892A4"/>
                </a:solidFill>
                <a:latin typeface="Consolas"/>
                <a:ea typeface="Consolas"/>
                <a:cs typeface="Consolas"/>
                <a:sym typeface="Consolas"/>
              </a:rPr>
              <a:t>  inorder(t-&gt;left);    // Left</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892A4"/>
              </a:buClr>
              <a:buSzPts val="750"/>
              <a:buFont typeface="Consolas"/>
              <a:buNone/>
            </a:pPr>
            <a:r>
              <a:rPr b="0" i="0" lang="en-US" sz="750" u="none" cap="none" strike="noStrike">
                <a:solidFill>
                  <a:srgbClr val="8892A4"/>
                </a:solidFill>
                <a:latin typeface="Consolas"/>
                <a:ea typeface="Consolas"/>
                <a:cs typeface="Consolas"/>
                <a:sym typeface="Consolas"/>
              </a:rPr>
              <a:t>  process(t-&gt;element); // Root</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892A4"/>
              </a:buClr>
              <a:buSzPts val="750"/>
              <a:buFont typeface="Consolas"/>
              <a:buNone/>
            </a:pPr>
            <a:r>
              <a:rPr b="0" i="0" lang="en-US" sz="750" u="none" cap="none" strike="noStrike">
                <a:solidFill>
                  <a:srgbClr val="8892A4"/>
                </a:solidFill>
                <a:latin typeface="Consolas"/>
                <a:ea typeface="Consolas"/>
                <a:cs typeface="Consolas"/>
                <a:sym typeface="Consolas"/>
              </a:rPr>
              <a:t>  inorder(t-&gt;right);   // Right</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892A4"/>
              </a:buClr>
              <a:buSzPts val="750"/>
              <a:buFont typeface="Consolas"/>
              <a:buNone/>
            </a:pPr>
            <a:r>
              <a:rPr b="0" i="0" lang="en-US" sz="750" u="none" cap="none" strike="noStrike">
                <a:solidFill>
                  <a:srgbClr val="8892A4"/>
                </a:solidFill>
                <a:latin typeface="Consolas"/>
                <a:ea typeface="Consolas"/>
                <a:cs typeface="Consolas"/>
                <a:sym typeface="Consolas"/>
              </a:rPr>
              <a:t>}</a:t>
            </a:r>
            <a:endParaRPr b="0" i="0" sz="750" u="none" cap="none" strike="noStrike">
              <a:solidFill>
                <a:schemeClr val="dk1"/>
              </a:solidFill>
              <a:latin typeface="Calibri"/>
              <a:ea typeface="Calibri"/>
              <a:cs typeface="Calibri"/>
              <a:sym typeface="Calibri"/>
            </a:endParaRPr>
          </a:p>
        </p:txBody>
      </p:sp>
      <p:sp>
        <p:nvSpPr>
          <p:cNvPr id="806" name="Google Shape;806;p25"/>
          <p:cNvSpPr/>
          <p:nvPr/>
        </p:nvSpPr>
        <p:spPr>
          <a:xfrm>
            <a:off x="6080760" y="1188720"/>
            <a:ext cx="2834640" cy="3657600"/>
          </a:xfrm>
          <a:prstGeom prst="rect">
            <a:avLst/>
          </a:prstGeom>
          <a:solidFill>
            <a:srgbClr val="141829"/>
          </a:solidFill>
          <a:ln cap="flat" cmpd="sng" w="9525">
            <a:solidFill>
              <a:srgbClr val="F59E0B"/>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5"/>
          <p:cNvSpPr/>
          <p:nvPr/>
        </p:nvSpPr>
        <p:spPr>
          <a:xfrm>
            <a:off x="6080760" y="1188720"/>
            <a:ext cx="2834640" cy="54864"/>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5"/>
          <p:cNvSpPr/>
          <p:nvPr/>
        </p:nvSpPr>
        <p:spPr>
          <a:xfrm>
            <a:off x="6190488" y="1298448"/>
            <a:ext cx="261518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400"/>
              <a:buFont typeface="Trebuchet MS"/>
              <a:buNone/>
            </a:pPr>
            <a:r>
              <a:rPr b="1" i="0" lang="en-US" sz="1400" u="none" cap="none" strike="noStrike">
                <a:solidFill>
                  <a:srgbClr val="F59E0B"/>
                </a:solidFill>
                <a:latin typeface="Trebuchet MS"/>
                <a:ea typeface="Trebuchet MS"/>
                <a:cs typeface="Trebuchet MS"/>
                <a:sym typeface="Trebuchet MS"/>
              </a:rPr>
              <a:t>POSTORDER</a:t>
            </a:r>
            <a:endParaRPr b="0" i="0" sz="1400" u="none" cap="none" strike="noStrike">
              <a:solidFill>
                <a:schemeClr val="dk1"/>
              </a:solidFill>
              <a:latin typeface="Calibri"/>
              <a:ea typeface="Calibri"/>
              <a:cs typeface="Calibri"/>
              <a:sym typeface="Calibri"/>
            </a:endParaRPr>
          </a:p>
        </p:txBody>
      </p:sp>
      <p:sp>
        <p:nvSpPr>
          <p:cNvPr id="809" name="Google Shape;809;p25"/>
          <p:cNvSpPr/>
          <p:nvPr/>
        </p:nvSpPr>
        <p:spPr>
          <a:xfrm>
            <a:off x="6190488" y="1591056"/>
            <a:ext cx="2615184"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1000"/>
              <a:buFont typeface="Consolas"/>
              <a:buNone/>
            </a:pPr>
            <a:r>
              <a:rPr b="0" i="0" lang="en-US" sz="1000" u="none" cap="none" strike="noStrike">
                <a:solidFill>
                  <a:srgbClr val="F0F4FF"/>
                </a:solidFill>
                <a:latin typeface="Consolas"/>
                <a:ea typeface="Consolas"/>
                <a:cs typeface="Consolas"/>
                <a:sym typeface="Consolas"/>
              </a:rPr>
              <a:t>Left → Right → Root</a:t>
            </a:r>
            <a:endParaRPr b="0" i="0" sz="1000" u="none" cap="none" strike="noStrike">
              <a:solidFill>
                <a:schemeClr val="dk1"/>
              </a:solidFill>
              <a:latin typeface="Calibri"/>
              <a:ea typeface="Calibri"/>
              <a:cs typeface="Calibri"/>
              <a:sym typeface="Calibri"/>
            </a:endParaRPr>
          </a:p>
        </p:txBody>
      </p:sp>
      <p:sp>
        <p:nvSpPr>
          <p:cNvPr id="810" name="Google Shape;810;p25"/>
          <p:cNvSpPr/>
          <p:nvPr/>
        </p:nvSpPr>
        <p:spPr>
          <a:xfrm>
            <a:off x="6190488" y="1847088"/>
            <a:ext cx="2578608" cy="18288"/>
          </a:xfrm>
          <a:prstGeom prst="rect">
            <a:avLst/>
          </a:prstGeom>
          <a:solidFill>
            <a:srgbClr val="3D4A5C"/>
          </a:solidFill>
          <a:ln cap="flat" cmpd="sng" w="12700">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5"/>
          <p:cNvSpPr/>
          <p:nvPr/>
        </p:nvSpPr>
        <p:spPr>
          <a:xfrm>
            <a:off x="6190488" y="1920240"/>
            <a:ext cx="2615184"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950"/>
              <a:buFont typeface="Calibri"/>
              <a:buNone/>
            </a:pPr>
            <a:r>
              <a:rPr b="0" i="0" lang="en-US" sz="950" u="none" cap="none" strike="noStrike">
                <a:solidFill>
                  <a:srgbClr val="F0F4FF"/>
                </a:solidFill>
                <a:latin typeface="Calibri"/>
                <a:ea typeface="Calibri"/>
                <a:cs typeface="Calibri"/>
                <a:sym typeface="Calibri"/>
              </a:rPr>
              <a:t>Visita el nodo DESPUÉS de procesar completamente ambos subárboles. Los hijos se calculan antes que el padre.</a:t>
            </a:r>
            <a:endParaRPr b="0" i="0" sz="950" u="none" cap="none" strike="noStrike">
              <a:solidFill>
                <a:schemeClr val="dk1"/>
              </a:solidFill>
              <a:latin typeface="Calibri"/>
              <a:ea typeface="Calibri"/>
              <a:cs typeface="Calibri"/>
              <a:sym typeface="Calibri"/>
            </a:endParaRPr>
          </a:p>
        </p:txBody>
      </p:sp>
      <p:sp>
        <p:nvSpPr>
          <p:cNvPr id="812" name="Google Shape;812;p25"/>
          <p:cNvSpPr/>
          <p:nvPr/>
        </p:nvSpPr>
        <p:spPr>
          <a:xfrm>
            <a:off x="6190488" y="2651760"/>
            <a:ext cx="261518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900"/>
              <a:buFont typeface="Calibri"/>
              <a:buNone/>
            </a:pPr>
            <a:r>
              <a:rPr b="1" i="0" lang="en-US" sz="900" u="none" cap="none" strike="noStrike">
                <a:solidFill>
                  <a:srgbClr val="F59E0B"/>
                </a:solidFill>
                <a:latin typeface="Calibri"/>
                <a:ea typeface="Calibri"/>
                <a:cs typeface="Calibri"/>
                <a:sym typeface="Calibri"/>
              </a:rPr>
              <a:t>Usos:</a:t>
            </a:r>
            <a:endParaRPr b="0" i="0" sz="900" u="none" cap="none" strike="noStrike">
              <a:solidFill>
                <a:schemeClr val="dk1"/>
              </a:solidFill>
              <a:latin typeface="Calibri"/>
              <a:ea typeface="Calibri"/>
              <a:cs typeface="Calibri"/>
              <a:sym typeface="Calibri"/>
            </a:endParaRPr>
          </a:p>
        </p:txBody>
      </p:sp>
      <p:sp>
        <p:nvSpPr>
          <p:cNvPr id="813" name="Google Shape;813;p25"/>
          <p:cNvSpPr/>
          <p:nvPr/>
        </p:nvSpPr>
        <p:spPr>
          <a:xfrm>
            <a:off x="6190488" y="2852928"/>
            <a:ext cx="2615184" cy="8046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880"/>
              <a:buFont typeface="Calibri"/>
              <a:buNone/>
            </a:pPr>
            <a:r>
              <a:rPr b="0" i="0" lang="en-US" sz="880" u="none" cap="none" strike="noStrike">
                <a:solidFill>
                  <a:srgbClr val="8892A4"/>
                </a:solidFill>
                <a:latin typeface="Calibri"/>
                <a:ea typeface="Calibri"/>
                <a:cs typeface="Calibri"/>
                <a:sym typeface="Calibri"/>
              </a:rPr>
              <a:t>• Calcular altura o tamaño del árbol</a:t>
            </a:r>
            <a:endParaRPr b="0" i="0" sz="88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892A4"/>
              </a:buClr>
              <a:buSzPts val="880"/>
              <a:buFont typeface="Calibri"/>
              <a:buNone/>
            </a:pPr>
            <a:r>
              <a:rPr b="0" i="0" lang="en-US" sz="880" u="none" cap="none" strike="noStrike">
                <a:solidFill>
                  <a:srgbClr val="8892A4"/>
                </a:solidFill>
                <a:latin typeface="Calibri"/>
                <a:ea typeface="Calibri"/>
                <a:cs typeface="Calibri"/>
                <a:sym typeface="Calibri"/>
              </a:rPr>
              <a:t>• Calcular espacio en disco (subdirectorios antes del directorio)</a:t>
            </a:r>
            <a:endParaRPr b="0" i="0" sz="88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892A4"/>
              </a:buClr>
              <a:buSzPts val="880"/>
              <a:buFont typeface="Calibri"/>
              <a:buNone/>
            </a:pPr>
            <a:r>
              <a:rPr b="0" i="0" lang="en-US" sz="880" u="none" cap="none" strike="noStrike">
                <a:solidFill>
                  <a:srgbClr val="8892A4"/>
                </a:solidFill>
                <a:latin typeface="Calibri"/>
                <a:ea typeface="Calibri"/>
                <a:cs typeface="Calibri"/>
                <a:sym typeface="Calibri"/>
              </a:rPr>
              <a:t>• Evaluar expresiones postfix</a:t>
            </a:r>
            <a:endParaRPr b="0" i="0" sz="88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892A4"/>
              </a:buClr>
              <a:buSzPts val="880"/>
              <a:buFont typeface="Calibri"/>
              <a:buNone/>
            </a:pPr>
            <a:r>
              <a:rPr b="0" i="0" lang="en-US" sz="880" u="none" cap="none" strike="noStrike">
                <a:solidFill>
                  <a:srgbClr val="8892A4"/>
                </a:solidFill>
                <a:latin typeface="Calibri"/>
                <a:ea typeface="Calibri"/>
                <a:cs typeface="Calibri"/>
                <a:sym typeface="Calibri"/>
              </a:rPr>
              <a:t>• Liberar memoria del árbol (liberar hijos antes que el padre)</a:t>
            </a:r>
            <a:endParaRPr b="0" i="0" sz="880" u="none" cap="none" strike="noStrike">
              <a:solidFill>
                <a:schemeClr val="dk1"/>
              </a:solidFill>
              <a:latin typeface="Calibri"/>
              <a:ea typeface="Calibri"/>
              <a:cs typeface="Calibri"/>
              <a:sym typeface="Calibri"/>
            </a:endParaRPr>
          </a:p>
        </p:txBody>
      </p:sp>
      <p:sp>
        <p:nvSpPr>
          <p:cNvPr id="814" name="Google Shape;814;p25"/>
          <p:cNvSpPr/>
          <p:nvPr/>
        </p:nvSpPr>
        <p:spPr>
          <a:xfrm>
            <a:off x="6190488" y="3703320"/>
            <a:ext cx="2615184"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850"/>
              <a:buFont typeface="Consolas"/>
              <a:buNone/>
            </a:pPr>
            <a:r>
              <a:rPr b="0" i="0" lang="en-US" sz="850" u="none" cap="none" strike="noStrike">
                <a:solidFill>
                  <a:srgbClr val="F59E0B"/>
                </a:solidFill>
                <a:latin typeface="Consolas"/>
                <a:ea typeface="Consolas"/>
                <a:cs typeface="Consolas"/>
                <a:sym typeface="Consolas"/>
              </a:rPr>
              <a:t>Tree {6,2,8,1,4}:</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59E0B"/>
              </a:buClr>
              <a:buSzPts val="850"/>
              <a:buFont typeface="Consolas"/>
              <a:buNone/>
            </a:pPr>
            <a:r>
              <a:rPr b="0" i="0" lang="en-US" sz="850" u="none" cap="none" strike="noStrike">
                <a:solidFill>
                  <a:srgbClr val="F59E0B"/>
                </a:solidFill>
                <a:latin typeface="Consolas"/>
                <a:ea typeface="Consolas"/>
                <a:cs typeface="Consolas"/>
                <a:sym typeface="Consolas"/>
              </a:rPr>
              <a:t>Postorder: 1, 4, 2, 8, 6</a:t>
            </a:r>
            <a:endParaRPr b="0" i="0" sz="850" u="none" cap="none" strike="noStrike">
              <a:solidFill>
                <a:schemeClr val="dk1"/>
              </a:solidFill>
              <a:latin typeface="Calibri"/>
              <a:ea typeface="Calibri"/>
              <a:cs typeface="Calibri"/>
              <a:sym typeface="Calibri"/>
            </a:endParaRPr>
          </a:p>
        </p:txBody>
      </p:sp>
      <p:sp>
        <p:nvSpPr>
          <p:cNvPr id="815" name="Google Shape;815;p25"/>
          <p:cNvSpPr/>
          <p:nvPr/>
        </p:nvSpPr>
        <p:spPr>
          <a:xfrm>
            <a:off x="6190488" y="4133088"/>
            <a:ext cx="2615184"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750"/>
              <a:buFont typeface="Consolas"/>
              <a:buNone/>
            </a:pPr>
            <a:r>
              <a:rPr b="0" i="0" lang="en-US" sz="750" u="none" cap="none" strike="noStrike">
                <a:solidFill>
                  <a:srgbClr val="8892A4"/>
                </a:solidFill>
                <a:latin typeface="Consolas"/>
                <a:ea typeface="Consolas"/>
                <a:cs typeface="Consolas"/>
                <a:sym typeface="Consolas"/>
              </a:rPr>
              <a:t>void postorder(Node* t) {</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892A4"/>
              </a:buClr>
              <a:buSzPts val="750"/>
              <a:buFont typeface="Consolas"/>
              <a:buNone/>
            </a:pPr>
            <a:r>
              <a:rPr b="0" i="0" lang="en-US" sz="750" u="none" cap="none" strike="noStrike">
                <a:solidFill>
                  <a:srgbClr val="8892A4"/>
                </a:solidFill>
                <a:latin typeface="Consolas"/>
                <a:ea typeface="Consolas"/>
                <a:cs typeface="Consolas"/>
                <a:sym typeface="Consolas"/>
              </a:rPr>
              <a:t>  if (!t) return;</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892A4"/>
              </a:buClr>
              <a:buSzPts val="750"/>
              <a:buFont typeface="Consolas"/>
              <a:buNone/>
            </a:pPr>
            <a:r>
              <a:rPr b="0" i="0" lang="en-US" sz="750" u="none" cap="none" strike="noStrike">
                <a:solidFill>
                  <a:srgbClr val="8892A4"/>
                </a:solidFill>
                <a:latin typeface="Consolas"/>
                <a:ea typeface="Consolas"/>
                <a:cs typeface="Consolas"/>
                <a:sym typeface="Consolas"/>
              </a:rPr>
              <a:t>  postorder(t-&gt;left);  // Left</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892A4"/>
              </a:buClr>
              <a:buSzPts val="750"/>
              <a:buFont typeface="Consolas"/>
              <a:buNone/>
            </a:pPr>
            <a:r>
              <a:rPr b="0" i="0" lang="en-US" sz="750" u="none" cap="none" strike="noStrike">
                <a:solidFill>
                  <a:srgbClr val="8892A4"/>
                </a:solidFill>
                <a:latin typeface="Consolas"/>
                <a:ea typeface="Consolas"/>
                <a:cs typeface="Consolas"/>
                <a:sym typeface="Consolas"/>
              </a:rPr>
              <a:t>  postorder(t-&gt;right); // Right</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892A4"/>
              </a:buClr>
              <a:buSzPts val="750"/>
              <a:buFont typeface="Consolas"/>
              <a:buNone/>
            </a:pPr>
            <a:r>
              <a:rPr b="0" i="0" lang="en-US" sz="750" u="none" cap="none" strike="noStrike">
                <a:solidFill>
                  <a:srgbClr val="8892A4"/>
                </a:solidFill>
                <a:latin typeface="Consolas"/>
                <a:ea typeface="Consolas"/>
                <a:cs typeface="Consolas"/>
                <a:sym typeface="Consolas"/>
              </a:rPr>
              <a:t>  process(t-&gt;element); // Root</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892A4"/>
              </a:buClr>
              <a:buSzPts val="750"/>
              <a:buFont typeface="Consolas"/>
              <a:buNone/>
            </a:pPr>
            <a:r>
              <a:rPr b="0" i="0" lang="en-US" sz="750" u="none" cap="none" strike="noStrike">
                <a:solidFill>
                  <a:srgbClr val="8892A4"/>
                </a:solidFill>
                <a:latin typeface="Consolas"/>
                <a:ea typeface="Consolas"/>
                <a:cs typeface="Consolas"/>
                <a:sym typeface="Consolas"/>
              </a:rPr>
              <a:t>}</a:t>
            </a:r>
            <a:endParaRPr b="0" i="0" sz="750" u="none" cap="none" strike="noStrike">
              <a:solidFill>
                <a:schemeClr val="dk1"/>
              </a:solidFill>
              <a:latin typeface="Calibri"/>
              <a:ea typeface="Calibri"/>
              <a:cs typeface="Calibri"/>
              <a:sym typeface="Calibri"/>
            </a:endParaRPr>
          </a:p>
        </p:txBody>
      </p:sp>
      <p:sp>
        <p:nvSpPr>
          <p:cNvPr id="816" name="Google Shape;816;p25"/>
          <p:cNvSpPr/>
          <p:nvPr/>
        </p:nvSpPr>
        <p:spPr>
          <a:xfrm>
            <a:off x="137160" y="4846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AED · T4 · Traversals</a:t>
            </a:r>
            <a:endParaRPr b="0" i="0" sz="900" u="none" cap="none" strike="noStrike">
              <a:solidFill>
                <a:schemeClr val="dk1"/>
              </a:solidFill>
              <a:latin typeface="Calibri"/>
              <a:ea typeface="Calibri"/>
              <a:cs typeface="Calibri"/>
              <a:sym typeface="Calibri"/>
            </a:endParaRPr>
          </a:p>
        </p:txBody>
      </p:sp>
      <p:sp>
        <p:nvSpPr>
          <p:cNvPr id="817" name="Google Shape;817;p25"/>
          <p:cNvSpPr/>
          <p:nvPr/>
        </p:nvSpPr>
        <p:spPr>
          <a:xfrm>
            <a:off x="8503920" y="4846320"/>
            <a:ext cx="54864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25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F1A"/>
        </a:solidFill>
      </p:bgPr>
    </p:bg>
    <p:spTree>
      <p:nvGrpSpPr>
        <p:cNvPr id="822" name="Shape 822"/>
        <p:cNvGrpSpPr/>
        <p:nvPr/>
      </p:nvGrpSpPr>
      <p:grpSpPr>
        <a:xfrm>
          <a:off x="0" y="0"/>
          <a:ext cx="0" cy="0"/>
          <a:chOff x="0" y="0"/>
          <a:chExt cx="0" cy="0"/>
        </a:xfrm>
      </p:grpSpPr>
      <p:sp>
        <p:nvSpPr>
          <p:cNvPr id="823" name="Google Shape;823;p26"/>
          <p:cNvSpPr/>
          <p:nvPr/>
        </p:nvSpPr>
        <p:spPr>
          <a:xfrm>
            <a:off x="0" y="0"/>
            <a:ext cx="54864"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26"/>
          <p:cNvSpPr/>
          <p:nvPr/>
        </p:nvSpPr>
        <p:spPr>
          <a:xfrm>
            <a:off x="182880" y="137160"/>
            <a:ext cx="87782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2600"/>
              <a:buFont typeface="Trebuchet MS"/>
              <a:buNone/>
            </a:pPr>
            <a:r>
              <a:rPr b="1" i="0" lang="en-US" sz="2600" u="none" cap="none" strike="noStrike">
                <a:solidFill>
                  <a:srgbClr val="F0F4FF"/>
                </a:solidFill>
                <a:latin typeface="Trebuchet MS"/>
                <a:ea typeface="Trebuchet MS"/>
                <a:cs typeface="Trebuchet MS"/>
                <a:sym typeface="Trebuchet MS"/>
              </a:rPr>
              <a:t>Splay Trees — El árbol que aprende de tus accesos</a:t>
            </a:r>
            <a:endParaRPr b="0" i="0" sz="2600" u="none" cap="none" strike="noStrike">
              <a:solidFill>
                <a:schemeClr val="dk1"/>
              </a:solidFill>
              <a:latin typeface="Calibri"/>
              <a:ea typeface="Calibri"/>
              <a:cs typeface="Calibri"/>
              <a:sym typeface="Calibri"/>
            </a:endParaRPr>
          </a:p>
        </p:txBody>
      </p:sp>
      <p:sp>
        <p:nvSpPr>
          <p:cNvPr id="825" name="Google Shape;825;p26"/>
          <p:cNvSpPr/>
          <p:nvPr/>
        </p:nvSpPr>
        <p:spPr>
          <a:xfrm>
            <a:off x="182880" y="749808"/>
            <a:ext cx="8778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1200"/>
              <a:buFont typeface="Calibri"/>
              <a:buNone/>
            </a:pPr>
            <a:r>
              <a:rPr b="0" i="1" lang="en-US" sz="1200" u="none" cap="none" strike="noStrike">
                <a:solidFill>
                  <a:srgbClr val="8892A4"/>
                </a:solidFill>
                <a:latin typeface="Calibri"/>
                <a:ea typeface="Calibri"/>
                <a:cs typeface="Calibri"/>
                <a:sym typeface="Calibri"/>
              </a:rPr>
              <a:t>Amortized O(log n) sin balance explícito</a:t>
            </a:r>
            <a:endParaRPr b="0" i="0" sz="1200" u="none" cap="none" strike="noStrike">
              <a:solidFill>
                <a:schemeClr val="dk1"/>
              </a:solidFill>
              <a:latin typeface="Calibri"/>
              <a:ea typeface="Calibri"/>
              <a:cs typeface="Calibri"/>
              <a:sym typeface="Calibri"/>
            </a:endParaRPr>
          </a:p>
        </p:txBody>
      </p:sp>
      <p:sp>
        <p:nvSpPr>
          <p:cNvPr id="826" name="Google Shape;826;p26"/>
          <p:cNvSpPr/>
          <p:nvPr/>
        </p:nvSpPr>
        <p:spPr>
          <a:xfrm>
            <a:off x="182880" y="1024128"/>
            <a:ext cx="1463040" cy="27432"/>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26"/>
          <p:cNvSpPr/>
          <p:nvPr/>
        </p:nvSpPr>
        <p:spPr>
          <a:xfrm>
            <a:off x="137160" y="1188720"/>
            <a:ext cx="4297680" cy="1417320"/>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6"/>
          <p:cNvSpPr/>
          <p:nvPr/>
        </p:nvSpPr>
        <p:spPr>
          <a:xfrm>
            <a:off x="274320" y="1325880"/>
            <a:ext cx="3630168" cy="256032"/>
          </a:xfrm>
          <a:prstGeom prst="roundRect">
            <a:avLst>
              <a:gd fmla="val 21429" name="adj"/>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26"/>
          <p:cNvSpPr/>
          <p:nvPr/>
        </p:nvSpPr>
        <p:spPr>
          <a:xfrm>
            <a:off x="274320" y="1325880"/>
            <a:ext cx="3630168"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ANALOGIA — Biblioteca de acceso reciente</a:t>
            </a:r>
            <a:endParaRPr b="0" i="0" sz="800" u="none" cap="none" strike="noStrike">
              <a:solidFill>
                <a:schemeClr val="dk1"/>
              </a:solidFill>
              <a:latin typeface="Calibri"/>
              <a:ea typeface="Calibri"/>
              <a:cs typeface="Calibri"/>
              <a:sym typeface="Calibri"/>
            </a:endParaRPr>
          </a:p>
        </p:txBody>
      </p:sp>
      <p:sp>
        <p:nvSpPr>
          <p:cNvPr id="830" name="Google Shape;830;p26"/>
          <p:cNvSpPr/>
          <p:nvPr/>
        </p:nvSpPr>
        <p:spPr>
          <a:xfrm>
            <a:off x="274320" y="1664208"/>
            <a:ext cx="4023360" cy="8503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Es como un bibliotecario que, cada vez que devolvés un libro, lo pone en el estante más visible junto a la entrada en lugar de devolverlo al fondo. Los libros que pedís frecuentemente están siempre a mano. Los que nunca pedís migran gradualmente hacia el fondo. No hay un sistema de balance explícito — el acceso mismo organiza la biblioteca.</a:t>
            </a:r>
            <a:endParaRPr b="0" i="0" sz="1050" u="none" cap="none" strike="noStrike">
              <a:solidFill>
                <a:schemeClr val="dk1"/>
              </a:solidFill>
              <a:latin typeface="Calibri"/>
              <a:ea typeface="Calibri"/>
              <a:cs typeface="Calibri"/>
              <a:sym typeface="Calibri"/>
            </a:endParaRPr>
          </a:p>
        </p:txBody>
      </p:sp>
      <p:sp>
        <p:nvSpPr>
          <p:cNvPr id="831" name="Google Shape;831;p26"/>
          <p:cNvSpPr/>
          <p:nvPr/>
        </p:nvSpPr>
        <p:spPr>
          <a:xfrm>
            <a:off x="137160" y="2670048"/>
            <a:ext cx="4297680" cy="2130552"/>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6"/>
          <p:cNvSpPr/>
          <p:nvPr/>
        </p:nvSpPr>
        <p:spPr>
          <a:xfrm>
            <a:off x="274320" y="2807208"/>
            <a:ext cx="1504188" cy="256032"/>
          </a:xfrm>
          <a:prstGeom prst="roundRect">
            <a:avLst>
              <a:gd fmla="val 21429" name="adj"/>
            </a:avLst>
          </a:prstGeom>
          <a:solidFill>
            <a:srgbClr val="10B981"/>
          </a:solidFill>
          <a:ln cap="flat" cmpd="sng" w="1270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6"/>
          <p:cNvSpPr/>
          <p:nvPr/>
        </p:nvSpPr>
        <p:spPr>
          <a:xfrm>
            <a:off x="274320" y="2807208"/>
            <a:ext cx="1504188"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LA IDEA CENTRAL</a:t>
            </a:r>
            <a:endParaRPr b="0" i="0" sz="800" u="none" cap="none" strike="noStrike">
              <a:solidFill>
                <a:schemeClr val="dk1"/>
              </a:solidFill>
              <a:latin typeface="Calibri"/>
              <a:ea typeface="Calibri"/>
              <a:cs typeface="Calibri"/>
              <a:sym typeface="Calibri"/>
            </a:endParaRPr>
          </a:p>
        </p:txBody>
      </p:sp>
      <p:sp>
        <p:nvSpPr>
          <p:cNvPr id="834" name="Google Shape;834;p26"/>
          <p:cNvSpPr/>
          <p:nvPr/>
        </p:nvSpPr>
        <p:spPr>
          <a:xfrm>
            <a:off x="274320" y="3145536"/>
            <a:ext cx="4023360" cy="1563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Cada vez que se accede a un nodo x (search, insert, delete), se realiza una secuencia de rotaciones llamada SPLAY(x) que mueve x hasta la raíz del árbol.</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No se mantiene ninguna propiedad de balance explícita (sin altura almacenada, sin colores). El árbol puede estar temporalmente muy desbalanceado. La garantía es AMORTIZADA: cualquier secuencia de m operaciones sobre un árbol de n nodos toma O((m+n) log n) tiempo total.</a:t>
            </a:r>
            <a:endParaRPr b="0" i="0" sz="1050" u="none" cap="none" strike="noStrike">
              <a:solidFill>
                <a:schemeClr val="dk1"/>
              </a:solidFill>
              <a:latin typeface="Calibri"/>
              <a:ea typeface="Calibri"/>
              <a:cs typeface="Calibri"/>
              <a:sym typeface="Calibri"/>
            </a:endParaRPr>
          </a:p>
        </p:txBody>
      </p:sp>
      <p:sp>
        <p:nvSpPr>
          <p:cNvPr id="835" name="Google Shape;835;p26"/>
          <p:cNvSpPr/>
          <p:nvPr/>
        </p:nvSpPr>
        <p:spPr>
          <a:xfrm>
            <a:off x="4572000" y="1188720"/>
            <a:ext cx="4389120" cy="1417320"/>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26"/>
          <p:cNvSpPr/>
          <p:nvPr/>
        </p:nvSpPr>
        <p:spPr>
          <a:xfrm>
            <a:off x="4709160" y="1325880"/>
            <a:ext cx="1759306" cy="256032"/>
          </a:xfrm>
          <a:prstGeom prst="roundRect">
            <a:avLst>
              <a:gd fmla="val 21429" name="adj"/>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26"/>
          <p:cNvSpPr/>
          <p:nvPr/>
        </p:nvSpPr>
        <p:spPr>
          <a:xfrm>
            <a:off x="4709160" y="1325880"/>
            <a:ext cx="1759306"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¿POR QUÉ FUNCIONA?</a:t>
            </a:r>
            <a:endParaRPr b="0" i="0" sz="800" u="none" cap="none" strike="noStrike">
              <a:solidFill>
                <a:schemeClr val="dk1"/>
              </a:solidFill>
              <a:latin typeface="Calibri"/>
              <a:ea typeface="Calibri"/>
              <a:cs typeface="Calibri"/>
              <a:sym typeface="Calibri"/>
            </a:endParaRPr>
          </a:p>
        </p:txBody>
      </p:sp>
      <p:sp>
        <p:nvSpPr>
          <p:cNvPr id="838" name="Google Shape;838;p26"/>
          <p:cNvSpPr/>
          <p:nvPr/>
        </p:nvSpPr>
        <p:spPr>
          <a:xfrm>
            <a:off x="4709160" y="1664208"/>
            <a:ext cx="4114800" cy="8503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El splay tiene una propiedad elegante: cuando mueve x a la raíz, acorta aproximadamente a la mitad la profundidad de TODOS los nodos en el path de acceso. Nodos frecuentes migran cerca de la raíz naturalmente. El costo de acceder a un nodo profundo se 'amortiza' por el trabajo de reorganización que hace más baratos los accesos futuros.</a:t>
            </a:r>
            <a:endParaRPr b="0" i="0" sz="1050" u="none" cap="none" strike="noStrike">
              <a:solidFill>
                <a:schemeClr val="dk1"/>
              </a:solidFill>
              <a:latin typeface="Calibri"/>
              <a:ea typeface="Calibri"/>
              <a:cs typeface="Calibri"/>
              <a:sym typeface="Calibri"/>
            </a:endParaRPr>
          </a:p>
        </p:txBody>
      </p:sp>
      <p:sp>
        <p:nvSpPr>
          <p:cNvPr id="839" name="Google Shape;839;p26"/>
          <p:cNvSpPr/>
          <p:nvPr/>
        </p:nvSpPr>
        <p:spPr>
          <a:xfrm>
            <a:off x="4572000" y="2670048"/>
            <a:ext cx="4389120" cy="2130552"/>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26"/>
          <p:cNvSpPr/>
          <p:nvPr/>
        </p:nvSpPr>
        <p:spPr>
          <a:xfrm>
            <a:off x="4709160" y="2807208"/>
            <a:ext cx="2184502" cy="256032"/>
          </a:xfrm>
          <a:prstGeom prst="roundRect">
            <a:avLst>
              <a:gd fmla="val 21429" name="adj"/>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26"/>
          <p:cNvSpPr/>
          <p:nvPr/>
        </p:nvSpPr>
        <p:spPr>
          <a:xfrm>
            <a:off x="4709160" y="2807208"/>
            <a:ext cx="218450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LOS TRES CASOS DE SPLAY</a:t>
            </a:r>
            <a:endParaRPr b="0" i="0" sz="800" u="none" cap="none" strike="noStrike">
              <a:solidFill>
                <a:schemeClr val="dk1"/>
              </a:solidFill>
              <a:latin typeface="Calibri"/>
              <a:ea typeface="Calibri"/>
              <a:cs typeface="Calibri"/>
              <a:sym typeface="Calibri"/>
            </a:endParaRPr>
          </a:p>
        </p:txBody>
      </p:sp>
      <p:sp>
        <p:nvSpPr>
          <p:cNvPr id="842" name="Google Shape;842;p26"/>
          <p:cNvSpPr/>
          <p:nvPr/>
        </p:nvSpPr>
        <p:spPr>
          <a:xfrm>
            <a:off x="4709160" y="3145536"/>
            <a:ext cx="4114800" cy="1563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ZIG: x es hijo directo de la raíz → 1 rotación (caso final, solo ocurre cuando la raíz es el padre).</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ZIG-ZIG: x y su padre están ambos del mismo lado (ambos hijos izquierdos o ambos derechos) → 2 rotaciones del mismo tipo, empezando por el abuelo.</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50"/>
              <a:buFont typeface="Calibri"/>
              <a:buNone/>
            </a:pPr>
            <a:r>
              <a:rPr b="0" i="0" lang="en-US" sz="1050" u="none" cap="none" strike="noStrike">
                <a:solidFill>
                  <a:srgbClr val="F0F4FF"/>
                </a:solidFill>
                <a:latin typeface="Calibri"/>
                <a:ea typeface="Calibri"/>
                <a:cs typeface="Calibri"/>
                <a:sym typeface="Calibri"/>
              </a:rPr>
              <a:t>ZIG-ZAG: x y su padre están en lados opuestos (hijo izquierdo de hijo derecho o viceversa) → 2 rotaciones en direcciones opuestas, idéntico a la double rotation de AVL.</a:t>
            </a:r>
            <a:endParaRPr b="0" i="0" sz="1050" u="none" cap="none" strike="noStrike">
              <a:solidFill>
                <a:schemeClr val="dk1"/>
              </a:solidFill>
              <a:latin typeface="Calibri"/>
              <a:ea typeface="Calibri"/>
              <a:cs typeface="Calibri"/>
              <a:sym typeface="Calibri"/>
            </a:endParaRPr>
          </a:p>
        </p:txBody>
      </p:sp>
      <p:sp>
        <p:nvSpPr>
          <p:cNvPr id="843" name="Google Shape;843;p26"/>
          <p:cNvSpPr/>
          <p:nvPr/>
        </p:nvSpPr>
        <p:spPr>
          <a:xfrm>
            <a:off x="137160" y="4846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AED · T5 · Splay · Concepto</a:t>
            </a:r>
            <a:endParaRPr b="0" i="0" sz="900" u="none" cap="none" strike="noStrike">
              <a:solidFill>
                <a:schemeClr val="dk1"/>
              </a:solidFill>
              <a:latin typeface="Calibri"/>
              <a:ea typeface="Calibri"/>
              <a:cs typeface="Calibri"/>
              <a:sym typeface="Calibri"/>
            </a:endParaRPr>
          </a:p>
        </p:txBody>
      </p:sp>
      <p:sp>
        <p:nvSpPr>
          <p:cNvPr id="844" name="Google Shape;844;p26"/>
          <p:cNvSpPr/>
          <p:nvPr/>
        </p:nvSpPr>
        <p:spPr>
          <a:xfrm>
            <a:off x="8503920" y="4846320"/>
            <a:ext cx="54864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26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F1A"/>
        </a:solidFill>
      </p:bgPr>
    </p:bg>
    <p:spTree>
      <p:nvGrpSpPr>
        <p:cNvPr id="849" name="Shape 849"/>
        <p:cNvGrpSpPr/>
        <p:nvPr/>
      </p:nvGrpSpPr>
      <p:grpSpPr>
        <a:xfrm>
          <a:off x="0" y="0"/>
          <a:ext cx="0" cy="0"/>
          <a:chOff x="0" y="0"/>
          <a:chExt cx="0" cy="0"/>
        </a:xfrm>
      </p:grpSpPr>
      <p:sp>
        <p:nvSpPr>
          <p:cNvPr id="850" name="Google Shape;850;p27"/>
          <p:cNvSpPr/>
          <p:nvPr/>
        </p:nvSpPr>
        <p:spPr>
          <a:xfrm>
            <a:off x="0" y="0"/>
            <a:ext cx="54864"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7"/>
          <p:cNvSpPr/>
          <p:nvPr/>
        </p:nvSpPr>
        <p:spPr>
          <a:xfrm>
            <a:off x="182880" y="137160"/>
            <a:ext cx="87782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2600"/>
              <a:buFont typeface="Trebuchet MS"/>
              <a:buNone/>
            </a:pPr>
            <a:r>
              <a:rPr b="1" i="0" lang="en-US" sz="2600" u="none" cap="none" strike="noStrike">
                <a:solidFill>
                  <a:srgbClr val="F0F4FF"/>
                </a:solidFill>
                <a:latin typeface="Trebuchet MS"/>
                <a:ea typeface="Trebuchet MS"/>
                <a:cs typeface="Trebuchet MS"/>
                <a:sym typeface="Trebuchet MS"/>
              </a:rPr>
              <a:t>Splay — Caso ZIG</a:t>
            </a:r>
            <a:endParaRPr b="0" i="0" sz="2600" u="none" cap="none" strike="noStrike">
              <a:solidFill>
                <a:schemeClr val="dk1"/>
              </a:solidFill>
              <a:latin typeface="Calibri"/>
              <a:ea typeface="Calibri"/>
              <a:cs typeface="Calibri"/>
              <a:sym typeface="Calibri"/>
            </a:endParaRPr>
          </a:p>
        </p:txBody>
      </p:sp>
      <p:sp>
        <p:nvSpPr>
          <p:cNvPr id="852" name="Google Shape;852;p27"/>
          <p:cNvSpPr/>
          <p:nvPr/>
        </p:nvSpPr>
        <p:spPr>
          <a:xfrm>
            <a:off x="182880" y="749808"/>
            <a:ext cx="8778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1200"/>
              <a:buFont typeface="Calibri"/>
              <a:buNone/>
            </a:pPr>
            <a:r>
              <a:rPr b="0" i="1" lang="en-US" sz="1200" u="none" cap="none" strike="noStrike">
                <a:solidFill>
                  <a:srgbClr val="8892A4"/>
                </a:solidFill>
                <a:latin typeface="Calibri"/>
                <a:ea typeface="Calibri"/>
                <a:cs typeface="Calibri"/>
                <a:sym typeface="Calibri"/>
              </a:rPr>
              <a:t>x es hijo directo de la raíz → 1 rotación simple</a:t>
            </a:r>
            <a:endParaRPr b="0" i="0" sz="1200" u="none" cap="none" strike="noStrike">
              <a:solidFill>
                <a:schemeClr val="dk1"/>
              </a:solidFill>
              <a:latin typeface="Calibri"/>
              <a:ea typeface="Calibri"/>
              <a:cs typeface="Calibri"/>
              <a:sym typeface="Calibri"/>
            </a:endParaRPr>
          </a:p>
        </p:txBody>
      </p:sp>
      <p:sp>
        <p:nvSpPr>
          <p:cNvPr id="853" name="Google Shape;853;p27"/>
          <p:cNvSpPr/>
          <p:nvPr/>
        </p:nvSpPr>
        <p:spPr>
          <a:xfrm>
            <a:off x="182880" y="1024128"/>
            <a:ext cx="1463040" cy="27432"/>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7"/>
          <p:cNvSpPr/>
          <p:nvPr/>
        </p:nvSpPr>
        <p:spPr>
          <a:xfrm>
            <a:off x="137160" y="1188720"/>
            <a:ext cx="8869680" cy="3611880"/>
          </a:xfrm>
          <a:prstGeom prst="rect">
            <a:avLst/>
          </a:prstGeom>
          <a:solidFill>
            <a:srgbClr val="141829"/>
          </a:solidFill>
          <a:ln cap="flat" cmpd="sng" w="9525">
            <a:solidFill>
              <a:srgbClr val="F59E0B"/>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27"/>
          <p:cNvSpPr/>
          <p:nvPr/>
        </p:nvSpPr>
        <p:spPr>
          <a:xfrm>
            <a:off x="274320" y="1344168"/>
            <a:ext cx="6096305" cy="256032"/>
          </a:xfrm>
          <a:prstGeom prst="roundRect">
            <a:avLst>
              <a:gd fmla="val 21429" name="adj"/>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7"/>
          <p:cNvSpPr/>
          <p:nvPr/>
        </p:nvSpPr>
        <p:spPr>
          <a:xfrm>
            <a:off x="274320" y="1344168"/>
            <a:ext cx="6096305"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ZIG — x es hijo IZQUIERDO de la raíz (análogo simétrico para derecho)</a:t>
            </a:r>
            <a:endParaRPr b="0" i="0" sz="800" u="none" cap="none" strike="noStrike">
              <a:solidFill>
                <a:schemeClr val="dk1"/>
              </a:solidFill>
              <a:latin typeface="Calibri"/>
              <a:ea typeface="Calibri"/>
              <a:cs typeface="Calibri"/>
              <a:sym typeface="Calibri"/>
            </a:endParaRPr>
          </a:p>
        </p:txBody>
      </p:sp>
      <p:sp>
        <p:nvSpPr>
          <p:cNvPr id="857" name="Google Shape;857;p27"/>
          <p:cNvSpPr/>
          <p:nvPr/>
        </p:nvSpPr>
        <p:spPr>
          <a:xfrm>
            <a:off x="457200" y="1719072"/>
            <a:ext cx="3200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1100"/>
              <a:buFont typeface="Calibri"/>
              <a:buNone/>
            </a:pPr>
            <a:r>
              <a:rPr b="1" i="0" lang="en-US" sz="1100" u="none" cap="none" strike="noStrike">
                <a:solidFill>
                  <a:srgbClr val="8892A4"/>
                </a:solidFill>
                <a:latin typeface="Calibri"/>
                <a:ea typeface="Calibri"/>
                <a:cs typeface="Calibri"/>
                <a:sym typeface="Calibri"/>
              </a:rPr>
              <a:t>ANTES — acceder a x:</a:t>
            </a:r>
            <a:endParaRPr b="0" i="0" sz="1100" u="none" cap="none" strike="noStrike">
              <a:solidFill>
                <a:schemeClr val="dk1"/>
              </a:solidFill>
              <a:latin typeface="Calibri"/>
              <a:ea typeface="Calibri"/>
              <a:cs typeface="Calibri"/>
              <a:sym typeface="Calibri"/>
            </a:endParaRPr>
          </a:p>
        </p:txBody>
      </p:sp>
      <p:sp>
        <p:nvSpPr>
          <p:cNvPr id="858" name="Google Shape;858;p27"/>
          <p:cNvSpPr/>
          <p:nvPr/>
        </p:nvSpPr>
        <p:spPr>
          <a:xfrm>
            <a:off x="1737360" y="2057400"/>
            <a:ext cx="548640" cy="548640"/>
          </a:xfrm>
          <a:prstGeom prst="ellipse">
            <a:avLst/>
          </a:prstGeom>
          <a:solidFill>
            <a:srgbClr val="1A2035"/>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27"/>
          <p:cNvSpPr/>
          <p:nvPr/>
        </p:nvSpPr>
        <p:spPr>
          <a:xfrm>
            <a:off x="1737360" y="2057400"/>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1200"/>
              <a:buFont typeface="Consolas"/>
              <a:buNone/>
            </a:pPr>
            <a:r>
              <a:rPr b="1" i="0" lang="en-US" sz="1200" u="none" cap="none" strike="noStrike">
                <a:solidFill>
                  <a:srgbClr val="F59E0B"/>
                </a:solidFill>
                <a:latin typeface="Consolas"/>
                <a:ea typeface="Consolas"/>
                <a:cs typeface="Consolas"/>
                <a:sym typeface="Consolas"/>
              </a:rPr>
              <a:t>p</a:t>
            </a:r>
            <a:endParaRPr b="0" i="0" sz="1200" u="none" cap="none" strike="noStrike">
              <a:solidFill>
                <a:schemeClr val="dk1"/>
              </a:solidFill>
              <a:latin typeface="Calibri"/>
              <a:ea typeface="Calibri"/>
              <a:cs typeface="Calibri"/>
              <a:sym typeface="Calibri"/>
            </a:endParaRPr>
          </a:p>
        </p:txBody>
      </p:sp>
      <p:sp>
        <p:nvSpPr>
          <p:cNvPr id="860" name="Google Shape;860;p27"/>
          <p:cNvSpPr/>
          <p:nvPr/>
        </p:nvSpPr>
        <p:spPr>
          <a:xfrm>
            <a:off x="914400" y="2743200"/>
            <a:ext cx="548640" cy="548640"/>
          </a:xfrm>
          <a:prstGeom prst="ellipse">
            <a:avLst/>
          </a:prstGeom>
          <a:solidFill>
            <a:srgbClr val="F59E0B"/>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27"/>
          <p:cNvSpPr/>
          <p:nvPr/>
        </p:nvSpPr>
        <p:spPr>
          <a:xfrm>
            <a:off x="914400" y="2743200"/>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1200"/>
              <a:buFont typeface="Consolas"/>
              <a:buNone/>
            </a:pPr>
            <a:r>
              <a:rPr b="1" i="0" lang="en-US" sz="1200" u="none" cap="none" strike="noStrike">
                <a:solidFill>
                  <a:srgbClr val="F0F4FF"/>
                </a:solidFill>
                <a:latin typeface="Consolas"/>
                <a:ea typeface="Consolas"/>
                <a:cs typeface="Consolas"/>
                <a:sym typeface="Consolas"/>
              </a:rPr>
              <a:t>x</a:t>
            </a:r>
            <a:endParaRPr b="0" i="0" sz="1200" u="none" cap="none" strike="noStrike">
              <a:solidFill>
                <a:schemeClr val="dk1"/>
              </a:solidFill>
              <a:latin typeface="Calibri"/>
              <a:ea typeface="Calibri"/>
              <a:cs typeface="Calibri"/>
              <a:sym typeface="Calibri"/>
            </a:endParaRPr>
          </a:p>
        </p:txBody>
      </p:sp>
      <p:sp>
        <p:nvSpPr>
          <p:cNvPr id="862" name="Google Shape;862;p27"/>
          <p:cNvSpPr/>
          <p:nvPr/>
        </p:nvSpPr>
        <p:spPr>
          <a:xfrm>
            <a:off x="2560320" y="2743200"/>
            <a:ext cx="548640" cy="548640"/>
          </a:xfrm>
          <a:prstGeom prst="ellipse">
            <a:avLst/>
          </a:prstGeom>
          <a:solidFill>
            <a:srgbClr val="111526"/>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27"/>
          <p:cNvSpPr/>
          <p:nvPr/>
        </p:nvSpPr>
        <p:spPr>
          <a:xfrm>
            <a:off x="2560320" y="2743200"/>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92A4"/>
              </a:buClr>
              <a:buSzPts val="1200"/>
              <a:buFont typeface="Consolas"/>
              <a:buNone/>
            </a:pPr>
            <a:r>
              <a:rPr b="1" i="0" lang="en-US" sz="1200" u="none" cap="none" strike="noStrike">
                <a:solidFill>
                  <a:srgbClr val="8892A4"/>
                </a:solidFill>
                <a:latin typeface="Consolas"/>
                <a:ea typeface="Consolas"/>
                <a:cs typeface="Consolas"/>
                <a:sym typeface="Consolas"/>
              </a:rPr>
              <a:t>C</a:t>
            </a:r>
            <a:endParaRPr b="0" i="0" sz="1200" u="none" cap="none" strike="noStrike">
              <a:solidFill>
                <a:schemeClr val="dk1"/>
              </a:solidFill>
              <a:latin typeface="Calibri"/>
              <a:ea typeface="Calibri"/>
              <a:cs typeface="Calibri"/>
              <a:sym typeface="Calibri"/>
            </a:endParaRPr>
          </a:p>
        </p:txBody>
      </p:sp>
      <p:sp>
        <p:nvSpPr>
          <p:cNvPr id="864" name="Google Shape;864;p27"/>
          <p:cNvSpPr/>
          <p:nvPr/>
        </p:nvSpPr>
        <p:spPr>
          <a:xfrm>
            <a:off x="466344" y="3483864"/>
            <a:ext cx="438912" cy="438912"/>
          </a:xfrm>
          <a:prstGeom prst="ellipse">
            <a:avLst/>
          </a:prstGeom>
          <a:solidFill>
            <a:srgbClr val="111526"/>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27"/>
          <p:cNvSpPr/>
          <p:nvPr/>
        </p:nvSpPr>
        <p:spPr>
          <a:xfrm>
            <a:off x="466344" y="3483864"/>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92A4"/>
              </a:buClr>
              <a:buSzPts val="1200"/>
              <a:buFont typeface="Consolas"/>
              <a:buNone/>
            </a:pPr>
            <a:r>
              <a:rPr b="1" i="0" lang="en-US" sz="1200" u="none" cap="none" strike="noStrike">
                <a:solidFill>
                  <a:srgbClr val="8892A4"/>
                </a:solidFill>
                <a:latin typeface="Consolas"/>
                <a:ea typeface="Consolas"/>
                <a:cs typeface="Consolas"/>
                <a:sym typeface="Consolas"/>
              </a:rPr>
              <a:t>A</a:t>
            </a:r>
            <a:endParaRPr b="0" i="0" sz="1200" u="none" cap="none" strike="noStrike">
              <a:solidFill>
                <a:schemeClr val="dk1"/>
              </a:solidFill>
              <a:latin typeface="Calibri"/>
              <a:ea typeface="Calibri"/>
              <a:cs typeface="Calibri"/>
              <a:sym typeface="Calibri"/>
            </a:endParaRPr>
          </a:p>
        </p:txBody>
      </p:sp>
      <p:sp>
        <p:nvSpPr>
          <p:cNvPr id="866" name="Google Shape;866;p27"/>
          <p:cNvSpPr/>
          <p:nvPr/>
        </p:nvSpPr>
        <p:spPr>
          <a:xfrm>
            <a:off x="1472184" y="3483864"/>
            <a:ext cx="438912" cy="438912"/>
          </a:xfrm>
          <a:prstGeom prst="ellipse">
            <a:avLst/>
          </a:prstGeom>
          <a:solidFill>
            <a:srgbClr val="111526"/>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27"/>
          <p:cNvSpPr/>
          <p:nvPr/>
        </p:nvSpPr>
        <p:spPr>
          <a:xfrm>
            <a:off x="1472184" y="3483864"/>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92A4"/>
              </a:buClr>
              <a:buSzPts val="1200"/>
              <a:buFont typeface="Consolas"/>
              <a:buNone/>
            </a:pPr>
            <a:r>
              <a:rPr b="1" i="0" lang="en-US" sz="1200" u="none" cap="none" strike="noStrike">
                <a:solidFill>
                  <a:srgbClr val="8892A4"/>
                </a:solidFill>
                <a:latin typeface="Consolas"/>
                <a:ea typeface="Consolas"/>
                <a:cs typeface="Consolas"/>
                <a:sym typeface="Consolas"/>
              </a:rPr>
              <a:t>B</a:t>
            </a:r>
            <a:endParaRPr b="0" i="0" sz="1200" u="none" cap="none" strike="noStrike">
              <a:solidFill>
                <a:schemeClr val="dk1"/>
              </a:solidFill>
              <a:latin typeface="Calibri"/>
              <a:ea typeface="Calibri"/>
              <a:cs typeface="Calibri"/>
              <a:sym typeface="Calibri"/>
            </a:endParaRPr>
          </a:p>
        </p:txBody>
      </p:sp>
      <p:cxnSp>
        <p:nvCxnSpPr>
          <p:cNvPr id="868" name="Google Shape;868;p27"/>
          <p:cNvCxnSpPr/>
          <p:nvPr/>
        </p:nvCxnSpPr>
        <p:spPr>
          <a:xfrm flipH="1">
            <a:off x="1463040" y="2606040"/>
            <a:ext cx="548640" cy="137160"/>
          </a:xfrm>
          <a:prstGeom prst="straightConnector1">
            <a:avLst/>
          </a:prstGeom>
          <a:noFill/>
          <a:ln cap="flat" cmpd="sng" w="15225">
            <a:solidFill>
              <a:srgbClr val="3D4A5C"/>
            </a:solidFill>
            <a:prstDash val="solid"/>
            <a:round/>
            <a:headEnd len="sm" w="sm" type="none"/>
            <a:tailEnd len="sm" w="sm" type="none"/>
          </a:ln>
        </p:spPr>
      </p:cxnSp>
      <p:cxnSp>
        <p:nvCxnSpPr>
          <p:cNvPr id="869" name="Google Shape;869;p27"/>
          <p:cNvCxnSpPr/>
          <p:nvPr/>
        </p:nvCxnSpPr>
        <p:spPr>
          <a:xfrm>
            <a:off x="2011680" y="2606040"/>
            <a:ext cx="548640" cy="137160"/>
          </a:xfrm>
          <a:prstGeom prst="straightConnector1">
            <a:avLst/>
          </a:prstGeom>
          <a:noFill/>
          <a:ln cap="flat" cmpd="sng" w="15225">
            <a:solidFill>
              <a:srgbClr val="3D4A5C"/>
            </a:solidFill>
            <a:prstDash val="solid"/>
            <a:round/>
            <a:headEnd len="sm" w="sm" type="none"/>
            <a:tailEnd len="sm" w="sm" type="none"/>
          </a:ln>
        </p:spPr>
      </p:cxnSp>
      <p:cxnSp>
        <p:nvCxnSpPr>
          <p:cNvPr id="870" name="Google Shape;870;p27"/>
          <p:cNvCxnSpPr/>
          <p:nvPr/>
        </p:nvCxnSpPr>
        <p:spPr>
          <a:xfrm flipH="1">
            <a:off x="905256" y="3291840"/>
            <a:ext cx="283464" cy="192024"/>
          </a:xfrm>
          <a:prstGeom prst="straightConnector1">
            <a:avLst/>
          </a:prstGeom>
          <a:noFill/>
          <a:ln cap="flat" cmpd="sng" w="15225">
            <a:solidFill>
              <a:srgbClr val="3D4A5C"/>
            </a:solidFill>
            <a:prstDash val="solid"/>
            <a:round/>
            <a:headEnd len="sm" w="sm" type="none"/>
            <a:tailEnd len="sm" w="sm" type="none"/>
          </a:ln>
        </p:spPr>
      </p:cxnSp>
      <p:cxnSp>
        <p:nvCxnSpPr>
          <p:cNvPr id="871" name="Google Shape;871;p27"/>
          <p:cNvCxnSpPr/>
          <p:nvPr/>
        </p:nvCxnSpPr>
        <p:spPr>
          <a:xfrm>
            <a:off x="1188720" y="3291840"/>
            <a:ext cx="283464" cy="192024"/>
          </a:xfrm>
          <a:prstGeom prst="straightConnector1">
            <a:avLst/>
          </a:prstGeom>
          <a:noFill/>
          <a:ln cap="flat" cmpd="sng" w="15225">
            <a:solidFill>
              <a:srgbClr val="3D4A5C"/>
            </a:solidFill>
            <a:prstDash val="solid"/>
            <a:round/>
            <a:headEnd len="sm" w="sm" type="none"/>
            <a:tailEnd len="sm" w="sm" type="none"/>
          </a:ln>
        </p:spPr>
      </p:cxnSp>
      <p:sp>
        <p:nvSpPr>
          <p:cNvPr id="872" name="Google Shape;872;p27"/>
          <p:cNvSpPr/>
          <p:nvPr/>
        </p:nvSpPr>
        <p:spPr>
          <a:xfrm>
            <a:off x="3474720" y="2834640"/>
            <a:ext cx="21945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1400"/>
              <a:buFont typeface="Consolas"/>
              <a:buNone/>
            </a:pPr>
            <a:r>
              <a:rPr b="1" i="0" lang="en-US" sz="1400" u="none" cap="none" strike="noStrike">
                <a:solidFill>
                  <a:srgbClr val="F59E0B"/>
                </a:solidFill>
                <a:latin typeface="Consolas"/>
                <a:ea typeface="Consolas"/>
                <a:cs typeface="Consolas"/>
                <a:sym typeface="Consolas"/>
              </a:rPr>
              <a:t>→  Right-Rotate(p)  →</a:t>
            </a:r>
            <a:endParaRPr b="0" i="0" sz="1400" u="none" cap="none" strike="noStrike">
              <a:solidFill>
                <a:schemeClr val="dk1"/>
              </a:solidFill>
              <a:latin typeface="Calibri"/>
              <a:ea typeface="Calibri"/>
              <a:cs typeface="Calibri"/>
              <a:sym typeface="Calibri"/>
            </a:endParaRPr>
          </a:p>
        </p:txBody>
      </p:sp>
      <p:sp>
        <p:nvSpPr>
          <p:cNvPr id="873" name="Google Shape;873;p27"/>
          <p:cNvSpPr/>
          <p:nvPr/>
        </p:nvSpPr>
        <p:spPr>
          <a:xfrm>
            <a:off x="5760720" y="1719072"/>
            <a:ext cx="3200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100"/>
              <a:buFont typeface="Calibri"/>
              <a:buNone/>
            </a:pPr>
            <a:r>
              <a:rPr b="1" i="0" lang="en-US" sz="1100" u="none" cap="none" strike="noStrike">
                <a:solidFill>
                  <a:srgbClr val="10B981"/>
                </a:solidFill>
                <a:latin typeface="Calibri"/>
                <a:ea typeface="Calibri"/>
                <a:cs typeface="Calibri"/>
                <a:sym typeface="Calibri"/>
              </a:rPr>
              <a:t>DESPUÉS — x en la raíz:</a:t>
            </a:r>
            <a:endParaRPr b="0" i="0" sz="1100" u="none" cap="none" strike="noStrike">
              <a:solidFill>
                <a:schemeClr val="dk1"/>
              </a:solidFill>
              <a:latin typeface="Calibri"/>
              <a:ea typeface="Calibri"/>
              <a:cs typeface="Calibri"/>
              <a:sym typeface="Calibri"/>
            </a:endParaRPr>
          </a:p>
        </p:txBody>
      </p:sp>
      <p:sp>
        <p:nvSpPr>
          <p:cNvPr id="874" name="Google Shape;874;p27"/>
          <p:cNvSpPr/>
          <p:nvPr/>
        </p:nvSpPr>
        <p:spPr>
          <a:xfrm>
            <a:off x="6858000" y="2057400"/>
            <a:ext cx="548640" cy="548640"/>
          </a:xfrm>
          <a:prstGeom prst="ellipse">
            <a:avLst/>
          </a:prstGeom>
          <a:solidFill>
            <a:srgbClr val="F59E0B"/>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27"/>
          <p:cNvSpPr/>
          <p:nvPr/>
        </p:nvSpPr>
        <p:spPr>
          <a:xfrm>
            <a:off x="6858000" y="2057400"/>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1200"/>
              <a:buFont typeface="Consolas"/>
              <a:buNone/>
            </a:pPr>
            <a:r>
              <a:rPr b="1" i="0" lang="en-US" sz="1200" u="none" cap="none" strike="noStrike">
                <a:solidFill>
                  <a:srgbClr val="F0F4FF"/>
                </a:solidFill>
                <a:latin typeface="Consolas"/>
                <a:ea typeface="Consolas"/>
                <a:cs typeface="Consolas"/>
                <a:sym typeface="Consolas"/>
              </a:rPr>
              <a:t>x</a:t>
            </a:r>
            <a:endParaRPr b="0" i="0" sz="1200" u="none" cap="none" strike="noStrike">
              <a:solidFill>
                <a:schemeClr val="dk1"/>
              </a:solidFill>
              <a:latin typeface="Calibri"/>
              <a:ea typeface="Calibri"/>
              <a:cs typeface="Calibri"/>
              <a:sym typeface="Calibri"/>
            </a:endParaRPr>
          </a:p>
        </p:txBody>
      </p:sp>
      <p:sp>
        <p:nvSpPr>
          <p:cNvPr id="876" name="Google Shape;876;p27"/>
          <p:cNvSpPr/>
          <p:nvPr/>
        </p:nvSpPr>
        <p:spPr>
          <a:xfrm>
            <a:off x="6089904" y="2798064"/>
            <a:ext cx="438912" cy="438912"/>
          </a:xfrm>
          <a:prstGeom prst="ellipse">
            <a:avLst/>
          </a:prstGeom>
          <a:solidFill>
            <a:srgbClr val="111526"/>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27"/>
          <p:cNvSpPr/>
          <p:nvPr/>
        </p:nvSpPr>
        <p:spPr>
          <a:xfrm>
            <a:off x="6089904" y="2798064"/>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92A4"/>
              </a:buClr>
              <a:buSzPts val="1200"/>
              <a:buFont typeface="Consolas"/>
              <a:buNone/>
            </a:pPr>
            <a:r>
              <a:rPr b="1" i="0" lang="en-US" sz="1200" u="none" cap="none" strike="noStrike">
                <a:solidFill>
                  <a:srgbClr val="8892A4"/>
                </a:solidFill>
                <a:latin typeface="Consolas"/>
                <a:ea typeface="Consolas"/>
                <a:cs typeface="Consolas"/>
                <a:sym typeface="Consolas"/>
              </a:rPr>
              <a:t>A</a:t>
            </a:r>
            <a:endParaRPr b="0" i="0" sz="1200" u="none" cap="none" strike="noStrike">
              <a:solidFill>
                <a:schemeClr val="dk1"/>
              </a:solidFill>
              <a:latin typeface="Calibri"/>
              <a:ea typeface="Calibri"/>
              <a:cs typeface="Calibri"/>
              <a:sym typeface="Calibri"/>
            </a:endParaRPr>
          </a:p>
        </p:txBody>
      </p:sp>
      <p:sp>
        <p:nvSpPr>
          <p:cNvPr id="878" name="Google Shape;878;p27"/>
          <p:cNvSpPr/>
          <p:nvPr/>
        </p:nvSpPr>
        <p:spPr>
          <a:xfrm>
            <a:off x="7680960" y="2743200"/>
            <a:ext cx="548640" cy="548640"/>
          </a:xfrm>
          <a:prstGeom prst="ellipse">
            <a:avLst/>
          </a:prstGeom>
          <a:solidFill>
            <a:srgbClr val="1A2035"/>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27"/>
          <p:cNvSpPr/>
          <p:nvPr/>
        </p:nvSpPr>
        <p:spPr>
          <a:xfrm>
            <a:off x="7680960" y="2743200"/>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1200"/>
              <a:buFont typeface="Consolas"/>
              <a:buNone/>
            </a:pPr>
            <a:r>
              <a:rPr b="1" i="0" lang="en-US" sz="1200" u="none" cap="none" strike="noStrike">
                <a:solidFill>
                  <a:srgbClr val="F59E0B"/>
                </a:solidFill>
                <a:latin typeface="Consolas"/>
                <a:ea typeface="Consolas"/>
                <a:cs typeface="Consolas"/>
                <a:sym typeface="Consolas"/>
              </a:rPr>
              <a:t>p</a:t>
            </a:r>
            <a:endParaRPr b="0" i="0" sz="1200" u="none" cap="none" strike="noStrike">
              <a:solidFill>
                <a:schemeClr val="dk1"/>
              </a:solidFill>
              <a:latin typeface="Calibri"/>
              <a:ea typeface="Calibri"/>
              <a:cs typeface="Calibri"/>
              <a:sym typeface="Calibri"/>
            </a:endParaRPr>
          </a:p>
        </p:txBody>
      </p:sp>
      <p:sp>
        <p:nvSpPr>
          <p:cNvPr id="880" name="Google Shape;880;p27"/>
          <p:cNvSpPr/>
          <p:nvPr/>
        </p:nvSpPr>
        <p:spPr>
          <a:xfrm>
            <a:off x="7278624" y="3483864"/>
            <a:ext cx="438912" cy="438912"/>
          </a:xfrm>
          <a:prstGeom prst="ellipse">
            <a:avLst/>
          </a:prstGeom>
          <a:solidFill>
            <a:srgbClr val="111526"/>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27"/>
          <p:cNvSpPr/>
          <p:nvPr/>
        </p:nvSpPr>
        <p:spPr>
          <a:xfrm>
            <a:off x="7278624" y="3483864"/>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92A4"/>
              </a:buClr>
              <a:buSzPts val="1200"/>
              <a:buFont typeface="Consolas"/>
              <a:buNone/>
            </a:pPr>
            <a:r>
              <a:rPr b="1" i="0" lang="en-US" sz="1200" u="none" cap="none" strike="noStrike">
                <a:solidFill>
                  <a:srgbClr val="8892A4"/>
                </a:solidFill>
                <a:latin typeface="Consolas"/>
                <a:ea typeface="Consolas"/>
                <a:cs typeface="Consolas"/>
                <a:sym typeface="Consolas"/>
              </a:rPr>
              <a:t>B</a:t>
            </a:r>
            <a:endParaRPr b="0" i="0" sz="1200" u="none" cap="none" strike="noStrike">
              <a:solidFill>
                <a:schemeClr val="dk1"/>
              </a:solidFill>
              <a:latin typeface="Calibri"/>
              <a:ea typeface="Calibri"/>
              <a:cs typeface="Calibri"/>
              <a:sym typeface="Calibri"/>
            </a:endParaRPr>
          </a:p>
        </p:txBody>
      </p:sp>
      <p:sp>
        <p:nvSpPr>
          <p:cNvPr id="882" name="Google Shape;882;p27"/>
          <p:cNvSpPr/>
          <p:nvPr/>
        </p:nvSpPr>
        <p:spPr>
          <a:xfrm>
            <a:off x="8193024" y="3483864"/>
            <a:ext cx="438912" cy="438912"/>
          </a:xfrm>
          <a:prstGeom prst="ellipse">
            <a:avLst/>
          </a:prstGeom>
          <a:solidFill>
            <a:srgbClr val="111526"/>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27"/>
          <p:cNvSpPr/>
          <p:nvPr/>
        </p:nvSpPr>
        <p:spPr>
          <a:xfrm>
            <a:off x="8193024" y="3483864"/>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92A4"/>
              </a:buClr>
              <a:buSzPts val="1200"/>
              <a:buFont typeface="Consolas"/>
              <a:buNone/>
            </a:pPr>
            <a:r>
              <a:rPr b="1" i="0" lang="en-US" sz="1200" u="none" cap="none" strike="noStrike">
                <a:solidFill>
                  <a:srgbClr val="8892A4"/>
                </a:solidFill>
                <a:latin typeface="Consolas"/>
                <a:ea typeface="Consolas"/>
                <a:cs typeface="Consolas"/>
                <a:sym typeface="Consolas"/>
              </a:rPr>
              <a:t>C</a:t>
            </a:r>
            <a:endParaRPr b="0" i="0" sz="1200" u="none" cap="none" strike="noStrike">
              <a:solidFill>
                <a:schemeClr val="dk1"/>
              </a:solidFill>
              <a:latin typeface="Calibri"/>
              <a:ea typeface="Calibri"/>
              <a:cs typeface="Calibri"/>
              <a:sym typeface="Calibri"/>
            </a:endParaRPr>
          </a:p>
        </p:txBody>
      </p:sp>
      <p:cxnSp>
        <p:nvCxnSpPr>
          <p:cNvPr id="884" name="Google Shape;884;p27"/>
          <p:cNvCxnSpPr/>
          <p:nvPr/>
        </p:nvCxnSpPr>
        <p:spPr>
          <a:xfrm flipH="1">
            <a:off x="6528816" y="2606040"/>
            <a:ext cx="603504" cy="192024"/>
          </a:xfrm>
          <a:prstGeom prst="straightConnector1">
            <a:avLst/>
          </a:prstGeom>
          <a:noFill/>
          <a:ln cap="flat" cmpd="sng" w="15225">
            <a:solidFill>
              <a:srgbClr val="10B981"/>
            </a:solidFill>
            <a:prstDash val="solid"/>
            <a:round/>
            <a:headEnd len="sm" w="sm" type="none"/>
            <a:tailEnd len="sm" w="sm" type="none"/>
          </a:ln>
        </p:spPr>
      </p:cxnSp>
      <p:cxnSp>
        <p:nvCxnSpPr>
          <p:cNvPr id="885" name="Google Shape;885;p27"/>
          <p:cNvCxnSpPr/>
          <p:nvPr/>
        </p:nvCxnSpPr>
        <p:spPr>
          <a:xfrm>
            <a:off x="7132320" y="2606040"/>
            <a:ext cx="603504" cy="192024"/>
          </a:xfrm>
          <a:prstGeom prst="straightConnector1">
            <a:avLst/>
          </a:prstGeom>
          <a:noFill/>
          <a:ln cap="flat" cmpd="sng" w="15225">
            <a:solidFill>
              <a:srgbClr val="10B981"/>
            </a:solidFill>
            <a:prstDash val="solid"/>
            <a:round/>
            <a:headEnd len="sm" w="sm" type="none"/>
            <a:tailEnd len="sm" w="sm" type="none"/>
          </a:ln>
        </p:spPr>
      </p:cxnSp>
      <p:cxnSp>
        <p:nvCxnSpPr>
          <p:cNvPr id="886" name="Google Shape;886;p27"/>
          <p:cNvCxnSpPr/>
          <p:nvPr/>
        </p:nvCxnSpPr>
        <p:spPr>
          <a:xfrm flipH="1">
            <a:off x="7717536" y="3291840"/>
            <a:ext cx="237744" cy="192024"/>
          </a:xfrm>
          <a:prstGeom prst="straightConnector1">
            <a:avLst/>
          </a:prstGeom>
          <a:noFill/>
          <a:ln cap="flat" cmpd="sng" w="15225">
            <a:solidFill>
              <a:srgbClr val="3D4A5C"/>
            </a:solidFill>
            <a:prstDash val="solid"/>
            <a:round/>
            <a:headEnd len="sm" w="sm" type="none"/>
            <a:tailEnd len="sm" w="sm" type="none"/>
          </a:ln>
        </p:spPr>
      </p:cxnSp>
      <p:cxnSp>
        <p:nvCxnSpPr>
          <p:cNvPr id="887" name="Google Shape;887;p27"/>
          <p:cNvCxnSpPr/>
          <p:nvPr/>
        </p:nvCxnSpPr>
        <p:spPr>
          <a:xfrm>
            <a:off x="7955280" y="3291840"/>
            <a:ext cx="237744" cy="192024"/>
          </a:xfrm>
          <a:prstGeom prst="straightConnector1">
            <a:avLst/>
          </a:prstGeom>
          <a:noFill/>
          <a:ln cap="flat" cmpd="sng" w="15225">
            <a:solidFill>
              <a:srgbClr val="3D4A5C"/>
            </a:solidFill>
            <a:prstDash val="solid"/>
            <a:round/>
            <a:headEnd len="sm" w="sm" type="none"/>
            <a:tailEnd len="sm" w="sm" type="none"/>
          </a:ln>
        </p:spPr>
      </p:cxnSp>
      <p:sp>
        <p:nvSpPr>
          <p:cNvPr id="888" name="Google Shape;888;p27"/>
          <p:cNvSpPr/>
          <p:nvPr/>
        </p:nvSpPr>
        <p:spPr>
          <a:xfrm>
            <a:off x="3474720" y="3429000"/>
            <a:ext cx="2194560" cy="10972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92A4"/>
              </a:buClr>
              <a:buSzPts val="1000"/>
              <a:buFont typeface="Calibri"/>
              <a:buNone/>
            </a:pPr>
            <a:r>
              <a:rPr b="0" i="0" lang="en-US" sz="1000" u="none" cap="none" strike="noStrike">
                <a:solidFill>
                  <a:srgbClr val="8892A4"/>
                </a:solidFill>
                <a:latin typeface="Calibri"/>
                <a:ea typeface="Calibri"/>
                <a:cs typeface="Calibri"/>
                <a:sym typeface="Calibri"/>
              </a:rPr>
              <a:t>B pasa de ser hijo derecho de x</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8892A4"/>
              </a:buClr>
              <a:buSzPts val="1000"/>
              <a:buFont typeface="Calibri"/>
              <a:buNone/>
            </a:pPr>
            <a:r>
              <a:rPr b="0" i="0" lang="en-US" sz="1000" u="none" cap="none" strike="noStrike">
                <a:solidFill>
                  <a:srgbClr val="8892A4"/>
                </a:solidFill>
                <a:latin typeface="Calibri"/>
                <a:ea typeface="Calibri"/>
                <a:cs typeface="Calibri"/>
                <a:sym typeface="Calibri"/>
              </a:rPr>
              <a:t>a ser hijo izquierdo de p.</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8892A4"/>
              </a:buClr>
              <a:buSzPts val="1000"/>
              <a:buFont typeface="Calibri"/>
              <a:buNone/>
            </a:pPr>
            <a:r>
              <a:rPr b="0" i="0" lang="en-US" sz="1000" u="none" cap="none" strike="noStrike">
                <a:solidFill>
                  <a:srgbClr val="8892A4"/>
                </a:solidFill>
                <a:latin typeface="Calibri"/>
                <a:ea typeface="Calibri"/>
                <a:cs typeface="Calibri"/>
                <a:sym typeface="Calibri"/>
              </a:rPr>
              <a:t>La BST property se preserva:</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8892A4"/>
              </a:buClr>
              <a:buSzPts val="1000"/>
              <a:buFont typeface="Calibri"/>
              <a:buNone/>
            </a:pPr>
            <a:r>
              <a:rPr b="0" i="0" lang="en-US" sz="1000" u="none" cap="none" strike="noStrike">
                <a:solidFill>
                  <a:srgbClr val="8892A4"/>
                </a:solidFill>
                <a:latin typeface="Calibri"/>
                <a:ea typeface="Calibri"/>
                <a:cs typeface="Calibri"/>
                <a:sym typeface="Calibri"/>
              </a:rPr>
              <a:t>A &lt; x &lt; B &lt; p &lt; C</a:t>
            </a:r>
            <a:endParaRPr b="0" i="0" sz="1000" u="none" cap="none" strike="noStrike">
              <a:solidFill>
                <a:schemeClr val="dk1"/>
              </a:solidFill>
              <a:latin typeface="Calibri"/>
              <a:ea typeface="Calibri"/>
              <a:cs typeface="Calibri"/>
              <a:sym typeface="Calibri"/>
            </a:endParaRPr>
          </a:p>
        </p:txBody>
      </p:sp>
      <p:sp>
        <p:nvSpPr>
          <p:cNvPr id="889" name="Google Shape;889;p27"/>
          <p:cNvSpPr/>
          <p:nvPr/>
        </p:nvSpPr>
        <p:spPr>
          <a:xfrm>
            <a:off x="137160" y="4846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AED · T5 · Splay · Zig</a:t>
            </a:r>
            <a:endParaRPr b="0" i="0" sz="900" u="none" cap="none" strike="noStrike">
              <a:solidFill>
                <a:schemeClr val="dk1"/>
              </a:solidFill>
              <a:latin typeface="Calibri"/>
              <a:ea typeface="Calibri"/>
              <a:cs typeface="Calibri"/>
              <a:sym typeface="Calibri"/>
            </a:endParaRPr>
          </a:p>
        </p:txBody>
      </p:sp>
      <p:sp>
        <p:nvSpPr>
          <p:cNvPr id="890" name="Google Shape;890;p27"/>
          <p:cNvSpPr/>
          <p:nvPr/>
        </p:nvSpPr>
        <p:spPr>
          <a:xfrm>
            <a:off x="8503920" y="4846320"/>
            <a:ext cx="54864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27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F1A"/>
        </a:solidFill>
      </p:bgPr>
    </p:bg>
    <p:spTree>
      <p:nvGrpSpPr>
        <p:cNvPr id="895" name="Shape 895"/>
        <p:cNvGrpSpPr/>
        <p:nvPr/>
      </p:nvGrpSpPr>
      <p:grpSpPr>
        <a:xfrm>
          <a:off x="0" y="0"/>
          <a:ext cx="0" cy="0"/>
          <a:chOff x="0" y="0"/>
          <a:chExt cx="0" cy="0"/>
        </a:xfrm>
      </p:grpSpPr>
      <p:sp>
        <p:nvSpPr>
          <p:cNvPr id="896" name="Google Shape;896;p28"/>
          <p:cNvSpPr/>
          <p:nvPr/>
        </p:nvSpPr>
        <p:spPr>
          <a:xfrm>
            <a:off x="0" y="0"/>
            <a:ext cx="54864"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28"/>
          <p:cNvSpPr/>
          <p:nvPr/>
        </p:nvSpPr>
        <p:spPr>
          <a:xfrm>
            <a:off x="182880" y="137160"/>
            <a:ext cx="87782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2600"/>
              <a:buFont typeface="Trebuchet MS"/>
              <a:buNone/>
            </a:pPr>
            <a:r>
              <a:rPr b="1" i="0" lang="en-US" sz="2600" u="none" cap="none" strike="noStrike">
                <a:solidFill>
                  <a:srgbClr val="F0F4FF"/>
                </a:solidFill>
                <a:latin typeface="Trebuchet MS"/>
                <a:ea typeface="Trebuchet MS"/>
                <a:cs typeface="Trebuchet MS"/>
                <a:sym typeface="Trebuchet MS"/>
              </a:rPr>
              <a:t>Splay — Caso ZIG-ZIG</a:t>
            </a:r>
            <a:endParaRPr b="0" i="0" sz="2600" u="none" cap="none" strike="noStrike">
              <a:solidFill>
                <a:schemeClr val="dk1"/>
              </a:solidFill>
              <a:latin typeface="Calibri"/>
              <a:ea typeface="Calibri"/>
              <a:cs typeface="Calibri"/>
              <a:sym typeface="Calibri"/>
            </a:endParaRPr>
          </a:p>
        </p:txBody>
      </p:sp>
      <p:sp>
        <p:nvSpPr>
          <p:cNvPr id="898" name="Google Shape;898;p28"/>
          <p:cNvSpPr/>
          <p:nvPr/>
        </p:nvSpPr>
        <p:spPr>
          <a:xfrm>
            <a:off x="182880" y="749808"/>
            <a:ext cx="8778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1200"/>
              <a:buFont typeface="Calibri"/>
              <a:buNone/>
            </a:pPr>
            <a:r>
              <a:rPr b="0" i="1" lang="en-US" sz="1200" u="none" cap="none" strike="noStrike">
                <a:solidFill>
                  <a:srgbClr val="8892A4"/>
                </a:solidFill>
                <a:latin typeface="Calibri"/>
                <a:ea typeface="Calibri"/>
                <a:cs typeface="Calibri"/>
                <a:sym typeface="Calibri"/>
              </a:rPr>
              <a:t>x y padre ambos del mismo lado → 2 rotaciones, abuelo primero</a:t>
            </a:r>
            <a:endParaRPr b="0" i="0" sz="1200" u="none" cap="none" strike="noStrike">
              <a:solidFill>
                <a:schemeClr val="dk1"/>
              </a:solidFill>
              <a:latin typeface="Calibri"/>
              <a:ea typeface="Calibri"/>
              <a:cs typeface="Calibri"/>
              <a:sym typeface="Calibri"/>
            </a:endParaRPr>
          </a:p>
        </p:txBody>
      </p:sp>
      <p:sp>
        <p:nvSpPr>
          <p:cNvPr id="899" name="Google Shape;899;p28"/>
          <p:cNvSpPr/>
          <p:nvPr/>
        </p:nvSpPr>
        <p:spPr>
          <a:xfrm>
            <a:off x="182880" y="1024128"/>
            <a:ext cx="1463040" cy="27432"/>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28"/>
          <p:cNvSpPr/>
          <p:nvPr/>
        </p:nvSpPr>
        <p:spPr>
          <a:xfrm>
            <a:off x="137160" y="1188720"/>
            <a:ext cx="8869680" cy="3611880"/>
          </a:xfrm>
          <a:prstGeom prst="rect">
            <a:avLst/>
          </a:prstGeom>
          <a:solidFill>
            <a:srgbClr val="141829"/>
          </a:solidFill>
          <a:ln cap="flat" cmpd="sng" w="9525">
            <a:solidFill>
              <a:srgbClr val="F59E0B"/>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28"/>
          <p:cNvSpPr/>
          <p:nvPr/>
        </p:nvSpPr>
        <p:spPr>
          <a:xfrm>
            <a:off x="274320" y="1344168"/>
            <a:ext cx="6606540" cy="256032"/>
          </a:xfrm>
          <a:prstGeom prst="roundRect">
            <a:avLst>
              <a:gd fmla="val 21429" name="adj"/>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8"/>
          <p:cNvSpPr/>
          <p:nvPr/>
        </p:nvSpPr>
        <p:spPr>
          <a:xfrm>
            <a:off x="274320" y="1344168"/>
            <a:ext cx="66065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ZIG-ZIG — x e izquierdo de p, p es izquierdo de g (ambos LEFT → LINE RECTA)</a:t>
            </a:r>
            <a:endParaRPr b="0" i="0" sz="800" u="none" cap="none" strike="noStrike">
              <a:solidFill>
                <a:schemeClr val="dk1"/>
              </a:solidFill>
              <a:latin typeface="Calibri"/>
              <a:ea typeface="Calibri"/>
              <a:cs typeface="Calibri"/>
              <a:sym typeface="Calibri"/>
            </a:endParaRPr>
          </a:p>
        </p:txBody>
      </p:sp>
      <p:sp>
        <p:nvSpPr>
          <p:cNvPr id="903" name="Google Shape;903;p28"/>
          <p:cNvSpPr/>
          <p:nvPr/>
        </p:nvSpPr>
        <p:spPr>
          <a:xfrm>
            <a:off x="365760" y="1691640"/>
            <a:ext cx="25603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1000"/>
              <a:buFont typeface="Calibri"/>
              <a:buNone/>
            </a:pPr>
            <a:r>
              <a:rPr b="1" i="0" lang="en-US" sz="1000" u="none" cap="none" strike="noStrike">
                <a:solidFill>
                  <a:srgbClr val="8892A4"/>
                </a:solidFill>
                <a:latin typeface="Calibri"/>
                <a:ea typeface="Calibri"/>
                <a:cs typeface="Calibri"/>
                <a:sym typeface="Calibri"/>
              </a:rPr>
              <a:t>ANTES:</a:t>
            </a:r>
            <a:endParaRPr b="0" i="0" sz="1000" u="none" cap="none" strike="noStrike">
              <a:solidFill>
                <a:schemeClr val="dk1"/>
              </a:solidFill>
              <a:latin typeface="Calibri"/>
              <a:ea typeface="Calibri"/>
              <a:cs typeface="Calibri"/>
              <a:sym typeface="Calibri"/>
            </a:endParaRPr>
          </a:p>
        </p:txBody>
      </p:sp>
      <p:sp>
        <p:nvSpPr>
          <p:cNvPr id="904" name="Google Shape;904;p28"/>
          <p:cNvSpPr/>
          <p:nvPr/>
        </p:nvSpPr>
        <p:spPr>
          <a:xfrm>
            <a:off x="1572768" y="1938528"/>
            <a:ext cx="512064" cy="512064"/>
          </a:xfrm>
          <a:prstGeom prst="ellipse">
            <a:avLst/>
          </a:prstGeom>
          <a:solidFill>
            <a:srgbClr val="1A2035"/>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28"/>
          <p:cNvSpPr/>
          <p:nvPr/>
        </p:nvSpPr>
        <p:spPr>
          <a:xfrm>
            <a:off x="1572768" y="1938528"/>
            <a:ext cx="512064"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4444"/>
              </a:buClr>
              <a:buSzPts val="1200"/>
              <a:buFont typeface="Consolas"/>
              <a:buNone/>
            </a:pPr>
            <a:r>
              <a:rPr b="1" i="0" lang="en-US" sz="1200" u="none" cap="none" strike="noStrike">
                <a:solidFill>
                  <a:srgbClr val="EF4444"/>
                </a:solidFill>
                <a:latin typeface="Consolas"/>
                <a:ea typeface="Consolas"/>
                <a:cs typeface="Consolas"/>
                <a:sym typeface="Consolas"/>
              </a:rPr>
              <a:t>g</a:t>
            </a:r>
            <a:endParaRPr b="0" i="0" sz="1200" u="none" cap="none" strike="noStrike">
              <a:solidFill>
                <a:schemeClr val="dk1"/>
              </a:solidFill>
              <a:latin typeface="Calibri"/>
              <a:ea typeface="Calibri"/>
              <a:cs typeface="Calibri"/>
              <a:sym typeface="Calibri"/>
            </a:endParaRPr>
          </a:p>
        </p:txBody>
      </p:sp>
      <p:sp>
        <p:nvSpPr>
          <p:cNvPr id="906" name="Google Shape;906;p28"/>
          <p:cNvSpPr/>
          <p:nvPr/>
        </p:nvSpPr>
        <p:spPr>
          <a:xfrm>
            <a:off x="841248" y="2578608"/>
            <a:ext cx="512064" cy="512064"/>
          </a:xfrm>
          <a:prstGeom prst="ellipse">
            <a:avLst/>
          </a:prstGeom>
          <a:solidFill>
            <a:srgbClr val="1A2035"/>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28"/>
          <p:cNvSpPr/>
          <p:nvPr/>
        </p:nvSpPr>
        <p:spPr>
          <a:xfrm>
            <a:off x="841248" y="2578608"/>
            <a:ext cx="512064"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1200"/>
              <a:buFont typeface="Consolas"/>
              <a:buNone/>
            </a:pPr>
            <a:r>
              <a:rPr b="1" i="0" lang="en-US" sz="1200" u="none" cap="none" strike="noStrike">
                <a:solidFill>
                  <a:srgbClr val="F59E0B"/>
                </a:solidFill>
                <a:latin typeface="Consolas"/>
                <a:ea typeface="Consolas"/>
                <a:cs typeface="Consolas"/>
                <a:sym typeface="Consolas"/>
              </a:rPr>
              <a:t>p</a:t>
            </a:r>
            <a:endParaRPr b="0" i="0" sz="1200" u="none" cap="none" strike="noStrike">
              <a:solidFill>
                <a:schemeClr val="dk1"/>
              </a:solidFill>
              <a:latin typeface="Calibri"/>
              <a:ea typeface="Calibri"/>
              <a:cs typeface="Calibri"/>
              <a:sym typeface="Calibri"/>
            </a:endParaRPr>
          </a:p>
        </p:txBody>
      </p:sp>
      <p:sp>
        <p:nvSpPr>
          <p:cNvPr id="908" name="Google Shape;908;p28"/>
          <p:cNvSpPr/>
          <p:nvPr/>
        </p:nvSpPr>
        <p:spPr>
          <a:xfrm>
            <a:off x="2359152" y="2633472"/>
            <a:ext cx="402336" cy="402336"/>
          </a:xfrm>
          <a:prstGeom prst="ellipse">
            <a:avLst/>
          </a:prstGeom>
          <a:solidFill>
            <a:srgbClr val="111526"/>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28"/>
          <p:cNvSpPr/>
          <p:nvPr/>
        </p:nvSpPr>
        <p:spPr>
          <a:xfrm>
            <a:off x="2359152" y="263347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92A4"/>
              </a:buClr>
              <a:buSzPts val="1200"/>
              <a:buFont typeface="Consolas"/>
              <a:buNone/>
            </a:pPr>
            <a:r>
              <a:rPr b="1" i="0" lang="en-US" sz="1200" u="none" cap="none" strike="noStrike">
                <a:solidFill>
                  <a:srgbClr val="8892A4"/>
                </a:solidFill>
                <a:latin typeface="Consolas"/>
                <a:ea typeface="Consolas"/>
                <a:cs typeface="Consolas"/>
                <a:sym typeface="Consolas"/>
              </a:rPr>
              <a:t>D</a:t>
            </a:r>
            <a:endParaRPr b="0" i="0" sz="1200" u="none" cap="none" strike="noStrike">
              <a:solidFill>
                <a:schemeClr val="dk1"/>
              </a:solidFill>
              <a:latin typeface="Calibri"/>
              <a:ea typeface="Calibri"/>
              <a:cs typeface="Calibri"/>
              <a:sym typeface="Calibri"/>
            </a:endParaRPr>
          </a:p>
        </p:txBody>
      </p:sp>
      <p:sp>
        <p:nvSpPr>
          <p:cNvPr id="910" name="Google Shape;910;p28"/>
          <p:cNvSpPr/>
          <p:nvPr/>
        </p:nvSpPr>
        <p:spPr>
          <a:xfrm>
            <a:off x="246888" y="3218688"/>
            <a:ext cx="512064" cy="512064"/>
          </a:xfrm>
          <a:prstGeom prst="ellipse">
            <a:avLst/>
          </a:prstGeom>
          <a:solidFill>
            <a:srgbClr val="F59E0B"/>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28"/>
          <p:cNvSpPr/>
          <p:nvPr/>
        </p:nvSpPr>
        <p:spPr>
          <a:xfrm>
            <a:off x="246888" y="3218688"/>
            <a:ext cx="512064"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1200"/>
              <a:buFont typeface="Consolas"/>
              <a:buNone/>
            </a:pPr>
            <a:r>
              <a:rPr b="1" i="0" lang="en-US" sz="1200" u="none" cap="none" strike="noStrike">
                <a:solidFill>
                  <a:srgbClr val="F0F4FF"/>
                </a:solidFill>
                <a:latin typeface="Consolas"/>
                <a:ea typeface="Consolas"/>
                <a:cs typeface="Consolas"/>
                <a:sym typeface="Consolas"/>
              </a:rPr>
              <a:t>x</a:t>
            </a:r>
            <a:endParaRPr b="0" i="0" sz="1200" u="none" cap="none" strike="noStrike">
              <a:solidFill>
                <a:schemeClr val="dk1"/>
              </a:solidFill>
              <a:latin typeface="Calibri"/>
              <a:ea typeface="Calibri"/>
              <a:cs typeface="Calibri"/>
              <a:sym typeface="Calibri"/>
            </a:endParaRPr>
          </a:p>
        </p:txBody>
      </p:sp>
      <p:sp>
        <p:nvSpPr>
          <p:cNvPr id="912" name="Google Shape;912;p28"/>
          <p:cNvSpPr/>
          <p:nvPr/>
        </p:nvSpPr>
        <p:spPr>
          <a:xfrm>
            <a:off x="1490472" y="3273552"/>
            <a:ext cx="402336" cy="402336"/>
          </a:xfrm>
          <a:prstGeom prst="ellipse">
            <a:avLst/>
          </a:prstGeom>
          <a:solidFill>
            <a:srgbClr val="111526"/>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28"/>
          <p:cNvSpPr/>
          <p:nvPr/>
        </p:nvSpPr>
        <p:spPr>
          <a:xfrm>
            <a:off x="1490472" y="327355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92A4"/>
              </a:buClr>
              <a:buSzPts val="1200"/>
              <a:buFont typeface="Consolas"/>
              <a:buNone/>
            </a:pPr>
            <a:r>
              <a:rPr b="1" i="0" lang="en-US" sz="1200" u="none" cap="none" strike="noStrike">
                <a:solidFill>
                  <a:srgbClr val="8892A4"/>
                </a:solidFill>
                <a:latin typeface="Consolas"/>
                <a:ea typeface="Consolas"/>
                <a:cs typeface="Consolas"/>
                <a:sym typeface="Consolas"/>
              </a:rPr>
              <a:t>C</a:t>
            </a:r>
            <a:endParaRPr b="0" i="0" sz="1200" u="none" cap="none" strike="noStrike">
              <a:solidFill>
                <a:schemeClr val="dk1"/>
              </a:solidFill>
              <a:latin typeface="Calibri"/>
              <a:ea typeface="Calibri"/>
              <a:cs typeface="Calibri"/>
              <a:sym typeface="Calibri"/>
            </a:endParaRPr>
          </a:p>
        </p:txBody>
      </p:sp>
      <p:sp>
        <p:nvSpPr>
          <p:cNvPr id="914" name="Google Shape;914;p28"/>
          <p:cNvSpPr/>
          <p:nvPr/>
        </p:nvSpPr>
        <p:spPr>
          <a:xfrm>
            <a:off x="0" y="3931920"/>
            <a:ext cx="365760" cy="365760"/>
          </a:xfrm>
          <a:prstGeom prst="ellipse">
            <a:avLst/>
          </a:prstGeom>
          <a:solidFill>
            <a:srgbClr val="111526"/>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28"/>
          <p:cNvSpPr/>
          <p:nvPr/>
        </p:nvSpPr>
        <p:spPr>
          <a:xfrm>
            <a:off x="0" y="393192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92A4"/>
              </a:buClr>
              <a:buSzPts val="1200"/>
              <a:buFont typeface="Consolas"/>
              <a:buNone/>
            </a:pPr>
            <a:r>
              <a:rPr b="1" i="0" lang="en-US" sz="1200" u="none" cap="none" strike="noStrike">
                <a:solidFill>
                  <a:srgbClr val="8892A4"/>
                </a:solidFill>
                <a:latin typeface="Consolas"/>
                <a:ea typeface="Consolas"/>
                <a:cs typeface="Consolas"/>
                <a:sym typeface="Consolas"/>
              </a:rPr>
              <a:t>A</a:t>
            </a:r>
            <a:endParaRPr b="0" i="0" sz="1200" u="none" cap="none" strike="noStrike">
              <a:solidFill>
                <a:schemeClr val="dk1"/>
              </a:solidFill>
              <a:latin typeface="Calibri"/>
              <a:ea typeface="Calibri"/>
              <a:cs typeface="Calibri"/>
              <a:sym typeface="Calibri"/>
            </a:endParaRPr>
          </a:p>
        </p:txBody>
      </p:sp>
      <p:sp>
        <p:nvSpPr>
          <p:cNvPr id="916" name="Google Shape;916;p28"/>
          <p:cNvSpPr/>
          <p:nvPr/>
        </p:nvSpPr>
        <p:spPr>
          <a:xfrm>
            <a:off x="640080" y="3931920"/>
            <a:ext cx="365760" cy="365760"/>
          </a:xfrm>
          <a:prstGeom prst="ellipse">
            <a:avLst/>
          </a:prstGeom>
          <a:solidFill>
            <a:srgbClr val="111526"/>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28"/>
          <p:cNvSpPr/>
          <p:nvPr/>
        </p:nvSpPr>
        <p:spPr>
          <a:xfrm>
            <a:off x="640080" y="393192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92A4"/>
              </a:buClr>
              <a:buSzPts val="1200"/>
              <a:buFont typeface="Consolas"/>
              <a:buNone/>
            </a:pPr>
            <a:r>
              <a:rPr b="1" i="0" lang="en-US" sz="1200" u="none" cap="none" strike="noStrike">
                <a:solidFill>
                  <a:srgbClr val="8892A4"/>
                </a:solidFill>
                <a:latin typeface="Consolas"/>
                <a:ea typeface="Consolas"/>
                <a:cs typeface="Consolas"/>
                <a:sym typeface="Consolas"/>
              </a:rPr>
              <a:t>B</a:t>
            </a:r>
            <a:endParaRPr b="0" i="0" sz="1200" u="none" cap="none" strike="noStrike">
              <a:solidFill>
                <a:schemeClr val="dk1"/>
              </a:solidFill>
              <a:latin typeface="Calibri"/>
              <a:ea typeface="Calibri"/>
              <a:cs typeface="Calibri"/>
              <a:sym typeface="Calibri"/>
            </a:endParaRPr>
          </a:p>
        </p:txBody>
      </p:sp>
      <p:cxnSp>
        <p:nvCxnSpPr>
          <p:cNvPr id="918" name="Google Shape;918;p28"/>
          <p:cNvCxnSpPr/>
          <p:nvPr/>
        </p:nvCxnSpPr>
        <p:spPr>
          <a:xfrm flipH="1">
            <a:off x="1353312" y="2450592"/>
            <a:ext cx="475488" cy="128016"/>
          </a:xfrm>
          <a:prstGeom prst="straightConnector1">
            <a:avLst/>
          </a:prstGeom>
          <a:noFill/>
          <a:ln cap="flat" cmpd="sng" w="15225">
            <a:solidFill>
              <a:srgbClr val="EF4444"/>
            </a:solidFill>
            <a:prstDash val="solid"/>
            <a:round/>
            <a:headEnd len="sm" w="sm" type="none"/>
            <a:tailEnd len="sm" w="sm" type="none"/>
          </a:ln>
        </p:spPr>
      </p:cxnSp>
      <p:cxnSp>
        <p:nvCxnSpPr>
          <p:cNvPr id="919" name="Google Shape;919;p28"/>
          <p:cNvCxnSpPr/>
          <p:nvPr/>
        </p:nvCxnSpPr>
        <p:spPr>
          <a:xfrm>
            <a:off x="1828800" y="2450592"/>
            <a:ext cx="530352" cy="182880"/>
          </a:xfrm>
          <a:prstGeom prst="straightConnector1">
            <a:avLst/>
          </a:prstGeom>
          <a:noFill/>
          <a:ln cap="flat" cmpd="sng" w="15225">
            <a:solidFill>
              <a:srgbClr val="3D4A5C"/>
            </a:solidFill>
            <a:prstDash val="solid"/>
            <a:round/>
            <a:headEnd len="sm" w="sm" type="none"/>
            <a:tailEnd len="sm" w="sm" type="none"/>
          </a:ln>
        </p:spPr>
      </p:cxnSp>
      <p:cxnSp>
        <p:nvCxnSpPr>
          <p:cNvPr id="920" name="Google Shape;920;p28"/>
          <p:cNvCxnSpPr/>
          <p:nvPr/>
        </p:nvCxnSpPr>
        <p:spPr>
          <a:xfrm flipH="1">
            <a:off x="758952" y="3090672"/>
            <a:ext cx="338328" cy="128016"/>
          </a:xfrm>
          <a:prstGeom prst="straightConnector1">
            <a:avLst/>
          </a:prstGeom>
          <a:noFill/>
          <a:ln cap="flat" cmpd="sng" w="15225">
            <a:solidFill>
              <a:srgbClr val="F59E0B"/>
            </a:solidFill>
            <a:prstDash val="solid"/>
            <a:round/>
            <a:headEnd len="sm" w="sm" type="none"/>
            <a:tailEnd len="sm" w="sm" type="none"/>
          </a:ln>
        </p:spPr>
      </p:cxnSp>
      <p:cxnSp>
        <p:nvCxnSpPr>
          <p:cNvPr id="921" name="Google Shape;921;p28"/>
          <p:cNvCxnSpPr/>
          <p:nvPr/>
        </p:nvCxnSpPr>
        <p:spPr>
          <a:xfrm>
            <a:off x="1097280" y="3090672"/>
            <a:ext cx="393192" cy="182880"/>
          </a:xfrm>
          <a:prstGeom prst="straightConnector1">
            <a:avLst/>
          </a:prstGeom>
          <a:noFill/>
          <a:ln cap="flat" cmpd="sng" w="15225">
            <a:solidFill>
              <a:srgbClr val="3D4A5C"/>
            </a:solidFill>
            <a:prstDash val="solid"/>
            <a:round/>
            <a:headEnd len="sm" w="sm" type="none"/>
            <a:tailEnd len="sm" w="sm" type="none"/>
          </a:ln>
        </p:spPr>
      </p:cxnSp>
      <p:cxnSp>
        <p:nvCxnSpPr>
          <p:cNvPr id="922" name="Google Shape;922;p28"/>
          <p:cNvCxnSpPr/>
          <p:nvPr/>
        </p:nvCxnSpPr>
        <p:spPr>
          <a:xfrm flipH="1">
            <a:off x="320040" y="3730752"/>
            <a:ext cx="182880" cy="201168"/>
          </a:xfrm>
          <a:prstGeom prst="straightConnector1">
            <a:avLst/>
          </a:prstGeom>
          <a:noFill/>
          <a:ln cap="flat" cmpd="sng" w="15225">
            <a:solidFill>
              <a:srgbClr val="3D4A5C"/>
            </a:solidFill>
            <a:prstDash val="solid"/>
            <a:round/>
            <a:headEnd len="sm" w="sm" type="none"/>
            <a:tailEnd len="sm" w="sm" type="none"/>
          </a:ln>
        </p:spPr>
      </p:cxnSp>
      <p:cxnSp>
        <p:nvCxnSpPr>
          <p:cNvPr id="923" name="Google Shape;923;p28"/>
          <p:cNvCxnSpPr/>
          <p:nvPr/>
        </p:nvCxnSpPr>
        <p:spPr>
          <a:xfrm>
            <a:off x="502920" y="3730752"/>
            <a:ext cx="182880" cy="201168"/>
          </a:xfrm>
          <a:prstGeom prst="straightConnector1">
            <a:avLst/>
          </a:prstGeom>
          <a:noFill/>
          <a:ln cap="flat" cmpd="sng" w="15225">
            <a:solidFill>
              <a:srgbClr val="3D4A5C"/>
            </a:solidFill>
            <a:prstDash val="solid"/>
            <a:round/>
            <a:headEnd len="sm" w="sm" type="none"/>
            <a:tailEnd len="sm" w="sm" type="none"/>
          </a:ln>
        </p:spPr>
      </p:cxnSp>
      <p:sp>
        <p:nvSpPr>
          <p:cNvPr id="924" name="Google Shape;924;p28"/>
          <p:cNvSpPr/>
          <p:nvPr/>
        </p:nvSpPr>
        <p:spPr>
          <a:xfrm>
            <a:off x="3017520" y="1920240"/>
            <a:ext cx="146304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1000"/>
              <a:buFont typeface="Calibri"/>
              <a:buNone/>
            </a:pPr>
            <a:r>
              <a:rPr b="0" i="0" lang="en-US" sz="1000" u="none" cap="none" strike="noStrike">
                <a:solidFill>
                  <a:srgbClr val="F59E0B"/>
                </a:solidFill>
                <a:latin typeface="Calibri"/>
                <a:ea typeface="Calibri"/>
                <a:cs typeface="Calibri"/>
                <a:sym typeface="Calibri"/>
              </a:rPr>
              <a:t>PASO 1:</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59E0B"/>
              </a:buClr>
              <a:buSzPts val="1000"/>
              <a:buFont typeface="Calibri"/>
              <a:buNone/>
            </a:pPr>
            <a:r>
              <a:rPr b="0" i="0" lang="en-US" sz="1000" u="none" cap="none" strike="noStrike">
                <a:solidFill>
                  <a:srgbClr val="F59E0B"/>
                </a:solidFill>
                <a:latin typeface="Calibri"/>
                <a:ea typeface="Calibri"/>
                <a:cs typeface="Calibri"/>
                <a:sym typeface="Calibri"/>
              </a:rPr>
              <a:t>Right-Rotate(g)</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59E0B"/>
              </a:buClr>
              <a:buSzPts val="1000"/>
              <a:buFont typeface="Calibri"/>
              <a:buNone/>
            </a:pPr>
            <a:r>
              <a:rPr b="0" i="0" lang="en-US" sz="1000" u="none" cap="none" strike="noStrike">
                <a:solidFill>
                  <a:srgbClr val="F59E0B"/>
                </a:solidFill>
                <a:latin typeface="Calibri"/>
                <a:ea typeface="Calibri"/>
                <a:cs typeface="Calibri"/>
                <a:sym typeface="Calibri"/>
              </a:rPr>
              <a:t>p sube, g baja</a:t>
            </a:r>
            <a:endParaRPr b="0" i="0" sz="1000" u="none" cap="none" strike="noStrike">
              <a:solidFill>
                <a:schemeClr val="dk1"/>
              </a:solidFill>
              <a:latin typeface="Calibri"/>
              <a:ea typeface="Calibri"/>
              <a:cs typeface="Calibri"/>
              <a:sym typeface="Calibri"/>
            </a:endParaRPr>
          </a:p>
        </p:txBody>
      </p:sp>
      <p:sp>
        <p:nvSpPr>
          <p:cNvPr id="925" name="Google Shape;925;p28"/>
          <p:cNvSpPr/>
          <p:nvPr/>
        </p:nvSpPr>
        <p:spPr>
          <a:xfrm>
            <a:off x="4526280" y="2377440"/>
            <a:ext cx="4572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1800"/>
              <a:buFont typeface="Consolas"/>
              <a:buNone/>
            </a:pPr>
            <a:r>
              <a:rPr b="0" i="0" lang="en-US" sz="1800" u="none" cap="none" strike="noStrike">
                <a:solidFill>
                  <a:srgbClr val="F59E0B"/>
                </a:solidFill>
                <a:latin typeface="Consolas"/>
                <a:ea typeface="Consolas"/>
                <a:cs typeface="Consolas"/>
                <a:sym typeface="Consolas"/>
              </a:rPr>
              <a:t>→</a:t>
            </a:r>
            <a:endParaRPr b="0" i="0" sz="1800" u="none" cap="none" strike="noStrike">
              <a:solidFill>
                <a:schemeClr val="dk1"/>
              </a:solidFill>
              <a:latin typeface="Calibri"/>
              <a:ea typeface="Calibri"/>
              <a:cs typeface="Calibri"/>
              <a:sym typeface="Calibri"/>
            </a:endParaRPr>
          </a:p>
        </p:txBody>
      </p:sp>
      <p:sp>
        <p:nvSpPr>
          <p:cNvPr id="926" name="Google Shape;926;p28"/>
          <p:cNvSpPr/>
          <p:nvPr/>
        </p:nvSpPr>
        <p:spPr>
          <a:xfrm>
            <a:off x="5138928" y="1938528"/>
            <a:ext cx="512064" cy="512064"/>
          </a:xfrm>
          <a:prstGeom prst="ellipse">
            <a:avLst/>
          </a:prstGeom>
          <a:solidFill>
            <a:srgbClr val="1A2035"/>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28"/>
          <p:cNvSpPr/>
          <p:nvPr/>
        </p:nvSpPr>
        <p:spPr>
          <a:xfrm>
            <a:off x="5138928" y="1938528"/>
            <a:ext cx="512064"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1200"/>
              <a:buFont typeface="Consolas"/>
              <a:buNone/>
            </a:pPr>
            <a:r>
              <a:rPr b="1" i="0" lang="en-US" sz="1200" u="none" cap="none" strike="noStrike">
                <a:solidFill>
                  <a:srgbClr val="F59E0B"/>
                </a:solidFill>
                <a:latin typeface="Consolas"/>
                <a:ea typeface="Consolas"/>
                <a:cs typeface="Consolas"/>
                <a:sym typeface="Consolas"/>
              </a:rPr>
              <a:t>p</a:t>
            </a:r>
            <a:endParaRPr b="0" i="0" sz="1200" u="none" cap="none" strike="noStrike">
              <a:solidFill>
                <a:schemeClr val="dk1"/>
              </a:solidFill>
              <a:latin typeface="Calibri"/>
              <a:ea typeface="Calibri"/>
              <a:cs typeface="Calibri"/>
              <a:sym typeface="Calibri"/>
            </a:endParaRPr>
          </a:p>
        </p:txBody>
      </p:sp>
      <p:sp>
        <p:nvSpPr>
          <p:cNvPr id="928" name="Google Shape;928;p28"/>
          <p:cNvSpPr/>
          <p:nvPr/>
        </p:nvSpPr>
        <p:spPr>
          <a:xfrm>
            <a:off x="4407408" y="2578608"/>
            <a:ext cx="512064" cy="512064"/>
          </a:xfrm>
          <a:prstGeom prst="ellipse">
            <a:avLst/>
          </a:prstGeom>
          <a:solidFill>
            <a:srgbClr val="F59E0B"/>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28"/>
          <p:cNvSpPr/>
          <p:nvPr/>
        </p:nvSpPr>
        <p:spPr>
          <a:xfrm>
            <a:off x="4407408" y="2578608"/>
            <a:ext cx="512064"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1200"/>
              <a:buFont typeface="Consolas"/>
              <a:buNone/>
            </a:pPr>
            <a:r>
              <a:rPr b="1" i="0" lang="en-US" sz="1200" u="none" cap="none" strike="noStrike">
                <a:solidFill>
                  <a:srgbClr val="F0F4FF"/>
                </a:solidFill>
                <a:latin typeface="Consolas"/>
                <a:ea typeface="Consolas"/>
                <a:cs typeface="Consolas"/>
                <a:sym typeface="Consolas"/>
              </a:rPr>
              <a:t>x</a:t>
            </a:r>
            <a:endParaRPr b="0" i="0" sz="1200" u="none" cap="none" strike="noStrike">
              <a:solidFill>
                <a:schemeClr val="dk1"/>
              </a:solidFill>
              <a:latin typeface="Calibri"/>
              <a:ea typeface="Calibri"/>
              <a:cs typeface="Calibri"/>
              <a:sym typeface="Calibri"/>
            </a:endParaRPr>
          </a:p>
        </p:txBody>
      </p:sp>
      <p:sp>
        <p:nvSpPr>
          <p:cNvPr id="930" name="Google Shape;930;p28"/>
          <p:cNvSpPr/>
          <p:nvPr/>
        </p:nvSpPr>
        <p:spPr>
          <a:xfrm>
            <a:off x="5870448" y="2578608"/>
            <a:ext cx="512064" cy="512064"/>
          </a:xfrm>
          <a:prstGeom prst="ellipse">
            <a:avLst/>
          </a:prstGeom>
          <a:solidFill>
            <a:srgbClr val="1A2035"/>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28"/>
          <p:cNvSpPr/>
          <p:nvPr/>
        </p:nvSpPr>
        <p:spPr>
          <a:xfrm>
            <a:off x="5870448" y="2578608"/>
            <a:ext cx="512064"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4444"/>
              </a:buClr>
              <a:buSzPts val="1200"/>
              <a:buFont typeface="Consolas"/>
              <a:buNone/>
            </a:pPr>
            <a:r>
              <a:rPr b="1" i="0" lang="en-US" sz="1200" u="none" cap="none" strike="noStrike">
                <a:solidFill>
                  <a:srgbClr val="EF4444"/>
                </a:solidFill>
                <a:latin typeface="Consolas"/>
                <a:ea typeface="Consolas"/>
                <a:cs typeface="Consolas"/>
                <a:sym typeface="Consolas"/>
              </a:rPr>
              <a:t>g</a:t>
            </a:r>
            <a:endParaRPr b="0" i="0" sz="1200" u="none" cap="none" strike="noStrike">
              <a:solidFill>
                <a:schemeClr val="dk1"/>
              </a:solidFill>
              <a:latin typeface="Calibri"/>
              <a:ea typeface="Calibri"/>
              <a:cs typeface="Calibri"/>
              <a:sym typeface="Calibri"/>
            </a:endParaRPr>
          </a:p>
        </p:txBody>
      </p:sp>
      <p:sp>
        <p:nvSpPr>
          <p:cNvPr id="932" name="Google Shape;932;p28"/>
          <p:cNvSpPr/>
          <p:nvPr/>
        </p:nvSpPr>
        <p:spPr>
          <a:xfrm>
            <a:off x="4023360" y="3291840"/>
            <a:ext cx="365760" cy="365760"/>
          </a:xfrm>
          <a:prstGeom prst="ellipse">
            <a:avLst/>
          </a:prstGeom>
          <a:solidFill>
            <a:srgbClr val="111526"/>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28"/>
          <p:cNvSpPr/>
          <p:nvPr/>
        </p:nvSpPr>
        <p:spPr>
          <a:xfrm>
            <a:off x="4023360" y="329184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92A4"/>
              </a:buClr>
              <a:buSzPts val="1200"/>
              <a:buFont typeface="Consolas"/>
              <a:buNone/>
            </a:pPr>
            <a:r>
              <a:rPr b="1" i="0" lang="en-US" sz="1200" u="none" cap="none" strike="noStrike">
                <a:solidFill>
                  <a:srgbClr val="8892A4"/>
                </a:solidFill>
                <a:latin typeface="Consolas"/>
                <a:ea typeface="Consolas"/>
                <a:cs typeface="Consolas"/>
                <a:sym typeface="Consolas"/>
              </a:rPr>
              <a:t>A</a:t>
            </a:r>
            <a:endParaRPr b="0" i="0" sz="1200" u="none" cap="none" strike="noStrike">
              <a:solidFill>
                <a:schemeClr val="dk1"/>
              </a:solidFill>
              <a:latin typeface="Calibri"/>
              <a:ea typeface="Calibri"/>
              <a:cs typeface="Calibri"/>
              <a:sym typeface="Calibri"/>
            </a:endParaRPr>
          </a:p>
        </p:txBody>
      </p:sp>
      <p:sp>
        <p:nvSpPr>
          <p:cNvPr id="934" name="Google Shape;934;p28"/>
          <p:cNvSpPr/>
          <p:nvPr/>
        </p:nvSpPr>
        <p:spPr>
          <a:xfrm>
            <a:off x="4846320" y="3291840"/>
            <a:ext cx="365760" cy="365760"/>
          </a:xfrm>
          <a:prstGeom prst="ellipse">
            <a:avLst/>
          </a:prstGeom>
          <a:solidFill>
            <a:srgbClr val="111526"/>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28"/>
          <p:cNvSpPr/>
          <p:nvPr/>
        </p:nvSpPr>
        <p:spPr>
          <a:xfrm>
            <a:off x="4846320" y="329184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92A4"/>
              </a:buClr>
              <a:buSzPts val="1200"/>
              <a:buFont typeface="Consolas"/>
              <a:buNone/>
            </a:pPr>
            <a:r>
              <a:rPr b="1" i="0" lang="en-US" sz="1200" u="none" cap="none" strike="noStrike">
                <a:solidFill>
                  <a:srgbClr val="8892A4"/>
                </a:solidFill>
                <a:latin typeface="Consolas"/>
                <a:ea typeface="Consolas"/>
                <a:cs typeface="Consolas"/>
                <a:sym typeface="Consolas"/>
              </a:rPr>
              <a:t>B</a:t>
            </a:r>
            <a:endParaRPr b="0" i="0" sz="1200" u="none" cap="none" strike="noStrike">
              <a:solidFill>
                <a:schemeClr val="dk1"/>
              </a:solidFill>
              <a:latin typeface="Calibri"/>
              <a:ea typeface="Calibri"/>
              <a:cs typeface="Calibri"/>
              <a:sym typeface="Calibri"/>
            </a:endParaRPr>
          </a:p>
        </p:txBody>
      </p:sp>
      <p:sp>
        <p:nvSpPr>
          <p:cNvPr id="936" name="Google Shape;936;p28"/>
          <p:cNvSpPr/>
          <p:nvPr/>
        </p:nvSpPr>
        <p:spPr>
          <a:xfrm>
            <a:off x="5623560" y="3291840"/>
            <a:ext cx="365760" cy="365760"/>
          </a:xfrm>
          <a:prstGeom prst="ellipse">
            <a:avLst/>
          </a:prstGeom>
          <a:solidFill>
            <a:srgbClr val="111526"/>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28"/>
          <p:cNvSpPr/>
          <p:nvPr/>
        </p:nvSpPr>
        <p:spPr>
          <a:xfrm>
            <a:off x="5623560" y="329184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92A4"/>
              </a:buClr>
              <a:buSzPts val="1200"/>
              <a:buFont typeface="Consolas"/>
              <a:buNone/>
            </a:pPr>
            <a:r>
              <a:rPr b="1" i="0" lang="en-US" sz="1200" u="none" cap="none" strike="noStrike">
                <a:solidFill>
                  <a:srgbClr val="8892A4"/>
                </a:solidFill>
                <a:latin typeface="Consolas"/>
                <a:ea typeface="Consolas"/>
                <a:cs typeface="Consolas"/>
                <a:sym typeface="Consolas"/>
              </a:rPr>
              <a:t>C</a:t>
            </a:r>
            <a:endParaRPr b="0" i="0" sz="1200" u="none" cap="none" strike="noStrike">
              <a:solidFill>
                <a:schemeClr val="dk1"/>
              </a:solidFill>
              <a:latin typeface="Calibri"/>
              <a:ea typeface="Calibri"/>
              <a:cs typeface="Calibri"/>
              <a:sym typeface="Calibri"/>
            </a:endParaRPr>
          </a:p>
        </p:txBody>
      </p:sp>
      <p:sp>
        <p:nvSpPr>
          <p:cNvPr id="938" name="Google Shape;938;p28"/>
          <p:cNvSpPr/>
          <p:nvPr/>
        </p:nvSpPr>
        <p:spPr>
          <a:xfrm>
            <a:off x="6263640" y="3291840"/>
            <a:ext cx="365760" cy="365760"/>
          </a:xfrm>
          <a:prstGeom prst="ellipse">
            <a:avLst/>
          </a:prstGeom>
          <a:solidFill>
            <a:srgbClr val="111526"/>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28"/>
          <p:cNvSpPr/>
          <p:nvPr/>
        </p:nvSpPr>
        <p:spPr>
          <a:xfrm>
            <a:off x="6263640" y="329184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92A4"/>
              </a:buClr>
              <a:buSzPts val="1200"/>
              <a:buFont typeface="Consolas"/>
              <a:buNone/>
            </a:pPr>
            <a:r>
              <a:rPr b="1" i="0" lang="en-US" sz="1200" u="none" cap="none" strike="noStrike">
                <a:solidFill>
                  <a:srgbClr val="8892A4"/>
                </a:solidFill>
                <a:latin typeface="Consolas"/>
                <a:ea typeface="Consolas"/>
                <a:cs typeface="Consolas"/>
                <a:sym typeface="Consolas"/>
              </a:rPr>
              <a:t>D</a:t>
            </a:r>
            <a:endParaRPr b="0" i="0" sz="1200" u="none" cap="none" strike="noStrike">
              <a:solidFill>
                <a:schemeClr val="dk1"/>
              </a:solidFill>
              <a:latin typeface="Calibri"/>
              <a:ea typeface="Calibri"/>
              <a:cs typeface="Calibri"/>
              <a:sym typeface="Calibri"/>
            </a:endParaRPr>
          </a:p>
        </p:txBody>
      </p:sp>
      <p:cxnSp>
        <p:nvCxnSpPr>
          <p:cNvPr id="940" name="Google Shape;940;p28"/>
          <p:cNvCxnSpPr/>
          <p:nvPr/>
        </p:nvCxnSpPr>
        <p:spPr>
          <a:xfrm flipH="1">
            <a:off x="4919472" y="2450592"/>
            <a:ext cx="475488" cy="128016"/>
          </a:xfrm>
          <a:prstGeom prst="straightConnector1">
            <a:avLst/>
          </a:prstGeom>
          <a:noFill/>
          <a:ln cap="flat" cmpd="sng" w="15225">
            <a:solidFill>
              <a:srgbClr val="F59E0B"/>
            </a:solidFill>
            <a:prstDash val="solid"/>
            <a:round/>
            <a:headEnd len="sm" w="sm" type="none"/>
            <a:tailEnd len="sm" w="sm" type="none"/>
          </a:ln>
        </p:spPr>
      </p:cxnSp>
      <p:cxnSp>
        <p:nvCxnSpPr>
          <p:cNvPr id="941" name="Google Shape;941;p28"/>
          <p:cNvCxnSpPr/>
          <p:nvPr/>
        </p:nvCxnSpPr>
        <p:spPr>
          <a:xfrm>
            <a:off x="5394960" y="2450592"/>
            <a:ext cx="475488" cy="128016"/>
          </a:xfrm>
          <a:prstGeom prst="straightConnector1">
            <a:avLst/>
          </a:prstGeom>
          <a:noFill/>
          <a:ln cap="flat" cmpd="sng" w="15225">
            <a:solidFill>
              <a:srgbClr val="EF4444"/>
            </a:solidFill>
            <a:prstDash val="solid"/>
            <a:round/>
            <a:headEnd len="sm" w="sm" type="none"/>
            <a:tailEnd len="sm" w="sm" type="none"/>
          </a:ln>
        </p:spPr>
      </p:cxnSp>
      <p:cxnSp>
        <p:nvCxnSpPr>
          <p:cNvPr id="942" name="Google Shape;942;p28"/>
          <p:cNvCxnSpPr/>
          <p:nvPr/>
        </p:nvCxnSpPr>
        <p:spPr>
          <a:xfrm flipH="1">
            <a:off x="4389120" y="3090672"/>
            <a:ext cx="274320" cy="201168"/>
          </a:xfrm>
          <a:prstGeom prst="straightConnector1">
            <a:avLst/>
          </a:prstGeom>
          <a:noFill/>
          <a:ln cap="flat" cmpd="sng" w="15225">
            <a:solidFill>
              <a:srgbClr val="3D4A5C"/>
            </a:solidFill>
            <a:prstDash val="solid"/>
            <a:round/>
            <a:headEnd len="sm" w="sm" type="none"/>
            <a:tailEnd len="sm" w="sm" type="none"/>
          </a:ln>
        </p:spPr>
      </p:cxnSp>
      <p:cxnSp>
        <p:nvCxnSpPr>
          <p:cNvPr id="943" name="Google Shape;943;p28"/>
          <p:cNvCxnSpPr/>
          <p:nvPr/>
        </p:nvCxnSpPr>
        <p:spPr>
          <a:xfrm>
            <a:off x="4663440" y="3090672"/>
            <a:ext cx="274320" cy="201168"/>
          </a:xfrm>
          <a:prstGeom prst="straightConnector1">
            <a:avLst/>
          </a:prstGeom>
          <a:noFill/>
          <a:ln cap="flat" cmpd="sng" w="15225">
            <a:solidFill>
              <a:srgbClr val="3D4A5C"/>
            </a:solidFill>
            <a:prstDash val="solid"/>
            <a:round/>
            <a:headEnd len="sm" w="sm" type="none"/>
            <a:tailEnd len="sm" w="sm" type="none"/>
          </a:ln>
        </p:spPr>
      </p:cxnSp>
      <p:cxnSp>
        <p:nvCxnSpPr>
          <p:cNvPr id="944" name="Google Shape;944;p28"/>
          <p:cNvCxnSpPr/>
          <p:nvPr/>
        </p:nvCxnSpPr>
        <p:spPr>
          <a:xfrm flipH="1">
            <a:off x="5870448" y="3090672"/>
            <a:ext cx="256032" cy="201168"/>
          </a:xfrm>
          <a:prstGeom prst="straightConnector1">
            <a:avLst/>
          </a:prstGeom>
          <a:noFill/>
          <a:ln cap="flat" cmpd="sng" w="15225">
            <a:solidFill>
              <a:srgbClr val="3D4A5C"/>
            </a:solidFill>
            <a:prstDash val="solid"/>
            <a:round/>
            <a:headEnd len="sm" w="sm" type="none"/>
            <a:tailEnd len="sm" w="sm" type="none"/>
          </a:ln>
        </p:spPr>
      </p:cxnSp>
      <p:cxnSp>
        <p:nvCxnSpPr>
          <p:cNvPr id="945" name="Google Shape;945;p28"/>
          <p:cNvCxnSpPr/>
          <p:nvPr/>
        </p:nvCxnSpPr>
        <p:spPr>
          <a:xfrm>
            <a:off x="6126480" y="3090672"/>
            <a:ext cx="256032" cy="201168"/>
          </a:xfrm>
          <a:prstGeom prst="straightConnector1">
            <a:avLst/>
          </a:prstGeom>
          <a:noFill/>
          <a:ln cap="flat" cmpd="sng" w="15225">
            <a:solidFill>
              <a:srgbClr val="3D4A5C"/>
            </a:solidFill>
            <a:prstDash val="solid"/>
            <a:round/>
            <a:headEnd len="sm" w="sm" type="none"/>
            <a:tailEnd len="sm" w="sm" type="none"/>
          </a:ln>
        </p:spPr>
      </p:cxnSp>
      <p:sp>
        <p:nvSpPr>
          <p:cNvPr id="946" name="Google Shape;946;p28"/>
          <p:cNvSpPr/>
          <p:nvPr/>
        </p:nvSpPr>
        <p:spPr>
          <a:xfrm>
            <a:off x="6858000" y="1920240"/>
            <a:ext cx="146304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1000"/>
              <a:buFont typeface="Calibri"/>
              <a:buNone/>
            </a:pPr>
            <a:r>
              <a:rPr b="0" i="0" lang="en-US" sz="1000" u="none" cap="none" strike="noStrike">
                <a:solidFill>
                  <a:srgbClr val="F59E0B"/>
                </a:solidFill>
                <a:latin typeface="Calibri"/>
                <a:ea typeface="Calibri"/>
                <a:cs typeface="Calibri"/>
                <a:sym typeface="Calibri"/>
              </a:rPr>
              <a:t>PASO 2:</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59E0B"/>
              </a:buClr>
              <a:buSzPts val="1000"/>
              <a:buFont typeface="Calibri"/>
              <a:buNone/>
            </a:pPr>
            <a:r>
              <a:rPr b="0" i="0" lang="en-US" sz="1000" u="none" cap="none" strike="noStrike">
                <a:solidFill>
                  <a:srgbClr val="F59E0B"/>
                </a:solidFill>
                <a:latin typeface="Calibri"/>
                <a:ea typeface="Calibri"/>
                <a:cs typeface="Calibri"/>
                <a:sym typeface="Calibri"/>
              </a:rPr>
              <a:t>Right-Rotate(p)</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59E0B"/>
              </a:buClr>
              <a:buSzPts val="1000"/>
              <a:buFont typeface="Calibri"/>
              <a:buNone/>
            </a:pPr>
            <a:r>
              <a:rPr b="0" i="0" lang="en-US" sz="1000" u="none" cap="none" strike="noStrike">
                <a:solidFill>
                  <a:srgbClr val="F59E0B"/>
                </a:solidFill>
                <a:latin typeface="Calibri"/>
                <a:ea typeface="Calibri"/>
                <a:cs typeface="Calibri"/>
                <a:sym typeface="Calibri"/>
              </a:rPr>
              <a:t>x sube, p baja</a:t>
            </a:r>
            <a:endParaRPr b="0" i="0" sz="1000" u="none" cap="none" strike="noStrike">
              <a:solidFill>
                <a:schemeClr val="dk1"/>
              </a:solidFill>
              <a:latin typeface="Calibri"/>
              <a:ea typeface="Calibri"/>
              <a:cs typeface="Calibri"/>
              <a:sym typeface="Calibri"/>
            </a:endParaRPr>
          </a:p>
        </p:txBody>
      </p:sp>
      <p:sp>
        <p:nvSpPr>
          <p:cNvPr id="947" name="Google Shape;947;p28"/>
          <p:cNvSpPr/>
          <p:nvPr/>
        </p:nvSpPr>
        <p:spPr>
          <a:xfrm>
            <a:off x="8366760" y="2377440"/>
            <a:ext cx="4572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1800"/>
              <a:buFont typeface="Consolas"/>
              <a:buNone/>
            </a:pPr>
            <a:r>
              <a:rPr b="0" i="0" lang="en-US" sz="1800" u="none" cap="none" strike="noStrike">
                <a:solidFill>
                  <a:srgbClr val="F59E0B"/>
                </a:solidFill>
                <a:latin typeface="Consolas"/>
                <a:ea typeface="Consolas"/>
                <a:cs typeface="Consolas"/>
                <a:sym typeface="Consolas"/>
              </a:rPr>
              <a:t>→</a:t>
            </a:r>
            <a:endParaRPr b="0" i="0" sz="1800" u="none" cap="none" strike="noStrike">
              <a:solidFill>
                <a:schemeClr val="dk1"/>
              </a:solidFill>
              <a:latin typeface="Calibri"/>
              <a:ea typeface="Calibri"/>
              <a:cs typeface="Calibri"/>
              <a:sym typeface="Calibri"/>
            </a:endParaRPr>
          </a:p>
        </p:txBody>
      </p:sp>
      <p:sp>
        <p:nvSpPr>
          <p:cNvPr id="948" name="Google Shape;948;p28"/>
          <p:cNvSpPr/>
          <p:nvPr/>
        </p:nvSpPr>
        <p:spPr>
          <a:xfrm>
            <a:off x="3017520" y="3246120"/>
            <a:ext cx="5394960" cy="1417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1000"/>
              <a:buFont typeface="Calibri"/>
              <a:buNone/>
            </a:pPr>
            <a:r>
              <a:rPr b="0" i="0" lang="en-US" sz="1000" u="none" cap="none" strike="noStrike">
                <a:solidFill>
                  <a:srgbClr val="F0F4FF"/>
                </a:solidFill>
                <a:latin typeface="Calibri"/>
                <a:ea typeface="Calibri"/>
                <a:cs typeface="Calibri"/>
                <a:sym typeface="Calibri"/>
              </a:rPr>
              <a:t>DESPUÉS:</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00"/>
              <a:buFont typeface="Calibri"/>
              <a:buNone/>
            </a:pPr>
            <a:r>
              <a:rPr b="0" i="0" lang="en-US" sz="1000" u="none" cap="none" strike="noStrike">
                <a:solidFill>
                  <a:srgbClr val="F0F4FF"/>
                </a:solidFill>
                <a:latin typeface="Calibri"/>
                <a:ea typeface="Calibri"/>
                <a:cs typeface="Calibri"/>
                <a:sym typeface="Calibri"/>
              </a:rPr>
              <a:t>x en la raíz del subárbol.</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00"/>
              <a:buFont typeface="Calibri"/>
              <a:buNone/>
            </a:pPr>
            <a:r>
              <a:rPr b="0" i="0" lang="en-US" sz="1000" u="none" cap="none" strike="noStrike">
                <a:solidFill>
                  <a:srgbClr val="F0F4FF"/>
                </a:solidFill>
                <a:latin typeface="Calibri"/>
                <a:ea typeface="Calibri"/>
                <a:cs typeface="Calibri"/>
                <a:sym typeface="Calibri"/>
              </a:rPr>
              <a:t>A &lt; x &lt; B &lt; p &lt; C &lt; g &lt; D</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00"/>
              <a:buFont typeface="Calibri"/>
              <a:buNone/>
            </a:pPr>
            <a:r>
              <a:rPr b="0" i="0" lang="en-US" sz="1000" u="none" cap="none" strike="noStrike">
                <a:solidFill>
                  <a:srgbClr val="F0F4FF"/>
                </a:solidFill>
                <a:latin typeface="Calibri"/>
                <a:ea typeface="Calibri"/>
                <a:cs typeface="Calibri"/>
                <a:sym typeface="Calibri"/>
              </a:rPr>
              <a:t>CLAVE: rotar el ABUELO primero (no el padre).</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00"/>
              <a:buFont typeface="Calibri"/>
              <a:buNone/>
            </a:pPr>
            <a:r>
              <a:rPr b="0" i="0" lang="en-US" sz="1000" u="none" cap="none" strike="noStrike">
                <a:solidFill>
                  <a:srgbClr val="F0F4FF"/>
                </a:solidFill>
                <a:latin typeface="Calibri"/>
                <a:ea typeface="Calibri"/>
                <a:cs typeface="Calibri"/>
                <a:sym typeface="Calibri"/>
              </a:rPr>
              <a:t>Esto acorta el path para otros nodos.</a:t>
            </a:r>
            <a:endParaRPr b="0" i="0" sz="1000" u="none" cap="none" strike="noStrike">
              <a:solidFill>
                <a:schemeClr val="dk1"/>
              </a:solidFill>
              <a:latin typeface="Calibri"/>
              <a:ea typeface="Calibri"/>
              <a:cs typeface="Calibri"/>
              <a:sym typeface="Calibri"/>
            </a:endParaRPr>
          </a:p>
        </p:txBody>
      </p:sp>
      <p:sp>
        <p:nvSpPr>
          <p:cNvPr id="949" name="Google Shape;949;p28"/>
          <p:cNvSpPr/>
          <p:nvPr/>
        </p:nvSpPr>
        <p:spPr>
          <a:xfrm>
            <a:off x="137160" y="4846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AED · T5 · Splay · Zig-Zig</a:t>
            </a:r>
            <a:endParaRPr b="0" i="0" sz="900" u="none" cap="none" strike="noStrike">
              <a:solidFill>
                <a:schemeClr val="dk1"/>
              </a:solidFill>
              <a:latin typeface="Calibri"/>
              <a:ea typeface="Calibri"/>
              <a:cs typeface="Calibri"/>
              <a:sym typeface="Calibri"/>
            </a:endParaRPr>
          </a:p>
        </p:txBody>
      </p:sp>
      <p:sp>
        <p:nvSpPr>
          <p:cNvPr id="950" name="Google Shape;950;p28"/>
          <p:cNvSpPr/>
          <p:nvPr/>
        </p:nvSpPr>
        <p:spPr>
          <a:xfrm>
            <a:off x="8503920" y="4846320"/>
            <a:ext cx="54864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28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F1A"/>
        </a:solidFill>
      </p:bgPr>
    </p:bg>
    <p:spTree>
      <p:nvGrpSpPr>
        <p:cNvPr id="955" name="Shape 955"/>
        <p:cNvGrpSpPr/>
        <p:nvPr/>
      </p:nvGrpSpPr>
      <p:grpSpPr>
        <a:xfrm>
          <a:off x="0" y="0"/>
          <a:ext cx="0" cy="0"/>
          <a:chOff x="0" y="0"/>
          <a:chExt cx="0" cy="0"/>
        </a:xfrm>
      </p:grpSpPr>
      <p:sp>
        <p:nvSpPr>
          <p:cNvPr id="956" name="Google Shape;956;p29"/>
          <p:cNvSpPr/>
          <p:nvPr/>
        </p:nvSpPr>
        <p:spPr>
          <a:xfrm>
            <a:off x="0" y="0"/>
            <a:ext cx="54864"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29"/>
          <p:cNvSpPr/>
          <p:nvPr/>
        </p:nvSpPr>
        <p:spPr>
          <a:xfrm>
            <a:off x="182880" y="137160"/>
            <a:ext cx="87782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2600"/>
              <a:buFont typeface="Trebuchet MS"/>
              <a:buNone/>
            </a:pPr>
            <a:r>
              <a:rPr b="1" i="0" lang="en-US" sz="2600" u="none" cap="none" strike="noStrike">
                <a:solidFill>
                  <a:srgbClr val="F0F4FF"/>
                </a:solidFill>
                <a:latin typeface="Trebuchet MS"/>
                <a:ea typeface="Trebuchet MS"/>
                <a:cs typeface="Trebuchet MS"/>
                <a:sym typeface="Trebuchet MS"/>
              </a:rPr>
              <a:t>Splay — Caso ZIG-ZAG</a:t>
            </a:r>
            <a:endParaRPr b="0" i="0" sz="2600" u="none" cap="none" strike="noStrike">
              <a:solidFill>
                <a:schemeClr val="dk1"/>
              </a:solidFill>
              <a:latin typeface="Calibri"/>
              <a:ea typeface="Calibri"/>
              <a:cs typeface="Calibri"/>
              <a:sym typeface="Calibri"/>
            </a:endParaRPr>
          </a:p>
        </p:txBody>
      </p:sp>
      <p:sp>
        <p:nvSpPr>
          <p:cNvPr id="958" name="Google Shape;958;p29"/>
          <p:cNvSpPr/>
          <p:nvPr/>
        </p:nvSpPr>
        <p:spPr>
          <a:xfrm>
            <a:off x="182880" y="749808"/>
            <a:ext cx="8778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1200"/>
              <a:buFont typeface="Calibri"/>
              <a:buNone/>
            </a:pPr>
            <a:r>
              <a:rPr b="0" i="1" lang="en-US" sz="1200" u="none" cap="none" strike="noStrike">
                <a:solidFill>
                  <a:srgbClr val="8892A4"/>
                </a:solidFill>
                <a:latin typeface="Calibri"/>
                <a:ea typeface="Calibri"/>
                <a:cs typeface="Calibri"/>
                <a:sym typeface="Calibri"/>
              </a:rPr>
              <a:t>x y padre en lados opuestos → idéntico a AVL double rotation</a:t>
            </a:r>
            <a:endParaRPr b="0" i="0" sz="1200" u="none" cap="none" strike="noStrike">
              <a:solidFill>
                <a:schemeClr val="dk1"/>
              </a:solidFill>
              <a:latin typeface="Calibri"/>
              <a:ea typeface="Calibri"/>
              <a:cs typeface="Calibri"/>
              <a:sym typeface="Calibri"/>
            </a:endParaRPr>
          </a:p>
        </p:txBody>
      </p:sp>
      <p:sp>
        <p:nvSpPr>
          <p:cNvPr id="959" name="Google Shape;959;p29"/>
          <p:cNvSpPr/>
          <p:nvPr/>
        </p:nvSpPr>
        <p:spPr>
          <a:xfrm>
            <a:off x="182880" y="1024128"/>
            <a:ext cx="1463040" cy="27432"/>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29"/>
          <p:cNvSpPr/>
          <p:nvPr/>
        </p:nvSpPr>
        <p:spPr>
          <a:xfrm>
            <a:off x="137160" y="1188720"/>
            <a:ext cx="8869680" cy="3611880"/>
          </a:xfrm>
          <a:prstGeom prst="rect">
            <a:avLst/>
          </a:prstGeom>
          <a:solidFill>
            <a:srgbClr val="141829"/>
          </a:solidFill>
          <a:ln cap="flat" cmpd="sng" w="9525">
            <a:solidFill>
              <a:srgbClr val="7C3AED"/>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29"/>
          <p:cNvSpPr/>
          <p:nvPr/>
        </p:nvSpPr>
        <p:spPr>
          <a:xfrm>
            <a:off x="274320" y="1344168"/>
            <a:ext cx="6011266" cy="256032"/>
          </a:xfrm>
          <a:prstGeom prst="roundRect">
            <a:avLst>
              <a:gd fmla="val 21429"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29"/>
          <p:cNvSpPr/>
          <p:nvPr/>
        </p:nvSpPr>
        <p:spPr>
          <a:xfrm>
            <a:off x="274320" y="1344168"/>
            <a:ext cx="6011266"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ZIG-ZAG — x es derecho de p, p es izquierdo de g (CAMINO EN ZIG-ZAG)</a:t>
            </a:r>
            <a:endParaRPr b="0" i="0" sz="800" u="none" cap="none" strike="noStrike">
              <a:solidFill>
                <a:schemeClr val="dk1"/>
              </a:solidFill>
              <a:latin typeface="Calibri"/>
              <a:ea typeface="Calibri"/>
              <a:cs typeface="Calibri"/>
              <a:sym typeface="Calibri"/>
            </a:endParaRPr>
          </a:p>
        </p:txBody>
      </p:sp>
      <p:sp>
        <p:nvSpPr>
          <p:cNvPr id="963" name="Google Shape;963;p29"/>
          <p:cNvSpPr/>
          <p:nvPr/>
        </p:nvSpPr>
        <p:spPr>
          <a:xfrm>
            <a:off x="365760" y="1691640"/>
            <a:ext cx="2286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1000"/>
              <a:buFont typeface="Calibri"/>
              <a:buNone/>
            </a:pPr>
            <a:r>
              <a:rPr b="1" i="0" lang="en-US" sz="1000" u="none" cap="none" strike="noStrike">
                <a:solidFill>
                  <a:srgbClr val="8892A4"/>
                </a:solidFill>
                <a:latin typeface="Calibri"/>
                <a:ea typeface="Calibri"/>
                <a:cs typeface="Calibri"/>
                <a:sym typeface="Calibri"/>
              </a:rPr>
              <a:t>ANTES:</a:t>
            </a:r>
            <a:endParaRPr b="0" i="0" sz="1000" u="none" cap="none" strike="noStrike">
              <a:solidFill>
                <a:schemeClr val="dk1"/>
              </a:solidFill>
              <a:latin typeface="Calibri"/>
              <a:ea typeface="Calibri"/>
              <a:cs typeface="Calibri"/>
              <a:sym typeface="Calibri"/>
            </a:endParaRPr>
          </a:p>
        </p:txBody>
      </p:sp>
      <p:sp>
        <p:nvSpPr>
          <p:cNvPr id="964" name="Google Shape;964;p29"/>
          <p:cNvSpPr/>
          <p:nvPr/>
        </p:nvSpPr>
        <p:spPr>
          <a:xfrm>
            <a:off x="1389888" y="1938528"/>
            <a:ext cx="512064" cy="512064"/>
          </a:xfrm>
          <a:prstGeom prst="ellipse">
            <a:avLst/>
          </a:prstGeom>
          <a:solidFill>
            <a:srgbClr val="1A2035"/>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29"/>
          <p:cNvSpPr/>
          <p:nvPr/>
        </p:nvSpPr>
        <p:spPr>
          <a:xfrm>
            <a:off x="1389888" y="1938528"/>
            <a:ext cx="512064"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4444"/>
              </a:buClr>
              <a:buSzPts val="1200"/>
              <a:buFont typeface="Consolas"/>
              <a:buNone/>
            </a:pPr>
            <a:r>
              <a:rPr b="1" i="0" lang="en-US" sz="1200" u="none" cap="none" strike="noStrike">
                <a:solidFill>
                  <a:srgbClr val="EF4444"/>
                </a:solidFill>
                <a:latin typeface="Consolas"/>
                <a:ea typeface="Consolas"/>
                <a:cs typeface="Consolas"/>
                <a:sym typeface="Consolas"/>
              </a:rPr>
              <a:t>g</a:t>
            </a:r>
            <a:endParaRPr b="0" i="0" sz="1200" u="none" cap="none" strike="noStrike">
              <a:solidFill>
                <a:schemeClr val="dk1"/>
              </a:solidFill>
              <a:latin typeface="Calibri"/>
              <a:ea typeface="Calibri"/>
              <a:cs typeface="Calibri"/>
              <a:sym typeface="Calibri"/>
            </a:endParaRPr>
          </a:p>
        </p:txBody>
      </p:sp>
      <p:sp>
        <p:nvSpPr>
          <p:cNvPr id="966" name="Google Shape;966;p29"/>
          <p:cNvSpPr/>
          <p:nvPr/>
        </p:nvSpPr>
        <p:spPr>
          <a:xfrm>
            <a:off x="566928" y="2578608"/>
            <a:ext cx="512064" cy="512064"/>
          </a:xfrm>
          <a:prstGeom prst="ellipse">
            <a:avLst/>
          </a:prstGeom>
          <a:solidFill>
            <a:srgbClr val="1A2035"/>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29"/>
          <p:cNvSpPr/>
          <p:nvPr/>
        </p:nvSpPr>
        <p:spPr>
          <a:xfrm>
            <a:off x="566928" y="2578608"/>
            <a:ext cx="512064"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1200"/>
              <a:buFont typeface="Consolas"/>
              <a:buNone/>
            </a:pPr>
            <a:r>
              <a:rPr b="1" i="0" lang="en-US" sz="1200" u="none" cap="none" strike="noStrike">
                <a:solidFill>
                  <a:srgbClr val="F59E0B"/>
                </a:solidFill>
                <a:latin typeface="Consolas"/>
                <a:ea typeface="Consolas"/>
                <a:cs typeface="Consolas"/>
                <a:sym typeface="Consolas"/>
              </a:rPr>
              <a:t>p</a:t>
            </a:r>
            <a:endParaRPr b="0" i="0" sz="1200" u="none" cap="none" strike="noStrike">
              <a:solidFill>
                <a:schemeClr val="dk1"/>
              </a:solidFill>
              <a:latin typeface="Calibri"/>
              <a:ea typeface="Calibri"/>
              <a:cs typeface="Calibri"/>
              <a:sym typeface="Calibri"/>
            </a:endParaRPr>
          </a:p>
        </p:txBody>
      </p:sp>
      <p:sp>
        <p:nvSpPr>
          <p:cNvPr id="968" name="Google Shape;968;p29"/>
          <p:cNvSpPr/>
          <p:nvPr/>
        </p:nvSpPr>
        <p:spPr>
          <a:xfrm>
            <a:off x="2267712" y="2633472"/>
            <a:ext cx="402336" cy="402336"/>
          </a:xfrm>
          <a:prstGeom prst="ellipse">
            <a:avLst/>
          </a:prstGeom>
          <a:solidFill>
            <a:srgbClr val="111526"/>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29"/>
          <p:cNvSpPr/>
          <p:nvPr/>
        </p:nvSpPr>
        <p:spPr>
          <a:xfrm>
            <a:off x="2267712" y="263347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92A4"/>
              </a:buClr>
              <a:buSzPts val="1200"/>
              <a:buFont typeface="Consolas"/>
              <a:buNone/>
            </a:pPr>
            <a:r>
              <a:rPr b="1" i="0" lang="en-US" sz="1200" u="none" cap="none" strike="noStrike">
                <a:solidFill>
                  <a:srgbClr val="8892A4"/>
                </a:solidFill>
                <a:latin typeface="Consolas"/>
                <a:ea typeface="Consolas"/>
                <a:cs typeface="Consolas"/>
                <a:sym typeface="Consolas"/>
              </a:rPr>
              <a:t>D</a:t>
            </a:r>
            <a:endParaRPr b="0" i="0" sz="1200" u="none" cap="none" strike="noStrike">
              <a:solidFill>
                <a:schemeClr val="dk1"/>
              </a:solidFill>
              <a:latin typeface="Calibri"/>
              <a:ea typeface="Calibri"/>
              <a:cs typeface="Calibri"/>
              <a:sym typeface="Calibri"/>
            </a:endParaRPr>
          </a:p>
        </p:txBody>
      </p:sp>
      <p:sp>
        <p:nvSpPr>
          <p:cNvPr id="970" name="Google Shape;970;p29"/>
          <p:cNvSpPr/>
          <p:nvPr/>
        </p:nvSpPr>
        <p:spPr>
          <a:xfrm>
            <a:off x="182880" y="3291840"/>
            <a:ext cx="365760" cy="365760"/>
          </a:xfrm>
          <a:prstGeom prst="ellipse">
            <a:avLst/>
          </a:prstGeom>
          <a:solidFill>
            <a:srgbClr val="111526"/>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29"/>
          <p:cNvSpPr/>
          <p:nvPr/>
        </p:nvSpPr>
        <p:spPr>
          <a:xfrm>
            <a:off x="182880" y="329184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92A4"/>
              </a:buClr>
              <a:buSzPts val="1200"/>
              <a:buFont typeface="Consolas"/>
              <a:buNone/>
            </a:pPr>
            <a:r>
              <a:rPr b="1" i="0" lang="en-US" sz="1200" u="none" cap="none" strike="noStrike">
                <a:solidFill>
                  <a:srgbClr val="8892A4"/>
                </a:solidFill>
                <a:latin typeface="Consolas"/>
                <a:ea typeface="Consolas"/>
                <a:cs typeface="Consolas"/>
                <a:sym typeface="Consolas"/>
              </a:rPr>
              <a:t>A</a:t>
            </a:r>
            <a:endParaRPr b="0" i="0" sz="1200" u="none" cap="none" strike="noStrike">
              <a:solidFill>
                <a:schemeClr val="dk1"/>
              </a:solidFill>
              <a:latin typeface="Calibri"/>
              <a:ea typeface="Calibri"/>
              <a:cs typeface="Calibri"/>
              <a:sym typeface="Calibri"/>
            </a:endParaRPr>
          </a:p>
        </p:txBody>
      </p:sp>
      <p:sp>
        <p:nvSpPr>
          <p:cNvPr id="972" name="Google Shape;972;p29"/>
          <p:cNvSpPr/>
          <p:nvPr/>
        </p:nvSpPr>
        <p:spPr>
          <a:xfrm>
            <a:off x="1024128" y="3218688"/>
            <a:ext cx="512064" cy="512064"/>
          </a:xfrm>
          <a:prstGeom prst="ellipse">
            <a:avLst/>
          </a:prstGeom>
          <a:solidFill>
            <a:srgbClr val="7C3AED"/>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29"/>
          <p:cNvSpPr/>
          <p:nvPr/>
        </p:nvSpPr>
        <p:spPr>
          <a:xfrm>
            <a:off x="1024128" y="3218688"/>
            <a:ext cx="512064"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1200"/>
              <a:buFont typeface="Consolas"/>
              <a:buNone/>
            </a:pPr>
            <a:r>
              <a:rPr b="1" i="0" lang="en-US" sz="1200" u="none" cap="none" strike="noStrike">
                <a:solidFill>
                  <a:srgbClr val="F0F4FF"/>
                </a:solidFill>
                <a:latin typeface="Consolas"/>
                <a:ea typeface="Consolas"/>
                <a:cs typeface="Consolas"/>
                <a:sym typeface="Consolas"/>
              </a:rPr>
              <a:t>x</a:t>
            </a:r>
            <a:endParaRPr b="0" i="0" sz="1200" u="none" cap="none" strike="noStrike">
              <a:solidFill>
                <a:schemeClr val="dk1"/>
              </a:solidFill>
              <a:latin typeface="Calibri"/>
              <a:ea typeface="Calibri"/>
              <a:cs typeface="Calibri"/>
              <a:sym typeface="Calibri"/>
            </a:endParaRPr>
          </a:p>
        </p:txBody>
      </p:sp>
      <p:sp>
        <p:nvSpPr>
          <p:cNvPr id="974" name="Google Shape;974;p29"/>
          <p:cNvSpPr/>
          <p:nvPr/>
        </p:nvSpPr>
        <p:spPr>
          <a:xfrm>
            <a:off x="685800" y="3931920"/>
            <a:ext cx="365760" cy="365760"/>
          </a:xfrm>
          <a:prstGeom prst="ellipse">
            <a:avLst/>
          </a:prstGeom>
          <a:solidFill>
            <a:srgbClr val="111526"/>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29"/>
          <p:cNvSpPr/>
          <p:nvPr/>
        </p:nvSpPr>
        <p:spPr>
          <a:xfrm>
            <a:off x="685800" y="393192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92A4"/>
              </a:buClr>
              <a:buSzPts val="1200"/>
              <a:buFont typeface="Consolas"/>
              <a:buNone/>
            </a:pPr>
            <a:r>
              <a:rPr b="1" i="0" lang="en-US" sz="1200" u="none" cap="none" strike="noStrike">
                <a:solidFill>
                  <a:srgbClr val="8892A4"/>
                </a:solidFill>
                <a:latin typeface="Consolas"/>
                <a:ea typeface="Consolas"/>
                <a:cs typeface="Consolas"/>
                <a:sym typeface="Consolas"/>
              </a:rPr>
              <a:t>B</a:t>
            </a:r>
            <a:endParaRPr b="0" i="0" sz="1200" u="none" cap="none" strike="noStrike">
              <a:solidFill>
                <a:schemeClr val="dk1"/>
              </a:solidFill>
              <a:latin typeface="Calibri"/>
              <a:ea typeface="Calibri"/>
              <a:cs typeface="Calibri"/>
              <a:sym typeface="Calibri"/>
            </a:endParaRPr>
          </a:p>
        </p:txBody>
      </p:sp>
      <p:sp>
        <p:nvSpPr>
          <p:cNvPr id="976" name="Google Shape;976;p29"/>
          <p:cNvSpPr/>
          <p:nvPr/>
        </p:nvSpPr>
        <p:spPr>
          <a:xfrm>
            <a:off x="1508760" y="3931920"/>
            <a:ext cx="365760" cy="365760"/>
          </a:xfrm>
          <a:prstGeom prst="ellipse">
            <a:avLst/>
          </a:prstGeom>
          <a:solidFill>
            <a:srgbClr val="111526"/>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29"/>
          <p:cNvSpPr/>
          <p:nvPr/>
        </p:nvSpPr>
        <p:spPr>
          <a:xfrm>
            <a:off x="1508760" y="393192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92A4"/>
              </a:buClr>
              <a:buSzPts val="1200"/>
              <a:buFont typeface="Consolas"/>
              <a:buNone/>
            </a:pPr>
            <a:r>
              <a:rPr b="1" i="0" lang="en-US" sz="1200" u="none" cap="none" strike="noStrike">
                <a:solidFill>
                  <a:srgbClr val="8892A4"/>
                </a:solidFill>
                <a:latin typeface="Consolas"/>
                <a:ea typeface="Consolas"/>
                <a:cs typeface="Consolas"/>
                <a:sym typeface="Consolas"/>
              </a:rPr>
              <a:t>C</a:t>
            </a:r>
            <a:endParaRPr b="0" i="0" sz="1200" u="none" cap="none" strike="noStrike">
              <a:solidFill>
                <a:schemeClr val="dk1"/>
              </a:solidFill>
              <a:latin typeface="Calibri"/>
              <a:ea typeface="Calibri"/>
              <a:cs typeface="Calibri"/>
              <a:sym typeface="Calibri"/>
            </a:endParaRPr>
          </a:p>
        </p:txBody>
      </p:sp>
      <p:cxnSp>
        <p:nvCxnSpPr>
          <p:cNvPr id="978" name="Google Shape;978;p29"/>
          <p:cNvCxnSpPr/>
          <p:nvPr/>
        </p:nvCxnSpPr>
        <p:spPr>
          <a:xfrm flipH="1">
            <a:off x="1078992" y="2450592"/>
            <a:ext cx="566928" cy="128016"/>
          </a:xfrm>
          <a:prstGeom prst="straightConnector1">
            <a:avLst/>
          </a:prstGeom>
          <a:noFill/>
          <a:ln cap="flat" cmpd="sng" w="15225">
            <a:solidFill>
              <a:srgbClr val="EF4444"/>
            </a:solidFill>
            <a:prstDash val="solid"/>
            <a:round/>
            <a:headEnd len="sm" w="sm" type="none"/>
            <a:tailEnd len="sm" w="sm" type="none"/>
          </a:ln>
        </p:spPr>
      </p:cxnSp>
      <p:cxnSp>
        <p:nvCxnSpPr>
          <p:cNvPr id="979" name="Google Shape;979;p29"/>
          <p:cNvCxnSpPr/>
          <p:nvPr/>
        </p:nvCxnSpPr>
        <p:spPr>
          <a:xfrm>
            <a:off x="1645920" y="2450592"/>
            <a:ext cx="530352" cy="182880"/>
          </a:xfrm>
          <a:prstGeom prst="straightConnector1">
            <a:avLst/>
          </a:prstGeom>
          <a:noFill/>
          <a:ln cap="flat" cmpd="sng" w="15225">
            <a:solidFill>
              <a:srgbClr val="3D4A5C"/>
            </a:solidFill>
            <a:prstDash val="solid"/>
            <a:round/>
            <a:headEnd len="sm" w="sm" type="none"/>
            <a:tailEnd len="sm" w="sm" type="none"/>
          </a:ln>
        </p:spPr>
      </p:cxnSp>
      <p:cxnSp>
        <p:nvCxnSpPr>
          <p:cNvPr id="980" name="Google Shape;980;p29"/>
          <p:cNvCxnSpPr/>
          <p:nvPr/>
        </p:nvCxnSpPr>
        <p:spPr>
          <a:xfrm flipH="1">
            <a:off x="548640" y="3090672"/>
            <a:ext cx="274320" cy="201168"/>
          </a:xfrm>
          <a:prstGeom prst="straightConnector1">
            <a:avLst/>
          </a:prstGeom>
          <a:noFill/>
          <a:ln cap="flat" cmpd="sng" w="15225">
            <a:solidFill>
              <a:srgbClr val="3D4A5C"/>
            </a:solidFill>
            <a:prstDash val="solid"/>
            <a:round/>
            <a:headEnd len="sm" w="sm" type="none"/>
            <a:tailEnd len="sm" w="sm" type="none"/>
          </a:ln>
        </p:spPr>
      </p:cxnSp>
      <p:cxnSp>
        <p:nvCxnSpPr>
          <p:cNvPr id="981" name="Google Shape;981;p29"/>
          <p:cNvCxnSpPr/>
          <p:nvPr/>
        </p:nvCxnSpPr>
        <p:spPr>
          <a:xfrm>
            <a:off x="822960" y="3090672"/>
            <a:ext cx="256032" cy="128016"/>
          </a:xfrm>
          <a:prstGeom prst="straightConnector1">
            <a:avLst/>
          </a:prstGeom>
          <a:noFill/>
          <a:ln cap="flat" cmpd="sng" w="15225">
            <a:solidFill>
              <a:srgbClr val="F59E0B"/>
            </a:solidFill>
            <a:prstDash val="solid"/>
            <a:round/>
            <a:headEnd len="sm" w="sm" type="none"/>
            <a:tailEnd len="sm" w="sm" type="none"/>
          </a:ln>
        </p:spPr>
      </p:cxnSp>
      <p:cxnSp>
        <p:nvCxnSpPr>
          <p:cNvPr id="982" name="Google Shape;982;p29"/>
          <p:cNvCxnSpPr/>
          <p:nvPr/>
        </p:nvCxnSpPr>
        <p:spPr>
          <a:xfrm flipH="1">
            <a:off x="1051560" y="3730752"/>
            <a:ext cx="228600" cy="201168"/>
          </a:xfrm>
          <a:prstGeom prst="straightConnector1">
            <a:avLst/>
          </a:prstGeom>
          <a:noFill/>
          <a:ln cap="flat" cmpd="sng" w="15225">
            <a:solidFill>
              <a:srgbClr val="3D4A5C"/>
            </a:solidFill>
            <a:prstDash val="solid"/>
            <a:round/>
            <a:headEnd len="sm" w="sm" type="none"/>
            <a:tailEnd len="sm" w="sm" type="none"/>
          </a:ln>
        </p:spPr>
      </p:cxnSp>
      <p:cxnSp>
        <p:nvCxnSpPr>
          <p:cNvPr id="983" name="Google Shape;983;p29"/>
          <p:cNvCxnSpPr/>
          <p:nvPr/>
        </p:nvCxnSpPr>
        <p:spPr>
          <a:xfrm>
            <a:off x="1280160" y="3730752"/>
            <a:ext cx="228600" cy="201168"/>
          </a:xfrm>
          <a:prstGeom prst="straightConnector1">
            <a:avLst/>
          </a:prstGeom>
          <a:noFill/>
          <a:ln cap="flat" cmpd="sng" w="15225">
            <a:solidFill>
              <a:srgbClr val="3D4A5C"/>
            </a:solidFill>
            <a:prstDash val="solid"/>
            <a:round/>
            <a:headEnd len="sm" w="sm" type="none"/>
            <a:tailEnd len="sm" w="sm" type="none"/>
          </a:ln>
        </p:spPr>
      </p:cxnSp>
      <p:sp>
        <p:nvSpPr>
          <p:cNvPr id="984" name="Google Shape;984;p29"/>
          <p:cNvSpPr/>
          <p:nvPr/>
        </p:nvSpPr>
        <p:spPr>
          <a:xfrm>
            <a:off x="2880360" y="1828800"/>
            <a:ext cx="1554480" cy="11887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C3AED"/>
              </a:buClr>
              <a:buSzPts val="1000"/>
              <a:buFont typeface="Calibri"/>
              <a:buNone/>
            </a:pPr>
            <a:r>
              <a:rPr b="0" i="0" lang="en-US" sz="1000" u="none" cap="none" strike="noStrike">
                <a:solidFill>
                  <a:srgbClr val="7C3AED"/>
                </a:solidFill>
                <a:latin typeface="Calibri"/>
                <a:ea typeface="Calibri"/>
                <a:cs typeface="Calibri"/>
                <a:sym typeface="Calibri"/>
              </a:rPr>
              <a:t>PASO 1:</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C3AED"/>
              </a:buClr>
              <a:buSzPts val="1000"/>
              <a:buFont typeface="Calibri"/>
              <a:buNone/>
            </a:pPr>
            <a:r>
              <a:rPr b="0" i="0" lang="en-US" sz="1000" u="none" cap="none" strike="noStrike">
                <a:solidFill>
                  <a:srgbClr val="7C3AED"/>
                </a:solidFill>
                <a:latin typeface="Calibri"/>
                <a:ea typeface="Calibri"/>
                <a:cs typeface="Calibri"/>
                <a:sym typeface="Calibri"/>
              </a:rPr>
              <a:t>Left-Rotate(p)</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C3AED"/>
              </a:buClr>
              <a:buSzPts val="1000"/>
              <a:buFont typeface="Calibri"/>
              <a:buNone/>
            </a:pPr>
            <a:r>
              <a:rPr b="0" i="0" lang="en-US" sz="1000" u="none" cap="none" strike="noStrike">
                <a:solidFill>
                  <a:srgbClr val="7C3AED"/>
                </a:solidFill>
                <a:latin typeface="Calibri"/>
                <a:ea typeface="Calibri"/>
                <a:cs typeface="Calibri"/>
                <a:sym typeface="Calibri"/>
              </a:rPr>
              <a:t>x sube, p baja</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C3AED"/>
              </a:buClr>
              <a:buSzPts val="1000"/>
              <a:buFont typeface="Calibri"/>
              <a:buNone/>
            </a:pPr>
            <a:r>
              <a:rPr b="0" i="0" lang="en-US" sz="1000" u="none" cap="none" strike="noStrike">
                <a:solidFill>
                  <a:srgbClr val="7C3AED"/>
                </a:solidFill>
                <a:latin typeface="Calibri"/>
                <a:ea typeface="Calibri"/>
                <a:cs typeface="Calibri"/>
                <a:sym typeface="Calibri"/>
              </a:rPr>
              <a:t>(zig-zag → línea)</a:t>
            </a:r>
            <a:endParaRPr b="0" i="0" sz="1000" u="none" cap="none" strike="noStrike">
              <a:solidFill>
                <a:schemeClr val="dk1"/>
              </a:solidFill>
              <a:latin typeface="Calibri"/>
              <a:ea typeface="Calibri"/>
              <a:cs typeface="Calibri"/>
              <a:sym typeface="Calibri"/>
            </a:endParaRPr>
          </a:p>
        </p:txBody>
      </p:sp>
      <p:sp>
        <p:nvSpPr>
          <p:cNvPr id="985" name="Google Shape;985;p29"/>
          <p:cNvSpPr/>
          <p:nvPr/>
        </p:nvSpPr>
        <p:spPr>
          <a:xfrm>
            <a:off x="4480560" y="233172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C3AED"/>
              </a:buClr>
              <a:buSzPts val="1800"/>
              <a:buFont typeface="Consolas"/>
              <a:buNone/>
            </a:pPr>
            <a:r>
              <a:rPr b="0" i="0" lang="en-US" sz="1800" u="none" cap="none" strike="noStrike">
                <a:solidFill>
                  <a:srgbClr val="7C3AED"/>
                </a:solidFill>
                <a:latin typeface="Consolas"/>
                <a:ea typeface="Consolas"/>
                <a:cs typeface="Consolas"/>
                <a:sym typeface="Consolas"/>
              </a:rPr>
              <a:t>→</a:t>
            </a:r>
            <a:endParaRPr b="0" i="0" sz="1800" u="none" cap="none" strike="noStrike">
              <a:solidFill>
                <a:schemeClr val="dk1"/>
              </a:solidFill>
              <a:latin typeface="Calibri"/>
              <a:ea typeface="Calibri"/>
              <a:cs typeface="Calibri"/>
              <a:sym typeface="Calibri"/>
            </a:endParaRPr>
          </a:p>
        </p:txBody>
      </p:sp>
      <p:sp>
        <p:nvSpPr>
          <p:cNvPr id="986" name="Google Shape;986;p29"/>
          <p:cNvSpPr/>
          <p:nvPr/>
        </p:nvSpPr>
        <p:spPr>
          <a:xfrm>
            <a:off x="5230368" y="1938528"/>
            <a:ext cx="512064" cy="512064"/>
          </a:xfrm>
          <a:prstGeom prst="ellipse">
            <a:avLst/>
          </a:prstGeom>
          <a:solidFill>
            <a:srgbClr val="1A2035"/>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29"/>
          <p:cNvSpPr/>
          <p:nvPr/>
        </p:nvSpPr>
        <p:spPr>
          <a:xfrm>
            <a:off x="5230368" y="1938528"/>
            <a:ext cx="512064"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4444"/>
              </a:buClr>
              <a:buSzPts val="1200"/>
              <a:buFont typeface="Consolas"/>
              <a:buNone/>
            </a:pPr>
            <a:r>
              <a:rPr b="1" i="0" lang="en-US" sz="1200" u="none" cap="none" strike="noStrike">
                <a:solidFill>
                  <a:srgbClr val="EF4444"/>
                </a:solidFill>
                <a:latin typeface="Consolas"/>
                <a:ea typeface="Consolas"/>
                <a:cs typeface="Consolas"/>
                <a:sym typeface="Consolas"/>
              </a:rPr>
              <a:t>g</a:t>
            </a:r>
            <a:endParaRPr b="0" i="0" sz="1200" u="none" cap="none" strike="noStrike">
              <a:solidFill>
                <a:schemeClr val="dk1"/>
              </a:solidFill>
              <a:latin typeface="Calibri"/>
              <a:ea typeface="Calibri"/>
              <a:cs typeface="Calibri"/>
              <a:sym typeface="Calibri"/>
            </a:endParaRPr>
          </a:p>
        </p:txBody>
      </p:sp>
      <p:sp>
        <p:nvSpPr>
          <p:cNvPr id="988" name="Google Shape;988;p29"/>
          <p:cNvSpPr/>
          <p:nvPr/>
        </p:nvSpPr>
        <p:spPr>
          <a:xfrm>
            <a:off x="4407408" y="2578608"/>
            <a:ext cx="512064" cy="512064"/>
          </a:xfrm>
          <a:prstGeom prst="ellipse">
            <a:avLst/>
          </a:prstGeom>
          <a:solidFill>
            <a:srgbClr val="7C3AED"/>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29"/>
          <p:cNvSpPr/>
          <p:nvPr/>
        </p:nvSpPr>
        <p:spPr>
          <a:xfrm>
            <a:off x="4407408" y="2578608"/>
            <a:ext cx="512064"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1200"/>
              <a:buFont typeface="Consolas"/>
              <a:buNone/>
            </a:pPr>
            <a:r>
              <a:rPr b="1" i="0" lang="en-US" sz="1200" u="none" cap="none" strike="noStrike">
                <a:solidFill>
                  <a:srgbClr val="F0F4FF"/>
                </a:solidFill>
                <a:latin typeface="Consolas"/>
                <a:ea typeface="Consolas"/>
                <a:cs typeface="Consolas"/>
                <a:sym typeface="Consolas"/>
              </a:rPr>
              <a:t>x</a:t>
            </a:r>
            <a:endParaRPr b="0" i="0" sz="1200" u="none" cap="none" strike="noStrike">
              <a:solidFill>
                <a:schemeClr val="dk1"/>
              </a:solidFill>
              <a:latin typeface="Calibri"/>
              <a:ea typeface="Calibri"/>
              <a:cs typeface="Calibri"/>
              <a:sym typeface="Calibri"/>
            </a:endParaRPr>
          </a:p>
        </p:txBody>
      </p:sp>
      <p:sp>
        <p:nvSpPr>
          <p:cNvPr id="990" name="Google Shape;990;p29"/>
          <p:cNvSpPr/>
          <p:nvPr/>
        </p:nvSpPr>
        <p:spPr>
          <a:xfrm>
            <a:off x="6108192" y="2633472"/>
            <a:ext cx="402336" cy="402336"/>
          </a:xfrm>
          <a:prstGeom prst="ellipse">
            <a:avLst/>
          </a:prstGeom>
          <a:solidFill>
            <a:srgbClr val="111526"/>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29"/>
          <p:cNvSpPr/>
          <p:nvPr/>
        </p:nvSpPr>
        <p:spPr>
          <a:xfrm>
            <a:off x="6108192" y="263347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92A4"/>
              </a:buClr>
              <a:buSzPts val="1200"/>
              <a:buFont typeface="Consolas"/>
              <a:buNone/>
            </a:pPr>
            <a:r>
              <a:rPr b="1" i="0" lang="en-US" sz="1200" u="none" cap="none" strike="noStrike">
                <a:solidFill>
                  <a:srgbClr val="8892A4"/>
                </a:solidFill>
                <a:latin typeface="Consolas"/>
                <a:ea typeface="Consolas"/>
                <a:cs typeface="Consolas"/>
                <a:sym typeface="Consolas"/>
              </a:rPr>
              <a:t>D</a:t>
            </a:r>
            <a:endParaRPr b="0" i="0" sz="1200" u="none" cap="none" strike="noStrike">
              <a:solidFill>
                <a:schemeClr val="dk1"/>
              </a:solidFill>
              <a:latin typeface="Calibri"/>
              <a:ea typeface="Calibri"/>
              <a:cs typeface="Calibri"/>
              <a:sym typeface="Calibri"/>
            </a:endParaRPr>
          </a:p>
        </p:txBody>
      </p:sp>
      <p:sp>
        <p:nvSpPr>
          <p:cNvPr id="992" name="Google Shape;992;p29"/>
          <p:cNvSpPr/>
          <p:nvPr/>
        </p:nvSpPr>
        <p:spPr>
          <a:xfrm>
            <a:off x="3904488" y="3218688"/>
            <a:ext cx="512064" cy="512064"/>
          </a:xfrm>
          <a:prstGeom prst="ellipse">
            <a:avLst/>
          </a:prstGeom>
          <a:solidFill>
            <a:srgbClr val="1A2035"/>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29"/>
          <p:cNvSpPr/>
          <p:nvPr/>
        </p:nvSpPr>
        <p:spPr>
          <a:xfrm>
            <a:off x="3904488" y="3218688"/>
            <a:ext cx="512064"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1200"/>
              <a:buFont typeface="Consolas"/>
              <a:buNone/>
            </a:pPr>
            <a:r>
              <a:rPr b="1" i="0" lang="en-US" sz="1200" u="none" cap="none" strike="noStrike">
                <a:solidFill>
                  <a:srgbClr val="F59E0B"/>
                </a:solidFill>
                <a:latin typeface="Consolas"/>
                <a:ea typeface="Consolas"/>
                <a:cs typeface="Consolas"/>
                <a:sym typeface="Consolas"/>
              </a:rPr>
              <a:t>p</a:t>
            </a:r>
            <a:endParaRPr b="0" i="0" sz="1200" u="none" cap="none" strike="noStrike">
              <a:solidFill>
                <a:schemeClr val="dk1"/>
              </a:solidFill>
              <a:latin typeface="Calibri"/>
              <a:ea typeface="Calibri"/>
              <a:cs typeface="Calibri"/>
              <a:sym typeface="Calibri"/>
            </a:endParaRPr>
          </a:p>
        </p:txBody>
      </p:sp>
      <p:sp>
        <p:nvSpPr>
          <p:cNvPr id="994" name="Google Shape;994;p29"/>
          <p:cNvSpPr/>
          <p:nvPr/>
        </p:nvSpPr>
        <p:spPr>
          <a:xfrm>
            <a:off x="4983480" y="3291840"/>
            <a:ext cx="365760" cy="365760"/>
          </a:xfrm>
          <a:prstGeom prst="ellipse">
            <a:avLst/>
          </a:prstGeom>
          <a:solidFill>
            <a:srgbClr val="111526"/>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29"/>
          <p:cNvSpPr/>
          <p:nvPr/>
        </p:nvSpPr>
        <p:spPr>
          <a:xfrm>
            <a:off x="4983480" y="329184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92A4"/>
              </a:buClr>
              <a:buSzPts val="1200"/>
              <a:buFont typeface="Consolas"/>
              <a:buNone/>
            </a:pPr>
            <a:r>
              <a:rPr b="1" i="0" lang="en-US" sz="1200" u="none" cap="none" strike="noStrike">
                <a:solidFill>
                  <a:srgbClr val="8892A4"/>
                </a:solidFill>
                <a:latin typeface="Consolas"/>
                <a:ea typeface="Consolas"/>
                <a:cs typeface="Consolas"/>
                <a:sym typeface="Consolas"/>
              </a:rPr>
              <a:t>C</a:t>
            </a:r>
            <a:endParaRPr b="0" i="0" sz="1200" u="none" cap="none" strike="noStrike">
              <a:solidFill>
                <a:schemeClr val="dk1"/>
              </a:solidFill>
              <a:latin typeface="Calibri"/>
              <a:ea typeface="Calibri"/>
              <a:cs typeface="Calibri"/>
              <a:sym typeface="Calibri"/>
            </a:endParaRPr>
          </a:p>
        </p:txBody>
      </p:sp>
      <p:sp>
        <p:nvSpPr>
          <p:cNvPr id="996" name="Google Shape;996;p29"/>
          <p:cNvSpPr/>
          <p:nvPr/>
        </p:nvSpPr>
        <p:spPr>
          <a:xfrm>
            <a:off x="3566160" y="3931920"/>
            <a:ext cx="365760" cy="365760"/>
          </a:xfrm>
          <a:prstGeom prst="ellipse">
            <a:avLst/>
          </a:prstGeom>
          <a:solidFill>
            <a:srgbClr val="111526"/>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29"/>
          <p:cNvSpPr/>
          <p:nvPr/>
        </p:nvSpPr>
        <p:spPr>
          <a:xfrm>
            <a:off x="3566160" y="393192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92A4"/>
              </a:buClr>
              <a:buSzPts val="1200"/>
              <a:buFont typeface="Consolas"/>
              <a:buNone/>
            </a:pPr>
            <a:r>
              <a:rPr b="1" i="0" lang="en-US" sz="1200" u="none" cap="none" strike="noStrike">
                <a:solidFill>
                  <a:srgbClr val="8892A4"/>
                </a:solidFill>
                <a:latin typeface="Consolas"/>
                <a:ea typeface="Consolas"/>
                <a:cs typeface="Consolas"/>
                <a:sym typeface="Consolas"/>
              </a:rPr>
              <a:t>A</a:t>
            </a:r>
            <a:endParaRPr b="0" i="0" sz="1200" u="none" cap="none" strike="noStrike">
              <a:solidFill>
                <a:schemeClr val="dk1"/>
              </a:solidFill>
              <a:latin typeface="Calibri"/>
              <a:ea typeface="Calibri"/>
              <a:cs typeface="Calibri"/>
              <a:sym typeface="Calibri"/>
            </a:endParaRPr>
          </a:p>
        </p:txBody>
      </p:sp>
      <p:sp>
        <p:nvSpPr>
          <p:cNvPr id="998" name="Google Shape;998;p29"/>
          <p:cNvSpPr/>
          <p:nvPr/>
        </p:nvSpPr>
        <p:spPr>
          <a:xfrm>
            <a:off x="4389120" y="3931920"/>
            <a:ext cx="365760" cy="365760"/>
          </a:xfrm>
          <a:prstGeom prst="ellipse">
            <a:avLst/>
          </a:prstGeom>
          <a:solidFill>
            <a:srgbClr val="111526"/>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29"/>
          <p:cNvSpPr/>
          <p:nvPr/>
        </p:nvSpPr>
        <p:spPr>
          <a:xfrm>
            <a:off x="4389120" y="393192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92A4"/>
              </a:buClr>
              <a:buSzPts val="1200"/>
              <a:buFont typeface="Consolas"/>
              <a:buNone/>
            </a:pPr>
            <a:r>
              <a:rPr b="1" i="0" lang="en-US" sz="1200" u="none" cap="none" strike="noStrike">
                <a:solidFill>
                  <a:srgbClr val="8892A4"/>
                </a:solidFill>
                <a:latin typeface="Consolas"/>
                <a:ea typeface="Consolas"/>
                <a:cs typeface="Consolas"/>
                <a:sym typeface="Consolas"/>
              </a:rPr>
              <a:t>B</a:t>
            </a:r>
            <a:endParaRPr b="0" i="0" sz="1200" u="none" cap="none" strike="noStrike">
              <a:solidFill>
                <a:schemeClr val="dk1"/>
              </a:solidFill>
              <a:latin typeface="Calibri"/>
              <a:ea typeface="Calibri"/>
              <a:cs typeface="Calibri"/>
              <a:sym typeface="Calibri"/>
            </a:endParaRPr>
          </a:p>
        </p:txBody>
      </p:sp>
      <p:cxnSp>
        <p:nvCxnSpPr>
          <p:cNvPr id="1000" name="Google Shape;1000;p29"/>
          <p:cNvCxnSpPr/>
          <p:nvPr/>
        </p:nvCxnSpPr>
        <p:spPr>
          <a:xfrm flipH="1">
            <a:off x="4919472" y="2450592"/>
            <a:ext cx="566928" cy="128016"/>
          </a:xfrm>
          <a:prstGeom prst="straightConnector1">
            <a:avLst/>
          </a:prstGeom>
          <a:noFill/>
          <a:ln cap="flat" cmpd="sng" w="15225">
            <a:solidFill>
              <a:srgbClr val="EF4444"/>
            </a:solidFill>
            <a:prstDash val="solid"/>
            <a:round/>
            <a:headEnd len="sm" w="sm" type="none"/>
            <a:tailEnd len="sm" w="sm" type="none"/>
          </a:ln>
        </p:spPr>
      </p:cxnSp>
      <p:cxnSp>
        <p:nvCxnSpPr>
          <p:cNvPr id="1001" name="Google Shape;1001;p29"/>
          <p:cNvCxnSpPr/>
          <p:nvPr/>
        </p:nvCxnSpPr>
        <p:spPr>
          <a:xfrm>
            <a:off x="5486400" y="2450592"/>
            <a:ext cx="530352" cy="182880"/>
          </a:xfrm>
          <a:prstGeom prst="straightConnector1">
            <a:avLst/>
          </a:prstGeom>
          <a:noFill/>
          <a:ln cap="flat" cmpd="sng" w="15225">
            <a:solidFill>
              <a:srgbClr val="3D4A5C"/>
            </a:solidFill>
            <a:prstDash val="solid"/>
            <a:round/>
            <a:headEnd len="sm" w="sm" type="none"/>
            <a:tailEnd len="sm" w="sm" type="none"/>
          </a:ln>
        </p:spPr>
      </p:cxnSp>
      <p:cxnSp>
        <p:nvCxnSpPr>
          <p:cNvPr id="1002" name="Google Shape;1002;p29"/>
          <p:cNvCxnSpPr/>
          <p:nvPr/>
        </p:nvCxnSpPr>
        <p:spPr>
          <a:xfrm flipH="1">
            <a:off x="4416552" y="3090672"/>
            <a:ext cx="246888" cy="128016"/>
          </a:xfrm>
          <a:prstGeom prst="straightConnector1">
            <a:avLst/>
          </a:prstGeom>
          <a:noFill/>
          <a:ln cap="flat" cmpd="sng" w="15225">
            <a:solidFill>
              <a:srgbClr val="7C3AED"/>
            </a:solidFill>
            <a:prstDash val="solid"/>
            <a:round/>
            <a:headEnd len="sm" w="sm" type="none"/>
            <a:tailEnd len="sm" w="sm" type="none"/>
          </a:ln>
        </p:spPr>
      </p:cxnSp>
      <p:cxnSp>
        <p:nvCxnSpPr>
          <p:cNvPr id="1003" name="Google Shape;1003;p29"/>
          <p:cNvCxnSpPr/>
          <p:nvPr/>
        </p:nvCxnSpPr>
        <p:spPr>
          <a:xfrm>
            <a:off x="4663440" y="3090672"/>
            <a:ext cx="320040" cy="201168"/>
          </a:xfrm>
          <a:prstGeom prst="straightConnector1">
            <a:avLst/>
          </a:prstGeom>
          <a:noFill/>
          <a:ln cap="flat" cmpd="sng" w="15225">
            <a:solidFill>
              <a:srgbClr val="3D4A5C"/>
            </a:solidFill>
            <a:prstDash val="solid"/>
            <a:round/>
            <a:headEnd len="sm" w="sm" type="none"/>
            <a:tailEnd len="sm" w="sm" type="none"/>
          </a:ln>
        </p:spPr>
      </p:cxnSp>
      <p:cxnSp>
        <p:nvCxnSpPr>
          <p:cNvPr id="1004" name="Google Shape;1004;p29"/>
          <p:cNvCxnSpPr/>
          <p:nvPr/>
        </p:nvCxnSpPr>
        <p:spPr>
          <a:xfrm flipH="1">
            <a:off x="3931920" y="3730752"/>
            <a:ext cx="228600" cy="201168"/>
          </a:xfrm>
          <a:prstGeom prst="straightConnector1">
            <a:avLst/>
          </a:prstGeom>
          <a:noFill/>
          <a:ln cap="flat" cmpd="sng" w="15225">
            <a:solidFill>
              <a:srgbClr val="3D4A5C"/>
            </a:solidFill>
            <a:prstDash val="solid"/>
            <a:round/>
            <a:headEnd len="sm" w="sm" type="none"/>
            <a:tailEnd len="sm" w="sm" type="none"/>
          </a:ln>
        </p:spPr>
      </p:cxnSp>
      <p:cxnSp>
        <p:nvCxnSpPr>
          <p:cNvPr id="1005" name="Google Shape;1005;p29"/>
          <p:cNvCxnSpPr/>
          <p:nvPr/>
        </p:nvCxnSpPr>
        <p:spPr>
          <a:xfrm>
            <a:off x="4160520" y="3730752"/>
            <a:ext cx="210312" cy="201168"/>
          </a:xfrm>
          <a:prstGeom prst="straightConnector1">
            <a:avLst/>
          </a:prstGeom>
          <a:noFill/>
          <a:ln cap="flat" cmpd="sng" w="15225">
            <a:solidFill>
              <a:srgbClr val="3D4A5C"/>
            </a:solidFill>
            <a:prstDash val="solid"/>
            <a:round/>
            <a:headEnd len="sm" w="sm" type="none"/>
            <a:tailEnd len="sm" w="sm" type="none"/>
          </a:ln>
        </p:spPr>
      </p:cxnSp>
      <p:sp>
        <p:nvSpPr>
          <p:cNvPr id="1006" name="Google Shape;1006;p29"/>
          <p:cNvSpPr/>
          <p:nvPr/>
        </p:nvSpPr>
        <p:spPr>
          <a:xfrm>
            <a:off x="6675120" y="1828800"/>
            <a:ext cx="155448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C3AED"/>
              </a:buClr>
              <a:buSzPts val="1000"/>
              <a:buFont typeface="Calibri"/>
              <a:buNone/>
            </a:pPr>
            <a:r>
              <a:rPr b="0" i="0" lang="en-US" sz="1000" u="none" cap="none" strike="noStrike">
                <a:solidFill>
                  <a:srgbClr val="7C3AED"/>
                </a:solidFill>
                <a:latin typeface="Calibri"/>
                <a:ea typeface="Calibri"/>
                <a:cs typeface="Calibri"/>
                <a:sym typeface="Calibri"/>
              </a:rPr>
              <a:t>PASO 2:</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C3AED"/>
              </a:buClr>
              <a:buSzPts val="1000"/>
              <a:buFont typeface="Calibri"/>
              <a:buNone/>
            </a:pPr>
            <a:r>
              <a:rPr b="0" i="0" lang="en-US" sz="1000" u="none" cap="none" strike="noStrike">
                <a:solidFill>
                  <a:srgbClr val="7C3AED"/>
                </a:solidFill>
                <a:latin typeface="Calibri"/>
                <a:ea typeface="Calibri"/>
                <a:cs typeface="Calibri"/>
                <a:sym typeface="Calibri"/>
              </a:rPr>
              <a:t>Right-Rotate(g)</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C3AED"/>
              </a:buClr>
              <a:buSzPts val="1000"/>
              <a:buFont typeface="Calibri"/>
              <a:buNone/>
            </a:pPr>
            <a:r>
              <a:rPr b="0" i="0" lang="en-US" sz="1000" u="none" cap="none" strike="noStrike">
                <a:solidFill>
                  <a:srgbClr val="7C3AED"/>
                </a:solidFill>
                <a:latin typeface="Calibri"/>
                <a:ea typeface="Calibri"/>
                <a:cs typeface="Calibri"/>
                <a:sym typeface="Calibri"/>
              </a:rPr>
              <a:t>x sube, g baja</a:t>
            </a:r>
            <a:endParaRPr b="0" i="0" sz="1000" u="none" cap="none" strike="noStrike">
              <a:solidFill>
                <a:schemeClr val="dk1"/>
              </a:solidFill>
              <a:latin typeface="Calibri"/>
              <a:ea typeface="Calibri"/>
              <a:cs typeface="Calibri"/>
              <a:sym typeface="Calibri"/>
            </a:endParaRPr>
          </a:p>
        </p:txBody>
      </p:sp>
      <p:sp>
        <p:nvSpPr>
          <p:cNvPr id="1007" name="Google Shape;1007;p29"/>
          <p:cNvSpPr/>
          <p:nvPr/>
        </p:nvSpPr>
        <p:spPr>
          <a:xfrm>
            <a:off x="8275320" y="2331720"/>
            <a:ext cx="4572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C3AED"/>
              </a:buClr>
              <a:buSzPts val="1800"/>
              <a:buFont typeface="Consolas"/>
              <a:buNone/>
            </a:pPr>
            <a:r>
              <a:rPr b="0" i="0" lang="en-US" sz="1800" u="none" cap="none" strike="noStrike">
                <a:solidFill>
                  <a:srgbClr val="7C3AED"/>
                </a:solidFill>
                <a:latin typeface="Consolas"/>
                <a:ea typeface="Consolas"/>
                <a:cs typeface="Consolas"/>
                <a:sym typeface="Consolas"/>
              </a:rPr>
              <a:t>→</a:t>
            </a:r>
            <a:endParaRPr b="0" i="0" sz="1800" u="none" cap="none" strike="noStrike">
              <a:solidFill>
                <a:schemeClr val="dk1"/>
              </a:solidFill>
              <a:latin typeface="Calibri"/>
              <a:ea typeface="Calibri"/>
              <a:cs typeface="Calibri"/>
              <a:sym typeface="Calibri"/>
            </a:endParaRPr>
          </a:p>
        </p:txBody>
      </p:sp>
      <p:sp>
        <p:nvSpPr>
          <p:cNvPr id="1008" name="Google Shape;1008;p29"/>
          <p:cNvSpPr/>
          <p:nvPr/>
        </p:nvSpPr>
        <p:spPr>
          <a:xfrm>
            <a:off x="2880360" y="3200400"/>
            <a:ext cx="5852160" cy="1554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1000"/>
              <a:buFont typeface="Calibri"/>
              <a:buNone/>
            </a:pPr>
            <a:r>
              <a:rPr b="0" i="0" lang="en-US" sz="1000" u="none" cap="none" strike="noStrike">
                <a:solidFill>
                  <a:srgbClr val="F0F4FF"/>
                </a:solidFill>
                <a:latin typeface="Calibri"/>
                <a:ea typeface="Calibri"/>
                <a:cs typeface="Calibri"/>
                <a:sym typeface="Calibri"/>
              </a:rPr>
              <a:t>DESPUÉS:</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00"/>
              <a:buFont typeface="Calibri"/>
              <a:buNone/>
            </a:pPr>
            <a:r>
              <a:rPr b="0" i="0" lang="en-US" sz="1000" u="none" cap="none" strike="noStrike">
                <a:solidFill>
                  <a:srgbClr val="F0F4FF"/>
                </a:solidFill>
                <a:latin typeface="Calibri"/>
                <a:ea typeface="Calibri"/>
                <a:cs typeface="Calibri"/>
                <a:sym typeface="Calibri"/>
              </a:rPr>
              <a:t>x en la raíz del subárbol.</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00"/>
              <a:buFont typeface="Calibri"/>
              <a:buNone/>
            </a:pPr>
            <a:r>
              <a:rPr b="0" i="0" lang="en-US" sz="1000" u="none" cap="none" strike="noStrike">
                <a:solidFill>
                  <a:srgbClr val="F0F4FF"/>
                </a:solidFill>
                <a:latin typeface="Calibri"/>
                <a:ea typeface="Calibri"/>
                <a:cs typeface="Calibri"/>
                <a:sym typeface="Calibri"/>
              </a:rPr>
              <a:t>A &lt; p &lt; B &lt; x &lt; C &lt; g &lt; D</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00"/>
              <a:buFont typeface="Calibri"/>
              <a:buNone/>
            </a:pPr>
            <a:r>
              <a:rPr b="0" i="0" lang="en-US" sz="1000" u="none" cap="none" strike="noStrike">
                <a:solidFill>
                  <a:srgbClr val="F0F4FF"/>
                </a:solidFill>
                <a:latin typeface="Calibri"/>
                <a:ea typeface="Calibri"/>
                <a:cs typeface="Calibri"/>
                <a:sym typeface="Calibri"/>
              </a:rPr>
              <a:t>La BST property se preserva.</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00"/>
              <a:buFont typeface="Calibri"/>
              <a:buNone/>
            </a:pPr>
            <a:r>
              <a:rPr b="0" i="0" lang="en-US" sz="1000" u="none" cap="none" strike="noStrike">
                <a:solidFill>
                  <a:srgbClr val="F0F4FF"/>
                </a:solidFill>
                <a:latin typeface="Calibri"/>
                <a:ea typeface="Calibri"/>
                <a:cs typeface="Calibri"/>
                <a:sym typeface="Calibri"/>
              </a:rPr>
              <a:t>Zig-Zag = AVL Double Rotation — idéntico.</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F4FF"/>
              </a:buClr>
              <a:buSzPts val="1000"/>
              <a:buFont typeface="Calibri"/>
              <a:buNone/>
            </a:pPr>
            <a:r>
              <a:rPr b="0" i="0" lang="en-US" sz="1000" u="none" cap="none" strike="noStrike">
                <a:solidFill>
                  <a:srgbClr val="F0F4FF"/>
                </a:solidFill>
                <a:latin typeface="Calibri"/>
                <a:ea typeface="Calibri"/>
                <a:cs typeface="Calibri"/>
                <a:sym typeface="Calibri"/>
              </a:rPr>
              <a:t>Diferencia: cuándo y por qué se aplica.</a:t>
            </a:r>
            <a:endParaRPr b="0" i="0" sz="1000" u="none" cap="none" strike="noStrike">
              <a:solidFill>
                <a:schemeClr val="dk1"/>
              </a:solidFill>
              <a:latin typeface="Calibri"/>
              <a:ea typeface="Calibri"/>
              <a:cs typeface="Calibri"/>
              <a:sym typeface="Calibri"/>
            </a:endParaRPr>
          </a:p>
        </p:txBody>
      </p:sp>
      <p:sp>
        <p:nvSpPr>
          <p:cNvPr id="1009" name="Google Shape;1009;p29"/>
          <p:cNvSpPr/>
          <p:nvPr/>
        </p:nvSpPr>
        <p:spPr>
          <a:xfrm>
            <a:off x="137160" y="4846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AED · T5 · Splay · Zig-Zag</a:t>
            </a:r>
            <a:endParaRPr b="0" i="0" sz="900" u="none" cap="none" strike="noStrike">
              <a:solidFill>
                <a:schemeClr val="dk1"/>
              </a:solidFill>
              <a:latin typeface="Calibri"/>
              <a:ea typeface="Calibri"/>
              <a:cs typeface="Calibri"/>
              <a:sym typeface="Calibri"/>
            </a:endParaRPr>
          </a:p>
        </p:txBody>
      </p:sp>
      <p:sp>
        <p:nvSpPr>
          <p:cNvPr id="1010" name="Google Shape;1010;p29"/>
          <p:cNvSpPr/>
          <p:nvPr/>
        </p:nvSpPr>
        <p:spPr>
          <a:xfrm>
            <a:off x="8503920" y="4846320"/>
            <a:ext cx="54864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29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F1A"/>
        </a:solidFill>
      </p:bgPr>
    </p:bg>
    <p:spTree>
      <p:nvGrpSpPr>
        <p:cNvPr id="1015" name="Shape 1015"/>
        <p:cNvGrpSpPr/>
        <p:nvPr/>
      </p:nvGrpSpPr>
      <p:grpSpPr>
        <a:xfrm>
          <a:off x="0" y="0"/>
          <a:ext cx="0" cy="0"/>
          <a:chOff x="0" y="0"/>
          <a:chExt cx="0" cy="0"/>
        </a:xfrm>
      </p:grpSpPr>
      <p:sp>
        <p:nvSpPr>
          <p:cNvPr id="1016" name="Google Shape;1016;p30"/>
          <p:cNvSpPr/>
          <p:nvPr/>
        </p:nvSpPr>
        <p:spPr>
          <a:xfrm>
            <a:off x="0" y="0"/>
            <a:ext cx="54864"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30"/>
          <p:cNvSpPr/>
          <p:nvPr/>
        </p:nvSpPr>
        <p:spPr>
          <a:xfrm>
            <a:off x="182880" y="137160"/>
            <a:ext cx="87782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2600"/>
              <a:buFont typeface="Trebuchet MS"/>
              <a:buNone/>
            </a:pPr>
            <a:r>
              <a:rPr b="1" i="0" lang="en-US" sz="2600" u="none" cap="none" strike="noStrike">
                <a:solidFill>
                  <a:srgbClr val="F0F4FF"/>
                </a:solidFill>
                <a:latin typeface="Trebuchet MS"/>
                <a:ea typeface="Trebuchet MS"/>
                <a:cs typeface="Trebuchet MS"/>
                <a:sym typeface="Trebuchet MS"/>
              </a:rPr>
              <a:t>Zig-Zig vs Zig-Zag — La diferencia crítica</a:t>
            </a:r>
            <a:endParaRPr b="0" i="0" sz="2600" u="none" cap="none" strike="noStrike">
              <a:solidFill>
                <a:schemeClr val="dk1"/>
              </a:solidFill>
              <a:latin typeface="Calibri"/>
              <a:ea typeface="Calibri"/>
              <a:cs typeface="Calibri"/>
              <a:sym typeface="Calibri"/>
            </a:endParaRPr>
          </a:p>
        </p:txBody>
      </p:sp>
      <p:sp>
        <p:nvSpPr>
          <p:cNvPr id="1018" name="Google Shape;1018;p30"/>
          <p:cNvSpPr/>
          <p:nvPr/>
        </p:nvSpPr>
        <p:spPr>
          <a:xfrm>
            <a:off x="182880" y="749808"/>
            <a:ext cx="8778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1200"/>
              <a:buFont typeface="Calibri"/>
              <a:buNone/>
            </a:pPr>
            <a:r>
              <a:rPr b="0" i="1" lang="en-US" sz="1200" u="none" cap="none" strike="noStrike">
                <a:solidFill>
                  <a:srgbClr val="8892A4"/>
                </a:solidFill>
                <a:latin typeface="Calibri"/>
                <a:ea typeface="Calibri"/>
                <a:cs typeface="Calibri"/>
                <a:sym typeface="Calibri"/>
              </a:rPr>
              <a:t>Por qué el orden de las rotaciones importa para la garantía amortizada</a:t>
            </a:r>
            <a:endParaRPr b="0" i="0" sz="1200" u="none" cap="none" strike="noStrike">
              <a:solidFill>
                <a:schemeClr val="dk1"/>
              </a:solidFill>
              <a:latin typeface="Calibri"/>
              <a:ea typeface="Calibri"/>
              <a:cs typeface="Calibri"/>
              <a:sym typeface="Calibri"/>
            </a:endParaRPr>
          </a:p>
        </p:txBody>
      </p:sp>
      <p:sp>
        <p:nvSpPr>
          <p:cNvPr id="1019" name="Google Shape;1019;p30"/>
          <p:cNvSpPr/>
          <p:nvPr/>
        </p:nvSpPr>
        <p:spPr>
          <a:xfrm>
            <a:off x="182880" y="1024128"/>
            <a:ext cx="1463040" cy="27432"/>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30"/>
          <p:cNvSpPr/>
          <p:nvPr/>
        </p:nvSpPr>
        <p:spPr>
          <a:xfrm>
            <a:off x="137160" y="1188720"/>
            <a:ext cx="2560320" cy="320040"/>
          </a:xfrm>
          <a:prstGeom prst="rect">
            <a:avLst/>
          </a:prstGeom>
          <a:solidFill>
            <a:srgbClr val="1A2035"/>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30"/>
          <p:cNvSpPr/>
          <p:nvPr/>
        </p:nvSpPr>
        <p:spPr>
          <a:xfrm>
            <a:off x="210312" y="1188720"/>
            <a:ext cx="2414016"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4FF"/>
              </a:buClr>
              <a:buSzPts val="1000"/>
              <a:buFont typeface="Calibri"/>
              <a:buNone/>
            </a:pPr>
            <a:r>
              <a:rPr b="1" i="0" lang="en-US" sz="1000" u="none" cap="none" strike="noStrike">
                <a:solidFill>
                  <a:srgbClr val="00D4FF"/>
                </a:solidFill>
                <a:latin typeface="Calibri"/>
                <a:ea typeface="Calibri"/>
                <a:cs typeface="Calibri"/>
                <a:sym typeface="Calibri"/>
              </a:rPr>
              <a:t>Propiedad</a:t>
            </a:r>
            <a:endParaRPr b="0" i="0" sz="1000" u="none" cap="none" strike="noStrike">
              <a:solidFill>
                <a:schemeClr val="dk1"/>
              </a:solidFill>
              <a:latin typeface="Calibri"/>
              <a:ea typeface="Calibri"/>
              <a:cs typeface="Calibri"/>
              <a:sym typeface="Calibri"/>
            </a:endParaRPr>
          </a:p>
        </p:txBody>
      </p:sp>
      <p:sp>
        <p:nvSpPr>
          <p:cNvPr id="1022" name="Google Shape;1022;p30"/>
          <p:cNvSpPr/>
          <p:nvPr/>
        </p:nvSpPr>
        <p:spPr>
          <a:xfrm>
            <a:off x="2788920" y="1188720"/>
            <a:ext cx="3017520" cy="320040"/>
          </a:xfrm>
          <a:prstGeom prst="rect">
            <a:avLst/>
          </a:prstGeom>
          <a:solidFill>
            <a:srgbClr val="1A2035"/>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30"/>
          <p:cNvSpPr/>
          <p:nvPr/>
        </p:nvSpPr>
        <p:spPr>
          <a:xfrm>
            <a:off x="2862072" y="1188720"/>
            <a:ext cx="2871216"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D4FF"/>
              </a:buClr>
              <a:buSzPts val="1000"/>
              <a:buFont typeface="Calibri"/>
              <a:buNone/>
            </a:pPr>
            <a:r>
              <a:rPr b="1" i="0" lang="en-US" sz="1000" u="none" cap="none" strike="noStrike">
                <a:solidFill>
                  <a:srgbClr val="00D4FF"/>
                </a:solidFill>
                <a:latin typeface="Calibri"/>
                <a:ea typeface="Calibri"/>
                <a:cs typeface="Calibri"/>
                <a:sym typeface="Calibri"/>
              </a:rPr>
              <a:t>ZIG-ZIG</a:t>
            </a:r>
            <a:endParaRPr b="0" i="0" sz="1000" u="none" cap="none" strike="noStrike">
              <a:solidFill>
                <a:schemeClr val="dk1"/>
              </a:solidFill>
              <a:latin typeface="Calibri"/>
              <a:ea typeface="Calibri"/>
              <a:cs typeface="Calibri"/>
              <a:sym typeface="Calibri"/>
            </a:endParaRPr>
          </a:p>
        </p:txBody>
      </p:sp>
      <p:sp>
        <p:nvSpPr>
          <p:cNvPr id="1024" name="Google Shape;1024;p30"/>
          <p:cNvSpPr/>
          <p:nvPr/>
        </p:nvSpPr>
        <p:spPr>
          <a:xfrm>
            <a:off x="5897880" y="1188720"/>
            <a:ext cx="3017520" cy="320040"/>
          </a:xfrm>
          <a:prstGeom prst="rect">
            <a:avLst/>
          </a:prstGeom>
          <a:solidFill>
            <a:srgbClr val="1A2035"/>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30"/>
          <p:cNvSpPr/>
          <p:nvPr/>
        </p:nvSpPr>
        <p:spPr>
          <a:xfrm>
            <a:off x="5971032" y="1188720"/>
            <a:ext cx="2871216"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D4FF"/>
              </a:buClr>
              <a:buSzPts val="1000"/>
              <a:buFont typeface="Calibri"/>
              <a:buNone/>
            </a:pPr>
            <a:r>
              <a:rPr b="1" i="0" lang="en-US" sz="1000" u="none" cap="none" strike="noStrike">
                <a:solidFill>
                  <a:srgbClr val="00D4FF"/>
                </a:solidFill>
                <a:latin typeface="Calibri"/>
                <a:ea typeface="Calibri"/>
                <a:cs typeface="Calibri"/>
                <a:sym typeface="Calibri"/>
              </a:rPr>
              <a:t>ZIG-ZAG</a:t>
            </a:r>
            <a:endParaRPr b="0" i="0" sz="1000" u="none" cap="none" strike="noStrike">
              <a:solidFill>
                <a:schemeClr val="dk1"/>
              </a:solidFill>
              <a:latin typeface="Calibri"/>
              <a:ea typeface="Calibri"/>
              <a:cs typeface="Calibri"/>
              <a:sym typeface="Calibri"/>
            </a:endParaRPr>
          </a:p>
        </p:txBody>
      </p:sp>
      <p:sp>
        <p:nvSpPr>
          <p:cNvPr id="1026" name="Google Shape;1026;p30"/>
          <p:cNvSpPr/>
          <p:nvPr/>
        </p:nvSpPr>
        <p:spPr>
          <a:xfrm>
            <a:off x="137160" y="1536192"/>
            <a:ext cx="2560320" cy="530352"/>
          </a:xfrm>
          <a:prstGeom prst="rect">
            <a:avLst/>
          </a:prstGeom>
          <a:solidFill>
            <a:srgbClr val="141829"/>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30"/>
          <p:cNvSpPr/>
          <p:nvPr/>
        </p:nvSpPr>
        <p:spPr>
          <a:xfrm>
            <a:off x="210312" y="1572768"/>
            <a:ext cx="2414016"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50"/>
              <a:buFont typeface="Calibri"/>
              <a:buNone/>
            </a:pPr>
            <a:r>
              <a:rPr b="1" i="0" lang="en-US" sz="950" u="none" cap="none" strike="noStrike">
                <a:solidFill>
                  <a:srgbClr val="8892A4"/>
                </a:solidFill>
                <a:latin typeface="Calibri"/>
                <a:ea typeface="Calibri"/>
                <a:cs typeface="Calibri"/>
                <a:sym typeface="Calibri"/>
              </a:rPr>
              <a:t>Forma del path</a:t>
            </a:r>
            <a:endParaRPr b="0" i="0" sz="950" u="none" cap="none" strike="noStrike">
              <a:solidFill>
                <a:schemeClr val="dk1"/>
              </a:solidFill>
              <a:latin typeface="Calibri"/>
              <a:ea typeface="Calibri"/>
              <a:cs typeface="Calibri"/>
              <a:sym typeface="Calibri"/>
            </a:endParaRPr>
          </a:p>
        </p:txBody>
      </p:sp>
      <p:sp>
        <p:nvSpPr>
          <p:cNvPr id="1028" name="Google Shape;1028;p30"/>
          <p:cNvSpPr/>
          <p:nvPr/>
        </p:nvSpPr>
        <p:spPr>
          <a:xfrm>
            <a:off x="2788920" y="1536192"/>
            <a:ext cx="3017520" cy="530352"/>
          </a:xfrm>
          <a:prstGeom prst="rect">
            <a:avLst/>
          </a:prstGeom>
          <a:solidFill>
            <a:srgbClr val="141829"/>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30"/>
          <p:cNvSpPr/>
          <p:nvPr/>
        </p:nvSpPr>
        <p:spPr>
          <a:xfrm>
            <a:off x="2862072" y="1572768"/>
            <a:ext cx="287121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950"/>
              <a:buFont typeface="Calibri"/>
              <a:buNone/>
            </a:pPr>
            <a:r>
              <a:rPr b="0" i="0" lang="en-US" sz="950" u="none" cap="none" strike="noStrike">
                <a:solidFill>
                  <a:srgbClr val="F0F4FF"/>
                </a:solidFill>
                <a:latin typeface="Calibri"/>
                <a:ea typeface="Calibri"/>
                <a:cs typeface="Calibri"/>
                <a:sym typeface="Calibri"/>
              </a:rPr>
              <a:t>Línea recta (LL o RR)</a:t>
            </a:r>
            <a:endParaRPr b="0" i="0" sz="950" u="none" cap="none" strike="noStrike">
              <a:solidFill>
                <a:schemeClr val="dk1"/>
              </a:solidFill>
              <a:latin typeface="Calibri"/>
              <a:ea typeface="Calibri"/>
              <a:cs typeface="Calibri"/>
              <a:sym typeface="Calibri"/>
            </a:endParaRPr>
          </a:p>
        </p:txBody>
      </p:sp>
      <p:sp>
        <p:nvSpPr>
          <p:cNvPr id="1030" name="Google Shape;1030;p30"/>
          <p:cNvSpPr/>
          <p:nvPr/>
        </p:nvSpPr>
        <p:spPr>
          <a:xfrm>
            <a:off x="5897880" y="1536192"/>
            <a:ext cx="3017520" cy="530352"/>
          </a:xfrm>
          <a:prstGeom prst="rect">
            <a:avLst/>
          </a:prstGeom>
          <a:solidFill>
            <a:srgbClr val="141829"/>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30"/>
          <p:cNvSpPr/>
          <p:nvPr/>
        </p:nvSpPr>
        <p:spPr>
          <a:xfrm>
            <a:off x="5971032" y="1572768"/>
            <a:ext cx="287121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950"/>
              <a:buFont typeface="Calibri"/>
              <a:buNone/>
            </a:pPr>
            <a:r>
              <a:rPr b="0" i="0" lang="en-US" sz="950" u="none" cap="none" strike="noStrike">
                <a:solidFill>
                  <a:srgbClr val="F0F4FF"/>
                </a:solidFill>
                <a:latin typeface="Calibri"/>
                <a:ea typeface="Calibri"/>
                <a:cs typeface="Calibri"/>
                <a:sym typeface="Calibri"/>
              </a:rPr>
              <a:t>Zig-zag (LR o RL)</a:t>
            </a:r>
            <a:endParaRPr b="0" i="0" sz="950" u="none" cap="none" strike="noStrike">
              <a:solidFill>
                <a:schemeClr val="dk1"/>
              </a:solidFill>
              <a:latin typeface="Calibri"/>
              <a:ea typeface="Calibri"/>
              <a:cs typeface="Calibri"/>
              <a:sym typeface="Calibri"/>
            </a:endParaRPr>
          </a:p>
        </p:txBody>
      </p:sp>
      <p:sp>
        <p:nvSpPr>
          <p:cNvPr id="1032" name="Google Shape;1032;p30"/>
          <p:cNvSpPr/>
          <p:nvPr/>
        </p:nvSpPr>
        <p:spPr>
          <a:xfrm>
            <a:off x="137160" y="2103120"/>
            <a:ext cx="2560320" cy="530352"/>
          </a:xfrm>
          <a:prstGeom prst="rect">
            <a:avLst/>
          </a:prstGeom>
          <a:solidFill>
            <a:srgbClr val="111526"/>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30"/>
          <p:cNvSpPr/>
          <p:nvPr/>
        </p:nvSpPr>
        <p:spPr>
          <a:xfrm>
            <a:off x="210312" y="2139696"/>
            <a:ext cx="2414016"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50"/>
              <a:buFont typeface="Calibri"/>
              <a:buNone/>
            </a:pPr>
            <a:r>
              <a:rPr b="1" i="0" lang="en-US" sz="950" u="none" cap="none" strike="noStrike">
                <a:solidFill>
                  <a:srgbClr val="8892A4"/>
                </a:solidFill>
                <a:latin typeface="Calibri"/>
                <a:ea typeface="Calibri"/>
                <a:cs typeface="Calibri"/>
                <a:sym typeface="Calibri"/>
              </a:rPr>
              <a:t>Rotación 1</a:t>
            </a:r>
            <a:endParaRPr b="0" i="0" sz="950" u="none" cap="none" strike="noStrike">
              <a:solidFill>
                <a:schemeClr val="dk1"/>
              </a:solidFill>
              <a:latin typeface="Calibri"/>
              <a:ea typeface="Calibri"/>
              <a:cs typeface="Calibri"/>
              <a:sym typeface="Calibri"/>
            </a:endParaRPr>
          </a:p>
        </p:txBody>
      </p:sp>
      <p:sp>
        <p:nvSpPr>
          <p:cNvPr id="1034" name="Google Shape;1034;p30"/>
          <p:cNvSpPr/>
          <p:nvPr/>
        </p:nvSpPr>
        <p:spPr>
          <a:xfrm>
            <a:off x="2788920" y="2103120"/>
            <a:ext cx="3017520" cy="530352"/>
          </a:xfrm>
          <a:prstGeom prst="rect">
            <a:avLst/>
          </a:prstGeom>
          <a:solidFill>
            <a:srgbClr val="111526"/>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30"/>
          <p:cNvSpPr/>
          <p:nvPr/>
        </p:nvSpPr>
        <p:spPr>
          <a:xfrm>
            <a:off x="2862072" y="2139696"/>
            <a:ext cx="287121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950"/>
              <a:buFont typeface="Calibri"/>
              <a:buNone/>
            </a:pPr>
            <a:r>
              <a:rPr b="0" i="0" lang="en-US" sz="950" u="none" cap="none" strike="noStrike">
                <a:solidFill>
                  <a:srgbClr val="F0F4FF"/>
                </a:solidFill>
                <a:latin typeface="Calibri"/>
                <a:ea typeface="Calibri"/>
                <a:cs typeface="Calibri"/>
                <a:sym typeface="Calibri"/>
              </a:rPr>
              <a:t>Rotar ABUELO con PADRE (g con p)</a:t>
            </a:r>
            <a:endParaRPr b="0" i="0" sz="950" u="none" cap="none" strike="noStrike">
              <a:solidFill>
                <a:schemeClr val="dk1"/>
              </a:solidFill>
              <a:latin typeface="Calibri"/>
              <a:ea typeface="Calibri"/>
              <a:cs typeface="Calibri"/>
              <a:sym typeface="Calibri"/>
            </a:endParaRPr>
          </a:p>
        </p:txBody>
      </p:sp>
      <p:sp>
        <p:nvSpPr>
          <p:cNvPr id="1036" name="Google Shape;1036;p30"/>
          <p:cNvSpPr/>
          <p:nvPr/>
        </p:nvSpPr>
        <p:spPr>
          <a:xfrm>
            <a:off x="5897880" y="2103120"/>
            <a:ext cx="3017520" cy="530352"/>
          </a:xfrm>
          <a:prstGeom prst="rect">
            <a:avLst/>
          </a:prstGeom>
          <a:solidFill>
            <a:srgbClr val="111526"/>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30"/>
          <p:cNvSpPr/>
          <p:nvPr/>
        </p:nvSpPr>
        <p:spPr>
          <a:xfrm>
            <a:off x="5971032" y="2139696"/>
            <a:ext cx="287121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950"/>
              <a:buFont typeface="Calibri"/>
              <a:buNone/>
            </a:pPr>
            <a:r>
              <a:rPr b="0" i="0" lang="en-US" sz="950" u="none" cap="none" strike="noStrike">
                <a:solidFill>
                  <a:srgbClr val="F0F4FF"/>
                </a:solidFill>
                <a:latin typeface="Calibri"/>
                <a:ea typeface="Calibri"/>
                <a:cs typeface="Calibri"/>
                <a:sym typeface="Calibri"/>
              </a:rPr>
              <a:t>Rotar PADRE con X (p con x)</a:t>
            </a:r>
            <a:endParaRPr b="0" i="0" sz="950" u="none" cap="none" strike="noStrike">
              <a:solidFill>
                <a:schemeClr val="dk1"/>
              </a:solidFill>
              <a:latin typeface="Calibri"/>
              <a:ea typeface="Calibri"/>
              <a:cs typeface="Calibri"/>
              <a:sym typeface="Calibri"/>
            </a:endParaRPr>
          </a:p>
        </p:txBody>
      </p:sp>
      <p:sp>
        <p:nvSpPr>
          <p:cNvPr id="1038" name="Google Shape;1038;p30"/>
          <p:cNvSpPr/>
          <p:nvPr/>
        </p:nvSpPr>
        <p:spPr>
          <a:xfrm>
            <a:off x="137160" y="2670048"/>
            <a:ext cx="2560320" cy="530352"/>
          </a:xfrm>
          <a:prstGeom prst="rect">
            <a:avLst/>
          </a:prstGeom>
          <a:solidFill>
            <a:srgbClr val="141829"/>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30"/>
          <p:cNvSpPr/>
          <p:nvPr/>
        </p:nvSpPr>
        <p:spPr>
          <a:xfrm>
            <a:off x="210312" y="2706624"/>
            <a:ext cx="2414016"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50"/>
              <a:buFont typeface="Calibri"/>
              <a:buNone/>
            </a:pPr>
            <a:r>
              <a:rPr b="1" i="0" lang="en-US" sz="950" u="none" cap="none" strike="noStrike">
                <a:solidFill>
                  <a:srgbClr val="8892A4"/>
                </a:solidFill>
                <a:latin typeface="Calibri"/>
                <a:ea typeface="Calibri"/>
                <a:cs typeface="Calibri"/>
                <a:sym typeface="Calibri"/>
              </a:rPr>
              <a:t>Rotación 2</a:t>
            </a:r>
            <a:endParaRPr b="0" i="0" sz="950" u="none" cap="none" strike="noStrike">
              <a:solidFill>
                <a:schemeClr val="dk1"/>
              </a:solidFill>
              <a:latin typeface="Calibri"/>
              <a:ea typeface="Calibri"/>
              <a:cs typeface="Calibri"/>
              <a:sym typeface="Calibri"/>
            </a:endParaRPr>
          </a:p>
        </p:txBody>
      </p:sp>
      <p:sp>
        <p:nvSpPr>
          <p:cNvPr id="1040" name="Google Shape;1040;p30"/>
          <p:cNvSpPr/>
          <p:nvPr/>
        </p:nvSpPr>
        <p:spPr>
          <a:xfrm>
            <a:off x="2788920" y="2670048"/>
            <a:ext cx="3017520" cy="530352"/>
          </a:xfrm>
          <a:prstGeom prst="rect">
            <a:avLst/>
          </a:prstGeom>
          <a:solidFill>
            <a:srgbClr val="141829"/>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30"/>
          <p:cNvSpPr/>
          <p:nvPr/>
        </p:nvSpPr>
        <p:spPr>
          <a:xfrm>
            <a:off x="2862072" y="2706624"/>
            <a:ext cx="287121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950"/>
              <a:buFont typeface="Calibri"/>
              <a:buNone/>
            </a:pPr>
            <a:r>
              <a:rPr b="0" i="0" lang="en-US" sz="950" u="none" cap="none" strike="noStrike">
                <a:solidFill>
                  <a:srgbClr val="F0F4FF"/>
                </a:solidFill>
                <a:latin typeface="Calibri"/>
                <a:ea typeface="Calibri"/>
                <a:cs typeface="Calibri"/>
                <a:sym typeface="Calibri"/>
              </a:rPr>
              <a:t>Rotar PADRE con X (p con x)</a:t>
            </a:r>
            <a:endParaRPr b="0" i="0" sz="950" u="none" cap="none" strike="noStrike">
              <a:solidFill>
                <a:schemeClr val="dk1"/>
              </a:solidFill>
              <a:latin typeface="Calibri"/>
              <a:ea typeface="Calibri"/>
              <a:cs typeface="Calibri"/>
              <a:sym typeface="Calibri"/>
            </a:endParaRPr>
          </a:p>
        </p:txBody>
      </p:sp>
      <p:sp>
        <p:nvSpPr>
          <p:cNvPr id="1042" name="Google Shape;1042;p30"/>
          <p:cNvSpPr/>
          <p:nvPr/>
        </p:nvSpPr>
        <p:spPr>
          <a:xfrm>
            <a:off x="5897880" y="2670048"/>
            <a:ext cx="3017520" cy="530352"/>
          </a:xfrm>
          <a:prstGeom prst="rect">
            <a:avLst/>
          </a:prstGeom>
          <a:solidFill>
            <a:srgbClr val="141829"/>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30"/>
          <p:cNvSpPr/>
          <p:nvPr/>
        </p:nvSpPr>
        <p:spPr>
          <a:xfrm>
            <a:off x="5971032" y="2706624"/>
            <a:ext cx="287121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950"/>
              <a:buFont typeface="Calibri"/>
              <a:buNone/>
            </a:pPr>
            <a:r>
              <a:rPr b="0" i="0" lang="en-US" sz="950" u="none" cap="none" strike="noStrike">
                <a:solidFill>
                  <a:srgbClr val="F0F4FF"/>
                </a:solidFill>
                <a:latin typeface="Calibri"/>
                <a:ea typeface="Calibri"/>
                <a:cs typeface="Calibri"/>
                <a:sym typeface="Calibri"/>
              </a:rPr>
              <a:t>Rotar ABUELO con X (g con x)</a:t>
            </a:r>
            <a:endParaRPr b="0" i="0" sz="950" u="none" cap="none" strike="noStrike">
              <a:solidFill>
                <a:schemeClr val="dk1"/>
              </a:solidFill>
              <a:latin typeface="Calibri"/>
              <a:ea typeface="Calibri"/>
              <a:cs typeface="Calibri"/>
              <a:sym typeface="Calibri"/>
            </a:endParaRPr>
          </a:p>
        </p:txBody>
      </p:sp>
      <p:sp>
        <p:nvSpPr>
          <p:cNvPr id="1044" name="Google Shape;1044;p30"/>
          <p:cNvSpPr/>
          <p:nvPr/>
        </p:nvSpPr>
        <p:spPr>
          <a:xfrm>
            <a:off x="137160" y="3236976"/>
            <a:ext cx="2560320" cy="530352"/>
          </a:xfrm>
          <a:prstGeom prst="rect">
            <a:avLst/>
          </a:prstGeom>
          <a:solidFill>
            <a:srgbClr val="111526"/>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30"/>
          <p:cNvSpPr/>
          <p:nvPr/>
        </p:nvSpPr>
        <p:spPr>
          <a:xfrm>
            <a:off x="210312" y="3273552"/>
            <a:ext cx="2414016"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50"/>
              <a:buFont typeface="Calibri"/>
              <a:buNone/>
            </a:pPr>
            <a:r>
              <a:rPr b="1" i="0" lang="en-US" sz="950" u="none" cap="none" strike="noStrike">
                <a:solidFill>
                  <a:srgbClr val="8892A4"/>
                </a:solidFill>
                <a:latin typeface="Calibri"/>
                <a:ea typeface="Calibri"/>
                <a:cs typeface="Calibri"/>
                <a:sym typeface="Calibri"/>
              </a:rPr>
              <a:t>Efecto en path</a:t>
            </a:r>
            <a:endParaRPr b="0" i="0" sz="950" u="none" cap="none" strike="noStrike">
              <a:solidFill>
                <a:schemeClr val="dk1"/>
              </a:solidFill>
              <a:latin typeface="Calibri"/>
              <a:ea typeface="Calibri"/>
              <a:cs typeface="Calibri"/>
              <a:sym typeface="Calibri"/>
            </a:endParaRPr>
          </a:p>
        </p:txBody>
      </p:sp>
      <p:sp>
        <p:nvSpPr>
          <p:cNvPr id="1046" name="Google Shape;1046;p30"/>
          <p:cNvSpPr/>
          <p:nvPr/>
        </p:nvSpPr>
        <p:spPr>
          <a:xfrm>
            <a:off x="2788920" y="3236976"/>
            <a:ext cx="3017520" cy="530352"/>
          </a:xfrm>
          <a:prstGeom prst="rect">
            <a:avLst/>
          </a:prstGeom>
          <a:solidFill>
            <a:srgbClr val="111526"/>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30"/>
          <p:cNvSpPr/>
          <p:nvPr/>
        </p:nvSpPr>
        <p:spPr>
          <a:xfrm>
            <a:off x="2862072" y="3273552"/>
            <a:ext cx="287121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950"/>
              <a:buFont typeface="Calibri"/>
              <a:buNone/>
            </a:pPr>
            <a:r>
              <a:rPr b="0" i="0" lang="en-US" sz="950" u="none" cap="none" strike="noStrike">
                <a:solidFill>
                  <a:srgbClr val="F0F4FF"/>
                </a:solidFill>
                <a:latin typeface="Calibri"/>
                <a:ea typeface="Calibri"/>
                <a:cs typeface="Calibri"/>
                <a:sym typeface="Calibri"/>
              </a:rPr>
              <a:t>Acorta ~mitad de nodos en el path</a:t>
            </a:r>
            <a:endParaRPr b="0" i="0" sz="950" u="none" cap="none" strike="noStrike">
              <a:solidFill>
                <a:schemeClr val="dk1"/>
              </a:solidFill>
              <a:latin typeface="Calibri"/>
              <a:ea typeface="Calibri"/>
              <a:cs typeface="Calibri"/>
              <a:sym typeface="Calibri"/>
            </a:endParaRPr>
          </a:p>
        </p:txBody>
      </p:sp>
      <p:sp>
        <p:nvSpPr>
          <p:cNvPr id="1048" name="Google Shape;1048;p30"/>
          <p:cNvSpPr/>
          <p:nvPr/>
        </p:nvSpPr>
        <p:spPr>
          <a:xfrm>
            <a:off x="5897880" y="3236976"/>
            <a:ext cx="3017520" cy="530352"/>
          </a:xfrm>
          <a:prstGeom prst="rect">
            <a:avLst/>
          </a:prstGeom>
          <a:solidFill>
            <a:srgbClr val="111526"/>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30"/>
          <p:cNvSpPr/>
          <p:nvPr/>
        </p:nvSpPr>
        <p:spPr>
          <a:xfrm>
            <a:off x="5971032" y="3273552"/>
            <a:ext cx="287121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950"/>
              <a:buFont typeface="Calibri"/>
              <a:buNone/>
            </a:pPr>
            <a:r>
              <a:rPr b="0" i="0" lang="en-US" sz="950" u="none" cap="none" strike="noStrike">
                <a:solidFill>
                  <a:srgbClr val="F0F4FF"/>
                </a:solidFill>
                <a:latin typeface="Calibri"/>
                <a:ea typeface="Calibri"/>
                <a:cs typeface="Calibri"/>
                <a:sym typeface="Calibri"/>
              </a:rPr>
              <a:t>Acorta solo x y su padre</a:t>
            </a:r>
            <a:endParaRPr b="0" i="0" sz="950" u="none" cap="none" strike="noStrike">
              <a:solidFill>
                <a:schemeClr val="dk1"/>
              </a:solidFill>
              <a:latin typeface="Calibri"/>
              <a:ea typeface="Calibri"/>
              <a:cs typeface="Calibri"/>
              <a:sym typeface="Calibri"/>
            </a:endParaRPr>
          </a:p>
        </p:txBody>
      </p:sp>
      <p:sp>
        <p:nvSpPr>
          <p:cNvPr id="1050" name="Google Shape;1050;p30"/>
          <p:cNvSpPr/>
          <p:nvPr/>
        </p:nvSpPr>
        <p:spPr>
          <a:xfrm>
            <a:off x="137160" y="3803904"/>
            <a:ext cx="2560320" cy="530352"/>
          </a:xfrm>
          <a:prstGeom prst="rect">
            <a:avLst/>
          </a:prstGeom>
          <a:solidFill>
            <a:srgbClr val="141829"/>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30"/>
          <p:cNvSpPr/>
          <p:nvPr/>
        </p:nvSpPr>
        <p:spPr>
          <a:xfrm>
            <a:off x="210312" y="3840480"/>
            <a:ext cx="2414016"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50"/>
              <a:buFont typeface="Calibri"/>
              <a:buNone/>
            </a:pPr>
            <a:r>
              <a:rPr b="1" i="0" lang="en-US" sz="950" u="none" cap="none" strike="noStrike">
                <a:solidFill>
                  <a:srgbClr val="8892A4"/>
                </a:solidFill>
                <a:latin typeface="Calibri"/>
                <a:ea typeface="Calibri"/>
                <a:cs typeface="Calibri"/>
                <a:sym typeface="Calibri"/>
              </a:rPr>
              <a:t>Idéntico a AVL</a:t>
            </a:r>
            <a:endParaRPr b="0" i="0" sz="950" u="none" cap="none" strike="noStrike">
              <a:solidFill>
                <a:schemeClr val="dk1"/>
              </a:solidFill>
              <a:latin typeface="Calibri"/>
              <a:ea typeface="Calibri"/>
              <a:cs typeface="Calibri"/>
              <a:sym typeface="Calibri"/>
            </a:endParaRPr>
          </a:p>
        </p:txBody>
      </p:sp>
      <p:sp>
        <p:nvSpPr>
          <p:cNvPr id="1052" name="Google Shape;1052;p30"/>
          <p:cNvSpPr/>
          <p:nvPr/>
        </p:nvSpPr>
        <p:spPr>
          <a:xfrm>
            <a:off x="2788920" y="3803904"/>
            <a:ext cx="3017520" cy="530352"/>
          </a:xfrm>
          <a:prstGeom prst="rect">
            <a:avLst/>
          </a:prstGeom>
          <a:solidFill>
            <a:srgbClr val="141829"/>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30"/>
          <p:cNvSpPr/>
          <p:nvPr/>
        </p:nvSpPr>
        <p:spPr>
          <a:xfrm>
            <a:off x="2862072" y="3840480"/>
            <a:ext cx="287121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4444"/>
              </a:buClr>
              <a:buSzPts val="950"/>
              <a:buFont typeface="Calibri"/>
              <a:buNone/>
            </a:pPr>
            <a:r>
              <a:rPr b="0" i="0" lang="en-US" sz="950" u="none" cap="none" strike="noStrike">
                <a:solidFill>
                  <a:srgbClr val="EF4444"/>
                </a:solidFill>
                <a:latin typeface="Calibri"/>
                <a:ea typeface="Calibri"/>
                <a:cs typeface="Calibri"/>
                <a:sym typeface="Calibri"/>
              </a:rPr>
              <a:t>NO — el orden es diferente</a:t>
            </a:r>
            <a:endParaRPr b="0" i="0" sz="950" u="none" cap="none" strike="noStrike">
              <a:solidFill>
                <a:schemeClr val="dk1"/>
              </a:solidFill>
              <a:latin typeface="Calibri"/>
              <a:ea typeface="Calibri"/>
              <a:cs typeface="Calibri"/>
              <a:sym typeface="Calibri"/>
            </a:endParaRPr>
          </a:p>
        </p:txBody>
      </p:sp>
      <p:sp>
        <p:nvSpPr>
          <p:cNvPr id="1054" name="Google Shape;1054;p30"/>
          <p:cNvSpPr/>
          <p:nvPr/>
        </p:nvSpPr>
        <p:spPr>
          <a:xfrm>
            <a:off x="5897880" y="3803904"/>
            <a:ext cx="3017520" cy="530352"/>
          </a:xfrm>
          <a:prstGeom prst="rect">
            <a:avLst/>
          </a:prstGeom>
          <a:solidFill>
            <a:srgbClr val="141829"/>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30"/>
          <p:cNvSpPr/>
          <p:nvPr/>
        </p:nvSpPr>
        <p:spPr>
          <a:xfrm>
            <a:off x="5971032" y="3840480"/>
            <a:ext cx="287121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B981"/>
              </a:buClr>
              <a:buSzPts val="950"/>
              <a:buFont typeface="Calibri"/>
              <a:buNone/>
            </a:pPr>
            <a:r>
              <a:rPr b="0" i="0" lang="en-US" sz="950" u="none" cap="none" strike="noStrike">
                <a:solidFill>
                  <a:srgbClr val="10B981"/>
                </a:solidFill>
                <a:latin typeface="Calibri"/>
                <a:ea typeface="Calibri"/>
                <a:cs typeface="Calibri"/>
                <a:sym typeface="Calibri"/>
              </a:rPr>
              <a:t>SÍ — es exactamente la double rotation</a:t>
            </a:r>
            <a:endParaRPr b="0" i="0" sz="950" u="none" cap="none" strike="noStrike">
              <a:solidFill>
                <a:schemeClr val="dk1"/>
              </a:solidFill>
              <a:latin typeface="Calibri"/>
              <a:ea typeface="Calibri"/>
              <a:cs typeface="Calibri"/>
              <a:sym typeface="Calibri"/>
            </a:endParaRPr>
          </a:p>
        </p:txBody>
      </p:sp>
      <p:sp>
        <p:nvSpPr>
          <p:cNvPr id="1056" name="Google Shape;1056;p30"/>
          <p:cNvSpPr/>
          <p:nvPr/>
        </p:nvSpPr>
        <p:spPr>
          <a:xfrm>
            <a:off x="137160" y="4370832"/>
            <a:ext cx="2560320" cy="530352"/>
          </a:xfrm>
          <a:prstGeom prst="rect">
            <a:avLst/>
          </a:prstGeom>
          <a:solidFill>
            <a:srgbClr val="111526"/>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30"/>
          <p:cNvSpPr/>
          <p:nvPr/>
        </p:nvSpPr>
        <p:spPr>
          <a:xfrm>
            <a:off x="210312" y="4407408"/>
            <a:ext cx="2414016"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50"/>
              <a:buFont typeface="Calibri"/>
              <a:buNone/>
            </a:pPr>
            <a:r>
              <a:rPr b="1" i="0" lang="en-US" sz="950" u="none" cap="none" strike="noStrike">
                <a:solidFill>
                  <a:srgbClr val="8892A4"/>
                </a:solidFill>
                <a:latin typeface="Calibri"/>
                <a:ea typeface="Calibri"/>
                <a:cs typeface="Calibri"/>
                <a:sym typeface="Calibri"/>
              </a:rPr>
              <a:t>Importancia amortizada</a:t>
            </a:r>
            <a:endParaRPr b="0" i="0" sz="950" u="none" cap="none" strike="noStrike">
              <a:solidFill>
                <a:schemeClr val="dk1"/>
              </a:solidFill>
              <a:latin typeface="Calibri"/>
              <a:ea typeface="Calibri"/>
              <a:cs typeface="Calibri"/>
              <a:sym typeface="Calibri"/>
            </a:endParaRPr>
          </a:p>
        </p:txBody>
      </p:sp>
      <p:sp>
        <p:nvSpPr>
          <p:cNvPr id="1058" name="Google Shape;1058;p30"/>
          <p:cNvSpPr/>
          <p:nvPr/>
        </p:nvSpPr>
        <p:spPr>
          <a:xfrm>
            <a:off x="2788920" y="4370832"/>
            <a:ext cx="3017520" cy="530352"/>
          </a:xfrm>
          <a:prstGeom prst="rect">
            <a:avLst/>
          </a:prstGeom>
          <a:solidFill>
            <a:srgbClr val="111526"/>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30"/>
          <p:cNvSpPr/>
          <p:nvPr/>
        </p:nvSpPr>
        <p:spPr>
          <a:xfrm>
            <a:off x="2862072" y="4407408"/>
            <a:ext cx="287121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950"/>
              <a:buFont typeface="Calibri"/>
              <a:buNone/>
            </a:pPr>
            <a:r>
              <a:rPr b="0" i="0" lang="en-US" sz="950" u="none" cap="none" strike="noStrike">
                <a:solidFill>
                  <a:srgbClr val="F59E0B"/>
                </a:solidFill>
                <a:latin typeface="Calibri"/>
                <a:ea typeface="Calibri"/>
                <a:cs typeface="Calibri"/>
                <a:sym typeface="Calibri"/>
              </a:rPr>
              <a:t>CRÍTICO — clave de la garantía O(log n)</a:t>
            </a:r>
            <a:endParaRPr b="0" i="0" sz="950" u="none" cap="none" strike="noStrike">
              <a:solidFill>
                <a:schemeClr val="dk1"/>
              </a:solidFill>
              <a:latin typeface="Calibri"/>
              <a:ea typeface="Calibri"/>
              <a:cs typeface="Calibri"/>
              <a:sym typeface="Calibri"/>
            </a:endParaRPr>
          </a:p>
        </p:txBody>
      </p:sp>
      <p:sp>
        <p:nvSpPr>
          <p:cNvPr id="1060" name="Google Shape;1060;p30"/>
          <p:cNvSpPr/>
          <p:nvPr/>
        </p:nvSpPr>
        <p:spPr>
          <a:xfrm>
            <a:off x="5897880" y="4370832"/>
            <a:ext cx="3017520" cy="530352"/>
          </a:xfrm>
          <a:prstGeom prst="rect">
            <a:avLst/>
          </a:prstGeom>
          <a:solidFill>
            <a:srgbClr val="111526"/>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30"/>
          <p:cNvSpPr/>
          <p:nvPr/>
        </p:nvSpPr>
        <p:spPr>
          <a:xfrm>
            <a:off x="5971032" y="4407408"/>
            <a:ext cx="287121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950"/>
              <a:buFont typeface="Calibri"/>
              <a:buNone/>
            </a:pPr>
            <a:r>
              <a:rPr b="0" i="0" lang="en-US" sz="950" u="none" cap="none" strike="noStrike">
                <a:solidFill>
                  <a:srgbClr val="F0F4FF"/>
                </a:solidFill>
                <a:latin typeface="Calibri"/>
                <a:ea typeface="Calibri"/>
                <a:cs typeface="Calibri"/>
                <a:sym typeface="Calibri"/>
              </a:rPr>
              <a:t>Necesario pero no diferenciador</a:t>
            </a:r>
            <a:endParaRPr b="0" i="0" sz="950" u="none" cap="none" strike="noStrike">
              <a:solidFill>
                <a:schemeClr val="dk1"/>
              </a:solidFill>
              <a:latin typeface="Calibri"/>
              <a:ea typeface="Calibri"/>
              <a:cs typeface="Calibri"/>
              <a:sym typeface="Calibri"/>
            </a:endParaRPr>
          </a:p>
        </p:txBody>
      </p:sp>
      <p:sp>
        <p:nvSpPr>
          <p:cNvPr id="1062" name="Google Shape;1062;p30"/>
          <p:cNvSpPr/>
          <p:nvPr/>
        </p:nvSpPr>
        <p:spPr>
          <a:xfrm>
            <a:off x="137160" y="4828032"/>
            <a:ext cx="8869680" cy="246888"/>
          </a:xfrm>
          <a:prstGeom prst="rect">
            <a:avLst/>
          </a:prstGeom>
          <a:solidFill>
            <a:srgbClr val="1A2035"/>
          </a:solidFill>
          <a:ln cap="flat" cmpd="sng" w="9525">
            <a:solidFill>
              <a:srgbClr val="F59E0B"/>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30"/>
          <p:cNvSpPr/>
          <p:nvPr/>
        </p:nvSpPr>
        <p:spPr>
          <a:xfrm>
            <a:off x="274320" y="4828032"/>
            <a:ext cx="85953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950"/>
              <a:buFont typeface="Calibri"/>
              <a:buNone/>
            </a:pPr>
            <a:r>
              <a:rPr b="1" i="0" lang="en-US" sz="950" u="none" cap="none" strike="noStrike">
                <a:solidFill>
                  <a:srgbClr val="F59E0B"/>
                </a:solidFill>
                <a:latin typeface="Calibri"/>
                <a:ea typeface="Calibri"/>
                <a:cs typeface="Calibri"/>
                <a:sym typeface="Calibri"/>
              </a:rPr>
              <a:t>INSIGHT CLAVE: </a:t>
            </a:r>
            <a:r>
              <a:rPr b="0" i="0" lang="en-US" sz="950" u="none" cap="none" strike="noStrike">
                <a:solidFill>
                  <a:srgbClr val="F0F4FF"/>
                </a:solidFill>
                <a:latin typeface="Calibri"/>
                <a:ea typeface="Calibri"/>
                <a:cs typeface="Calibri"/>
                <a:sym typeface="Calibri"/>
              </a:rPr>
              <a:t>El Zig-Zig rota el abuelo ANTES que el padre — esto es lo que distingue splaying de 'rotar con el padre repetidamente'. La simple rotation-to-root puede dejar el árbol igual de profundo para otros nodos; el Zig-Zig garantiza que el path completo se acorta.</a:t>
            </a:r>
            <a:endParaRPr b="0" i="0" sz="950" u="none" cap="none" strike="noStrike">
              <a:solidFill>
                <a:schemeClr val="dk1"/>
              </a:solidFill>
              <a:latin typeface="Calibri"/>
              <a:ea typeface="Calibri"/>
              <a:cs typeface="Calibri"/>
              <a:sym typeface="Calibri"/>
            </a:endParaRPr>
          </a:p>
        </p:txBody>
      </p:sp>
      <p:sp>
        <p:nvSpPr>
          <p:cNvPr id="1064" name="Google Shape;1064;p30"/>
          <p:cNvSpPr/>
          <p:nvPr/>
        </p:nvSpPr>
        <p:spPr>
          <a:xfrm>
            <a:off x="137160" y="4846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AED · T5 · Splay · Comparativa</a:t>
            </a:r>
            <a:endParaRPr b="0" i="0" sz="900" u="none" cap="none" strike="noStrike">
              <a:solidFill>
                <a:schemeClr val="dk1"/>
              </a:solidFill>
              <a:latin typeface="Calibri"/>
              <a:ea typeface="Calibri"/>
              <a:cs typeface="Calibri"/>
              <a:sym typeface="Calibri"/>
            </a:endParaRPr>
          </a:p>
        </p:txBody>
      </p:sp>
      <p:sp>
        <p:nvSpPr>
          <p:cNvPr id="1065" name="Google Shape;1065;p30"/>
          <p:cNvSpPr/>
          <p:nvPr/>
        </p:nvSpPr>
        <p:spPr>
          <a:xfrm>
            <a:off x="8503920" y="4846320"/>
            <a:ext cx="54864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30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F1A"/>
        </a:solidFill>
      </p:bgPr>
    </p:bg>
    <p:spTree>
      <p:nvGrpSpPr>
        <p:cNvPr id="1070" name="Shape 1070"/>
        <p:cNvGrpSpPr/>
        <p:nvPr/>
      </p:nvGrpSpPr>
      <p:grpSpPr>
        <a:xfrm>
          <a:off x="0" y="0"/>
          <a:ext cx="0" cy="0"/>
          <a:chOff x="0" y="0"/>
          <a:chExt cx="0" cy="0"/>
        </a:xfrm>
      </p:grpSpPr>
      <p:sp>
        <p:nvSpPr>
          <p:cNvPr id="1071" name="Google Shape;1071;p31"/>
          <p:cNvSpPr/>
          <p:nvPr/>
        </p:nvSpPr>
        <p:spPr>
          <a:xfrm>
            <a:off x="0" y="0"/>
            <a:ext cx="54864"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31"/>
          <p:cNvSpPr/>
          <p:nvPr/>
        </p:nvSpPr>
        <p:spPr>
          <a:xfrm>
            <a:off x="182880" y="137160"/>
            <a:ext cx="87782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2600"/>
              <a:buFont typeface="Trebuchet MS"/>
              <a:buNone/>
            </a:pPr>
            <a:r>
              <a:rPr b="1" i="0" lang="en-US" sz="2600" u="none" cap="none" strike="noStrike">
                <a:solidFill>
                  <a:srgbClr val="F0F4FF"/>
                </a:solidFill>
                <a:latin typeface="Trebuchet MS"/>
                <a:ea typeface="Trebuchet MS"/>
                <a:cs typeface="Trebuchet MS"/>
                <a:sym typeface="Trebuchet MS"/>
              </a:rPr>
              <a:t>¿Cuál árbol usar? — La guía de decisión</a:t>
            </a:r>
            <a:endParaRPr b="0" i="0" sz="2600" u="none" cap="none" strike="noStrike">
              <a:solidFill>
                <a:schemeClr val="dk1"/>
              </a:solidFill>
              <a:latin typeface="Calibri"/>
              <a:ea typeface="Calibri"/>
              <a:cs typeface="Calibri"/>
              <a:sym typeface="Calibri"/>
            </a:endParaRPr>
          </a:p>
        </p:txBody>
      </p:sp>
      <p:sp>
        <p:nvSpPr>
          <p:cNvPr id="1073" name="Google Shape;1073;p31"/>
          <p:cNvSpPr/>
          <p:nvPr/>
        </p:nvSpPr>
        <p:spPr>
          <a:xfrm>
            <a:off x="182880" y="749808"/>
            <a:ext cx="8778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1200"/>
              <a:buFont typeface="Calibri"/>
              <a:buNone/>
            </a:pPr>
            <a:r>
              <a:rPr b="0" i="1" lang="en-US" sz="1200" u="none" cap="none" strike="noStrike">
                <a:solidFill>
                  <a:srgbClr val="8892A4"/>
                </a:solidFill>
                <a:latin typeface="Calibri"/>
                <a:ea typeface="Calibri"/>
                <a:cs typeface="Calibri"/>
                <a:sym typeface="Calibri"/>
              </a:rPr>
              <a:t>std::map ya eligió por vos: Red-Black</a:t>
            </a:r>
            <a:endParaRPr b="0" i="0" sz="1200" u="none" cap="none" strike="noStrike">
              <a:solidFill>
                <a:schemeClr val="dk1"/>
              </a:solidFill>
              <a:latin typeface="Calibri"/>
              <a:ea typeface="Calibri"/>
              <a:cs typeface="Calibri"/>
              <a:sym typeface="Calibri"/>
            </a:endParaRPr>
          </a:p>
        </p:txBody>
      </p:sp>
      <p:sp>
        <p:nvSpPr>
          <p:cNvPr id="1074" name="Google Shape;1074;p31"/>
          <p:cNvSpPr/>
          <p:nvPr/>
        </p:nvSpPr>
        <p:spPr>
          <a:xfrm>
            <a:off x="182880" y="1024128"/>
            <a:ext cx="1463040" cy="27432"/>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31"/>
          <p:cNvSpPr/>
          <p:nvPr/>
        </p:nvSpPr>
        <p:spPr>
          <a:xfrm>
            <a:off x="137160" y="1188720"/>
            <a:ext cx="1645920" cy="292608"/>
          </a:xfrm>
          <a:prstGeom prst="rect">
            <a:avLst/>
          </a:prstGeom>
          <a:solidFill>
            <a:srgbClr val="3D4A5C"/>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31"/>
          <p:cNvSpPr/>
          <p:nvPr/>
        </p:nvSpPr>
        <p:spPr>
          <a:xfrm>
            <a:off x="192024" y="1188720"/>
            <a:ext cx="15361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Propiedad</a:t>
            </a:r>
            <a:endParaRPr b="0" i="0" sz="900" u="none" cap="none" strike="noStrike">
              <a:solidFill>
                <a:schemeClr val="dk1"/>
              </a:solidFill>
              <a:latin typeface="Calibri"/>
              <a:ea typeface="Calibri"/>
              <a:cs typeface="Calibri"/>
              <a:sym typeface="Calibri"/>
            </a:endParaRPr>
          </a:p>
        </p:txBody>
      </p:sp>
      <p:sp>
        <p:nvSpPr>
          <p:cNvPr id="1077" name="Google Shape;1077;p31"/>
          <p:cNvSpPr/>
          <p:nvPr/>
        </p:nvSpPr>
        <p:spPr>
          <a:xfrm>
            <a:off x="1828800" y="1188720"/>
            <a:ext cx="1645920" cy="292608"/>
          </a:xfrm>
          <a:prstGeom prst="rect">
            <a:avLst/>
          </a:prstGeom>
          <a:solidFill>
            <a:srgbClr val="7F1D1D"/>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31"/>
          <p:cNvSpPr/>
          <p:nvPr/>
        </p:nvSpPr>
        <p:spPr>
          <a:xfrm>
            <a:off x="1883664" y="1188720"/>
            <a:ext cx="15361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BST Simple</a:t>
            </a:r>
            <a:endParaRPr b="0" i="0" sz="900" u="none" cap="none" strike="noStrike">
              <a:solidFill>
                <a:schemeClr val="dk1"/>
              </a:solidFill>
              <a:latin typeface="Calibri"/>
              <a:ea typeface="Calibri"/>
              <a:cs typeface="Calibri"/>
              <a:sym typeface="Calibri"/>
            </a:endParaRPr>
          </a:p>
        </p:txBody>
      </p:sp>
      <p:sp>
        <p:nvSpPr>
          <p:cNvPr id="1079" name="Google Shape;1079;p31"/>
          <p:cNvSpPr/>
          <p:nvPr/>
        </p:nvSpPr>
        <p:spPr>
          <a:xfrm>
            <a:off x="3520440" y="1188720"/>
            <a:ext cx="1645920" cy="292608"/>
          </a:xfrm>
          <a:prstGeom prst="rect">
            <a:avLst/>
          </a:prstGeom>
          <a:solidFill>
            <a:srgbClr val="7C3AED"/>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31"/>
          <p:cNvSpPr/>
          <p:nvPr/>
        </p:nvSpPr>
        <p:spPr>
          <a:xfrm>
            <a:off x="3575304" y="1188720"/>
            <a:ext cx="15361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AVL</a:t>
            </a:r>
            <a:endParaRPr b="0" i="0" sz="900" u="none" cap="none" strike="noStrike">
              <a:solidFill>
                <a:schemeClr val="dk1"/>
              </a:solidFill>
              <a:latin typeface="Calibri"/>
              <a:ea typeface="Calibri"/>
              <a:cs typeface="Calibri"/>
              <a:sym typeface="Calibri"/>
            </a:endParaRPr>
          </a:p>
        </p:txBody>
      </p:sp>
      <p:sp>
        <p:nvSpPr>
          <p:cNvPr id="1081" name="Google Shape;1081;p31"/>
          <p:cNvSpPr/>
          <p:nvPr/>
        </p:nvSpPr>
        <p:spPr>
          <a:xfrm>
            <a:off x="5212080" y="1188720"/>
            <a:ext cx="1645920" cy="292608"/>
          </a:xfrm>
          <a:prstGeom prst="rect">
            <a:avLst/>
          </a:prstGeom>
          <a:solidFill>
            <a:srgbClr val="EF4444"/>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31"/>
          <p:cNvSpPr/>
          <p:nvPr/>
        </p:nvSpPr>
        <p:spPr>
          <a:xfrm>
            <a:off x="5266944" y="1188720"/>
            <a:ext cx="15361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Red-Black</a:t>
            </a:r>
            <a:endParaRPr b="0" i="0" sz="900" u="none" cap="none" strike="noStrike">
              <a:solidFill>
                <a:schemeClr val="dk1"/>
              </a:solidFill>
              <a:latin typeface="Calibri"/>
              <a:ea typeface="Calibri"/>
              <a:cs typeface="Calibri"/>
              <a:sym typeface="Calibri"/>
            </a:endParaRPr>
          </a:p>
        </p:txBody>
      </p:sp>
      <p:sp>
        <p:nvSpPr>
          <p:cNvPr id="1083" name="Google Shape;1083;p31"/>
          <p:cNvSpPr/>
          <p:nvPr/>
        </p:nvSpPr>
        <p:spPr>
          <a:xfrm>
            <a:off x="6903720" y="1188720"/>
            <a:ext cx="2286000" cy="292608"/>
          </a:xfrm>
          <a:prstGeom prst="rect">
            <a:avLst/>
          </a:prstGeom>
          <a:solidFill>
            <a:srgbClr val="F59E0B"/>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31"/>
          <p:cNvSpPr/>
          <p:nvPr/>
        </p:nvSpPr>
        <p:spPr>
          <a:xfrm>
            <a:off x="6958584" y="1188720"/>
            <a:ext cx="217627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Splay</a:t>
            </a:r>
            <a:endParaRPr b="0" i="0" sz="900" u="none" cap="none" strike="noStrike">
              <a:solidFill>
                <a:schemeClr val="dk1"/>
              </a:solidFill>
              <a:latin typeface="Calibri"/>
              <a:ea typeface="Calibri"/>
              <a:cs typeface="Calibri"/>
              <a:sym typeface="Calibri"/>
            </a:endParaRPr>
          </a:p>
        </p:txBody>
      </p:sp>
      <p:sp>
        <p:nvSpPr>
          <p:cNvPr id="1085" name="Google Shape;1085;p31"/>
          <p:cNvSpPr/>
          <p:nvPr/>
        </p:nvSpPr>
        <p:spPr>
          <a:xfrm>
            <a:off x="137160" y="1508760"/>
            <a:ext cx="1645920" cy="384048"/>
          </a:xfrm>
          <a:prstGeom prst="rect">
            <a:avLst/>
          </a:prstGeom>
          <a:solidFill>
            <a:srgbClr val="141829"/>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31"/>
          <p:cNvSpPr/>
          <p:nvPr/>
        </p:nvSpPr>
        <p:spPr>
          <a:xfrm>
            <a:off x="192024" y="1527048"/>
            <a:ext cx="153619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onsolas"/>
              <a:buNone/>
            </a:pPr>
            <a:r>
              <a:rPr b="0" i="0" lang="en-US" sz="900" u="none" cap="none" strike="noStrike">
                <a:solidFill>
                  <a:srgbClr val="8892A4"/>
                </a:solidFill>
                <a:latin typeface="Consolas"/>
                <a:ea typeface="Consolas"/>
                <a:cs typeface="Consolas"/>
                <a:sym typeface="Consolas"/>
              </a:rPr>
              <a:t>Search worst</a:t>
            </a:r>
            <a:endParaRPr b="0" i="0" sz="900" u="none" cap="none" strike="noStrike">
              <a:solidFill>
                <a:schemeClr val="dk1"/>
              </a:solidFill>
              <a:latin typeface="Calibri"/>
              <a:ea typeface="Calibri"/>
              <a:cs typeface="Calibri"/>
              <a:sym typeface="Calibri"/>
            </a:endParaRPr>
          </a:p>
        </p:txBody>
      </p:sp>
      <p:sp>
        <p:nvSpPr>
          <p:cNvPr id="1087" name="Google Shape;1087;p31"/>
          <p:cNvSpPr/>
          <p:nvPr/>
        </p:nvSpPr>
        <p:spPr>
          <a:xfrm>
            <a:off x="1828800" y="1508760"/>
            <a:ext cx="1645920" cy="384048"/>
          </a:xfrm>
          <a:prstGeom prst="rect">
            <a:avLst/>
          </a:prstGeom>
          <a:solidFill>
            <a:srgbClr val="141829"/>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31"/>
          <p:cNvSpPr/>
          <p:nvPr/>
        </p:nvSpPr>
        <p:spPr>
          <a:xfrm>
            <a:off x="1883664" y="1527048"/>
            <a:ext cx="15361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4444"/>
              </a:buClr>
              <a:buSzPts val="850"/>
              <a:buFont typeface="Consolas"/>
              <a:buNone/>
            </a:pPr>
            <a:r>
              <a:rPr b="0" i="0" lang="en-US" sz="850" u="none" cap="none" strike="noStrike">
                <a:solidFill>
                  <a:srgbClr val="EF4444"/>
                </a:solidFill>
                <a:latin typeface="Consolas"/>
                <a:ea typeface="Consolas"/>
                <a:cs typeface="Consolas"/>
                <a:sym typeface="Consolas"/>
              </a:rPr>
              <a:t>O(n)</a:t>
            </a:r>
            <a:endParaRPr b="0" i="0" sz="850" u="none" cap="none" strike="noStrike">
              <a:solidFill>
                <a:schemeClr val="dk1"/>
              </a:solidFill>
              <a:latin typeface="Calibri"/>
              <a:ea typeface="Calibri"/>
              <a:cs typeface="Calibri"/>
              <a:sym typeface="Calibri"/>
            </a:endParaRPr>
          </a:p>
        </p:txBody>
      </p:sp>
      <p:sp>
        <p:nvSpPr>
          <p:cNvPr id="1089" name="Google Shape;1089;p31"/>
          <p:cNvSpPr/>
          <p:nvPr/>
        </p:nvSpPr>
        <p:spPr>
          <a:xfrm>
            <a:off x="3520440" y="1508760"/>
            <a:ext cx="1645920" cy="384048"/>
          </a:xfrm>
          <a:prstGeom prst="rect">
            <a:avLst/>
          </a:prstGeom>
          <a:solidFill>
            <a:srgbClr val="141829"/>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31"/>
          <p:cNvSpPr/>
          <p:nvPr/>
        </p:nvSpPr>
        <p:spPr>
          <a:xfrm>
            <a:off x="3575304" y="1527048"/>
            <a:ext cx="15361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B981"/>
              </a:buClr>
              <a:buSzPts val="850"/>
              <a:buFont typeface="Consolas"/>
              <a:buNone/>
            </a:pPr>
            <a:r>
              <a:rPr b="0" i="0" lang="en-US" sz="850" u="none" cap="none" strike="noStrike">
                <a:solidFill>
                  <a:srgbClr val="10B981"/>
                </a:solidFill>
                <a:latin typeface="Consolas"/>
                <a:ea typeface="Consolas"/>
                <a:cs typeface="Consolas"/>
                <a:sym typeface="Consolas"/>
              </a:rPr>
              <a:t>O(log n) ✓</a:t>
            </a:r>
            <a:endParaRPr b="0" i="0" sz="850" u="none" cap="none" strike="noStrike">
              <a:solidFill>
                <a:schemeClr val="dk1"/>
              </a:solidFill>
              <a:latin typeface="Calibri"/>
              <a:ea typeface="Calibri"/>
              <a:cs typeface="Calibri"/>
              <a:sym typeface="Calibri"/>
            </a:endParaRPr>
          </a:p>
        </p:txBody>
      </p:sp>
      <p:sp>
        <p:nvSpPr>
          <p:cNvPr id="1091" name="Google Shape;1091;p31"/>
          <p:cNvSpPr/>
          <p:nvPr/>
        </p:nvSpPr>
        <p:spPr>
          <a:xfrm>
            <a:off x="5212080" y="1508760"/>
            <a:ext cx="1645920" cy="384048"/>
          </a:xfrm>
          <a:prstGeom prst="rect">
            <a:avLst/>
          </a:prstGeom>
          <a:solidFill>
            <a:srgbClr val="141829"/>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31"/>
          <p:cNvSpPr/>
          <p:nvPr/>
        </p:nvSpPr>
        <p:spPr>
          <a:xfrm>
            <a:off x="5266944" y="1527048"/>
            <a:ext cx="15361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B981"/>
              </a:buClr>
              <a:buSzPts val="850"/>
              <a:buFont typeface="Consolas"/>
              <a:buNone/>
            </a:pPr>
            <a:r>
              <a:rPr b="0" i="0" lang="en-US" sz="850" u="none" cap="none" strike="noStrike">
                <a:solidFill>
                  <a:srgbClr val="10B981"/>
                </a:solidFill>
                <a:latin typeface="Consolas"/>
                <a:ea typeface="Consolas"/>
                <a:cs typeface="Consolas"/>
                <a:sym typeface="Consolas"/>
              </a:rPr>
              <a:t>O(log n) ✓</a:t>
            </a:r>
            <a:endParaRPr b="0" i="0" sz="850" u="none" cap="none" strike="noStrike">
              <a:solidFill>
                <a:schemeClr val="dk1"/>
              </a:solidFill>
              <a:latin typeface="Calibri"/>
              <a:ea typeface="Calibri"/>
              <a:cs typeface="Calibri"/>
              <a:sym typeface="Calibri"/>
            </a:endParaRPr>
          </a:p>
        </p:txBody>
      </p:sp>
      <p:sp>
        <p:nvSpPr>
          <p:cNvPr id="1093" name="Google Shape;1093;p31"/>
          <p:cNvSpPr/>
          <p:nvPr/>
        </p:nvSpPr>
        <p:spPr>
          <a:xfrm>
            <a:off x="6903720" y="1508760"/>
            <a:ext cx="2286000" cy="384048"/>
          </a:xfrm>
          <a:prstGeom prst="rect">
            <a:avLst/>
          </a:prstGeom>
          <a:solidFill>
            <a:srgbClr val="141829"/>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31"/>
          <p:cNvSpPr/>
          <p:nvPr/>
        </p:nvSpPr>
        <p:spPr>
          <a:xfrm>
            <a:off x="6958584" y="1527048"/>
            <a:ext cx="21762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850"/>
              <a:buFont typeface="Consolas"/>
              <a:buNone/>
            </a:pPr>
            <a:r>
              <a:rPr b="0" i="0" lang="en-US" sz="850" u="none" cap="none" strike="noStrike">
                <a:solidFill>
                  <a:srgbClr val="F0F4FF"/>
                </a:solidFill>
                <a:latin typeface="Consolas"/>
                <a:ea typeface="Consolas"/>
                <a:cs typeface="Consolas"/>
                <a:sym typeface="Consolas"/>
              </a:rPr>
              <a:t>O(n) / O(log n) amor.</a:t>
            </a:r>
            <a:endParaRPr b="0" i="0" sz="850" u="none" cap="none" strike="noStrike">
              <a:solidFill>
                <a:schemeClr val="dk1"/>
              </a:solidFill>
              <a:latin typeface="Calibri"/>
              <a:ea typeface="Calibri"/>
              <a:cs typeface="Calibri"/>
              <a:sym typeface="Calibri"/>
            </a:endParaRPr>
          </a:p>
        </p:txBody>
      </p:sp>
      <p:sp>
        <p:nvSpPr>
          <p:cNvPr id="1095" name="Google Shape;1095;p31"/>
          <p:cNvSpPr/>
          <p:nvPr/>
        </p:nvSpPr>
        <p:spPr>
          <a:xfrm>
            <a:off x="137160" y="1920240"/>
            <a:ext cx="1645920" cy="384048"/>
          </a:xfrm>
          <a:prstGeom prst="rect">
            <a:avLst/>
          </a:prstGeom>
          <a:solidFill>
            <a:srgbClr val="111526"/>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31"/>
          <p:cNvSpPr/>
          <p:nvPr/>
        </p:nvSpPr>
        <p:spPr>
          <a:xfrm>
            <a:off x="192024" y="1938528"/>
            <a:ext cx="153619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onsolas"/>
              <a:buNone/>
            </a:pPr>
            <a:r>
              <a:rPr b="0" i="0" lang="en-US" sz="900" u="none" cap="none" strike="noStrike">
                <a:solidFill>
                  <a:srgbClr val="8892A4"/>
                </a:solidFill>
                <a:latin typeface="Consolas"/>
                <a:ea typeface="Consolas"/>
                <a:cs typeface="Consolas"/>
                <a:sym typeface="Consolas"/>
              </a:rPr>
              <a:t>Insert worst</a:t>
            </a:r>
            <a:endParaRPr b="0" i="0" sz="900" u="none" cap="none" strike="noStrike">
              <a:solidFill>
                <a:schemeClr val="dk1"/>
              </a:solidFill>
              <a:latin typeface="Calibri"/>
              <a:ea typeface="Calibri"/>
              <a:cs typeface="Calibri"/>
              <a:sym typeface="Calibri"/>
            </a:endParaRPr>
          </a:p>
        </p:txBody>
      </p:sp>
      <p:sp>
        <p:nvSpPr>
          <p:cNvPr id="1097" name="Google Shape;1097;p31"/>
          <p:cNvSpPr/>
          <p:nvPr/>
        </p:nvSpPr>
        <p:spPr>
          <a:xfrm>
            <a:off x="1828800" y="1920240"/>
            <a:ext cx="1645920" cy="384048"/>
          </a:xfrm>
          <a:prstGeom prst="rect">
            <a:avLst/>
          </a:prstGeom>
          <a:solidFill>
            <a:srgbClr val="111526"/>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31"/>
          <p:cNvSpPr/>
          <p:nvPr/>
        </p:nvSpPr>
        <p:spPr>
          <a:xfrm>
            <a:off x="1883664" y="1938528"/>
            <a:ext cx="15361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4444"/>
              </a:buClr>
              <a:buSzPts val="850"/>
              <a:buFont typeface="Consolas"/>
              <a:buNone/>
            </a:pPr>
            <a:r>
              <a:rPr b="0" i="0" lang="en-US" sz="850" u="none" cap="none" strike="noStrike">
                <a:solidFill>
                  <a:srgbClr val="EF4444"/>
                </a:solidFill>
                <a:latin typeface="Consolas"/>
                <a:ea typeface="Consolas"/>
                <a:cs typeface="Consolas"/>
                <a:sym typeface="Consolas"/>
              </a:rPr>
              <a:t>O(n)</a:t>
            </a:r>
            <a:endParaRPr b="0" i="0" sz="850" u="none" cap="none" strike="noStrike">
              <a:solidFill>
                <a:schemeClr val="dk1"/>
              </a:solidFill>
              <a:latin typeface="Calibri"/>
              <a:ea typeface="Calibri"/>
              <a:cs typeface="Calibri"/>
              <a:sym typeface="Calibri"/>
            </a:endParaRPr>
          </a:p>
        </p:txBody>
      </p:sp>
      <p:sp>
        <p:nvSpPr>
          <p:cNvPr id="1099" name="Google Shape;1099;p31"/>
          <p:cNvSpPr/>
          <p:nvPr/>
        </p:nvSpPr>
        <p:spPr>
          <a:xfrm>
            <a:off x="3520440" y="1920240"/>
            <a:ext cx="1645920" cy="384048"/>
          </a:xfrm>
          <a:prstGeom prst="rect">
            <a:avLst/>
          </a:prstGeom>
          <a:solidFill>
            <a:srgbClr val="111526"/>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31"/>
          <p:cNvSpPr/>
          <p:nvPr/>
        </p:nvSpPr>
        <p:spPr>
          <a:xfrm>
            <a:off x="3575304" y="1938528"/>
            <a:ext cx="15361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B981"/>
              </a:buClr>
              <a:buSzPts val="850"/>
              <a:buFont typeface="Consolas"/>
              <a:buNone/>
            </a:pPr>
            <a:r>
              <a:rPr b="0" i="0" lang="en-US" sz="850" u="none" cap="none" strike="noStrike">
                <a:solidFill>
                  <a:srgbClr val="10B981"/>
                </a:solidFill>
                <a:latin typeface="Consolas"/>
                <a:ea typeface="Consolas"/>
                <a:cs typeface="Consolas"/>
                <a:sym typeface="Consolas"/>
              </a:rPr>
              <a:t>O(log n) ✓</a:t>
            </a:r>
            <a:endParaRPr b="0" i="0" sz="850" u="none" cap="none" strike="noStrike">
              <a:solidFill>
                <a:schemeClr val="dk1"/>
              </a:solidFill>
              <a:latin typeface="Calibri"/>
              <a:ea typeface="Calibri"/>
              <a:cs typeface="Calibri"/>
              <a:sym typeface="Calibri"/>
            </a:endParaRPr>
          </a:p>
        </p:txBody>
      </p:sp>
      <p:sp>
        <p:nvSpPr>
          <p:cNvPr id="1101" name="Google Shape;1101;p31"/>
          <p:cNvSpPr/>
          <p:nvPr/>
        </p:nvSpPr>
        <p:spPr>
          <a:xfrm>
            <a:off x="5212080" y="1920240"/>
            <a:ext cx="1645920" cy="384048"/>
          </a:xfrm>
          <a:prstGeom prst="rect">
            <a:avLst/>
          </a:prstGeom>
          <a:solidFill>
            <a:srgbClr val="111526"/>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31"/>
          <p:cNvSpPr/>
          <p:nvPr/>
        </p:nvSpPr>
        <p:spPr>
          <a:xfrm>
            <a:off x="5266944" y="1938528"/>
            <a:ext cx="15361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B981"/>
              </a:buClr>
              <a:buSzPts val="850"/>
              <a:buFont typeface="Consolas"/>
              <a:buNone/>
            </a:pPr>
            <a:r>
              <a:rPr b="0" i="0" lang="en-US" sz="850" u="none" cap="none" strike="noStrike">
                <a:solidFill>
                  <a:srgbClr val="10B981"/>
                </a:solidFill>
                <a:latin typeface="Consolas"/>
                <a:ea typeface="Consolas"/>
                <a:cs typeface="Consolas"/>
                <a:sym typeface="Consolas"/>
              </a:rPr>
              <a:t>O(log n) ✓</a:t>
            </a:r>
            <a:endParaRPr b="0" i="0" sz="850" u="none" cap="none" strike="noStrike">
              <a:solidFill>
                <a:schemeClr val="dk1"/>
              </a:solidFill>
              <a:latin typeface="Calibri"/>
              <a:ea typeface="Calibri"/>
              <a:cs typeface="Calibri"/>
              <a:sym typeface="Calibri"/>
            </a:endParaRPr>
          </a:p>
        </p:txBody>
      </p:sp>
      <p:sp>
        <p:nvSpPr>
          <p:cNvPr id="1103" name="Google Shape;1103;p31"/>
          <p:cNvSpPr/>
          <p:nvPr/>
        </p:nvSpPr>
        <p:spPr>
          <a:xfrm>
            <a:off x="6903720" y="1920240"/>
            <a:ext cx="2286000" cy="384048"/>
          </a:xfrm>
          <a:prstGeom prst="rect">
            <a:avLst/>
          </a:prstGeom>
          <a:solidFill>
            <a:srgbClr val="111526"/>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31"/>
          <p:cNvSpPr/>
          <p:nvPr/>
        </p:nvSpPr>
        <p:spPr>
          <a:xfrm>
            <a:off x="6958584" y="1938528"/>
            <a:ext cx="21762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850"/>
              <a:buFont typeface="Consolas"/>
              <a:buNone/>
            </a:pPr>
            <a:r>
              <a:rPr b="0" i="0" lang="en-US" sz="850" u="none" cap="none" strike="noStrike">
                <a:solidFill>
                  <a:srgbClr val="F0F4FF"/>
                </a:solidFill>
                <a:latin typeface="Consolas"/>
                <a:ea typeface="Consolas"/>
                <a:cs typeface="Consolas"/>
                <a:sym typeface="Consolas"/>
              </a:rPr>
              <a:t>O(n) / O(log n) amor.</a:t>
            </a:r>
            <a:endParaRPr b="0" i="0" sz="850" u="none" cap="none" strike="noStrike">
              <a:solidFill>
                <a:schemeClr val="dk1"/>
              </a:solidFill>
              <a:latin typeface="Calibri"/>
              <a:ea typeface="Calibri"/>
              <a:cs typeface="Calibri"/>
              <a:sym typeface="Calibri"/>
            </a:endParaRPr>
          </a:p>
        </p:txBody>
      </p:sp>
      <p:sp>
        <p:nvSpPr>
          <p:cNvPr id="1105" name="Google Shape;1105;p31"/>
          <p:cNvSpPr/>
          <p:nvPr/>
        </p:nvSpPr>
        <p:spPr>
          <a:xfrm>
            <a:off x="137160" y="2331720"/>
            <a:ext cx="1645920" cy="384048"/>
          </a:xfrm>
          <a:prstGeom prst="rect">
            <a:avLst/>
          </a:prstGeom>
          <a:solidFill>
            <a:srgbClr val="141829"/>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31"/>
          <p:cNvSpPr/>
          <p:nvPr/>
        </p:nvSpPr>
        <p:spPr>
          <a:xfrm>
            <a:off x="192024" y="2350008"/>
            <a:ext cx="153619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onsolas"/>
              <a:buNone/>
            </a:pPr>
            <a:r>
              <a:rPr b="0" i="0" lang="en-US" sz="900" u="none" cap="none" strike="noStrike">
                <a:solidFill>
                  <a:srgbClr val="8892A4"/>
                </a:solidFill>
                <a:latin typeface="Consolas"/>
                <a:ea typeface="Consolas"/>
                <a:cs typeface="Consolas"/>
                <a:sym typeface="Consolas"/>
              </a:rPr>
              <a:t>Delete worst</a:t>
            </a:r>
            <a:endParaRPr b="0" i="0" sz="900" u="none" cap="none" strike="noStrike">
              <a:solidFill>
                <a:schemeClr val="dk1"/>
              </a:solidFill>
              <a:latin typeface="Calibri"/>
              <a:ea typeface="Calibri"/>
              <a:cs typeface="Calibri"/>
              <a:sym typeface="Calibri"/>
            </a:endParaRPr>
          </a:p>
        </p:txBody>
      </p:sp>
      <p:sp>
        <p:nvSpPr>
          <p:cNvPr id="1107" name="Google Shape;1107;p31"/>
          <p:cNvSpPr/>
          <p:nvPr/>
        </p:nvSpPr>
        <p:spPr>
          <a:xfrm>
            <a:off x="1828800" y="2331720"/>
            <a:ext cx="1645920" cy="384048"/>
          </a:xfrm>
          <a:prstGeom prst="rect">
            <a:avLst/>
          </a:prstGeom>
          <a:solidFill>
            <a:srgbClr val="141829"/>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31"/>
          <p:cNvSpPr/>
          <p:nvPr/>
        </p:nvSpPr>
        <p:spPr>
          <a:xfrm>
            <a:off x="1883664" y="2350008"/>
            <a:ext cx="15361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4444"/>
              </a:buClr>
              <a:buSzPts val="850"/>
              <a:buFont typeface="Consolas"/>
              <a:buNone/>
            </a:pPr>
            <a:r>
              <a:rPr b="0" i="0" lang="en-US" sz="850" u="none" cap="none" strike="noStrike">
                <a:solidFill>
                  <a:srgbClr val="EF4444"/>
                </a:solidFill>
                <a:latin typeface="Consolas"/>
                <a:ea typeface="Consolas"/>
                <a:cs typeface="Consolas"/>
                <a:sym typeface="Consolas"/>
              </a:rPr>
              <a:t>O(n)</a:t>
            </a:r>
            <a:endParaRPr b="0" i="0" sz="850" u="none" cap="none" strike="noStrike">
              <a:solidFill>
                <a:schemeClr val="dk1"/>
              </a:solidFill>
              <a:latin typeface="Calibri"/>
              <a:ea typeface="Calibri"/>
              <a:cs typeface="Calibri"/>
              <a:sym typeface="Calibri"/>
            </a:endParaRPr>
          </a:p>
        </p:txBody>
      </p:sp>
      <p:sp>
        <p:nvSpPr>
          <p:cNvPr id="1109" name="Google Shape;1109;p31"/>
          <p:cNvSpPr/>
          <p:nvPr/>
        </p:nvSpPr>
        <p:spPr>
          <a:xfrm>
            <a:off x="3520440" y="2331720"/>
            <a:ext cx="1645920" cy="384048"/>
          </a:xfrm>
          <a:prstGeom prst="rect">
            <a:avLst/>
          </a:prstGeom>
          <a:solidFill>
            <a:srgbClr val="141829"/>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31"/>
          <p:cNvSpPr/>
          <p:nvPr/>
        </p:nvSpPr>
        <p:spPr>
          <a:xfrm>
            <a:off x="3575304" y="2350008"/>
            <a:ext cx="15361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B981"/>
              </a:buClr>
              <a:buSzPts val="850"/>
              <a:buFont typeface="Consolas"/>
              <a:buNone/>
            </a:pPr>
            <a:r>
              <a:rPr b="0" i="0" lang="en-US" sz="850" u="none" cap="none" strike="noStrike">
                <a:solidFill>
                  <a:srgbClr val="10B981"/>
                </a:solidFill>
                <a:latin typeface="Consolas"/>
                <a:ea typeface="Consolas"/>
                <a:cs typeface="Consolas"/>
                <a:sym typeface="Consolas"/>
              </a:rPr>
              <a:t>O(log n) ✓</a:t>
            </a:r>
            <a:endParaRPr b="0" i="0" sz="850" u="none" cap="none" strike="noStrike">
              <a:solidFill>
                <a:schemeClr val="dk1"/>
              </a:solidFill>
              <a:latin typeface="Calibri"/>
              <a:ea typeface="Calibri"/>
              <a:cs typeface="Calibri"/>
              <a:sym typeface="Calibri"/>
            </a:endParaRPr>
          </a:p>
        </p:txBody>
      </p:sp>
      <p:sp>
        <p:nvSpPr>
          <p:cNvPr id="1111" name="Google Shape;1111;p31"/>
          <p:cNvSpPr/>
          <p:nvPr/>
        </p:nvSpPr>
        <p:spPr>
          <a:xfrm>
            <a:off x="5212080" y="2331720"/>
            <a:ext cx="1645920" cy="384048"/>
          </a:xfrm>
          <a:prstGeom prst="rect">
            <a:avLst/>
          </a:prstGeom>
          <a:solidFill>
            <a:srgbClr val="141829"/>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31"/>
          <p:cNvSpPr/>
          <p:nvPr/>
        </p:nvSpPr>
        <p:spPr>
          <a:xfrm>
            <a:off x="5266944" y="2350008"/>
            <a:ext cx="15361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B981"/>
              </a:buClr>
              <a:buSzPts val="850"/>
              <a:buFont typeface="Consolas"/>
              <a:buNone/>
            </a:pPr>
            <a:r>
              <a:rPr b="0" i="0" lang="en-US" sz="850" u="none" cap="none" strike="noStrike">
                <a:solidFill>
                  <a:srgbClr val="10B981"/>
                </a:solidFill>
                <a:latin typeface="Consolas"/>
                <a:ea typeface="Consolas"/>
                <a:cs typeface="Consolas"/>
                <a:sym typeface="Consolas"/>
              </a:rPr>
              <a:t>O(log n) ✓</a:t>
            </a:r>
            <a:endParaRPr b="0" i="0" sz="850" u="none" cap="none" strike="noStrike">
              <a:solidFill>
                <a:schemeClr val="dk1"/>
              </a:solidFill>
              <a:latin typeface="Calibri"/>
              <a:ea typeface="Calibri"/>
              <a:cs typeface="Calibri"/>
              <a:sym typeface="Calibri"/>
            </a:endParaRPr>
          </a:p>
        </p:txBody>
      </p:sp>
      <p:sp>
        <p:nvSpPr>
          <p:cNvPr id="1113" name="Google Shape;1113;p31"/>
          <p:cNvSpPr/>
          <p:nvPr/>
        </p:nvSpPr>
        <p:spPr>
          <a:xfrm>
            <a:off x="6903720" y="2331720"/>
            <a:ext cx="2286000" cy="384048"/>
          </a:xfrm>
          <a:prstGeom prst="rect">
            <a:avLst/>
          </a:prstGeom>
          <a:solidFill>
            <a:srgbClr val="141829"/>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31"/>
          <p:cNvSpPr/>
          <p:nvPr/>
        </p:nvSpPr>
        <p:spPr>
          <a:xfrm>
            <a:off x="6958584" y="2350008"/>
            <a:ext cx="21762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850"/>
              <a:buFont typeface="Consolas"/>
              <a:buNone/>
            </a:pPr>
            <a:r>
              <a:rPr b="0" i="0" lang="en-US" sz="850" u="none" cap="none" strike="noStrike">
                <a:solidFill>
                  <a:srgbClr val="F0F4FF"/>
                </a:solidFill>
                <a:latin typeface="Consolas"/>
                <a:ea typeface="Consolas"/>
                <a:cs typeface="Consolas"/>
                <a:sym typeface="Consolas"/>
              </a:rPr>
              <a:t>O(n) / O(log n) amor.</a:t>
            </a:r>
            <a:endParaRPr b="0" i="0" sz="850" u="none" cap="none" strike="noStrike">
              <a:solidFill>
                <a:schemeClr val="dk1"/>
              </a:solidFill>
              <a:latin typeface="Calibri"/>
              <a:ea typeface="Calibri"/>
              <a:cs typeface="Calibri"/>
              <a:sym typeface="Calibri"/>
            </a:endParaRPr>
          </a:p>
        </p:txBody>
      </p:sp>
      <p:sp>
        <p:nvSpPr>
          <p:cNvPr id="1115" name="Google Shape;1115;p31"/>
          <p:cNvSpPr/>
          <p:nvPr/>
        </p:nvSpPr>
        <p:spPr>
          <a:xfrm>
            <a:off x="137160" y="2743200"/>
            <a:ext cx="1645920" cy="384048"/>
          </a:xfrm>
          <a:prstGeom prst="rect">
            <a:avLst/>
          </a:prstGeom>
          <a:solidFill>
            <a:srgbClr val="111526"/>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31"/>
          <p:cNvSpPr/>
          <p:nvPr/>
        </p:nvSpPr>
        <p:spPr>
          <a:xfrm>
            <a:off x="192024" y="2761488"/>
            <a:ext cx="153619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onsolas"/>
              <a:buNone/>
            </a:pPr>
            <a:r>
              <a:rPr b="0" i="0" lang="en-US" sz="900" u="none" cap="none" strike="noStrike">
                <a:solidFill>
                  <a:srgbClr val="8892A4"/>
                </a:solidFill>
                <a:latin typeface="Consolas"/>
                <a:ea typeface="Consolas"/>
                <a:cs typeface="Consolas"/>
                <a:sym typeface="Consolas"/>
              </a:rPr>
              <a:t>Rotaciones/insert</a:t>
            </a:r>
            <a:endParaRPr b="0" i="0" sz="900" u="none" cap="none" strike="noStrike">
              <a:solidFill>
                <a:schemeClr val="dk1"/>
              </a:solidFill>
              <a:latin typeface="Calibri"/>
              <a:ea typeface="Calibri"/>
              <a:cs typeface="Calibri"/>
              <a:sym typeface="Calibri"/>
            </a:endParaRPr>
          </a:p>
        </p:txBody>
      </p:sp>
      <p:sp>
        <p:nvSpPr>
          <p:cNvPr id="1117" name="Google Shape;1117;p31"/>
          <p:cNvSpPr/>
          <p:nvPr/>
        </p:nvSpPr>
        <p:spPr>
          <a:xfrm>
            <a:off x="1828800" y="2743200"/>
            <a:ext cx="1645920" cy="384048"/>
          </a:xfrm>
          <a:prstGeom prst="rect">
            <a:avLst/>
          </a:prstGeom>
          <a:solidFill>
            <a:srgbClr val="111526"/>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31"/>
          <p:cNvSpPr/>
          <p:nvPr/>
        </p:nvSpPr>
        <p:spPr>
          <a:xfrm>
            <a:off x="1883664" y="2761488"/>
            <a:ext cx="15361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850"/>
              <a:buFont typeface="Consolas"/>
              <a:buNone/>
            </a:pPr>
            <a:r>
              <a:rPr b="0" i="0" lang="en-US" sz="850" u="none" cap="none" strike="noStrike">
                <a:solidFill>
                  <a:srgbClr val="F0F4FF"/>
                </a:solidFill>
                <a:latin typeface="Consolas"/>
                <a:ea typeface="Consolas"/>
                <a:cs typeface="Consolas"/>
                <a:sym typeface="Consolas"/>
              </a:rPr>
              <a:t>0</a:t>
            </a:r>
            <a:endParaRPr b="0" i="0" sz="850" u="none" cap="none" strike="noStrike">
              <a:solidFill>
                <a:schemeClr val="dk1"/>
              </a:solidFill>
              <a:latin typeface="Calibri"/>
              <a:ea typeface="Calibri"/>
              <a:cs typeface="Calibri"/>
              <a:sym typeface="Calibri"/>
            </a:endParaRPr>
          </a:p>
        </p:txBody>
      </p:sp>
      <p:sp>
        <p:nvSpPr>
          <p:cNvPr id="1119" name="Google Shape;1119;p31"/>
          <p:cNvSpPr/>
          <p:nvPr/>
        </p:nvSpPr>
        <p:spPr>
          <a:xfrm>
            <a:off x="3520440" y="2743200"/>
            <a:ext cx="1645920" cy="384048"/>
          </a:xfrm>
          <a:prstGeom prst="rect">
            <a:avLst/>
          </a:prstGeom>
          <a:solidFill>
            <a:srgbClr val="111526"/>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31"/>
          <p:cNvSpPr/>
          <p:nvPr/>
        </p:nvSpPr>
        <p:spPr>
          <a:xfrm>
            <a:off x="3575304" y="2761488"/>
            <a:ext cx="15361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850"/>
              <a:buFont typeface="Consolas"/>
              <a:buNone/>
            </a:pPr>
            <a:r>
              <a:rPr b="0" i="0" lang="en-US" sz="850" u="none" cap="none" strike="noStrike">
                <a:solidFill>
                  <a:srgbClr val="F0F4FF"/>
                </a:solidFill>
                <a:latin typeface="Consolas"/>
                <a:ea typeface="Consolas"/>
                <a:cs typeface="Consolas"/>
                <a:sym typeface="Consolas"/>
              </a:rPr>
              <a:t>≤ O(log n)</a:t>
            </a:r>
            <a:endParaRPr b="0" i="0" sz="850" u="none" cap="none" strike="noStrike">
              <a:solidFill>
                <a:schemeClr val="dk1"/>
              </a:solidFill>
              <a:latin typeface="Calibri"/>
              <a:ea typeface="Calibri"/>
              <a:cs typeface="Calibri"/>
              <a:sym typeface="Calibri"/>
            </a:endParaRPr>
          </a:p>
        </p:txBody>
      </p:sp>
      <p:sp>
        <p:nvSpPr>
          <p:cNvPr id="1121" name="Google Shape;1121;p31"/>
          <p:cNvSpPr/>
          <p:nvPr/>
        </p:nvSpPr>
        <p:spPr>
          <a:xfrm>
            <a:off x="5212080" y="2743200"/>
            <a:ext cx="1645920" cy="384048"/>
          </a:xfrm>
          <a:prstGeom prst="rect">
            <a:avLst/>
          </a:prstGeom>
          <a:solidFill>
            <a:srgbClr val="111526"/>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31"/>
          <p:cNvSpPr/>
          <p:nvPr/>
        </p:nvSpPr>
        <p:spPr>
          <a:xfrm>
            <a:off x="5266944" y="2761488"/>
            <a:ext cx="15361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850"/>
              <a:buFont typeface="Consolas"/>
              <a:buNone/>
            </a:pPr>
            <a:r>
              <a:rPr b="0" i="0" lang="en-US" sz="850" u="none" cap="none" strike="noStrike">
                <a:solidFill>
                  <a:srgbClr val="F0F4FF"/>
                </a:solidFill>
                <a:latin typeface="Consolas"/>
                <a:ea typeface="Consolas"/>
                <a:cs typeface="Consolas"/>
                <a:sym typeface="Consolas"/>
              </a:rPr>
              <a:t>≤ 2</a:t>
            </a:r>
            <a:endParaRPr b="0" i="0" sz="850" u="none" cap="none" strike="noStrike">
              <a:solidFill>
                <a:schemeClr val="dk1"/>
              </a:solidFill>
              <a:latin typeface="Calibri"/>
              <a:ea typeface="Calibri"/>
              <a:cs typeface="Calibri"/>
              <a:sym typeface="Calibri"/>
            </a:endParaRPr>
          </a:p>
        </p:txBody>
      </p:sp>
      <p:sp>
        <p:nvSpPr>
          <p:cNvPr id="1123" name="Google Shape;1123;p31"/>
          <p:cNvSpPr/>
          <p:nvPr/>
        </p:nvSpPr>
        <p:spPr>
          <a:xfrm>
            <a:off x="6903720" y="2743200"/>
            <a:ext cx="2286000" cy="384048"/>
          </a:xfrm>
          <a:prstGeom prst="rect">
            <a:avLst/>
          </a:prstGeom>
          <a:solidFill>
            <a:srgbClr val="111526"/>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31"/>
          <p:cNvSpPr/>
          <p:nvPr/>
        </p:nvSpPr>
        <p:spPr>
          <a:xfrm>
            <a:off x="6958584" y="2761488"/>
            <a:ext cx="21762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850"/>
              <a:buFont typeface="Consolas"/>
              <a:buNone/>
            </a:pPr>
            <a:r>
              <a:rPr b="0" i="0" lang="en-US" sz="850" u="none" cap="none" strike="noStrike">
                <a:solidFill>
                  <a:srgbClr val="F0F4FF"/>
                </a:solidFill>
                <a:latin typeface="Consolas"/>
                <a:ea typeface="Consolas"/>
                <a:cs typeface="Consolas"/>
                <a:sym typeface="Consolas"/>
              </a:rPr>
              <a:t>≤ O(log n)</a:t>
            </a:r>
            <a:endParaRPr b="0" i="0" sz="850" u="none" cap="none" strike="noStrike">
              <a:solidFill>
                <a:schemeClr val="dk1"/>
              </a:solidFill>
              <a:latin typeface="Calibri"/>
              <a:ea typeface="Calibri"/>
              <a:cs typeface="Calibri"/>
              <a:sym typeface="Calibri"/>
            </a:endParaRPr>
          </a:p>
        </p:txBody>
      </p:sp>
      <p:sp>
        <p:nvSpPr>
          <p:cNvPr id="1125" name="Google Shape;1125;p31"/>
          <p:cNvSpPr/>
          <p:nvPr/>
        </p:nvSpPr>
        <p:spPr>
          <a:xfrm>
            <a:off x="137160" y="3154680"/>
            <a:ext cx="1645920" cy="384048"/>
          </a:xfrm>
          <a:prstGeom prst="rect">
            <a:avLst/>
          </a:prstGeom>
          <a:solidFill>
            <a:srgbClr val="141829"/>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31"/>
          <p:cNvSpPr/>
          <p:nvPr/>
        </p:nvSpPr>
        <p:spPr>
          <a:xfrm>
            <a:off x="192024" y="3172968"/>
            <a:ext cx="153619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onsolas"/>
              <a:buNone/>
            </a:pPr>
            <a:r>
              <a:rPr b="0" i="0" lang="en-US" sz="900" u="none" cap="none" strike="noStrike">
                <a:solidFill>
                  <a:srgbClr val="8892A4"/>
                </a:solidFill>
                <a:latin typeface="Consolas"/>
                <a:ea typeface="Consolas"/>
                <a:cs typeface="Consolas"/>
                <a:sym typeface="Consolas"/>
              </a:rPr>
              <a:t>Balance prop.</a:t>
            </a:r>
            <a:endParaRPr b="0" i="0" sz="900" u="none" cap="none" strike="noStrike">
              <a:solidFill>
                <a:schemeClr val="dk1"/>
              </a:solidFill>
              <a:latin typeface="Calibri"/>
              <a:ea typeface="Calibri"/>
              <a:cs typeface="Calibri"/>
              <a:sym typeface="Calibri"/>
            </a:endParaRPr>
          </a:p>
        </p:txBody>
      </p:sp>
      <p:sp>
        <p:nvSpPr>
          <p:cNvPr id="1127" name="Google Shape;1127;p31"/>
          <p:cNvSpPr/>
          <p:nvPr/>
        </p:nvSpPr>
        <p:spPr>
          <a:xfrm>
            <a:off x="1828800" y="3154680"/>
            <a:ext cx="1645920" cy="384048"/>
          </a:xfrm>
          <a:prstGeom prst="rect">
            <a:avLst/>
          </a:prstGeom>
          <a:solidFill>
            <a:srgbClr val="141829"/>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31"/>
          <p:cNvSpPr/>
          <p:nvPr/>
        </p:nvSpPr>
        <p:spPr>
          <a:xfrm>
            <a:off x="1883664" y="3172968"/>
            <a:ext cx="15361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850"/>
              <a:buFont typeface="Consolas"/>
              <a:buNone/>
            </a:pPr>
            <a:r>
              <a:rPr b="0" i="0" lang="en-US" sz="850" u="none" cap="none" strike="noStrike">
                <a:solidFill>
                  <a:srgbClr val="F0F4FF"/>
                </a:solidFill>
                <a:latin typeface="Consolas"/>
                <a:ea typeface="Consolas"/>
                <a:cs typeface="Consolas"/>
                <a:sym typeface="Consolas"/>
              </a:rPr>
              <a:t>Ninguna</a:t>
            </a:r>
            <a:endParaRPr b="0" i="0" sz="850" u="none" cap="none" strike="noStrike">
              <a:solidFill>
                <a:schemeClr val="dk1"/>
              </a:solidFill>
              <a:latin typeface="Calibri"/>
              <a:ea typeface="Calibri"/>
              <a:cs typeface="Calibri"/>
              <a:sym typeface="Calibri"/>
            </a:endParaRPr>
          </a:p>
        </p:txBody>
      </p:sp>
      <p:sp>
        <p:nvSpPr>
          <p:cNvPr id="1129" name="Google Shape;1129;p31"/>
          <p:cNvSpPr/>
          <p:nvPr/>
        </p:nvSpPr>
        <p:spPr>
          <a:xfrm>
            <a:off x="3520440" y="3154680"/>
            <a:ext cx="1645920" cy="384048"/>
          </a:xfrm>
          <a:prstGeom prst="rect">
            <a:avLst/>
          </a:prstGeom>
          <a:solidFill>
            <a:srgbClr val="141829"/>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31"/>
          <p:cNvSpPr/>
          <p:nvPr/>
        </p:nvSpPr>
        <p:spPr>
          <a:xfrm>
            <a:off x="3575304" y="3172968"/>
            <a:ext cx="15361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850"/>
              <a:buFont typeface="Consolas"/>
              <a:buNone/>
            </a:pPr>
            <a:r>
              <a:rPr b="0" i="0" lang="en-US" sz="850" u="none" cap="none" strike="noStrike">
                <a:solidFill>
                  <a:srgbClr val="F0F4FF"/>
                </a:solidFill>
                <a:latin typeface="Consolas"/>
                <a:ea typeface="Consolas"/>
                <a:cs typeface="Consolas"/>
                <a:sym typeface="Consolas"/>
              </a:rPr>
              <a:t>height diff ≤ 1</a:t>
            </a:r>
            <a:endParaRPr b="0" i="0" sz="850" u="none" cap="none" strike="noStrike">
              <a:solidFill>
                <a:schemeClr val="dk1"/>
              </a:solidFill>
              <a:latin typeface="Calibri"/>
              <a:ea typeface="Calibri"/>
              <a:cs typeface="Calibri"/>
              <a:sym typeface="Calibri"/>
            </a:endParaRPr>
          </a:p>
        </p:txBody>
      </p:sp>
      <p:sp>
        <p:nvSpPr>
          <p:cNvPr id="1131" name="Google Shape;1131;p31"/>
          <p:cNvSpPr/>
          <p:nvPr/>
        </p:nvSpPr>
        <p:spPr>
          <a:xfrm>
            <a:off x="5212080" y="3154680"/>
            <a:ext cx="1645920" cy="384048"/>
          </a:xfrm>
          <a:prstGeom prst="rect">
            <a:avLst/>
          </a:prstGeom>
          <a:solidFill>
            <a:srgbClr val="141829"/>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31"/>
          <p:cNvSpPr/>
          <p:nvPr/>
        </p:nvSpPr>
        <p:spPr>
          <a:xfrm>
            <a:off x="5266944" y="3172968"/>
            <a:ext cx="15361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850"/>
              <a:buFont typeface="Consolas"/>
              <a:buNone/>
            </a:pPr>
            <a:r>
              <a:rPr b="0" i="0" lang="en-US" sz="850" u="none" cap="none" strike="noStrike">
                <a:solidFill>
                  <a:srgbClr val="F0F4FF"/>
                </a:solidFill>
                <a:latin typeface="Consolas"/>
                <a:ea typeface="Consolas"/>
                <a:cs typeface="Consolas"/>
                <a:sym typeface="Consolas"/>
              </a:rPr>
              <a:t>5 coloring rules</a:t>
            </a:r>
            <a:endParaRPr b="0" i="0" sz="850" u="none" cap="none" strike="noStrike">
              <a:solidFill>
                <a:schemeClr val="dk1"/>
              </a:solidFill>
              <a:latin typeface="Calibri"/>
              <a:ea typeface="Calibri"/>
              <a:cs typeface="Calibri"/>
              <a:sym typeface="Calibri"/>
            </a:endParaRPr>
          </a:p>
        </p:txBody>
      </p:sp>
      <p:sp>
        <p:nvSpPr>
          <p:cNvPr id="1133" name="Google Shape;1133;p31"/>
          <p:cNvSpPr/>
          <p:nvPr/>
        </p:nvSpPr>
        <p:spPr>
          <a:xfrm>
            <a:off x="6903720" y="3154680"/>
            <a:ext cx="2286000" cy="384048"/>
          </a:xfrm>
          <a:prstGeom prst="rect">
            <a:avLst/>
          </a:prstGeom>
          <a:solidFill>
            <a:srgbClr val="141829"/>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31"/>
          <p:cNvSpPr/>
          <p:nvPr/>
        </p:nvSpPr>
        <p:spPr>
          <a:xfrm>
            <a:off x="6958584" y="3172968"/>
            <a:ext cx="21762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850"/>
              <a:buFont typeface="Consolas"/>
              <a:buNone/>
            </a:pPr>
            <a:r>
              <a:rPr b="0" i="0" lang="en-US" sz="850" u="none" cap="none" strike="noStrike">
                <a:solidFill>
                  <a:srgbClr val="F0F4FF"/>
                </a:solidFill>
                <a:latin typeface="Consolas"/>
                <a:ea typeface="Consolas"/>
                <a:cs typeface="Consolas"/>
                <a:sym typeface="Consolas"/>
              </a:rPr>
              <a:t>Amortizada</a:t>
            </a:r>
            <a:endParaRPr b="0" i="0" sz="850" u="none" cap="none" strike="noStrike">
              <a:solidFill>
                <a:schemeClr val="dk1"/>
              </a:solidFill>
              <a:latin typeface="Calibri"/>
              <a:ea typeface="Calibri"/>
              <a:cs typeface="Calibri"/>
              <a:sym typeface="Calibri"/>
            </a:endParaRPr>
          </a:p>
        </p:txBody>
      </p:sp>
      <p:sp>
        <p:nvSpPr>
          <p:cNvPr id="1135" name="Google Shape;1135;p31"/>
          <p:cNvSpPr/>
          <p:nvPr/>
        </p:nvSpPr>
        <p:spPr>
          <a:xfrm>
            <a:off x="137160" y="3566160"/>
            <a:ext cx="1645920" cy="384048"/>
          </a:xfrm>
          <a:prstGeom prst="rect">
            <a:avLst/>
          </a:prstGeom>
          <a:solidFill>
            <a:srgbClr val="111526"/>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31"/>
          <p:cNvSpPr/>
          <p:nvPr/>
        </p:nvSpPr>
        <p:spPr>
          <a:xfrm>
            <a:off x="192024" y="3584448"/>
            <a:ext cx="153619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onsolas"/>
              <a:buNone/>
            </a:pPr>
            <a:r>
              <a:rPr b="0" i="0" lang="en-US" sz="900" u="none" cap="none" strike="noStrike">
                <a:solidFill>
                  <a:srgbClr val="8892A4"/>
                </a:solidFill>
                <a:latin typeface="Consolas"/>
                <a:ea typeface="Consolas"/>
                <a:cs typeface="Consolas"/>
                <a:sym typeface="Consolas"/>
              </a:rPr>
              <a:t>Altura máx.</a:t>
            </a:r>
            <a:endParaRPr b="0" i="0" sz="900" u="none" cap="none" strike="noStrike">
              <a:solidFill>
                <a:schemeClr val="dk1"/>
              </a:solidFill>
              <a:latin typeface="Calibri"/>
              <a:ea typeface="Calibri"/>
              <a:cs typeface="Calibri"/>
              <a:sym typeface="Calibri"/>
            </a:endParaRPr>
          </a:p>
        </p:txBody>
      </p:sp>
      <p:sp>
        <p:nvSpPr>
          <p:cNvPr id="1137" name="Google Shape;1137;p31"/>
          <p:cNvSpPr/>
          <p:nvPr/>
        </p:nvSpPr>
        <p:spPr>
          <a:xfrm>
            <a:off x="1828800" y="3566160"/>
            <a:ext cx="1645920" cy="384048"/>
          </a:xfrm>
          <a:prstGeom prst="rect">
            <a:avLst/>
          </a:prstGeom>
          <a:solidFill>
            <a:srgbClr val="111526"/>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31"/>
          <p:cNvSpPr/>
          <p:nvPr/>
        </p:nvSpPr>
        <p:spPr>
          <a:xfrm>
            <a:off x="1883664" y="3584448"/>
            <a:ext cx="15361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4444"/>
              </a:buClr>
              <a:buSzPts val="850"/>
              <a:buFont typeface="Consolas"/>
              <a:buNone/>
            </a:pPr>
            <a:r>
              <a:rPr b="0" i="0" lang="en-US" sz="850" u="none" cap="none" strike="noStrike">
                <a:solidFill>
                  <a:srgbClr val="EF4444"/>
                </a:solidFill>
                <a:latin typeface="Consolas"/>
                <a:ea typeface="Consolas"/>
                <a:cs typeface="Consolas"/>
                <a:sym typeface="Consolas"/>
              </a:rPr>
              <a:t>O(n)</a:t>
            </a:r>
            <a:endParaRPr b="0" i="0" sz="850" u="none" cap="none" strike="noStrike">
              <a:solidFill>
                <a:schemeClr val="dk1"/>
              </a:solidFill>
              <a:latin typeface="Calibri"/>
              <a:ea typeface="Calibri"/>
              <a:cs typeface="Calibri"/>
              <a:sym typeface="Calibri"/>
            </a:endParaRPr>
          </a:p>
        </p:txBody>
      </p:sp>
      <p:sp>
        <p:nvSpPr>
          <p:cNvPr id="1139" name="Google Shape;1139;p31"/>
          <p:cNvSpPr/>
          <p:nvPr/>
        </p:nvSpPr>
        <p:spPr>
          <a:xfrm>
            <a:off x="3520440" y="3566160"/>
            <a:ext cx="1645920" cy="384048"/>
          </a:xfrm>
          <a:prstGeom prst="rect">
            <a:avLst/>
          </a:prstGeom>
          <a:solidFill>
            <a:srgbClr val="111526"/>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31"/>
          <p:cNvSpPr/>
          <p:nvPr/>
        </p:nvSpPr>
        <p:spPr>
          <a:xfrm>
            <a:off x="3575304" y="3584448"/>
            <a:ext cx="15361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850"/>
              <a:buFont typeface="Consolas"/>
              <a:buNone/>
            </a:pPr>
            <a:r>
              <a:rPr b="0" i="0" lang="en-US" sz="850" u="none" cap="none" strike="noStrike">
                <a:solidFill>
                  <a:srgbClr val="F0F4FF"/>
                </a:solidFill>
                <a:latin typeface="Consolas"/>
                <a:ea typeface="Consolas"/>
                <a:cs typeface="Consolas"/>
                <a:sym typeface="Consolas"/>
              </a:rPr>
              <a:t>1.44 log n</a:t>
            </a:r>
            <a:endParaRPr b="0" i="0" sz="850" u="none" cap="none" strike="noStrike">
              <a:solidFill>
                <a:schemeClr val="dk1"/>
              </a:solidFill>
              <a:latin typeface="Calibri"/>
              <a:ea typeface="Calibri"/>
              <a:cs typeface="Calibri"/>
              <a:sym typeface="Calibri"/>
            </a:endParaRPr>
          </a:p>
        </p:txBody>
      </p:sp>
      <p:sp>
        <p:nvSpPr>
          <p:cNvPr id="1141" name="Google Shape;1141;p31"/>
          <p:cNvSpPr/>
          <p:nvPr/>
        </p:nvSpPr>
        <p:spPr>
          <a:xfrm>
            <a:off x="5212080" y="3566160"/>
            <a:ext cx="1645920" cy="384048"/>
          </a:xfrm>
          <a:prstGeom prst="rect">
            <a:avLst/>
          </a:prstGeom>
          <a:solidFill>
            <a:srgbClr val="111526"/>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31"/>
          <p:cNvSpPr/>
          <p:nvPr/>
        </p:nvSpPr>
        <p:spPr>
          <a:xfrm>
            <a:off x="5266944" y="3584448"/>
            <a:ext cx="15361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850"/>
              <a:buFont typeface="Consolas"/>
              <a:buNone/>
            </a:pPr>
            <a:r>
              <a:rPr b="0" i="0" lang="en-US" sz="850" u="none" cap="none" strike="noStrike">
                <a:solidFill>
                  <a:srgbClr val="F0F4FF"/>
                </a:solidFill>
                <a:latin typeface="Consolas"/>
                <a:ea typeface="Consolas"/>
                <a:cs typeface="Consolas"/>
                <a:sym typeface="Consolas"/>
              </a:rPr>
              <a:t>2 log n</a:t>
            </a:r>
            <a:endParaRPr b="0" i="0" sz="850" u="none" cap="none" strike="noStrike">
              <a:solidFill>
                <a:schemeClr val="dk1"/>
              </a:solidFill>
              <a:latin typeface="Calibri"/>
              <a:ea typeface="Calibri"/>
              <a:cs typeface="Calibri"/>
              <a:sym typeface="Calibri"/>
            </a:endParaRPr>
          </a:p>
        </p:txBody>
      </p:sp>
      <p:sp>
        <p:nvSpPr>
          <p:cNvPr id="1143" name="Google Shape;1143;p31"/>
          <p:cNvSpPr/>
          <p:nvPr/>
        </p:nvSpPr>
        <p:spPr>
          <a:xfrm>
            <a:off x="6903720" y="3566160"/>
            <a:ext cx="2286000" cy="384048"/>
          </a:xfrm>
          <a:prstGeom prst="rect">
            <a:avLst/>
          </a:prstGeom>
          <a:solidFill>
            <a:srgbClr val="111526"/>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31"/>
          <p:cNvSpPr/>
          <p:nvPr/>
        </p:nvSpPr>
        <p:spPr>
          <a:xfrm>
            <a:off x="6958584" y="3584448"/>
            <a:ext cx="21762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850"/>
              <a:buFont typeface="Consolas"/>
              <a:buNone/>
            </a:pPr>
            <a:r>
              <a:rPr b="0" i="0" lang="en-US" sz="850" u="none" cap="none" strike="noStrike">
                <a:solidFill>
                  <a:srgbClr val="F0F4FF"/>
                </a:solidFill>
                <a:latin typeface="Consolas"/>
                <a:ea typeface="Consolas"/>
                <a:cs typeface="Consolas"/>
                <a:sym typeface="Consolas"/>
              </a:rPr>
              <a:t>Sin garantía inst.</a:t>
            </a:r>
            <a:endParaRPr b="0" i="0" sz="850" u="none" cap="none" strike="noStrike">
              <a:solidFill>
                <a:schemeClr val="dk1"/>
              </a:solidFill>
              <a:latin typeface="Calibri"/>
              <a:ea typeface="Calibri"/>
              <a:cs typeface="Calibri"/>
              <a:sym typeface="Calibri"/>
            </a:endParaRPr>
          </a:p>
        </p:txBody>
      </p:sp>
      <p:sp>
        <p:nvSpPr>
          <p:cNvPr id="1145" name="Google Shape;1145;p31"/>
          <p:cNvSpPr/>
          <p:nvPr/>
        </p:nvSpPr>
        <p:spPr>
          <a:xfrm>
            <a:off x="137160" y="3977640"/>
            <a:ext cx="1645920" cy="384048"/>
          </a:xfrm>
          <a:prstGeom prst="rect">
            <a:avLst/>
          </a:prstGeom>
          <a:solidFill>
            <a:srgbClr val="141829"/>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31"/>
          <p:cNvSpPr/>
          <p:nvPr/>
        </p:nvSpPr>
        <p:spPr>
          <a:xfrm>
            <a:off x="192024" y="3995928"/>
            <a:ext cx="153619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onsolas"/>
              <a:buNone/>
            </a:pPr>
            <a:r>
              <a:rPr b="0" i="0" lang="en-US" sz="900" u="none" cap="none" strike="noStrike">
                <a:solidFill>
                  <a:srgbClr val="8892A4"/>
                </a:solidFill>
                <a:latin typeface="Consolas"/>
                <a:ea typeface="Consolas"/>
                <a:cs typeface="Consolas"/>
                <a:sym typeface="Consolas"/>
              </a:rPr>
              <a:t>Espacio extra/nodo</a:t>
            </a:r>
            <a:endParaRPr b="0" i="0" sz="900" u="none" cap="none" strike="noStrike">
              <a:solidFill>
                <a:schemeClr val="dk1"/>
              </a:solidFill>
              <a:latin typeface="Calibri"/>
              <a:ea typeface="Calibri"/>
              <a:cs typeface="Calibri"/>
              <a:sym typeface="Calibri"/>
            </a:endParaRPr>
          </a:p>
        </p:txBody>
      </p:sp>
      <p:sp>
        <p:nvSpPr>
          <p:cNvPr id="1147" name="Google Shape;1147;p31"/>
          <p:cNvSpPr/>
          <p:nvPr/>
        </p:nvSpPr>
        <p:spPr>
          <a:xfrm>
            <a:off x="1828800" y="3977640"/>
            <a:ext cx="1645920" cy="384048"/>
          </a:xfrm>
          <a:prstGeom prst="rect">
            <a:avLst/>
          </a:prstGeom>
          <a:solidFill>
            <a:srgbClr val="141829"/>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31"/>
          <p:cNvSpPr/>
          <p:nvPr/>
        </p:nvSpPr>
        <p:spPr>
          <a:xfrm>
            <a:off x="1883664" y="3995928"/>
            <a:ext cx="15361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850"/>
              <a:buFont typeface="Consolas"/>
              <a:buNone/>
            </a:pPr>
            <a:r>
              <a:rPr b="0" i="0" lang="en-US" sz="850" u="none" cap="none" strike="noStrike">
                <a:solidFill>
                  <a:srgbClr val="F0F4FF"/>
                </a:solidFill>
                <a:latin typeface="Consolas"/>
                <a:ea typeface="Consolas"/>
                <a:cs typeface="Consolas"/>
                <a:sym typeface="Consolas"/>
              </a:rPr>
              <a:t>O(1)</a:t>
            </a:r>
            <a:endParaRPr b="0" i="0" sz="850" u="none" cap="none" strike="noStrike">
              <a:solidFill>
                <a:schemeClr val="dk1"/>
              </a:solidFill>
              <a:latin typeface="Calibri"/>
              <a:ea typeface="Calibri"/>
              <a:cs typeface="Calibri"/>
              <a:sym typeface="Calibri"/>
            </a:endParaRPr>
          </a:p>
        </p:txBody>
      </p:sp>
      <p:sp>
        <p:nvSpPr>
          <p:cNvPr id="1149" name="Google Shape;1149;p31"/>
          <p:cNvSpPr/>
          <p:nvPr/>
        </p:nvSpPr>
        <p:spPr>
          <a:xfrm>
            <a:off x="3520440" y="3977640"/>
            <a:ext cx="1645920" cy="384048"/>
          </a:xfrm>
          <a:prstGeom prst="rect">
            <a:avLst/>
          </a:prstGeom>
          <a:solidFill>
            <a:srgbClr val="141829"/>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31"/>
          <p:cNvSpPr/>
          <p:nvPr/>
        </p:nvSpPr>
        <p:spPr>
          <a:xfrm>
            <a:off x="3575304" y="3995928"/>
            <a:ext cx="15361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850"/>
              <a:buFont typeface="Consolas"/>
              <a:buNone/>
            </a:pPr>
            <a:r>
              <a:rPr b="0" i="0" lang="en-US" sz="850" u="none" cap="none" strike="noStrike">
                <a:solidFill>
                  <a:srgbClr val="F0F4FF"/>
                </a:solidFill>
                <a:latin typeface="Consolas"/>
                <a:ea typeface="Consolas"/>
                <a:cs typeface="Consolas"/>
                <a:sym typeface="Consolas"/>
              </a:rPr>
              <a:t>int height</a:t>
            </a:r>
            <a:endParaRPr b="0" i="0" sz="850" u="none" cap="none" strike="noStrike">
              <a:solidFill>
                <a:schemeClr val="dk1"/>
              </a:solidFill>
              <a:latin typeface="Calibri"/>
              <a:ea typeface="Calibri"/>
              <a:cs typeface="Calibri"/>
              <a:sym typeface="Calibri"/>
            </a:endParaRPr>
          </a:p>
        </p:txBody>
      </p:sp>
      <p:sp>
        <p:nvSpPr>
          <p:cNvPr id="1151" name="Google Shape;1151;p31"/>
          <p:cNvSpPr/>
          <p:nvPr/>
        </p:nvSpPr>
        <p:spPr>
          <a:xfrm>
            <a:off x="5212080" y="3977640"/>
            <a:ext cx="1645920" cy="384048"/>
          </a:xfrm>
          <a:prstGeom prst="rect">
            <a:avLst/>
          </a:prstGeom>
          <a:solidFill>
            <a:srgbClr val="141829"/>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31"/>
          <p:cNvSpPr/>
          <p:nvPr/>
        </p:nvSpPr>
        <p:spPr>
          <a:xfrm>
            <a:off x="5266944" y="3995928"/>
            <a:ext cx="15361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850"/>
              <a:buFont typeface="Consolas"/>
              <a:buNone/>
            </a:pPr>
            <a:r>
              <a:rPr b="0" i="0" lang="en-US" sz="850" u="none" cap="none" strike="noStrike">
                <a:solidFill>
                  <a:srgbClr val="F0F4FF"/>
                </a:solidFill>
                <a:latin typeface="Consolas"/>
                <a:ea typeface="Consolas"/>
                <a:cs typeface="Consolas"/>
                <a:sym typeface="Consolas"/>
              </a:rPr>
              <a:t>1 bit color</a:t>
            </a:r>
            <a:endParaRPr b="0" i="0" sz="850" u="none" cap="none" strike="noStrike">
              <a:solidFill>
                <a:schemeClr val="dk1"/>
              </a:solidFill>
              <a:latin typeface="Calibri"/>
              <a:ea typeface="Calibri"/>
              <a:cs typeface="Calibri"/>
              <a:sym typeface="Calibri"/>
            </a:endParaRPr>
          </a:p>
        </p:txBody>
      </p:sp>
      <p:sp>
        <p:nvSpPr>
          <p:cNvPr id="1153" name="Google Shape;1153;p31"/>
          <p:cNvSpPr/>
          <p:nvPr/>
        </p:nvSpPr>
        <p:spPr>
          <a:xfrm>
            <a:off x="6903720" y="3977640"/>
            <a:ext cx="2286000" cy="384048"/>
          </a:xfrm>
          <a:prstGeom prst="rect">
            <a:avLst/>
          </a:prstGeom>
          <a:solidFill>
            <a:srgbClr val="141829"/>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31"/>
          <p:cNvSpPr/>
          <p:nvPr/>
        </p:nvSpPr>
        <p:spPr>
          <a:xfrm>
            <a:off x="6958584" y="3995928"/>
            <a:ext cx="21762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850"/>
              <a:buFont typeface="Consolas"/>
              <a:buNone/>
            </a:pPr>
            <a:r>
              <a:rPr b="0" i="0" lang="en-US" sz="850" u="none" cap="none" strike="noStrike">
                <a:solidFill>
                  <a:srgbClr val="F0F4FF"/>
                </a:solidFill>
                <a:latin typeface="Consolas"/>
                <a:ea typeface="Consolas"/>
                <a:cs typeface="Consolas"/>
                <a:sym typeface="Consolas"/>
              </a:rPr>
              <a:t>O(1)</a:t>
            </a:r>
            <a:endParaRPr b="0" i="0" sz="850" u="none" cap="none" strike="noStrike">
              <a:solidFill>
                <a:schemeClr val="dk1"/>
              </a:solidFill>
              <a:latin typeface="Calibri"/>
              <a:ea typeface="Calibri"/>
              <a:cs typeface="Calibri"/>
              <a:sym typeface="Calibri"/>
            </a:endParaRPr>
          </a:p>
        </p:txBody>
      </p:sp>
      <p:sp>
        <p:nvSpPr>
          <p:cNvPr id="1155" name="Google Shape;1155;p31"/>
          <p:cNvSpPr/>
          <p:nvPr/>
        </p:nvSpPr>
        <p:spPr>
          <a:xfrm>
            <a:off x="137160" y="4389120"/>
            <a:ext cx="1645920" cy="384048"/>
          </a:xfrm>
          <a:prstGeom prst="rect">
            <a:avLst/>
          </a:prstGeom>
          <a:solidFill>
            <a:srgbClr val="111526"/>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31"/>
          <p:cNvSpPr/>
          <p:nvPr/>
        </p:nvSpPr>
        <p:spPr>
          <a:xfrm>
            <a:off x="192024" y="4407408"/>
            <a:ext cx="153619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onsolas"/>
              <a:buNone/>
            </a:pPr>
            <a:r>
              <a:rPr b="0" i="0" lang="en-US" sz="900" u="none" cap="none" strike="noStrike">
                <a:solidFill>
                  <a:srgbClr val="8892A4"/>
                </a:solidFill>
                <a:latin typeface="Consolas"/>
                <a:ea typeface="Consolas"/>
                <a:cs typeface="Consolas"/>
                <a:sym typeface="Consolas"/>
              </a:rPr>
              <a:t>Cuándo usar</a:t>
            </a:r>
            <a:endParaRPr b="0" i="0" sz="900" u="none" cap="none" strike="noStrike">
              <a:solidFill>
                <a:schemeClr val="dk1"/>
              </a:solidFill>
              <a:latin typeface="Calibri"/>
              <a:ea typeface="Calibri"/>
              <a:cs typeface="Calibri"/>
              <a:sym typeface="Calibri"/>
            </a:endParaRPr>
          </a:p>
        </p:txBody>
      </p:sp>
      <p:sp>
        <p:nvSpPr>
          <p:cNvPr id="1157" name="Google Shape;1157;p31"/>
          <p:cNvSpPr/>
          <p:nvPr/>
        </p:nvSpPr>
        <p:spPr>
          <a:xfrm>
            <a:off x="1828800" y="4389120"/>
            <a:ext cx="1645920" cy="384048"/>
          </a:xfrm>
          <a:prstGeom prst="rect">
            <a:avLst/>
          </a:prstGeom>
          <a:solidFill>
            <a:srgbClr val="111526"/>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31"/>
          <p:cNvSpPr/>
          <p:nvPr/>
        </p:nvSpPr>
        <p:spPr>
          <a:xfrm>
            <a:off x="1883664" y="4407408"/>
            <a:ext cx="15361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850"/>
              <a:buFont typeface="Consolas"/>
              <a:buNone/>
            </a:pPr>
            <a:r>
              <a:rPr b="0" i="0" lang="en-US" sz="850" u="none" cap="none" strike="noStrike">
                <a:solidFill>
                  <a:srgbClr val="F0F4FF"/>
                </a:solidFill>
                <a:latin typeface="Consolas"/>
                <a:ea typeface="Consolas"/>
                <a:cs typeface="Consolas"/>
                <a:sym typeface="Consolas"/>
              </a:rPr>
              <a:t>Datos random, simple</a:t>
            </a:r>
            <a:endParaRPr b="0" i="0" sz="850" u="none" cap="none" strike="noStrike">
              <a:solidFill>
                <a:schemeClr val="dk1"/>
              </a:solidFill>
              <a:latin typeface="Calibri"/>
              <a:ea typeface="Calibri"/>
              <a:cs typeface="Calibri"/>
              <a:sym typeface="Calibri"/>
            </a:endParaRPr>
          </a:p>
        </p:txBody>
      </p:sp>
      <p:sp>
        <p:nvSpPr>
          <p:cNvPr id="1159" name="Google Shape;1159;p31"/>
          <p:cNvSpPr/>
          <p:nvPr/>
        </p:nvSpPr>
        <p:spPr>
          <a:xfrm>
            <a:off x="3520440" y="4389120"/>
            <a:ext cx="1645920" cy="384048"/>
          </a:xfrm>
          <a:prstGeom prst="rect">
            <a:avLst/>
          </a:prstGeom>
          <a:solidFill>
            <a:srgbClr val="111526"/>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31"/>
          <p:cNvSpPr/>
          <p:nvPr/>
        </p:nvSpPr>
        <p:spPr>
          <a:xfrm>
            <a:off x="3575304" y="4407408"/>
            <a:ext cx="15361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850"/>
              <a:buFont typeface="Consolas"/>
              <a:buNone/>
            </a:pPr>
            <a:r>
              <a:rPr b="0" i="0" lang="en-US" sz="850" u="none" cap="none" strike="noStrike">
                <a:solidFill>
                  <a:srgbClr val="F0F4FF"/>
                </a:solidFill>
                <a:latin typeface="Consolas"/>
                <a:ea typeface="Consolas"/>
                <a:cs typeface="Consolas"/>
                <a:sym typeface="Consolas"/>
              </a:rPr>
              <a:t>Búsquedas frecuentes</a:t>
            </a:r>
            <a:endParaRPr b="0" i="0" sz="850" u="none" cap="none" strike="noStrike">
              <a:solidFill>
                <a:schemeClr val="dk1"/>
              </a:solidFill>
              <a:latin typeface="Calibri"/>
              <a:ea typeface="Calibri"/>
              <a:cs typeface="Calibri"/>
              <a:sym typeface="Calibri"/>
            </a:endParaRPr>
          </a:p>
        </p:txBody>
      </p:sp>
      <p:sp>
        <p:nvSpPr>
          <p:cNvPr id="1161" name="Google Shape;1161;p31"/>
          <p:cNvSpPr/>
          <p:nvPr/>
        </p:nvSpPr>
        <p:spPr>
          <a:xfrm>
            <a:off x="5212080" y="4389120"/>
            <a:ext cx="1645920" cy="384048"/>
          </a:xfrm>
          <a:prstGeom prst="rect">
            <a:avLst/>
          </a:prstGeom>
          <a:solidFill>
            <a:srgbClr val="111526"/>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31"/>
          <p:cNvSpPr/>
          <p:nvPr/>
        </p:nvSpPr>
        <p:spPr>
          <a:xfrm>
            <a:off x="5266944" y="4407408"/>
            <a:ext cx="15361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850"/>
              <a:buFont typeface="Consolas"/>
              <a:buNone/>
            </a:pPr>
            <a:r>
              <a:rPr b="0" i="0" lang="en-US" sz="850" u="none" cap="none" strike="noStrike">
                <a:solidFill>
                  <a:srgbClr val="F0F4FF"/>
                </a:solidFill>
                <a:latin typeface="Consolas"/>
                <a:ea typeface="Consolas"/>
                <a:cs typeface="Consolas"/>
                <a:sym typeface="Consolas"/>
              </a:rPr>
              <a:t>General (std::map)</a:t>
            </a:r>
            <a:endParaRPr b="0" i="0" sz="850" u="none" cap="none" strike="noStrike">
              <a:solidFill>
                <a:schemeClr val="dk1"/>
              </a:solidFill>
              <a:latin typeface="Calibri"/>
              <a:ea typeface="Calibri"/>
              <a:cs typeface="Calibri"/>
              <a:sym typeface="Calibri"/>
            </a:endParaRPr>
          </a:p>
        </p:txBody>
      </p:sp>
      <p:sp>
        <p:nvSpPr>
          <p:cNvPr id="1163" name="Google Shape;1163;p31"/>
          <p:cNvSpPr/>
          <p:nvPr/>
        </p:nvSpPr>
        <p:spPr>
          <a:xfrm>
            <a:off x="6903720" y="4389120"/>
            <a:ext cx="2286000" cy="384048"/>
          </a:xfrm>
          <a:prstGeom prst="rect">
            <a:avLst/>
          </a:prstGeom>
          <a:solidFill>
            <a:srgbClr val="111526"/>
          </a:solidFill>
          <a:ln cap="flat" cmpd="sng" w="9525">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31"/>
          <p:cNvSpPr/>
          <p:nvPr/>
        </p:nvSpPr>
        <p:spPr>
          <a:xfrm>
            <a:off x="6958584" y="4407408"/>
            <a:ext cx="21762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F"/>
              </a:buClr>
              <a:buSzPts val="850"/>
              <a:buFont typeface="Consolas"/>
              <a:buNone/>
            </a:pPr>
            <a:r>
              <a:rPr b="0" i="0" lang="en-US" sz="850" u="none" cap="none" strike="noStrike">
                <a:solidFill>
                  <a:srgbClr val="F0F4FF"/>
                </a:solidFill>
                <a:latin typeface="Consolas"/>
                <a:ea typeface="Consolas"/>
                <a:cs typeface="Consolas"/>
                <a:sym typeface="Consolas"/>
              </a:rPr>
              <a:t>Localidad temporal</a:t>
            </a:r>
            <a:endParaRPr b="0" i="0" sz="850" u="none" cap="none" strike="noStrike">
              <a:solidFill>
                <a:schemeClr val="dk1"/>
              </a:solidFill>
              <a:latin typeface="Calibri"/>
              <a:ea typeface="Calibri"/>
              <a:cs typeface="Calibri"/>
              <a:sym typeface="Calibri"/>
            </a:endParaRPr>
          </a:p>
        </p:txBody>
      </p:sp>
      <p:sp>
        <p:nvSpPr>
          <p:cNvPr id="1165" name="Google Shape;1165;p31"/>
          <p:cNvSpPr/>
          <p:nvPr/>
        </p:nvSpPr>
        <p:spPr>
          <a:xfrm>
            <a:off x="137160" y="4828032"/>
            <a:ext cx="8869680" cy="246888"/>
          </a:xfrm>
          <a:prstGeom prst="rect">
            <a:avLst/>
          </a:prstGeom>
          <a:solidFill>
            <a:srgbClr val="1A2035"/>
          </a:solidFill>
          <a:ln cap="flat" cmpd="sng" w="9525">
            <a:solidFill>
              <a:srgbClr val="10B981"/>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31"/>
          <p:cNvSpPr/>
          <p:nvPr/>
        </p:nvSpPr>
        <p:spPr>
          <a:xfrm>
            <a:off x="274320" y="4828032"/>
            <a:ext cx="85953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4FF"/>
              </a:buClr>
              <a:buSzPts val="950"/>
              <a:buFont typeface="Calibri"/>
              <a:buNone/>
            </a:pPr>
            <a:r>
              <a:rPr b="1" i="0" lang="en-US" sz="950" u="none" cap="none" strike="noStrike">
                <a:solidFill>
                  <a:srgbClr val="00D4FF"/>
                </a:solidFill>
                <a:latin typeface="Calibri"/>
                <a:ea typeface="Calibri"/>
                <a:cs typeface="Calibri"/>
                <a:sym typeface="Calibri"/>
              </a:rPr>
              <a:t>En C++ productivo: </a:t>
            </a:r>
            <a:r>
              <a:rPr b="0" i="0" lang="en-US" sz="950" u="none" cap="none" strike="noStrike">
                <a:solidFill>
                  <a:srgbClr val="F0F4FF"/>
                </a:solidFill>
                <a:latin typeface="Calibri"/>
                <a:ea typeface="Calibri"/>
                <a:cs typeface="Calibri"/>
                <a:sym typeface="Calibri"/>
              </a:rPr>
              <a:t>std::map&lt;K,V&gt; y std::set&lt;K&gt; son Red-Black trees internamente. Para los tickets del CEO: </a:t>
            </a:r>
            <a:r>
              <a:rPr b="1" i="0" lang="en-US" sz="950" u="none" cap="none" strike="noStrike">
                <a:solidFill>
                  <a:srgbClr val="10B981"/>
                </a:solidFill>
                <a:latin typeface="Calibri"/>
                <a:ea typeface="Calibri"/>
                <a:cs typeface="Calibri"/>
                <a:sym typeface="Calibri"/>
              </a:rPr>
              <a:t>std::map&lt;int, Ticket&gt; da O(log n) garantizado en insert, search y delete. Sin implementar nada.</a:t>
            </a:r>
            <a:endParaRPr b="0" i="0" sz="950" u="none" cap="none" strike="noStrike">
              <a:solidFill>
                <a:schemeClr val="dk1"/>
              </a:solidFill>
              <a:latin typeface="Calibri"/>
              <a:ea typeface="Calibri"/>
              <a:cs typeface="Calibri"/>
              <a:sym typeface="Calibri"/>
            </a:endParaRPr>
          </a:p>
        </p:txBody>
      </p:sp>
      <p:sp>
        <p:nvSpPr>
          <p:cNvPr id="1167" name="Google Shape;1167;p31"/>
          <p:cNvSpPr/>
          <p:nvPr/>
        </p:nvSpPr>
        <p:spPr>
          <a:xfrm>
            <a:off x="137160" y="4846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AED · Clase 7 · Comparativa</a:t>
            </a:r>
            <a:endParaRPr b="0" i="0" sz="900" u="none" cap="none" strike="noStrike">
              <a:solidFill>
                <a:schemeClr val="dk1"/>
              </a:solidFill>
              <a:latin typeface="Calibri"/>
              <a:ea typeface="Calibri"/>
              <a:cs typeface="Calibri"/>
              <a:sym typeface="Calibri"/>
            </a:endParaRPr>
          </a:p>
        </p:txBody>
      </p:sp>
      <p:sp>
        <p:nvSpPr>
          <p:cNvPr id="1168" name="Google Shape;1168;p31"/>
          <p:cNvSpPr/>
          <p:nvPr/>
        </p:nvSpPr>
        <p:spPr>
          <a:xfrm>
            <a:off x="8503920" y="4846320"/>
            <a:ext cx="54864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F1A"/>
        </a:solidFill>
      </p:bgPr>
    </p:bg>
    <p:spTree>
      <p:nvGrpSpPr>
        <p:cNvPr id="1173" name="Shape 1173"/>
        <p:cNvGrpSpPr/>
        <p:nvPr/>
      </p:nvGrpSpPr>
      <p:grpSpPr>
        <a:xfrm>
          <a:off x="0" y="0"/>
          <a:ext cx="0" cy="0"/>
          <a:chOff x="0" y="0"/>
          <a:chExt cx="0" cy="0"/>
        </a:xfrm>
      </p:grpSpPr>
      <p:sp>
        <p:nvSpPr>
          <p:cNvPr id="1174" name="Google Shape;1174;p32"/>
          <p:cNvSpPr/>
          <p:nvPr/>
        </p:nvSpPr>
        <p:spPr>
          <a:xfrm>
            <a:off x="0" y="0"/>
            <a:ext cx="54864"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32"/>
          <p:cNvSpPr/>
          <p:nvPr/>
        </p:nvSpPr>
        <p:spPr>
          <a:xfrm>
            <a:off x="182880" y="137160"/>
            <a:ext cx="87782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2600"/>
              <a:buFont typeface="Trebuchet MS"/>
              <a:buNone/>
            </a:pPr>
            <a:r>
              <a:rPr b="1" i="0" lang="en-US" sz="2600" u="none" cap="none" strike="noStrike">
                <a:solidFill>
                  <a:srgbClr val="F0F4FF"/>
                </a:solidFill>
                <a:latin typeface="Trebuchet MS"/>
                <a:ea typeface="Trebuchet MS"/>
                <a:cs typeface="Trebuchet MS"/>
                <a:sym typeface="Trebuchet MS"/>
              </a:rPr>
              <a:t>Actividad — Elegí el árbol, justificá el por qué</a:t>
            </a:r>
            <a:endParaRPr b="0" i="0" sz="2600" u="none" cap="none" strike="noStrike">
              <a:solidFill>
                <a:schemeClr val="dk1"/>
              </a:solidFill>
              <a:latin typeface="Calibri"/>
              <a:ea typeface="Calibri"/>
              <a:cs typeface="Calibri"/>
              <a:sym typeface="Calibri"/>
            </a:endParaRPr>
          </a:p>
        </p:txBody>
      </p:sp>
      <p:sp>
        <p:nvSpPr>
          <p:cNvPr id="1176" name="Google Shape;1176;p32"/>
          <p:cNvSpPr/>
          <p:nvPr/>
        </p:nvSpPr>
        <p:spPr>
          <a:xfrm>
            <a:off x="182880" y="749808"/>
            <a:ext cx="8778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1200"/>
              <a:buFont typeface="Calibri"/>
              <a:buNone/>
            </a:pPr>
            <a:r>
              <a:rPr b="0" i="1" lang="en-US" sz="1200" u="none" cap="none" strike="noStrike">
                <a:solidFill>
                  <a:srgbClr val="8892A4"/>
                </a:solidFill>
                <a:latin typeface="Calibri"/>
                <a:ea typeface="Calibri"/>
                <a:cs typeface="Calibri"/>
                <a:sym typeface="Calibri"/>
              </a:rPr>
              <a:t>En grupos de 3 — el CEO tiene 5 sistemas nuevos</a:t>
            </a:r>
            <a:endParaRPr b="0" i="0" sz="1200" u="none" cap="none" strike="noStrike">
              <a:solidFill>
                <a:schemeClr val="dk1"/>
              </a:solidFill>
              <a:latin typeface="Calibri"/>
              <a:ea typeface="Calibri"/>
              <a:cs typeface="Calibri"/>
              <a:sym typeface="Calibri"/>
            </a:endParaRPr>
          </a:p>
        </p:txBody>
      </p:sp>
      <p:sp>
        <p:nvSpPr>
          <p:cNvPr id="1177" name="Google Shape;1177;p32"/>
          <p:cNvSpPr/>
          <p:nvPr/>
        </p:nvSpPr>
        <p:spPr>
          <a:xfrm>
            <a:off x="182880" y="1024128"/>
            <a:ext cx="1463040" cy="27432"/>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32"/>
          <p:cNvSpPr/>
          <p:nvPr/>
        </p:nvSpPr>
        <p:spPr>
          <a:xfrm>
            <a:off x="137160" y="1188720"/>
            <a:ext cx="8869680" cy="2011680"/>
          </a:xfrm>
          <a:prstGeom prst="rect">
            <a:avLst/>
          </a:prstGeom>
          <a:solidFill>
            <a:srgbClr val="1A2035"/>
          </a:solidFill>
          <a:ln cap="flat" cmpd="sng" w="9525">
            <a:solidFill>
              <a:srgbClr val="00D4FF"/>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32"/>
          <p:cNvSpPr/>
          <p:nvPr/>
        </p:nvSpPr>
        <p:spPr>
          <a:xfrm>
            <a:off x="320040" y="1344168"/>
            <a:ext cx="1589227" cy="256032"/>
          </a:xfrm>
          <a:prstGeom prst="roundRect">
            <a:avLst>
              <a:gd fmla="val 21429" name="adj"/>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32"/>
          <p:cNvSpPr/>
          <p:nvPr/>
        </p:nvSpPr>
        <p:spPr>
          <a:xfrm>
            <a:off x="320040" y="1344168"/>
            <a:ext cx="1589227"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ACTIVIDAD GRUPAL</a:t>
            </a:r>
            <a:endParaRPr b="0" i="0" sz="800" u="none" cap="none" strike="noStrike">
              <a:solidFill>
                <a:schemeClr val="dk1"/>
              </a:solidFill>
              <a:latin typeface="Calibri"/>
              <a:ea typeface="Calibri"/>
              <a:cs typeface="Calibri"/>
              <a:sym typeface="Calibri"/>
            </a:endParaRPr>
          </a:p>
        </p:txBody>
      </p:sp>
      <p:sp>
        <p:nvSpPr>
          <p:cNvPr id="1181" name="Google Shape;1181;p32"/>
          <p:cNvSpPr/>
          <p:nvPr/>
        </p:nvSpPr>
        <p:spPr>
          <a:xfrm>
            <a:off x="320040" y="1691640"/>
            <a:ext cx="854964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1100"/>
              <a:buFont typeface="Calibri"/>
              <a:buNone/>
            </a:pPr>
            <a:r>
              <a:rPr b="0" i="0" lang="en-US" sz="1100" u="none" cap="none" strike="noStrike">
                <a:solidFill>
                  <a:srgbClr val="F0F4FF"/>
                </a:solidFill>
                <a:latin typeface="Calibri"/>
                <a:ea typeface="Calibri"/>
                <a:cs typeface="Calibri"/>
                <a:sym typeface="Calibri"/>
              </a:rPr>
              <a:t>Para cada sistema a continuación, el grupo debe elegir la estructura de árbol más adecuada (BST simple / AVL / Red-Black / Splay), justificar con complejidades y propiedades, e identificar qué error ocurriría con la elección naive.</a:t>
            </a:r>
            <a:br>
              <a:rPr b="0" i="0" lang="en-US" sz="1100" u="none" cap="none" strike="noStrike">
                <a:solidFill>
                  <a:srgbClr val="F0F4FF"/>
                </a:solidFill>
                <a:latin typeface="Calibri"/>
                <a:ea typeface="Calibri"/>
                <a:cs typeface="Calibri"/>
                <a:sym typeface="Calibri"/>
              </a:rPr>
            </a:br>
            <a:r>
              <a:rPr b="1" i="0" lang="en-US" sz="1100" u="none" cap="none" strike="noStrike">
                <a:solidFill>
                  <a:srgbClr val="00D4FF"/>
                </a:solidFill>
                <a:latin typeface="Calibri"/>
                <a:ea typeface="Calibri"/>
                <a:cs typeface="Calibri"/>
                <a:sym typeface="Calibri"/>
              </a:rPr>
              <a:t>Criterio de éxito: justificación técnica correcta + peor error identificado.</a:t>
            </a:r>
            <a:endParaRPr b="0" i="0" sz="1100" u="none" cap="none" strike="noStrike">
              <a:solidFill>
                <a:schemeClr val="dk1"/>
              </a:solidFill>
              <a:latin typeface="Calibri"/>
              <a:ea typeface="Calibri"/>
              <a:cs typeface="Calibri"/>
              <a:sym typeface="Calibri"/>
            </a:endParaRPr>
          </a:p>
        </p:txBody>
      </p:sp>
      <p:sp>
        <p:nvSpPr>
          <p:cNvPr id="1182" name="Google Shape;1182;p32"/>
          <p:cNvSpPr/>
          <p:nvPr/>
        </p:nvSpPr>
        <p:spPr>
          <a:xfrm>
            <a:off x="137160" y="3310128"/>
            <a:ext cx="4343400" cy="475488"/>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32"/>
          <p:cNvSpPr/>
          <p:nvPr/>
        </p:nvSpPr>
        <p:spPr>
          <a:xfrm>
            <a:off x="228600" y="3364992"/>
            <a:ext cx="274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4FF"/>
              </a:buClr>
              <a:buSzPts val="1400"/>
              <a:buFont typeface="Trebuchet MS"/>
              <a:buNone/>
            </a:pPr>
            <a:r>
              <a:rPr b="1" i="0" lang="en-US" sz="1400" u="none" cap="none" strike="noStrike">
                <a:solidFill>
                  <a:srgbClr val="00D4FF"/>
                </a:solidFill>
                <a:latin typeface="Trebuchet MS"/>
                <a:ea typeface="Trebuchet MS"/>
                <a:cs typeface="Trebuchet MS"/>
                <a:sym typeface="Trebuchet MS"/>
              </a:rPr>
              <a:t>A.</a:t>
            </a:r>
            <a:endParaRPr b="0" i="0" sz="1400" u="none" cap="none" strike="noStrike">
              <a:solidFill>
                <a:schemeClr val="dk1"/>
              </a:solidFill>
              <a:latin typeface="Calibri"/>
              <a:ea typeface="Calibri"/>
              <a:cs typeface="Calibri"/>
              <a:sym typeface="Calibri"/>
            </a:endParaRPr>
          </a:p>
        </p:txBody>
      </p:sp>
      <p:sp>
        <p:nvSpPr>
          <p:cNvPr id="1184" name="Google Shape;1184;p32"/>
          <p:cNvSpPr/>
          <p:nvPr/>
        </p:nvSpPr>
        <p:spPr>
          <a:xfrm>
            <a:off x="521208" y="3346704"/>
            <a:ext cx="342900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900"/>
              <a:buFont typeface="Calibri"/>
              <a:buNone/>
            </a:pPr>
            <a:r>
              <a:rPr b="0" i="0" lang="en-US" sz="900" u="none" cap="none" strike="noStrike">
                <a:solidFill>
                  <a:srgbClr val="F0F4FF"/>
                </a:solidFill>
                <a:latin typeface="Calibri"/>
                <a:ea typeface="Calibri"/>
                <a:cs typeface="Calibri"/>
                <a:sym typeface="Calibri"/>
              </a:rPr>
              <a:t>Sistema de autocompletado de búsqueda. Los usuarios buscan las mismas palabras repetidamente. Los términos populares deben encontrarse en O(1) amortizado.</a:t>
            </a:r>
            <a:endParaRPr b="0" i="0" sz="900" u="none" cap="none" strike="noStrike">
              <a:solidFill>
                <a:schemeClr val="dk1"/>
              </a:solidFill>
              <a:latin typeface="Calibri"/>
              <a:ea typeface="Calibri"/>
              <a:cs typeface="Calibri"/>
              <a:sym typeface="Calibri"/>
            </a:endParaRPr>
          </a:p>
        </p:txBody>
      </p:sp>
      <p:sp>
        <p:nvSpPr>
          <p:cNvPr id="1185" name="Google Shape;1185;p32"/>
          <p:cNvSpPr/>
          <p:nvPr/>
        </p:nvSpPr>
        <p:spPr>
          <a:xfrm>
            <a:off x="3840480" y="3419856"/>
            <a:ext cx="59436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59E0B"/>
              </a:buClr>
              <a:buSzPts val="800"/>
              <a:buFont typeface="Consolas"/>
              <a:buNone/>
            </a:pPr>
            <a:r>
              <a:rPr b="0" i="0" lang="en-US" sz="800" u="none" cap="none" strike="noStrike">
                <a:solidFill>
                  <a:srgbClr val="F59E0B"/>
                </a:solidFill>
                <a:latin typeface="Consolas"/>
                <a:ea typeface="Consolas"/>
                <a:cs typeface="Consolas"/>
                <a:sym typeface="Consolas"/>
              </a:rPr>
              <a:t>¿Localidad?</a:t>
            </a:r>
            <a:endParaRPr b="0" i="0" sz="800" u="none" cap="none" strike="noStrike">
              <a:solidFill>
                <a:schemeClr val="dk1"/>
              </a:solidFill>
              <a:latin typeface="Calibri"/>
              <a:ea typeface="Calibri"/>
              <a:cs typeface="Calibri"/>
              <a:sym typeface="Calibri"/>
            </a:endParaRPr>
          </a:p>
        </p:txBody>
      </p:sp>
      <p:sp>
        <p:nvSpPr>
          <p:cNvPr id="1186" name="Google Shape;1186;p32"/>
          <p:cNvSpPr/>
          <p:nvPr/>
        </p:nvSpPr>
        <p:spPr>
          <a:xfrm>
            <a:off x="137160" y="3858768"/>
            <a:ext cx="4343400" cy="475488"/>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32"/>
          <p:cNvSpPr/>
          <p:nvPr/>
        </p:nvSpPr>
        <p:spPr>
          <a:xfrm>
            <a:off x="228600" y="3913632"/>
            <a:ext cx="274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4FF"/>
              </a:buClr>
              <a:buSzPts val="1400"/>
              <a:buFont typeface="Trebuchet MS"/>
              <a:buNone/>
            </a:pPr>
            <a:r>
              <a:rPr b="1" i="0" lang="en-US" sz="1400" u="none" cap="none" strike="noStrike">
                <a:solidFill>
                  <a:srgbClr val="00D4FF"/>
                </a:solidFill>
                <a:latin typeface="Trebuchet MS"/>
                <a:ea typeface="Trebuchet MS"/>
                <a:cs typeface="Trebuchet MS"/>
                <a:sym typeface="Trebuchet MS"/>
              </a:rPr>
              <a:t>B.</a:t>
            </a:r>
            <a:endParaRPr b="0" i="0" sz="1400" u="none" cap="none" strike="noStrike">
              <a:solidFill>
                <a:schemeClr val="dk1"/>
              </a:solidFill>
              <a:latin typeface="Calibri"/>
              <a:ea typeface="Calibri"/>
              <a:cs typeface="Calibri"/>
              <a:sym typeface="Calibri"/>
            </a:endParaRPr>
          </a:p>
        </p:txBody>
      </p:sp>
      <p:sp>
        <p:nvSpPr>
          <p:cNvPr id="1188" name="Google Shape;1188;p32"/>
          <p:cNvSpPr/>
          <p:nvPr/>
        </p:nvSpPr>
        <p:spPr>
          <a:xfrm>
            <a:off x="521208" y="3895344"/>
            <a:ext cx="342900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900"/>
              <a:buFont typeface="Calibri"/>
              <a:buNone/>
            </a:pPr>
            <a:r>
              <a:rPr b="0" i="0" lang="en-US" sz="900" u="none" cap="none" strike="noStrike">
                <a:solidFill>
                  <a:srgbClr val="F0F4FF"/>
                </a:solidFill>
                <a:latin typeface="Calibri"/>
                <a:ea typeface="Calibri"/>
                <a:cs typeface="Calibri"/>
                <a:sym typeface="Calibri"/>
              </a:rPr>
              <a:t>Base de datos de clientes. IDs llegan en orden secuencial ascendente. Necesita O(log n) garantizado para insert y search.</a:t>
            </a:r>
            <a:endParaRPr b="0" i="0" sz="900" u="none" cap="none" strike="noStrike">
              <a:solidFill>
                <a:schemeClr val="dk1"/>
              </a:solidFill>
              <a:latin typeface="Calibri"/>
              <a:ea typeface="Calibri"/>
              <a:cs typeface="Calibri"/>
              <a:sym typeface="Calibri"/>
            </a:endParaRPr>
          </a:p>
        </p:txBody>
      </p:sp>
      <p:sp>
        <p:nvSpPr>
          <p:cNvPr id="1189" name="Google Shape;1189;p32"/>
          <p:cNvSpPr/>
          <p:nvPr/>
        </p:nvSpPr>
        <p:spPr>
          <a:xfrm>
            <a:off x="3840480" y="3968496"/>
            <a:ext cx="59436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59E0B"/>
              </a:buClr>
              <a:buSzPts val="800"/>
              <a:buFont typeface="Consolas"/>
              <a:buNone/>
            </a:pPr>
            <a:r>
              <a:rPr b="0" i="0" lang="en-US" sz="800" u="none" cap="none" strike="noStrike">
                <a:solidFill>
                  <a:srgbClr val="F59E0B"/>
                </a:solidFill>
                <a:latin typeface="Consolas"/>
                <a:ea typeface="Consolas"/>
                <a:cs typeface="Consolas"/>
                <a:sym typeface="Consolas"/>
              </a:rPr>
              <a:t>¿Datos ordenados?</a:t>
            </a:r>
            <a:endParaRPr b="0" i="0" sz="800" u="none" cap="none" strike="noStrike">
              <a:solidFill>
                <a:schemeClr val="dk1"/>
              </a:solidFill>
              <a:latin typeface="Calibri"/>
              <a:ea typeface="Calibri"/>
              <a:cs typeface="Calibri"/>
              <a:sym typeface="Calibri"/>
            </a:endParaRPr>
          </a:p>
        </p:txBody>
      </p:sp>
      <p:sp>
        <p:nvSpPr>
          <p:cNvPr id="1190" name="Google Shape;1190;p32"/>
          <p:cNvSpPr/>
          <p:nvPr/>
        </p:nvSpPr>
        <p:spPr>
          <a:xfrm>
            <a:off x="137160" y="4407408"/>
            <a:ext cx="4343400" cy="475488"/>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32"/>
          <p:cNvSpPr/>
          <p:nvPr/>
        </p:nvSpPr>
        <p:spPr>
          <a:xfrm>
            <a:off x="228600" y="4462272"/>
            <a:ext cx="274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4FF"/>
              </a:buClr>
              <a:buSzPts val="1400"/>
              <a:buFont typeface="Trebuchet MS"/>
              <a:buNone/>
            </a:pPr>
            <a:r>
              <a:rPr b="1" i="0" lang="en-US" sz="1400" u="none" cap="none" strike="noStrike">
                <a:solidFill>
                  <a:srgbClr val="00D4FF"/>
                </a:solidFill>
                <a:latin typeface="Trebuchet MS"/>
                <a:ea typeface="Trebuchet MS"/>
                <a:cs typeface="Trebuchet MS"/>
                <a:sym typeface="Trebuchet MS"/>
              </a:rPr>
              <a:t>C.</a:t>
            </a:r>
            <a:endParaRPr b="0" i="0" sz="1400" u="none" cap="none" strike="noStrike">
              <a:solidFill>
                <a:schemeClr val="dk1"/>
              </a:solidFill>
              <a:latin typeface="Calibri"/>
              <a:ea typeface="Calibri"/>
              <a:cs typeface="Calibri"/>
              <a:sym typeface="Calibri"/>
            </a:endParaRPr>
          </a:p>
        </p:txBody>
      </p:sp>
      <p:sp>
        <p:nvSpPr>
          <p:cNvPr id="1192" name="Google Shape;1192;p32"/>
          <p:cNvSpPr/>
          <p:nvPr/>
        </p:nvSpPr>
        <p:spPr>
          <a:xfrm>
            <a:off x="521208" y="4443984"/>
            <a:ext cx="342900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900"/>
              <a:buFont typeface="Calibri"/>
              <a:buNone/>
            </a:pPr>
            <a:r>
              <a:rPr b="0" i="0" lang="en-US" sz="900" u="none" cap="none" strike="noStrike">
                <a:solidFill>
                  <a:srgbClr val="F0F4FF"/>
                </a:solidFill>
                <a:latin typeface="Calibri"/>
                <a:ea typeface="Calibri"/>
                <a:cs typeface="Calibri"/>
                <a:sym typeface="Calibri"/>
              </a:rPr>
              <a:t>Log de auditoría de seguridad. Solo se insertan eventos, nunca se eliminan. Las búsquedas son raras. La implementación debe ser simple.</a:t>
            </a:r>
            <a:endParaRPr b="0" i="0" sz="900" u="none" cap="none" strike="noStrike">
              <a:solidFill>
                <a:schemeClr val="dk1"/>
              </a:solidFill>
              <a:latin typeface="Calibri"/>
              <a:ea typeface="Calibri"/>
              <a:cs typeface="Calibri"/>
              <a:sym typeface="Calibri"/>
            </a:endParaRPr>
          </a:p>
        </p:txBody>
      </p:sp>
      <p:sp>
        <p:nvSpPr>
          <p:cNvPr id="1193" name="Google Shape;1193;p32"/>
          <p:cNvSpPr/>
          <p:nvPr/>
        </p:nvSpPr>
        <p:spPr>
          <a:xfrm>
            <a:off x="3840480" y="4517136"/>
            <a:ext cx="59436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59E0B"/>
              </a:buClr>
              <a:buSzPts val="800"/>
              <a:buFont typeface="Consolas"/>
              <a:buNone/>
            </a:pPr>
            <a:r>
              <a:rPr b="0" i="0" lang="en-US" sz="800" u="none" cap="none" strike="noStrike">
                <a:solidFill>
                  <a:srgbClr val="F59E0B"/>
                </a:solidFill>
                <a:latin typeface="Consolas"/>
                <a:ea typeface="Consolas"/>
                <a:cs typeface="Consolas"/>
                <a:sym typeface="Consolas"/>
              </a:rPr>
              <a:t>¿Complejidad?</a:t>
            </a:r>
            <a:endParaRPr b="0" i="0" sz="800" u="none" cap="none" strike="noStrike">
              <a:solidFill>
                <a:schemeClr val="dk1"/>
              </a:solidFill>
              <a:latin typeface="Calibri"/>
              <a:ea typeface="Calibri"/>
              <a:cs typeface="Calibri"/>
              <a:sym typeface="Calibri"/>
            </a:endParaRPr>
          </a:p>
        </p:txBody>
      </p:sp>
      <p:sp>
        <p:nvSpPr>
          <p:cNvPr id="1194" name="Google Shape;1194;p32"/>
          <p:cNvSpPr/>
          <p:nvPr/>
        </p:nvSpPr>
        <p:spPr>
          <a:xfrm>
            <a:off x="4709160" y="3310128"/>
            <a:ext cx="4434840" cy="475488"/>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32"/>
          <p:cNvSpPr/>
          <p:nvPr/>
        </p:nvSpPr>
        <p:spPr>
          <a:xfrm>
            <a:off x="4800600" y="3364992"/>
            <a:ext cx="274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4FF"/>
              </a:buClr>
              <a:buSzPts val="1400"/>
              <a:buFont typeface="Trebuchet MS"/>
              <a:buNone/>
            </a:pPr>
            <a:r>
              <a:rPr b="1" i="0" lang="en-US" sz="1400" u="none" cap="none" strike="noStrike">
                <a:solidFill>
                  <a:srgbClr val="00D4FF"/>
                </a:solidFill>
                <a:latin typeface="Trebuchet MS"/>
                <a:ea typeface="Trebuchet MS"/>
                <a:cs typeface="Trebuchet MS"/>
                <a:sym typeface="Trebuchet MS"/>
              </a:rPr>
              <a:t>D.</a:t>
            </a:r>
            <a:endParaRPr b="0" i="0" sz="1400" u="none" cap="none" strike="noStrike">
              <a:solidFill>
                <a:schemeClr val="dk1"/>
              </a:solidFill>
              <a:latin typeface="Calibri"/>
              <a:ea typeface="Calibri"/>
              <a:cs typeface="Calibri"/>
              <a:sym typeface="Calibri"/>
            </a:endParaRPr>
          </a:p>
        </p:txBody>
      </p:sp>
      <p:sp>
        <p:nvSpPr>
          <p:cNvPr id="1196" name="Google Shape;1196;p32"/>
          <p:cNvSpPr/>
          <p:nvPr/>
        </p:nvSpPr>
        <p:spPr>
          <a:xfrm>
            <a:off x="5093208" y="3346704"/>
            <a:ext cx="35204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900"/>
              <a:buFont typeface="Calibri"/>
              <a:buNone/>
            </a:pPr>
            <a:r>
              <a:rPr b="0" i="0" lang="en-US" sz="900" u="none" cap="none" strike="noStrike">
                <a:solidFill>
                  <a:srgbClr val="F0F4FF"/>
                </a:solidFill>
                <a:latin typeface="Calibri"/>
                <a:ea typeface="Calibri"/>
                <a:cs typeface="Calibri"/>
                <a:sym typeface="Calibri"/>
              </a:rPr>
              <a:t>Sistema de trading financiero real-time. Inserciones y búsquedas en ráfagas de 10.000/segundo. Worst-case inaceptable.</a:t>
            </a:r>
            <a:endParaRPr b="0" i="0" sz="900" u="none" cap="none" strike="noStrike">
              <a:solidFill>
                <a:schemeClr val="dk1"/>
              </a:solidFill>
              <a:latin typeface="Calibri"/>
              <a:ea typeface="Calibri"/>
              <a:cs typeface="Calibri"/>
              <a:sym typeface="Calibri"/>
            </a:endParaRPr>
          </a:p>
        </p:txBody>
      </p:sp>
      <p:sp>
        <p:nvSpPr>
          <p:cNvPr id="1197" name="Google Shape;1197;p32"/>
          <p:cNvSpPr/>
          <p:nvPr/>
        </p:nvSpPr>
        <p:spPr>
          <a:xfrm>
            <a:off x="8503920" y="3419856"/>
            <a:ext cx="59436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59E0B"/>
              </a:buClr>
              <a:buSzPts val="800"/>
              <a:buFont typeface="Consolas"/>
              <a:buNone/>
            </a:pPr>
            <a:r>
              <a:rPr b="0" i="0" lang="en-US" sz="800" u="none" cap="none" strike="noStrike">
                <a:solidFill>
                  <a:srgbClr val="F59E0B"/>
                </a:solidFill>
                <a:latin typeface="Consolas"/>
                <a:ea typeface="Consolas"/>
                <a:cs typeface="Consolas"/>
                <a:sym typeface="Consolas"/>
              </a:rPr>
              <a:t>¿Worst-case?</a:t>
            </a:r>
            <a:endParaRPr b="0" i="0" sz="800" u="none" cap="none" strike="noStrike">
              <a:solidFill>
                <a:schemeClr val="dk1"/>
              </a:solidFill>
              <a:latin typeface="Calibri"/>
              <a:ea typeface="Calibri"/>
              <a:cs typeface="Calibri"/>
              <a:sym typeface="Calibri"/>
            </a:endParaRPr>
          </a:p>
        </p:txBody>
      </p:sp>
      <p:sp>
        <p:nvSpPr>
          <p:cNvPr id="1198" name="Google Shape;1198;p32"/>
          <p:cNvSpPr/>
          <p:nvPr/>
        </p:nvSpPr>
        <p:spPr>
          <a:xfrm>
            <a:off x="4709160" y="3858768"/>
            <a:ext cx="4434840" cy="475488"/>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32"/>
          <p:cNvSpPr/>
          <p:nvPr/>
        </p:nvSpPr>
        <p:spPr>
          <a:xfrm>
            <a:off x="4800600" y="3913632"/>
            <a:ext cx="274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4FF"/>
              </a:buClr>
              <a:buSzPts val="1400"/>
              <a:buFont typeface="Trebuchet MS"/>
              <a:buNone/>
            </a:pPr>
            <a:r>
              <a:rPr b="1" i="0" lang="en-US" sz="1400" u="none" cap="none" strike="noStrike">
                <a:solidFill>
                  <a:srgbClr val="00D4FF"/>
                </a:solidFill>
                <a:latin typeface="Trebuchet MS"/>
                <a:ea typeface="Trebuchet MS"/>
                <a:cs typeface="Trebuchet MS"/>
                <a:sym typeface="Trebuchet MS"/>
              </a:rPr>
              <a:t>E.</a:t>
            </a:r>
            <a:endParaRPr b="0" i="0" sz="1400" u="none" cap="none" strike="noStrike">
              <a:solidFill>
                <a:schemeClr val="dk1"/>
              </a:solidFill>
              <a:latin typeface="Calibri"/>
              <a:ea typeface="Calibri"/>
              <a:cs typeface="Calibri"/>
              <a:sym typeface="Calibri"/>
            </a:endParaRPr>
          </a:p>
        </p:txBody>
      </p:sp>
      <p:sp>
        <p:nvSpPr>
          <p:cNvPr id="1200" name="Google Shape;1200;p32"/>
          <p:cNvSpPr/>
          <p:nvPr/>
        </p:nvSpPr>
        <p:spPr>
          <a:xfrm>
            <a:off x="5093208" y="3895344"/>
            <a:ext cx="35204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900"/>
              <a:buFont typeface="Calibri"/>
              <a:buNone/>
            </a:pPr>
            <a:r>
              <a:rPr b="0" i="0" lang="en-US" sz="900" u="none" cap="none" strike="noStrike">
                <a:solidFill>
                  <a:srgbClr val="F0F4FF"/>
                </a:solidFill>
                <a:latin typeface="Calibri"/>
                <a:ea typeface="Calibri"/>
                <a:cs typeface="Calibri"/>
                <a:sym typeface="Calibri"/>
              </a:rPr>
              <a:t>Diccionario para corrector ortográfico. Se carga una vez al iniciar, luego solo búsquedas. El path más corto posible es crítico.</a:t>
            </a:r>
            <a:endParaRPr b="0" i="0" sz="900" u="none" cap="none" strike="noStrike">
              <a:solidFill>
                <a:schemeClr val="dk1"/>
              </a:solidFill>
              <a:latin typeface="Calibri"/>
              <a:ea typeface="Calibri"/>
              <a:cs typeface="Calibri"/>
              <a:sym typeface="Calibri"/>
            </a:endParaRPr>
          </a:p>
        </p:txBody>
      </p:sp>
      <p:sp>
        <p:nvSpPr>
          <p:cNvPr id="1201" name="Google Shape;1201;p32"/>
          <p:cNvSpPr/>
          <p:nvPr/>
        </p:nvSpPr>
        <p:spPr>
          <a:xfrm>
            <a:off x="8503920" y="3968496"/>
            <a:ext cx="59436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59E0B"/>
              </a:buClr>
              <a:buSzPts val="800"/>
              <a:buFont typeface="Consolas"/>
              <a:buNone/>
            </a:pPr>
            <a:r>
              <a:rPr b="0" i="0" lang="en-US" sz="800" u="none" cap="none" strike="noStrike">
                <a:solidFill>
                  <a:srgbClr val="F59E0B"/>
                </a:solidFill>
                <a:latin typeface="Consolas"/>
                <a:ea typeface="Consolas"/>
                <a:cs typeface="Consolas"/>
                <a:sym typeface="Consolas"/>
              </a:rPr>
              <a:t>¿Búsquedas?</a:t>
            </a:r>
            <a:endParaRPr b="0" i="0" sz="800" u="none" cap="none" strike="noStrike">
              <a:solidFill>
                <a:schemeClr val="dk1"/>
              </a:solidFill>
              <a:latin typeface="Calibri"/>
              <a:ea typeface="Calibri"/>
              <a:cs typeface="Calibri"/>
              <a:sym typeface="Calibri"/>
            </a:endParaRPr>
          </a:p>
        </p:txBody>
      </p:sp>
      <p:sp>
        <p:nvSpPr>
          <p:cNvPr id="1202" name="Google Shape;1202;p32"/>
          <p:cNvSpPr/>
          <p:nvPr/>
        </p:nvSpPr>
        <p:spPr>
          <a:xfrm>
            <a:off x="137160" y="4846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AED · Clase 7 · Actividad</a:t>
            </a:r>
            <a:endParaRPr b="0" i="0" sz="900" u="none" cap="none" strike="noStrike">
              <a:solidFill>
                <a:schemeClr val="dk1"/>
              </a:solidFill>
              <a:latin typeface="Calibri"/>
              <a:ea typeface="Calibri"/>
              <a:cs typeface="Calibri"/>
              <a:sym typeface="Calibri"/>
            </a:endParaRPr>
          </a:p>
        </p:txBody>
      </p:sp>
      <p:sp>
        <p:nvSpPr>
          <p:cNvPr id="1203" name="Google Shape;1203;p32"/>
          <p:cNvSpPr/>
          <p:nvPr/>
        </p:nvSpPr>
        <p:spPr>
          <a:xfrm>
            <a:off x="8503920" y="4846320"/>
            <a:ext cx="54864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F1A"/>
        </a:solidFill>
      </p:bgPr>
    </p:bg>
    <p:spTree>
      <p:nvGrpSpPr>
        <p:cNvPr id="1208" name="Shape 1208"/>
        <p:cNvGrpSpPr/>
        <p:nvPr/>
      </p:nvGrpSpPr>
      <p:grpSpPr>
        <a:xfrm>
          <a:off x="0" y="0"/>
          <a:ext cx="0" cy="0"/>
          <a:chOff x="0" y="0"/>
          <a:chExt cx="0" cy="0"/>
        </a:xfrm>
      </p:grpSpPr>
      <p:sp>
        <p:nvSpPr>
          <p:cNvPr id="1209" name="Google Shape;1209;p33"/>
          <p:cNvSpPr/>
          <p:nvPr/>
        </p:nvSpPr>
        <p:spPr>
          <a:xfrm>
            <a:off x="0" y="0"/>
            <a:ext cx="54864"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33"/>
          <p:cNvSpPr/>
          <p:nvPr/>
        </p:nvSpPr>
        <p:spPr>
          <a:xfrm>
            <a:off x="182880" y="137160"/>
            <a:ext cx="87782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2600"/>
              <a:buFont typeface="Trebuchet MS"/>
              <a:buNone/>
            </a:pPr>
            <a:r>
              <a:rPr b="1" i="0" lang="en-US" sz="2600" u="none" cap="none" strike="noStrike">
                <a:solidFill>
                  <a:srgbClr val="F0F4FF"/>
                </a:solidFill>
                <a:latin typeface="Trebuchet MS"/>
                <a:ea typeface="Trebuchet MS"/>
                <a:cs typeface="Trebuchet MS"/>
                <a:sym typeface="Trebuchet MS"/>
              </a:rPr>
              <a:t>Errores cross-bloque — Los más peligrosos</a:t>
            </a:r>
            <a:endParaRPr b="0" i="0" sz="2600" u="none" cap="none" strike="noStrike">
              <a:solidFill>
                <a:schemeClr val="dk1"/>
              </a:solidFill>
              <a:latin typeface="Calibri"/>
              <a:ea typeface="Calibri"/>
              <a:cs typeface="Calibri"/>
              <a:sym typeface="Calibri"/>
            </a:endParaRPr>
          </a:p>
        </p:txBody>
      </p:sp>
      <p:sp>
        <p:nvSpPr>
          <p:cNvPr id="1211" name="Google Shape;1211;p33"/>
          <p:cNvSpPr/>
          <p:nvPr/>
        </p:nvSpPr>
        <p:spPr>
          <a:xfrm>
            <a:off x="182880" y="749808"/>
            <a:ext cx="8778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1200"/>
              <a:buFont typeface="Calibri"/>
              <a:buNone/>
            </a:pPr>
            <a:r>
              <a:rPr b="0" i="1" lang="en-US" sz="1200" u="none" cap="none" strike="noStrike">
                <a:solidFill>
                  <a:srgbClr val="8892A4"/>
                </a:solidFill>
                <a:latin typeface="Calibri"/>
                <a:ea typeface="Calibri"/>
                <a:cs typeface="Calibri"/>
                <a:sym typeface="Calibri"/>
              </a:rPr>
              <a:t>Los que pasan todos los tests y fallan en producción</a:t>
            </a:r>
            <a:endParaRPr b="0" i="0" sz="1200" u="none" cap="none" strike="noStrike">
              <a:solidFill>
                <a:schemeClr val="dk1"/>
              </a:solidFill>
              <a:latin typeface="Calibri"/>
              <a:ea typeface="Calibri"/>
              <a:cs typeface="Calibri"/>
              <a:sym typeface="Calibri"/>
            </a:endParaRPr>
          </a:p>
        </p:txBody>
      </p:sp>
      <p:sp>
        <p:nvSpPr>
          <p:cNvPr id="1212" name="Google Shape;1212;p33"/>
          <p:cNvSpPr/>
          <p:nvPr/>
        </p:nvSpPr>
        <p:spPr>
          <a:xfrm>
            <a:off x="182880" y="1024128"/>
            <a:ext cx="1463040" cy="27432"/>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33"/>
          <p:cNvSpPr/>
          <p:nvPr/>
        </p:nvSpPr>
        <p:spPr>
          <a:xfrm>
            <a:off x="137160" y="1097280"/>
            <a:ext cx="2148840" cy="3840480"/>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33"/>
          <p:cNvSpPr/>
          <p:nvPr/>
        </p:nvSpPr>
        <p:spPr>
          <a:xfrm>
            <a:off x="137160" y="1097280"/>
            <a:ext cx="45720" cy="3840480"/>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33"/>
          <p:cNvSpPr/>
          <p:nvPr/>
        </p:nvSpPr>
        <p:spPr>
          <a:xfrm>
            <a:off x="274320" y="1188720"/>
            <a:ext cx="1965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000"/>
              <a:buFont typeface="Calibri"/>
              <a:buNone/>
            </a:pPr>
            <a:r>
              <a:rPr b="1" i="0" lang="en-US" sz="1000" u="none" cap="none" strike="noStrike">
                <a:solidFill>
                  <a:srgbClr val="EF4444"/>
                </a:solidFill>
                <a:latin typeface="Calibri"/>
                <a:ea typeface="Calibri"/>
                <a:cs typeface="Calibri"/>
                <a:sym typeface="Calibri"/>
              </a:rPr>
              <a:t>BST con datos ordenados = lista</a:t>
            </a:r>
            <a:endParaRPr b="0" i="0" sz="1000" u="none" cap="none" strike="noStrike">
              <a:solidFill>
                <a:schemeClr val="dk1"/>
              </a:solidFill>
              <a:latin typeface="Calibri"/>
              <a:ea typeface="Calibri"/>
              <a:cs typeface="Calibri"/>
              <a:sym typeface="Calibri"/>
            </a:endParaRPr>
          </a:p>
        </p:txBody>
      </p:sp>
      <p:sp>
        <p:nvSpPr>
          <p:cNvPr id="1216" name="Google Shape;1216;p33"/>
          <p:cNvSpPr/>
          <p:nvPr/>
        </p:nvSpPr>
        <p:spPr>
          <a:xfrm>
            <a:off x="274320" y="1463040"/>
            <a:ext cx="1874520" cy="18288"/>
          </a:xfrm>
          <a:prstGeom prst="rect">
            <a:avLst/>
          </a:prstGeom>
          <a:solidFill>
            <a:srgbClr val="7F1D1D"/>
          </a:solidFill>
          <a:ln cap="flat" cmpd="sng" w="12700">
            <a:solidFill>
              <a:srgbClr val="7F1D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33"/>
          <p:cNvSpPr/>
          <p:nvPr/>
        </p:nvSpPr>
        <p:spPr>
          <a:xfrm>
            <a:off x="274320" y="1499616"/>
            <a:ext cx="19659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750"/>
              <a:buFont typeface="Calibri"/>
              <a:buNone/>
            </a:pPr>
            <a:r>
              <a:rPr b="1" i="0" lang="en-US" sz="750" u="none" cap="none" strike="noStrike">
                <a:solidFill>
                  <a:srgbClr val="EF4444"/>
                </a:solidFill>
                <a:latin typeface="Calibri"/>
                <a:ea typeface="Calibri"/>
                <a:cs typeface="Calibri"/>
                <a:sym typeface="Calibri"/>
              </a:rPr>
              <a:t>✗ INCORRECTO</a:t>
            </a:r>
            <a:endParaRPr b="0" i="0" sz="750" u="none" cap="none" strike="noStrike">
              <a:solidFill>
                <a:schemeClr val="dk1"/>
              </a:solidFill>
              <a:latin typeface="Calibri"/>
              <a:ea typeface="Calibri"/>
              <a:cs typeface="Calibri"/>
              <a:sym typeface="Calibri"/>
            </a:endParaRPr>
          </a:p>
        </p:txBody>
      </p:sp>
      <p:sp>
        <p:nvSpPr>
          <p:cNvPr id="1218" name="Google Shape;1218;p33"/>
          <p:cNvSpPr/>
          <p:nvPr/>
        </p:nvSpPr>
        <p:spPr>
          <a:xfrm>
            <a:off x="274320" y="1682496"/>
            <a:ext cx="1965960" cy="7498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9999"/>
              </a:buClr>
              <a:buSzPts val="850"/>
              <a:buFont typeface="Consolas"/>
              <a:buNone/>
            </a:pPr>
            <a:r>
              <a:rPr b="0" i="0" lang="en-US" sz="650" u="none" cap="none" strike="noStrike">
                <a:solidFill>
                  <a:srgbClr val="FF9999"/>
                </a:solidFill>
                <a:latin typeface="Consolas"/>
                <a:ea typeface="Consolas"/>
                <a:cs typeface="Consolas"/>
                <a:sym typeface="Consolas"/>
              </a:rPr>
              <a:t>// Tickets con IDs 1,2,3,...</a:t>
            </a:r>
            <a:endParaRPr b="0" i="0" sz="6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650" u="none" cap="none" strike="noStrike">
                <a:solidFill>
                  <a:srgbClr val="FF9999"/>
                </a:solidFill>
                <a:latin typeface="Consolas"/>
                <a:ea typeface="Consolas"/>
                <a:cs typeface="Consolas"/>
                <a:sym typeface="Consolas"/>
              </a:rPr>
              <a:t>BST tree;</a:t>
            </a:r>
            <a:endParaRPr b="0" i="0" sz="6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650" u="none" cap="none" strike="noStrike">
                <a:solidFill>
                  <a:srgbClr val="FF9999"/>
                </a:solidFill>
                <a:latin typeface="Consolas"/>
                <a:ea typeface="Consolas"/>
                <a:cs typeface="Consolas"/>
                <a:sym typeface="Consolas"/>
              </a:rPr>
              <a:t>for (int id=1;id&lt;=2000000;id++)</a:t>
            </a:r>
            <a:endParaRPr b="0" i="0" sz="6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650" u="none" cap="none" strike="noStrike">
                <a:solidFill>
                  <a:srgbClr val="FF9999"/>
                </a:solidFill>
                <a:latin typeface="Consolas"/>
                <a:ea typeface="Consolas"/>
                <a:cs typeface="Consolas"/>
                <a:sym typeface="Consolas"/>
              </a:rPr>
              <a:t>  tree.insert({id, ticket});</a:t>
            </a:r>
            <a:endParaRPr b="0" i="0" sz="6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650" u="none" cap="none" strike="noStrike">
                <a:solidFill>
                  <a:srgbClr val="FF9999"/>
                </a:solidFill>
                <a:latin typeface="Consolas"/>
                <a:ea typeface="Consolas"/>
                <a:cs typeface="Consolas"/>
                <a:sym typeface="Consolas"/>
              </a:rPr>
              <a:t>// h = 2.000.000</a:t>
            </a:r>
            <a:endParaRPr b="0" i="0" sz="6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650" u="none" cap="none" strike="noStrike">
                <a:solidFill>
                  <a:srgbClr val="FF9999"/>
                </a:solidFill>
                <a:latin typeface="Consolas"/>
                <a:ea typeface="Consolas"/>
                <a:cs typeface="Consolas"/>
                <a:sym typeface="Consolas"/>
              </a:rPr>
              <a:t>// search = O(2M)</a:t>
            </a:r>
            <a:endParaRPr b="0" i="0" sz="6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650" u="none" cap="none" strike="noStrike">
                <a:solidFill>
                  <a:srgbClr val="FF9999"/>
                </a:solidFill>
                <a:latin typeface="Consolas"/>
                <a:ea typeface="Consolas"/>
                <a:cs typeface="Consolas"/>
                <a:sym typeface="Consolas"/>
              </a:rPr>
              <a:t>// insert = O(2M)</a:t>
            </a:r>
            <a:endParaRPr b="0" i="0" sz="6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650" u="none" cap="none" strike="noStrike">
                <a:solidFill>
                  <a:srgbClr val="FF9999"/>
                </a:solidFill>
                <a:latin typeface="Consolas"/>
                <a:ea typeface="Consolas"/>
                <a:cs typeface="Consolas"/>
                <a:sym typeface="Consolas"/>
              </a:rPr>
              <a:t>// El árbol es una lista</a:t>
            </a:r>
            <a:endParaRPr b="0" i="0" sz="650" u="none" cap="none" strike="noStrike">
              <a:solidFill>
                <a:schemeClr val="dk1"/>
              </a:solidFill>
              <a:latin typeface="Calibri"/>
              <a:ea typeface="Calibri"/>
              <a:cs typeface="Calibri"/>
              <a:sym typeface="Calibri"/>
            </a:endParaRPr>
          </a:p>
        </p:txBody>
      </p:sp>
      <p:sp>
        <p:nvSpPr>
          <p:cNvPr id="1219" name="Google Shape;1219;p33"/>
          <p:cNvSpPr/>
          <p:nvPr/>
        </p:nvSpPr>
        <p:spPr>
          <a:xfrm>
            <a:off x="274320" y="2468880"/>
            <a:ext cx="19659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750"/>
              <a:buFont typeface="Calibri"/>
              <a:buNone/>
            </a:pPr>
            <a:r>
              <a:rPr b="1" i="0" lang="en-US" sz="750" u="none" cap="none" strike="noStrike">
                <a:solidFill>
                  <a:srgbClr val="F59E0B"/>
                </a:solidFill>
                <a:latin typeface="Calibri"/>
                <a:ea typeface="Calibri"/>
                <a:cs typeface="Calibri"/>
                <a:sym typeface="Calibri"/>
              </a:rPr>
              <a:t>CONSECUENCIA</a:t>
            </a:r>
            <a:endParaRPr b="0" i="0" sz="750" u="none" cap="none" strike="noStrike">
              <a:solidFill>
                <a:schemeClr val="dk1"/>
              </a:solidFill>
              <a:latin typeface="Calibri"/>
              <a:ea typeface="Calibri"/>
              <a:cs typeface="Calibri"/>
              <a:sym typeface="Calibri"/>
            </a:endParaRPr>
          </a:p>
        </p:txBody>
      </p:sp>
      <p:sp>
        <p:nvSpPr>
          <p:cNvPr id="1220" name="Google Shape;1220;p33"/>
          <p:cNvSpPr/>
          <p:nvPr/>
        </p:nvSpPr>
        <p:spPr>
          <a:xfrm>
            <a:off x="274320" y="2651760"/>
            <a:ext cx="196596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850"/>
              <a:buFont typeface="Calibri"/>
              <a:buNone/>
            </a:pPr>
            <a:r>
              <a:rPr b="0" i="0" lang="en-US" sz="850" u="none" cap="none" strike="noStrike">
                <a:solidFill>
                  <a:srgbClr val="F0F4FF"/>
                </a:solidFill>
                <a:latin typeface="Calibri"/>
                <a:ea typeface="Calibri"/>
                <a:cs typeface="Calibri"/>
                <a:sym typeface="Calibri"/>
              </a:rPr>
              <a:t>O(n) en todo. 2M tickets en orden produce un árbol de profundidad 2M. Cada búsqueda revisa todos los nodos. El sistema del CEO colapsa igual que antes del sorting.</a:t>
            </a:r>
            <a:endParaRPr b="0" i="0" sz="850" u="none" cap="none" strike="noStrike">
              <a:solidFill>
                <a:schemeClr val="dk1"/>
              </a:solidFill>
              <a:latin typeface="Calibri"/>
              <a:ea typeface="Calibri"/>
              <a:cs typeface="Calibri"/>
              <a:sym typeface="Calibri"/>
            </a:endParaRPr>
          </a:p>
        </p:txBody>
      </p:sp>
      <p:sp>
        <p:nvSpPr>
          <p:cNvPr id="1221" name="Google Shape;1221;p33"/>
          <p:cNvSpPr/>
          <p:nvPr/>
        </p:nvSpPr>
        <p:spPr>
          <a:xfrm>
            <a:off x="274320" y="3401568"/>
            <a:ext cx="19659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750"/>
              <a:buFont typeface="Calibri"/>
              <a:buNone/>
            </a:pPr>
            <a:r>
              <a:rPr b="1" i="0" lang="en-US" sz="750" u="none" cap="none" strike="noStrike">
                <a:solidFill>
                  <a:srgbClr val="10B981"/>
                </a:solidFill>
                <a:latin typeface="Calibri"/>
                <a:ea typeface="Calibri"/>
                <a:cs typeface="Calibri"/>
                <a:sym typeface="Calibri"/>
              </a:rPr>
              <a:t>✓ CORRECTO</a:t>
            </a:r>
            <a:endParaRPr b="0" i="0" sz="750" u="none" cap="none" strike="noStrike">
              <a:solidFill>
                <a:schemeClr val="dk1"/>
              </a:solidFill>
              <a:latin typeface="Calibri"/>
              <a:ea typeface="Calibri"/>
              <a:cs typeface="Calibri"/>
              <a:sym typeface="Calibri"/>
            </a:endParaRPr>
          </a:p>
        </p:txBody>
      </p:sp>
      <p:sp>
        <p:nvSpPr>
          <p:cNvPr id="1222" name="Google Shape;1222;p33"/>
          <p:cNvSpPr/>
          <p:nvPr/>
        </p:nvSpPr>
        <p:spPr>
          <a:xfrm>
            <a:off x="274320" y="3584448"/>
            <a:ext cx="19659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Usar árbol autobalanceado:</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std::map&lt;int,Ticket&gt; tree;</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O(log n) garantizado</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independiente del orden</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de inserción</a:t>
            </a:r>
            <a:endParaRPr b="0" i="0" sz="850" u="none" cap="none" strike="noStrike">
              <a:solidFill>
                <a:schemeClr val="dk1"/>
              </a:solidFill>
              <a:latin typeface="Calibri"/>
              <a:ea typeface="Calibri"/>
              <a:cs typeface="Calibri"/>
              <a:sym typeface="Calibri"/>
            </a:endParaRPr>
          </a:p>
        </p:txBody>
      </p:sp>
      <p:sp>
        <p:nvSpPr>
          <p:cNvPr id="1223" name="Google Shape;1223;p33"/>
          <p:cNvSpPr/>
          <p:nvPr/>
        </p:nvSpPr>
        <p:spPr>
          <a:xfrm>
            <a:off x="2423160" y="1097280"/>
            <a:ext cx="2148840" cy="3840480"/>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33"/>
          <p:cNvSpPr/>
          <p:nvPr/>
        </p:nvSpPr>
        <p:spPr>
          <a:xfrm>
            <a:off x="2423160" y="1097280"/>
            <a:ext cx="45720" cy="3840480"/>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33"/>
          <p:cNvSpPr/>
          <p:nvPr/>
        </p:nvSpPr>
        <p:spPr>
          <a:xfrm>
            <a:off x="2560320" y="1188720"/>
            <a:ext cx="1965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000"/>
              <a:buFont typeface="Calibri"/>
              <a:buNone/>
            </a:pPr>
            <a:r>
              <a:rPr b="1" i="0" lang="en-US" sz="1000" u="none" cap="none" strike="noStrike">
                <a:solidFill>
                  <a:srgbClr val="EF4444"/>
                </a:solidFill>
                <a:latin typeface="Calibri"/>
                <a:ea typeface="Calibri"/>
                <a:cs typeface="Calibri"/>
                <a:sym typeface="Calibri"/>
              </a:rPr>
              <a:t>Subtree Orphanage en rotación</a:t>
            </a:r>
            <a:endParaRPr b="0" i="0" sz="1000" u="none" cap="none" strike="noStrike">
              <a:solidFill>
                <a:schemeClr val="dk1"/>
              </a:solidFill>
              <a:latin typeface="Calibri"/>
              <a:ea typeface="Calibri"/>
              <a:cs typeface="Calibri"/>
              <a:sym typeface="Calibri"/>
            </a:endParaRPr>
          </a:p>
        </p:txBody>
      </p:sp>
      <p:sp>
        <p:nvSpPr>
          <p:cNvPr id="1226" name="Google Shape;1226;p33"/>
          <p:cNvSpPr/>
          <p:nvPr/>
        </p:nvSpPr>
        <p:spPr>
          <a:xfrm>
            <a:off x="2560320" y="1463040"/>
            <a:ext cx="1874520" cy="18288"/>
          </a:xfrm>
          <a:prstGeom prst="rect">
            <a:avLst/>
          </a:prstGeom>
          <a:solidFill>
            <a:srgbClr val="7F1D1D"/>
          </a:solidFill>
          <a:ln cap="flat" cmpd="sng" w="12700">
            <a:solidFill>
              <a:srgbClr val="7F1D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33"/>
          <p:cNvSpPr/>
          <p:nvPr/>
        </p:nvSpPr>
        <p:spPr>
          <a:xfrm>
            <a:off x="2560320" y="1499616"/>
            <a:ext cx="19659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750"/>
              <a:buFont typeface="Calibri"/>
              <a:buNone/>
            </a:pPr>
            <a:r>
              <a:rPr b="1" i="0" lang="en-US" sz="750" u="none" cap="none" strike="noStrike">
                <a:solidFill>
                  <a:srgbClr val="EF4444"/>
                </a:solidFill>
                <a:latin typeface="Calibri"/>
                <a:ea typeface="Calibri"/>
                <a:cs typeface="Calibri"/>
                <a:sym typeface="Calibri"/>
              </a:rPr>
              <a:t>✗ INCORRECTO</a:t>
            </a:r>
            <a:endParaRPr b="0" i="0" sz="750" u="none" cap="none" strike="noStrike">
              <a:solidFill>
                <a:schemeClr val="dk1"/>
              </a:solidFill>
              <a:latin typeface="Calibri"/>
              <a:ea typeface="Calibri"/>
              <a:cs typeface="Calibri"/>
              <a:sym typeface="Calibri"/>
            </a:endParaRPr>
          </a:p>
        </p:txBody>
      </p:sp>
      <p:sp>
        <p:nvSpPr>
          <p:cNvPr id="1228" name="Google Shape;1228;p33"/>
          <p:cNvSpPr/>
          <p:nvPr/>
        </p:nvSpPr>
        <p:spPr>
          <a:xfrm>
            <a:off x="2560320" y="1682496"/>
            <a:ext cx="1965960" cy="7498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En AVL o RB:</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void insert(Node*&amp; t, ...) {</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 ...</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if (needsBalance(t)) {</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rotateLeft(t);  // sin =</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 t sigue apuntando</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 al nodo viejo</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 nueva raíz: huérfana</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a:t>
            </a:r>
            <a:endParaRPr b="0" i="0" sz="550" u="none" cap="none" strike="noStrike">
              <a:solidFill>
                <a:schemeClr val="dk1"/>
              </a:solidFill>
              <a:latin typeface="Calibri"/>
              <a:ea typeface="Calibri"/>
              <a:cs typeface="Calibri"/>
              <a:sym typeface="Calibri"/>
            </a:endParaRPr>
          </a:p>
        </p:txBody>
      </p:sp>
      <p:sp>
        <p:nvSpPr>
          <p:cNvPr id="1229" name="Google Shape;1229;p33"/>
          <p:cNvSpPr/>
          <p:nvPr/>
        </p:nvSpPr>
        <p:spPr>
          <a:xfrm>
            <a:off x="2560320" y="2468880"/>
            <a:ext cx="19659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750"/>
              <a:buFont typeface="Calibri"/>
              <a:buNone/>
            </a:pPr>
            <a:r>
              <a:rPr b="1" i="0" lang="en-US" sz="750" u="none" cap="none" strike="noStrike">
                <a:solidFill>
                  <a:srgbClr val="F59E0B"/>
                </a:solidFill>
                <a:latin typeface="Calibri"/>
                <a:ea typeface="Calibri"/>
                <a:cs typeface="Calibri"/>
                <a:sym typeface="Calibri"/>
              </a:rPr>
              <a:t>CONSECUENCIA</a:t>
            </a:r>
            <a:endParaRPr b="0" i="0" sz="750" u="none" cap="none" strike="noStrike">
              <a:solidFill>
                <a:schemeClr val="dk1"/>
              </a:solidFill>
              <a:latin typeface="Calibri"/>
              <a:ea typeface="Calibri"/>
              <a:cs typeface="Calibri"/>
              <a:sym typeface="Calibri"/>
            </a:endParaRPr>
          </a:p>
        </p:txBody>
      </p:sp>
      <p:sp>
        <p:nvSpPr>
          <p:cNvPr id="1230" name="Google Shape;1230;p33"/>
          <p:cNvSpPr/>
          <p:nvPr/>
        </p:nvSpPr>
        <p:spPr>
          <a:xfrm>
            <a:off x="2560320" y="2651760"/>
            <a:ext cx="196596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850"/>
              <a:buFont typeface="Calibri"/>
              <a:buNone/>
            </a:pPr>
            <a:r>
              <a:rPr b="0" i="0" lang="en-US" sz="850" u="none" cap="none" strike="noStrike">
                <a:solidFill>
                  <a:srgbClr val="F0F4FF"/>
                </a:solidFill>
                <a:latin typeface="Calibri"/>
                <a:ea typeface="Calibri"/>
                <a:cs typeface="Calibri"/>
                <a:sym typeface="Calibri"/>
              </a:rPr>
              <a:t>El nodo padre sigue apuntando al nodo desbalanceado. La nueva raíz del subárbol rotado está en memoria pero es inaccesible desde arriba. Todos los datos del subárbol se pierden. Memory leak permanente.</a:t>
            </a:r>
            <a:endParaRPr b="0" i="0" sz="850" u="none" cap="none" strike="noStrike">
              <a:solidFill>
                <a:schemeClr val="dk1"/>
              </a:solidFill>
              <a:latin typeface="Calibri"/>
              <a:ea typeface="Calibri"/>
              <a:cs typeface="Calibri"/>
              <a:sym typeface="Calibri"/>
            </a:endParaRPr>
          </a:p>
        </p:txBody>
      </p:sp>
      <p:sp>
        <p:nvSpPr>
          <p:cNvPr id="1231" name="Google Shape;1231;p33"/>
          <p:cNvSpPr/>
          <p:nvPr/>
        </p:nvSpPr>
        <p:spPr>
          <a:xfrm>
            <a:off x="2560320" y="3401568"/>
            <a:ext cx="19659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750"/>
              <a:buFont typeface="Calibri"/>
              <a:buNone/>
            </a:pPr>
            <a:r>
              <a:rPr b="1" i="0" lang="en-US" sz="750" u="none" cap="none" strike="noStrike">
                <a:solidFill>
                  <a:srgbClr val="10B981"/>
                </a:solidFill>
                <a:latin typeface="Calibri"/>
                <a:ea typeface="Calibri"/>
                <a:cs typeface="Calibri"/>
                <a:sym typeface="Calibri"/>
              </a:rPr>
              <a:t>✓ CORRECTO</a:t>
            </a:r>
            <a:endParaRPr b="0" i="0" sz="750" u="none" cap="none" strike="noStrike">
              <a:solidFill>
                <a:schemeClr val="dk1"/>
              </a:solidFill>
              <a:latin typeface="Calibri"/>
              <a:ea typeface="Calibri"/>
              <a:cs typeface="Calibri"/>
              <a:sym typeface="Calibri"/>
            </a:endParaRPr>
          </a:p>
        </p:txBody>
      </p:sp>
      <p:sp>
        <p:nvSpPr>
          <p:cNvPr id="1232" name="Google Shape;1232;p33"/>
          <p:cNvSpPr/>
          <p:nvPr/>
        </p:nvSpPr>
        <p:spPr>
          <a:xfrm>
            <a:off x="2560320" y="3584448"/>
            <a:ext cx="19659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SIEMPRE asignar:</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t = rotateLeft(t);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La función retorna</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el nuevo nodo raíz</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El llamador DEBE</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actualizar el puntero</a:t>
            </a:r>
            <a:endParaRPr b="0" i="0" sz="850" u="none" cap="none" strike="noStrike">
              <a:solidFill>
                <a:schemeClr val="dk1"/>
              </a:solidFill>
              <a:latin typeface="Calibri"/>
              <a:ea typeface="Calibri"/>
              <a:cs typeface="Calibri"/>
              <a:sym typeface="Calibri"/>
            </a:endParaRPr>
          </a:p>
        </p:txBody>
      </p:sp>
      <p:sp>
        <p:nvSpPr>
          <p:cNvPr id="1233" name="Google Shape;1233;p33"/>
          <p:cNvSpPr/>
          <p:nvPr/>
        </p:nvSpPr>
        <p:spPr>
          <a:xfrm>
            <a:off x="4709160" y="1097280"/>
            <a:ext cx="2148840" cy="3840480"/>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33"/>
          <p:cNvSpPr/>
          <p:nvPr/>
        </p:nvSpPr>
        <p:spPr>
          <a:xfrm>
            <a:off x="4709160" y="1097280"/>
            <a:ext cx="45720" cy="3840480"/>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33"/>
          <p:cNvSpPr/>
          <p:nvPr/>
        </p:nvSpPr>
        <p:spPr>
          <a:xfrm>
            <a:off x="4846320" y="1188720"/>
            <a:ext cx="1965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000"/>
              <a:buFont typeface="Calibri"/>
              <a:buNone/>
            </a:pPr>
            <a:r>
              <a:rPr b="1" i="0" lang="en-US" sz="1000" u="none" cap="none" strike="noStrike">
                <a:solidFill>
                  <a:srgbClr val="EF4444"/>
                </a:solidFill>
                <a:latin typeface="Calibri"/>
                <a:ea typeface="Calibri"/>
                <a:cs typeface="Calibri"/>
                <a:sym typeface="Calibri"/>
              </a:rPr>
              <a:t>BST property solo en hijo inmediato</a:t>
            </a:r>
            <a:endParaRPr b="0" i="0" sz="1000" u="none" cap="none" strike="noStrike">
              <a:solidFill>
                <a:schemeClr val="dk1"/>
              </a:solidFill>
              <a:latin typeface="Calibri"/>
              <a:ea typeface="Calibri"/>
              <a:cs typeface="Calibri"/>
              <a:sym typeface="Calibri"/>
            </a:endParaRPr>
          </a:p>
        </p:txBody>
      </p:sp>
      <p:sp>
        <p:nvSpPr>
          <p:cNvPr id="1236" name="Google Shape;1236;p33"/>
          <p:cNvSpPr/>
          <p:nvPr/>
        </p:nvSpPr>
        <p:spPr>
          <a:xfrm>
            <a:off x="4846320" y="1463040"/>
            <a:ext cx="1874520" cy="18288"/>
          </a:xfrm>
          <a:prstGeom prst="rect">
            <a:avLst/>
          </a:prstGeom>
          <a:solidFill>
            <a:srgbClr val="7F1D1D"/>
          </a:solidFill>
          <a:ln cap="flat" cmpd="sng" w="12700">
            <a:solidFill>
              <a:srgbClr val="7F1D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33"/>
          <p:cNvSpPr/>
          <p:nvPr/>
        </p:nvSpPr>
        <p:spPr>
          <a:xfrm>
            <a:off x="4846320" y="1499616"/>
            <a:ext cx="19659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750"/>
              <a:buFont typeface="Calibri"/>
              <a:buNone/>
            </a:pPr>
            <a:r>
              <a:rPr b="1" i="0" lang="en-US" sz="750" u="none" cap="none" strike="noStrike">
                <a:solidFill>
                  <a:srgbClr val="EF4444"/>
                </a:solidFill>
                <a:latin typeface="Calibri"/>
                <a:ea typeface="Calibri"/>
                <a:cs typeface="Calibri"/>
                <a:sym typeface="Calibri"/>
              </a:rPr>
              <a:t>✗ INCORRECTO</a:t>
            </a:r>
            <a:endParaRPr b="0" i="0" sz="750" u="none" cap="none" strike="noStrike">
              <a:solidFill>
                <a:schemeClr val="dk1"/>
              </a:solidFill>
              <a:latin typeface="Calibri"/>
              <a:ea typeface="Calibri"/>
              <a:cs typeface="Calibri"/>
              <a:sym typeface="Calibri"/>
            </a:endParaRPr>
          </a:p>
        </p:txBody>
      </p:sp>
      <p:sp>
        <p:nvSpPr>
          <p:cNvPr id="1238" name="Google Shape;1238;p33"/>
          <p:cNvSpPr/>
          <p:nvPr/>
        </p:nvSpPr>
        <p:spPr>
          <a:xfrm>
            <a:off x="4846320" y="1682496"/>
            <a:ext cx="1965960" cy="7498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Árbol 'válido' localmente:</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6</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 \</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2   8</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7  ← 7 &gt; 6 pero</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está en subtree</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IZQUIERDO de 6</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Check local: 7&gt;2 ✓</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Check global: FALLA</a:t>
            </a:r>
            <a:endParaRPr b="0" i="0" sz="550" u="none" cap="none" strike="noStrike">
              <a:solidFill>
                <a:schemeClr val="dk1"/>
              </a:solidFill>
              <a:latin typeface="Calibri"/>
              <a:ea typeface="Calibri"/>
              <a:cs typeface="Calibri"/>
              <a:sym typeface="Calibri"/>
            </a:endParaRPr>
          </a:p>
        </p:txBody>
      </p:sp>
      <p:sp>
        <p:nvSpPr>
          <p:cNvPr id="1239" name="Google Shape;1239;p33"/>
          <p:cNvSpPr/>
          <p:nvPr/>
        </p:nvSpPr>
        <p:spPr>
          <a:xfrm>
            <a:off x="4846320" y="2468880"/>
            <a:ext cx="19659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750"/>
              <a:buFont typeface="Calibri"/>
              <a:buNone/>
            </a:pPr>
            <a:r>
              <a:rPr b="1" i="0" lang="en-US" sz="750" u="none" cap="none" strike="noStrike">
                <a:solidFill>
                  <a:srgbClr val="F59E0B"/>
                </a:solidFill>
                <a:latin typeface="Calibri"/>
                <a:ea typeface="Calibri"/>
                <a:cs typeface="Calibri"/>
                <a:sym typeface="Calibri"/>
              </a:rPr>
              <a:t>CONSECUENCIA</a:t>
            </a:r>
            <a:endParaRPr b="0" i="0" sz="750" u="none" cap="none" strike="noStrike">
              <a:solidFill>
                <a:schemeClr val="dk1"/>
              </a:solidFill>
              <a:latin typeface="Calibri"/>
              <a:ea typeface="Calibri"/>
              <a:cs typeface="Calibri"/>
              <a:sym typeface="Calibri"/>
            </a:endParaRPr>
          </a:p>
        </p:txBody>
      </p:sp>
      <p:sp>
        <p:nvSpPr>
          <p:cNvPr id="1240" name="Google Shape;1240;p33"/>
          <p:cNvSpPr/>
          <p:nvPr/>
        </p:nvSpPr>
        <p:spPr>
          <a:xfrm>
            <a:off x="4846320" y="2651760"/>
            <a:ext cx="196596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850"/>
              <a:buFont typeface="Calibri"/>
              <a:buNone/>
            </a:pPr>
            <a:r>
              <a:rPr b="0" i="0" lang="en-US" sz="850" u="none" cap="none" strike="noStrike">
                <a:solidFill>
                  <a:srgbClr val="F0F4FF"/>
                </a:solidFill>
                <a:latin typeface="Calibri"/>
                <a:ea typeface="Calibri"/>
                <a:cs typeface="Calibri"/>
                <a:sym typeface="Calibri"/>
              </a:rPr>
              <a:t>SEARCH(7) arranca en 6, va a la derecha hacia 8, y concluye que 7 no existe. El árbol 'responde' con NOT FOUND para una clave que sí está en la estructura. Bug silencioso — el árbol parece funcionar pero produce resultados incorrectos.</a:t>
            </a:r>
            <a:endParaRPr b="0" i="0" sz="850" u="none" cap="none" strike="noStrike">
              <a:solidFill>
                <a:schemeClr val="dk1"/>
              </a:solidFill>
              <a:latin typeface="Calibri"/>
              <a:ea typeface="Calibri"/>
              <a:cs typeface="Calibri"/>
              <a:sym typeface="Calibri"/>
            </a:endParaRPr>
          </a:p>
        </p:txBody>
      </p:sp>
      <p:sp>
        <p:nvSpPr>
          <p:cNvPr id="1241" name="Google Shape;1241;p33"/>
          <p:cNvSpPr/>
          <p:nvPr/>
        </p:nvSpPr>
        <p:spPr>
          <a:xfrm>
            <a:off x="4846320" y="3401568"/>
            <a:ext cx="19659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750"/>
              <a:buFont typeface="Calibri"/>
              <a:buNone/>
            </a:pPr>
            <a:r>
              <a:rPr b="1" i="0" lang="en-US" sz="750" u="none" cap="none" strike="noStrike">
                <a:solidFill>
                  <a:srgbClr val="10B981"/>
                </a:solidFill>
                <a:latin typeface="Calibri"/>
                <a:ea typeface="Calibri"/>
                <a:cs typeface="Calibri"/>
                <a:sym typeface="Calibri"/>
              </a:rPr>
              <a:t>✓ CORRECTO</a:t>
            </a:r>
            <a:endParaRPr b="0" i="0" sz="750" u="none" cap="none" strike="noStrike">
              <a:solidFill>
                <a:schemeClr val="dk1"/>
              </a:solidFill>
              <a:latin typeface="Calibri"/>
              <a:ea typeface="Calibri"/>
              <a:cs typeface="Calibri"/>
              <a:sym typeface="Calibri"/>
            </a:endParaRPr>
          </a:p>
        </p:txBody>
      </p:sp>
      <p:sp>
        <p:nvSpPr>
          <p:cNvPr id="1242" name="Google Shape;1242;p33"/>
          <p:cNvSpPr/>
          <p:nvPr/>
        </p:nvSpPr>
        <p:spPr>
          <a:xfrm>
            <a:off x="4846320" y="3584448"/>
            <a:ext cx="19659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Verificar con rangos:</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bool valid(Node* n,</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int mn, int mx) {</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if (!n) return true;</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if (n-&gt;val&lt;=mn||n-&gt;val&gt;=mx)</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return false;</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return valid(n-&gt;left,mn,n-&gt;val)</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&amp;&amp; valid(n-&gt;right,n-&gt;val,mx);</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a:t>
            </a:r>
            <a:endParaRPr b="0" i="0" sz="850" u="none" cap="none" strike="noStrike">
              <a:solidFill>
                <a:schemeClr val="dk1"/>
              </a:solidFill>
              <a:latin typeface="Calibri"/>
              <a:ea typeface="Calibri"/>
              <a:cs typeface="Calibri"/>
              <a:sym typeface="Calibri"/>
            </a:endParaRPr>
          </a:p>
        </p:txBody>
      </p:sp>
      <p:sp>
        <p:nvSpPr>
          <p:cNvPr id="1243" name="Google Shape;1243;p33"/>
          <p:cNvSpPr/>
          <p:nvPr/>
        </p:nvSpPr>
        <p:spPr>
          <a:xfrm>
            <a:off x="6858000" y="1097280"/>
            <a:ext cx="2148840" cy="3840480"/>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33"/>
          <p:cNvSpPr/>
          <p:nvPr/>
        </p:nvSpPr>
        <p:spPr>
          <a:xfrm>
            <a:off x="6858000" y="1097280"/>
            <a:ext cx="45720" cy="3840480"/>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33"/>
          <p:cNvSpPr/>
          <p:nvPr/>
        </p:nvSpPr>
        <p:spPr>
          <a:xfrm>
            <a:off x="6995160" y="1188720"/>
            <a:ext cx="1965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000"/>
              <a:buFont typeface="Calibri"/>
              <a:buNone/>
            </a:pPr>
            <a:r>
              <a:rPr b="1" i="0" lang="en-US" sz="1000" u="none" cap="none" strike="noStrike">
                <a:solidFill>
                  <a:srgbClr val="EF4444"/>
                </a:solidFill>
                <a:latin typeface="Calibri"/>
                <a:ea typeface="Calibri"/>
                <a:cs typeface="Calibri"/>
                <a:sym typeface="Calibri"/>
              </a:rPr>
              <a:t>Height recalculada recursivamente en AVL</a:t>
            </a:r>
            <a:endParaRPr b="0" i="0" sz="1000" u="none" cap="none" strike="noStrike">
              <a:solidFill>
                <a:schemeClr val="dk1"/>
              </a:solidFill>
              <a:latin typeface="Calibri"/>
              <a:ea typeface="Calibri"/>
              <a:cs typeface="Calibri"/>
              <a:sym typeface="Calibri"/>
            </a:endParaRPr>
          </a:p>
        </p:txBody>
      </p:sp>
      <p:sp>
        <p:nvSpPr>
          <p:cNvPr id="1246" name="Google Shape;1246;p33"/>
          <p:cNvSpPr/>
          <p:nvPr/>
        </p:nvSpPr>
        <p:spPr>
          <a:xfrm>
            <a:off x="6995160" y="1463040"/>
            <a:ext cx="1874520" cy="18288"/>
          </a:xfrm>
          <a:prstGeom prst="rect">
            <a:avLst/>
          </a:prstGeom>
          <a:solidFill>
            <a:srgbClr val="7F1D1D"/>
          </a:solidFill>
          <a:ln cap="flat" cmpd="sng" w="12700">
            <a:solidFill>
              <a:srgbClr val="7F1D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33"/>
          <p:cNvSpPr/>
          <p:nvPr/>
        </p:nvSpPr>
        <p:spPr>
          <a:xfrm>
            <a:off x="6995160" y="1499616"/>
            <a:ext cx="19659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750"/>
              <a:buFont typeface="Calibri"/>
              <a:buNone/>
            </a:pPr>
            <a:r>
              <a:rPr b="1" i="0" lang="en-US" sz="750" u="none" cap="none" strike="noStrike">
                <a:solidFill>
                  <a:srgbClr val="EF4444"/>
                </a:solidFill>
                <a:latin typeface="Calibri"/>
                <a:ea typeface="Calibri"/>
                <a:cs typeface="Calibri"/>
                <a:sym typeface="Calibri"/>
              </a:rPr>
              <a:t>✗ INCORRECTO</a:t>
            </a:r>
            <a:endParaRPr b="0" i="0" sz="750" u="none" cap="none" strike="noStrike">
              <a:solidFill>
                <a:schemeClr val="dk1"/>
              </a:solidFill>
              <a:latin typeface="Calibri"/>
              <a:ea typeface="Calibri"/>
              <a:cs typeface="Calibri"/>
              <a:sym typeface="Calibri"/>
            </a:endParaRPr>
          </a:p>
        </p:txBody>
      </p:sp>
      <p:sp>
        <p:nvSpPr>
          <p:cNvPr id="1248" name="Google Shape;1248;p33"/>
          <p:cNvSpPr/>
          <p:nvPr/>
        </p:nvSpPr>
        <p:spPr>
          <a:xfrm>
            <a:off x="6995160" y="1682496"/>
            <a:ext cx="1965960" cy="7498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En insert AVL:</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int getHeight(Node* n) {</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if (!n) return -1;</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 O(n) por llamada:</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return 1 + max(</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getHeight(n-&gt;left),</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getHeight(n-&gt;right)</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a:t>
            </a:r>
            <a:endParaRPr b="0" i="0" sz="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999"/>
              </a:buClr>
              <a:buSzPts val="850"/>
              <a:buFont typeface="Consolas"/>
              <a:buNone/>
            </a:pPr>
            <a:r>
              <a:rPr b="0" i="0" lang="en-US" sz="550" u="none" cap="none" strike="noStrike">
                <a:solidFill>
                  <a:srgbClr val="FF9999"/>
                </a:solidFill>
                <a:latin typeface="Consolas"/>
                <a:ea typeface="Consolas"/>
                <a:cs typeface="Consolas"/>
                <a:sym typeface="Consolas"/>
              </a:rPr>
              <a:t>// n inserts → O(n²) total</a:t>
            </a:r>
            <a:endParaRPr b="0" i="0" sz="550" u="none" cap="none" strike="noStrike">
              <a:solidFill>
                <a:schemeClr val="dk1"/>
              </a:solidFill>
              <a:latin typeface="Calibri"/>
              <a:ea typeface="Calibri"/>
              <a:cs typeface="Calibri"/>
              <a:sym typeface="Calibri"/>
            </a:endParaRPr>
          </a:p>
        </p:txBody>
      </p:sp>
      <p:sp>
        <p:nvSpPr>
          <p:cNvPr id="1249" name="Google Shape;1249;p33"/>
          <p:cNvSpPr/>
          <p:nvPr/>
        </p:nvSpPr>
        <p:spPr>
          <a:xfrm>
            <a:off x="6995160" y="2468880"/>
            <a:ext cx="19659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750"/>
              <a:buFont typeface="Calibri"/>
              <a:buNone/>
            </a:pPr>
            <a:r>
              <a:rPr b="1" i="0" lang="en-US" sz="750" u="none" cap="none" strike="noStrike">
                <a:solidFill>
                  <a:srgbClr val="F59E0B"/>
                </a:solidFill>
                <a:latin typeface="Calibri"/>
                <a:ea typeface="Calibri"/>
                <a:cs typeface="Calibri"/>
                <a:sym typeface="Calibri"/>
              </a:rPr>
              <a:t>CONSECUENCIA</a:t>
            </a:r>
            <a:endParaRPr b="0" i="0" sz="750" u="none" cap="none" strike="noStrike">
              <a:solidFill>
                <a:schemeClr val="dk1"/>
              </a:solidFill>
              <a:latin typeface="Calibri"/>
              <a:ea typeface="Calibri"/>
              <a:cs typeface="Calibri"/>
              <a:sym typeface="Calibri"/>
            </a:endParaRPr>
          </a:p>
        </p:txBody>
      </p:sp>
      <p:sp>
        <p:nvSpPr>
          <p:cNvPr id="1250" name="Google Shape;1250;p33"/>
          <p:cNvSpPr/>
          <p:nvPr/>
        </p:nvSpPr>
        <p:spPr>
          <a:xfrm>
            <a:off x="6995160" y="2651760"/>
            <a:ext cx="196596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F4FF"/>
              </a:buClr>
              <a:buSzPts val="850"/>
              <a:buFont typeface="Calibri"/>
              <a:buNone/>
            </a:pPr>
            <a:r>
              <a:rPr b="0" i="0" lang="en-US" sz="850" u="none" cap="none" strike="noStrike">
                <a:solidFill>
                  <a:srgbClr val="F0F4FF"/>
                </a:solidFill>
                <a:latin typeface="Calibri"/>
                <a:ea typeface="Calibri"/>
                <a:cs typeface="Calibri"/>
                <a:sym typeface="Calibri"/>
              </a:rPr>
              <a:t>Un AVL tree correcto con esta implementación es O(n²) para construcción — peor que un BST simple. El árbol está balanceado pero la operación de verificar/mantener el balance es tan lenta que niega toda ventaja.</a:t>
            </a:r>
            <a:endParaRPr b="0" i="0" sz="850" u="none" cap="none" strike="noStrike">
              <a:solidFill>
                <a:schemeClr val="dk1"/>
              </a:solidFill>
              <a:latin typeface="Calibri"/>
              <a:ea typeface="Calibri"/>
              <a:cs typeface="Calibri"/>
              <a:sym typeface="Calibri"/>
            </a:endParaRPr>
          </a:p>
        </p:txBody>
      </p:sp>
      <p:sp>
        <p:nvSpPr>
          <p:cNvPr id="1251" name="Google Shape;1251;p33"/>
          <p:cNvSpPr/>
          <p:nvPr/>
        </p:nvSpPr>
        <p:spPr>
          <a:xfrm>
            <a:off x="6995160" y="3401568"/>
            <a:ext cx="19659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750"/>
              <a:buFont typeface="Calibri"/>
              <a:buNone/>
            </a:pPr>
            <a:r>
              <a:rPr b="1" i="0" lang="en-US" sz="750" u="none" cap="none" strike="noStrike">
                <a:solidFill>
                  <a:srgbClr val="10B981"/>
                </a:solidFill>
                <a:latin typeface="Calibri"/>
                <a:ea typeface="Calibri"/>
                <a:cs typeface="Calibri"/>
                <a:sym typeface="Calibri"/>
              </a:rPr>
              <a:t>✓ CORRECTO</a:t>
            </a:r>
            <a:endParaRPr b="0" i="0" sz="750" u="none" cap="none" strike="noStrike">
              <a:solidFill>
                <a:schemeClr val="dk1"/>
              </a:solidFill>
              <a:latin typeface="Calibri"/>
              <a:ea typeface="Calibri"/>
              <a:cs typeface="Calibri"/>
              <a:sym typeface="Calibri"/>
            </a:endParaRPr>
          </a:p>
        </p:txBody>
      </p:sp>
      <p:sp>
        <p:nvSpPr>
          <p:cNvPr id="1252" name="Google Shape;1252;p33"/>
          <p:cNvSpPr/>
          <p:nvPr/>
        </p:nvSpPr>
        <p:spPr>
          <a:xfrm>
            <a:off x="6995160" y="3584448"/>
            <a:ext cx="19659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Almacenar height en el nodo:</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struct AVLNode {</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int height; // ← stored!</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 Actualizar en O(1):</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t-&gt;height = max(</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height(t-&gt;left),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height(t-&gt;right)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E7B7"/>
              </a:buClr>
              <a:buSzPts val="850"/>
              <a:buFont typeface="Consolas"/>
              <a:buNone/>
            </a:pPr>
            <a:r>
              <a:rPr b="0" i="0" lang="en-US" sz="850" u="none" cap="none" strike="noStrike">
                <a:solidFill>
                  <a:srgbClr val="6EE7B7"/>
                </a:solidFill>
                <a:latin typeface="Consolas"/>
                <a:ea typeface="Consolas"/>
                <a:cs typeface="Consolas"/>
                <a:sym typeface="Consolas"/>
              </a:rPr>
              <a:t>) + 1; // O(1)</a:t>
            </a:r>
            <a:endParaRPr b="0" i="0" sz="850" u="none" cap="none" strike="noStrike">
              <a:solidFill>
                <a:schemeClr val="dk1"/>
              </a:solidFill>
              <a:latin typeface="Calibri"/>
              <a:ea typeface="Calibri"/>
              <a:cs typeface="Calibri"/>
              <a:sym typeface="Calibri"/>
            </a:endParaRPr>
          </a:p>
        </p:txBody>
      </p:sp>
      <p:sp>
        <p:nvSpPr>
          <p:cNvPr id="1253" name="Google Shape;1253;p33"/>
          <p:cNvSpPr/>
          <p:nvPr/>
        </p:nvSpPr>
        <p:spPr>
          <a:xfrm>
            <a:off x="137160" y="4846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AED · Clase 7 · Errores Cross-bloque</a:t>
            </a:r>
            <a:endParaRPr b="0" i="0" sz="900" u="none" cap="none" strike="noStrike">
              <a:solidFill>
                <a:schemeClr val="dk1"/>
              </a:solidFill>
              <a:latin typeface="Calibri"/>
              <a:ea typeface="Calibri"/>
              <a:cs typeface="Calibri"/>
              <a:sym typeface="Calibri"/>
            </a:endParaRPr>
          </a:p>
        </p:txBody>
      </p:sp>
      <p:sp>
        <p:nvSpPr>
          <p:cNvPr id="1254" name="Google Shape;1254;p33"/>
          <p:cNvSpPr/>
          <p:nvPr/>
        </p:nvSpPr>
        <p:spPr>
          <a:xfrm>
            <a:off x="8503920" y="4846320"/>
            <a:ext cx="54864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33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F1A"/>
        </a:solidFill>
      </p:bgPr>
    </p:bg>
    <p:spTree>
      <p:nvGrpSpPr>
        <p:cNvPr id="1259" name="Shape 1259"/>
        <p:cNvGrpSpPr/>
        <p:nvPr/>
      </p:nvGrpSpPr>
      <p:grpSpPr>
        <a:xfrm>
          <a:off x="0" y="0"/>
          <a:ext cx="0" cy="0"/>
          <a:chOff x="0" y="0"/>
          <a:chExt cx="0" cy="0"/>
        </a:xfrm>
      </p:grpSpPr>
      <p:sp>
        <p:nvSpPr>
          <p:cNvPr id="1260" name="Google Shape;1260;p34"/>
          <p:cNvSpPr/>
          <p:nvPr/>
        </p:nvSpPr>
        <p:spPr>
          <a:xfrm>
            <a:off x="0" y="0"/>
            <a:ext cx="9144000" cy="73152"/>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34"/>
          <p:cNvSpPr/>
          <p:nvPr/>
        </p:nvSpPr>
        <p:spPr>
          <a:xfrm>
            <a:off x="137160" y="4846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AED · Clase 7 · Cierre</a:t>
            </a:r>
            <a:endParaRPr b="0" i="0" sz="900" u="none" cap="none" strike="noStrike">
              <a:solidFill>
                <a:schemeClr val="dk1"/>
              </a:solidFill>
              <a:latin typeface="Calibri"/>
              <a:ea typeface="Calibri"/>
              <a:cs typeface="Calibri"/>
              <a:sym typeface="Calibri"/>
            </a:endParaRPr>
          </a:p>
        </p:txBody>
      </p:sp>
      <p:sp>
        <p:nvSpPr>
          <p:cNvPr id="1262" name="Google Shape;1262;p34"/>
          <p:cNvSpPr/>
          <p:nvPr/>
        </p:nvSpPr>
        <p:spPr>
          <a:xfrm>
            <a:off x="8503920" y="4846320"/>
            <a:ext cx="54864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34</a:t>
            </a:r>
            <a:endParaRPr b="0" i="0" sz="900" u="none" cap="none" strike="noStrike">
              <a:solidFill>
                <a:schemeClr val="dk1"/>
              </a:solidFill>
              <a:latin typeface="Calibri"/>
              <a:ea typeface="Calibri"/>
              <a:cs typeface="Calibri"/>
              <a:sym typeface="Calibri"/>
            </a:endParaRPr>
          </a:p>
        </p:txBody>
      </p:sp>
      <p:pic>
        <p:nvPicPr>
          <p:cNvPr id="1263" name="Google Shape;1263;p34"/>
          <p:cNvPicPr preferRelativeResize="0"/>
          <p:nvPr/>
        </p:nvPicPr>
        <p:blipFill>
          <a:blip r:embed="rId3">
            <a:alphaModFix/>
          </a:blip>
          <a:stretch>
            <a:fillRect/>
          </a:stretch>
        </p:blipFill>
        <p:spPr>
          <a:xfrm>
            <a:off x="572338" y="337565"/>
            <a:ext cx="7999316" cy="4468368"/>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F1A"/>
        </a:solidFill>
      </p:bgPr>
    </p:bg>
    <p:spTree>
      <p:nvGrpSpPr>
        <p:cNvPr id="1268" name="Shape 1268"/>
        <p:cNvGrpSpPr/>
        <p:nvPr/>
      </p:nvGrpSpPr>
      <p:grpSpPr>
        <a:xfrm>
          <a:off x="0" y="0"/>
          <a:ext cx="0" cy="0"/>
          <a:chOff x="0" y="0"/>
          <a:chExt cx="0" cy="0"/>
        </a:xfrm>
      </p:grpSpPr>
      <p:sp>
        <p:nvSpPr>
          <p:cNvPr id="1269" name="Google Shape;1269;p35"/>
          <p:cNvSpPr/>
          <p:nvPr/>
        </p:nvSpPr>
        <p:spPr>
          <a:xfrm>
            <a:off x="0" y="0"/>
            <a:ext cx="9144000" cy="73152"/>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35"/>
          <p:cNvSpPr/>
          <p:nvPr/>
        </p:nvSpPr>
        <p:spPr>
          <a:xfrm>
            <a:off x="182880" y="137160"/>
            <a:ext cx="87782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2800"/>
              <a:buFont typeface="Trebuchet MS"/>
              <a:buNone/>
            </a:pPr>
            <a:r>
              <a:rPr b="1" i="0" lang="en-US" sz="2800" u="none" cap="none" strike="noStrike">
                <a:solidFill>
                  <a:srgbClr val="F0F4FF"/>
                </a:solidFill>
                <a:latin typeface="Trebuchet MS"/>
                <a:ea typeface="Trebuchet MS"/>
                <a:cs typeface="Trebuchet MS"/>
                <a:sym typeface="Trebuchet MS"/>
              </a:rPr>
              <a:t>Cierre</a:t>
            </a:r>
            <a:endParaRPr b="0" i="0" sz="2800" u="none" cap="none" strike="noStrike">
              <a:solidFill>
                <a:schemeClr val="dk1"/>
              </a:solidFill>
              <a:latin typeface="Calibri"/>
              <a:ea typeface="Calibri"/>
              <a:cs typeface="Calibri"/>
              <a:sym typeface="Calibri"/>
            </a:endParaRPr>
          </a:p>
        </p:txBody>
      </p:sp>
      <p:sp>
        <p:nvSpPr>
          <p:cNvPr id="1271" name="Google Shape;1271;p35"/>
          <p:cNvSpPr/>
          <p:nvPr/>
        </p:nvSpPr>
        <p:spPr>
          <a:xfrm>
            <a:off x="137160" y="658368"/>
            <a:ext cx="8869680" cy="1298448"/>
          </a:xfrm>
          <a:prstGeom prst="rect">
            <a:avLst/>
          </a:prstGeom>
          <a:solidFill>
            <a:srgbClr val="1A2035"/>
          </a:solidFill>
          <a:ln cap="flat" cmpd="sng" w="9525">
            <a:solidFill>
              <a:srgbClr val="00D4FF"/>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35"/>
          <p:cNvSpPr/>
          <p:nvPr/>
        </p:nvSpPr>
        <p:spPr>
          <a:xfrm>
            <a:off x="320040" y="804672"/>
            <a:ext cx="1005840" cy="256032"/>
          </a:xfrm>
          <a:prstGeom prst="roundRect">
            <a:avLst>
              <a:gd fmla="val 21429" name="adj"/>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35"/>
          <p:cNvSpPr/>
          <p:nvPr/>
        </p:nvSpPr>
        <p:spPr>
          <a:xfrm>
            <a:off x="320040" y="804672"/>
            <a:ext cx="1005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AL FINAL</a:t>
            </a:r>
            <a:endParaRPr b="0" i="0" sz="800" u="none" cap="none" strike="noStrike">
              <a:solidFill>
                <a:schemeClr val="dk1"/>
              </a:solidFill>
              <a:latin typeface="Calibri"/>
              <a:ea typeface="Calibri"/>
              <a:cs typeface="Calibri"/>
              <a:sym typeface="Calibri"/>
            </a:endParaRPr>
          </a:p>
        </p:txBody>
      </p:sp>
      <p:sp>
        <p:nvSpPr>
          <p:cNvPr id="1274" name="Google Shape;1274;p35"/>
          <p:cNvSpPr/>
          <p:nvPr/>
        </p:nvSpPr>
        <p:spPr>
          <a:xfrm>
            <a:off x="320040" y="1078992"/>
            <a:ext cx="8549640" cy="7589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1150"/>
              <a:buFont typeface="Calibri"/>
              <a:buNone/>
            </a:pPr>
            <a:r>
              <a:rPr b="0" i="0" lang="en-US" sz="1150" u="none" cap="none" strike="noStrike">
                <a:solidFill>
                  <a:srgbClr val="F0F4FF"/>
                </a:solidFill>
                <a:latin typeface="Calibri"/>
                <a:ea typeface="Calibri"/>
                <a:cs typeface="Calibri"/>
                <a:sym typeface="Calibri"/>
              </a:rPr>
              <a:t>La respuesta al CEO no era implementar un árbol desde cero — era std::map&lt;int, Ticket&gt;. Pero entender POR QUÉ std::map usa un Red-Black tree, cuándo AVL sería mejor, y por qué un BST simple hubiera colapsado es lo que distingue al ingeniero que elige correctamente del que copia código de Stack Overflow.</a:t>
            </a:r>
            <a:endParaRPr b="0" i="0" sz="1150" u="none" cap="none" strike="noStrike">
              <a:solidFill>
                <a:schemeClr val="dk1"/>
              </a:solidFill>
              <a:latin typeface="Calibri"/>
              <a:ea typeface="Calibri"/>
              <a:cs typeface="Calibri"/>
              <a:sym typeface="Calibri"/>
            </a:endParaRPr>
          </a:p>
        </p:txBody>
      </p:sp>
      <p:sp>
        <p:nvSpPr>
          <p:cNvPr id="1275" name="Google Shape;1275;p35"/>
          <p:cNvSpPr/>
          <p:nvPr/>
        </p:nvSpPr>
        <p:spPr>
          <a:xfrm>
            <a:off x="137160" y="2029968"/>
            <a:ext cx="8869680" cy="1783080"/>
          </a:xfrm>
          <a:prstGeom prst="rect">
            <a:avLst/>
          </a:prstGeom>
          <a:solidFill>
            <a:srgbClr val="141829"/>
          </a:solidFill>
          <a:ln cap="flat" cmpd="sng" w="9525">
            <a:solidFill>
              <a:srgbClr val="7C3AED"/>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35"/>
          <p:cNvSpPr/>
          <p:nvPr/>
        </p:nvSpPr>
        <p:spPr>
          <a:xfrm>
            <a:off x="320040" y="2176272"/>
            <a:ext cx="1005840" cy="256032"/>
          </a:xfrm>
          <a:prstGeom prst="roundRect">
            <a:avLst>
              <a:gd fmla="val 21429"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35"/>
          <p:cNvSpPr/>
          <p:nvPr/>
        </p:nvSpPr>
        <p:spPr>
          <a:xfrm>
            <a:off x="320040" y="2176272"/>
            <a:ext cx="1005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TAKEAWAYS</a:t>
            </a:r>
            <a:endParaRPr b="0" i="0" sz="800" u="none" cap="none" strike="noStrike">
              <a:solidFill>
                <a:schemeClr val="dk1"/>
              </a:solidFill>
              <a:latin typeface="Calibri"/>
              <a:ea typeface="Calibri"/>
              <a:cs typeface="Calibri"/>
              <a:sym typeface="Calibri"/>
            </a:endParaRPr>
          </a:p>
        </p:txBody>
      </p:sp>
      <p:sp>
        <p:nvSpPr>
          <p:cNvPr id="1278" name="Google Shape;1278;p35"/>
          <p:cNvSpPr/>
          <p:nvPr/>
        </p:nvSpPr>
        <p:spPr>
          <a:xfrm>
            <a:off x="320040" y="2560320"/>
            <a:ext cx="85496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4FF"/>
              </a:buClr>
              <a:buSzPts val="1100"/>
              <a:buFont typeface="Calibri"/>
              <a:buNone/>
            </a:pPr>
            <a:r>
              <a:rPr b="1" i="0" lang="en-US" sz="1100" u="none" cap="none" strike="noStrike">
                <a:solidFill>
                  <a:srgbClr val="00D4FF"/>
                </a:solidFill>
                <a:latin typeface="Calibri"/>
                <a:ea typeface="Calibri"/>
                <a:cs typeface="Calibri"/>
                <a:sym typeface="Calibri"/>
              </a:rPr>
              <a:t>1. </a:t>
            </a:r>
            <a:r>
              <a:rPr b="0" i="0" lang="en-US" sz="1100" u="none" cap="none" strike="noStrike">
                <a:solidFill>
                  <a:srgbClr val="F0F4FF"/>
                </a:solidFill>
                <a:latin typeface="Calibri"/>
                <a:ea typeface="Calibri"/>
                <a:cs typeface="Calibri"/>
                <a:sym typeface="Calibri"/>
              </a:rPr>
              <a:t>La BST property es GLOBAL — debe mantenerse para todos los descendientes, no solo los hijos inmediatos. Verificar solo el hijo directo produce un árbol que parece válido pero da búsquedas incorrectas.</a:t>
            </a:r>
            <a:endParaRPr b="0" i="0" sz="1100" u="none" cap="none" strike="noStrike">
              <a:solidFill>
                <a:schemeClr val="dk1"/>
              </a:solidFill>
              <a:latin typeface="Calibri"/>
              <a:ea typeface="Calibri"/>
              <a:cs typeface="Calibri"/>
              <a:sym typeface="Calibri"/>
            </a:endParaRPr>
          </a:p>
        </p:txBody>
      </p:sp>
      <p:sp>
        <p:nvSpPr>
          <p:cNvPr id="1279" name="Google Shape;1279;p35"/>
          <p:cNvSpPr/>
          <p:nvPr/>
        </p:nvSpPr>
        <p:spPr>
          <a:xfrm>
            <a:off x="320040" y="2953512"/>
            <a:ext cx="85496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4FF"/>
              </a:buClr>
              <a:buSzPts val="1100"/>
              <a:buFont typeface="Calibri"/>
              <a:buNone/>
            </a:pPr>
            <a:r>
              <a:rPr b="1" i="0" lang="en-US" sz="1100" u="none" cap="none" strike="noStrike">
                <a:solidFill>
                  <a:srgbClr val="00D4FF"/>
                </a:solidFill>
                <a:latin typeface="Calibri"/>
                <a:ea typeface="Calibri"/>
                <a:cs typeface="Calibri"/>
                <a:sym typeface="Calibri"/>
              </a:rPr>
              <a:t>2. </a:t>
            </a:r>
            <a:r>
              <a:rPr b="0" i="0" lang="en-US" sz="1100" u="none" cap="none" strike="noStrike">
                <a:solidFill>
                  <a:srgbClr val="F0F4FF"/>
                </a:solidFill>
                <a:latin typeface="Calibri"/>
                <a:ea typeface="Calibri"/>
                <a:cs typeface="Calibri"/>
                <a:sym typeface="Calibri"/>
              </a:rPr>
              <a:t>BST simple: O(log n) esperado con datos aleatorios, O(n) con datos ordenados. Para producción donde el orden de inserción no es controlado, usar AVL o Red-Black.</a:t>
            </a:r>
            <a:endParaRPr b="0" i="0" sz="1100" u="none" cap="none" strike="noStrike">
              <a:solidFill>
                <a:schemeClr val="dk1"/>
              </a:solidFill>
              <a:latin typeface="Calibri"/>
              <a:ea typeface="Calibri"/>
              <a:cs typeface="Calibri"/>
              <a:sym typeface="Calibri"/>
            </a:endParaRPr>
          </a:p>
        </p:txBody>
      </p:sp>
      <p:sp>
        <p:nvSpPr>
          <p:cNvPr id="1280" name="Google Shape;1280;p35"/>
          <p:cNvSpPr/>
          <p:nvPr/>
        </p:nvSpPr>
        <p:spPr>
          <a:xfrm>
            <a:off x="320040" y="3346704"/>
            <a:ext cx="85496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4FF"/>
              </a:buClr>
              <a:buSzPts val="1100"/>
              <a:buFont typeface="Calibri"/>
              <a:buNone/>
            </a:pPr>
            <a:r>
              <a:rPr b="1" i="0" lang="en-US" sz="1100" u="none" cap="none" strike="noStrike">
                <a:solidFill>
                  <a:srgbClr val="00D4FF"/>
                </a:solidFill>
                <a:latin typeface="Calibri"/>
                <a:ea typeface="Calibri"/>
                <a:cs typeface="Calibri"/>
                <a:sym typeface="Calibri"/>
              </a:rPr>
              <a:t>3. </a:t>
            </a:r>
            <a:r>
              <a:rPr b="0" i="0" lang="en-US" sz="1100" u="none" cap="none" strike="noStrike">
                <a:solidFill>
                  <a:srgbClr val="F0F4FF"/>
                </a:solidFill>
                <a:latin typeface="Calibri"/>
                <a:ea typeface="Calibri"/>
                <a:cs typeface="Calibri"/>
                <a:sym typeface="Calibri"/>
              </a:rPr>
              <a:t>Zig-Zig y Zig-Zag no son lo mismo: Zig-Zig rota el abuelo primero y acorta el path para todos los nodos en la ruta — esto es lo que da la garantía amortizada de Splay Trees. Zig-Zag es mecánicamente idéntico a la double rotation de AVL.</a:t>
            </a:r>
            <a:endParaRPr b="0" i="0" sz="1100" u="none" cap="none" strike="noStrike">
              <a:solidFill>
                <a:schemeClr val="dk1"/>
              </a:solidFill>
              <a:latin typeface="Calibri"/>
              <a:ea typeface="Calibri"/>
              <a:cs typeface="Calibri"/>
              <a:sym typeface="Calibri"/>
            </a:endParaRPr>
          </a:p>
        </p:txBody>
      </p:sp>
      <p:sp>
        <p:nvSpPr>
          <p:cNvPr id="1281" name="Google Shape;1281;p35"/>
          <p:cNvSpPr/>
          <p:nvPr/>
        </p:nvSpPr>
        <p:spPr>
          <a:xfrm>
            <a:off x="137160" y="4846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AED · Clase 7 · Cierre</a:t>
            </a:r>
            <a:endParaRPr b="0" i="0" sz="900" u="none" cap="none" strike="noStrike">
              <a:solidFill>
                <a:schemeClr val="dk1"/>
              </a:solidFill>
              <a:latin typeface="Calibri"/>
              <a:ea typeface="Calibri"/>
              <a:cs typeface="Calibri"/>
              <a:sym typeface="Calibri"/>
            </a:endParaRPr>
          </a:p>
        </p:txBody>
      </p:sp>
      <p:sp>
        <p:nvSpPr>
          <p:cNvPr id="1282" name="Google Shape;1282;p35"/>
          <p:cNvSpPr/>
          <p:nvPr/>
        </p:nvSpPr>
        <p:spPr>
          <a:xfrm>
            <a:off x="8503920" y="4846320"/>
            <a:ext cx="54864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35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F1A"/>
        </a:solidFill>
      </p:bgPr>
    </p:bg>
    <p:spTree>
      <p:nvGrpSpPr>
        <p:cNvPr id="1287" name="Shape 1287"/>
        <p:cNvGrpSpPr/>
        <p:nvPr/>
      </p:nvGrpSpPr>
      <p:grpSpPr>
        <a:xfrm>
          <a:off x="0" y="0"/>
          <a:ext cx="0" cy="0"/>
          <a:chOff x="0" y="0"/>
          <a:chExt cx="0" cy="0"/>
        </a:xfrm>
      </p:grpSpPr>
      <p:sp>
        <p:nvSpPr>
          <p:cNvPr id="1288" name="Google Shape;1288;p36"/>
          <p:cNvSpPr/>
          <p:nvPr/>
        </p:nvSpPr>
        <p:spPr>
          <a:xfrm>
            <a:off x="0" y="0"/>
            <a:ext cx="9144000" cy="73152"/>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36"/>
          <p:cNvSpPr/>
          <p:nvPr/>
        </p:nvSpPr>
        <p:spPr>
          <a:xfrm>
            <a:off x="182880" y="137160"/>
            <a:ext cx="87782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2800"/>
              <a:buFont typeface="Trebuchet MS"/>
              <a:buNone/>
            </a:pPr>
            <a:r>
              <a:rPr b="1" i="0" lang="en-US" sz="2800" u="none" cap="none" strike="noStrike">
                <a:solidFill>
                  <a:srgbClr val="F0F4FF"/>
                </a:solidFill>
                <a:latin typeface="Trebuchet MS"/>
                <a:ea typeface="Trebuchet MS"/>
                <a:cs typeface="Trebuchet MS"/>
                <a:sym typeface="Trebuchet MS"/>
              </a:rPr>
              <a:t>Cierre</a:t>
            </a:r>
            <a:endParaRPr b="0" i="0" sz="2800" u="none" cap="none" strike="noStrike">
              <a:solidFill>
                <a:schemeClr val="dk1"/>
              </a:solidFill>
              <a:latin typeface="Calibri"/>
              <a:ea typeface="Calibri"/>
              <a:cs typeface="Calibri"/>
              <a:sym typeface="Calibri"/>
            </a:endParaRPr>
          </a:p>
        </p:txBody>
      </p:sp>
      <p:sp>
        <p:nvSpPr>
          <p:cNvPr id="1290" name="Google Shape;1290;p36"/>
          <p:cNvSpPr/>
          <p:nvPr/>
        </p:nvSpPr>
        <p:spPr>
          <a:xfrm>
            <a:off x="137160" y="658368"/>
            <a:ext cx="8869680" cy="1298448"/>
          </a:xfrm>
          <a:prstGeom prst="rect">
            <a:avLst/>
          </a:prstGeom>
          <a:solidFill>
            <a:srgbClr val="141829"/>
          </a:solidFill>
          <a:ln cap="flat" cmpd="sng" w="9525">
            <a:solidFill>
              <a:srgbClr val="F59E0B"/>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36"/>
          <p:cNvSpPr/>
          <p:nvPr/>
        </p:nvSpPr>
        <p:spPr>
          <a:xfrm>
            <a:off x="320040" y="804672"/>
            <a:ext cx="2949854" cy="256032"/>
          </a:xfrm>
          <a:prstGeom prst="roundRect">
            <a:avLst>
              <a:gd fmla="val 21429" name="adj"/>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36"/>
          <p:cNvSpPr/>
          <p:nvPr/>
        </p:nvSpPr>
        <p:spPr>
          <a:xfrm>
            <a:off x="320040" y="804672"/>
            <a:ext cx="2949854"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PARA REFLEXIONAR / PRÓXIMA CLASE</a:t>
            </a:r>
            <a:endParaRPr b="0" i="0" sz="800" u="none" cap="none" strike="noStrike">
              <a:solidFill>
                <a:schemeClr val="dk1"/>
              </a:solidFill>
              <a:latin typeface="Calibri"/>
              <a:ea typeface="Calibri"/>
              <a:cs typeface="Calibri"/>
              <a:sym typeface="Calibri"/>
            </a:endParaRPr>
          </a:p>
        </p:txBody>
      </p:sp>
      <p:sp>
        <p:nvSpPr>
          <p:cNvPr id="1293" name="Google Shape;1293;p36"/>
          <p:cNvSpPr/>
          <p:nvPr/>
        </p:nvSpPr>
        <p:spPr>
          <a:xfrm>
            <a:off x="320040" y="1115568"/>
            <a:ext cx="85496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1200"/>
              <a:buFont typeface="Calibri"/>
              <a:buNone/>
            </a:pPr>
            <a:r>
              <a:rPr b="0" i="0" lang="en-US" sz="1200" u="none" cap="none" strike="noStrike">
                <a:solidFill>
                  <a:srgbClr val="F0F4FF"/>
                </a:solidFill>
                <a:latin typeface="Calibri"/>
                <a:ea typeface="Calibri"/>
                <a:cs typeface="Calibri"/>
                <a:sym typeface="Calibri"/>
              </a:rPr>
              <a:t>std::map garantiza O(log n) por clave, pero si querés buscar por dos claves distintas simultáneamente (por ejemplo, tickets por ID Y por fecha de apertura), ¿cuántos árboles necesitás? ¿Existe alguna estructura que indexe múltiples campos sin duplicar toda la data?</a:t>
            </a:r>
            <a:endParaRPr b="0" i="0" sz="1200" u="none" cap="none" strike="noStrike">
              <a:solidFill>
                <a:schemeClr val="dk1"/>
              </a:solidFill>
              <a:latin typeface="Calibri"/>
              <a:ea typeface="Calibri"/>
              <a:cs typeface="Calibri"/>
              <a:sym typeface="Calibri"/>
            </a:endParaRPr>
          </a:p>
        </p:txBody>
      </p:sp>
      <p:sp>
        <p:nvSpPr>
          <p:cNvPr id="1294" name="Google Shape;1294;p36"/>
          <p:cNvSpPr/>
          <p:nvPr/>
        </p:nvSpPr>
        <p:spPr>
          <a:xfrm>
            <a:off x="137160" y="2029968"/>
            <a:ext cx="4297680" cy="1719072"/>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36"/>
          <p:cNvSpPr/>
          <p:nvPr/>
        </p:nvSpPr>
        <p:spPr>
          <a:xfrm>
            <a:off x="320040" y="2176272"/>
            <a:ext cx="1078992" cy="256032"/>
          </a:xfrm>
          <a:prstGeom prst="roundRect">
            <a:avLst>
              <a:gd fmla="val 21429"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36"/>
          <p:cNvSpPr/>
          <p:nvPr/>
        </p:nvSpPr>
        <p:spPr>
          <a:xfrm>
            <a:off x="320040" y="2176272"/>
            <a:ext cx="107899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PREGUNTA 1</a:t>
            </a:r>
            <a:endParaRPr b="0" i="0" sz="800" u="none" cap="none" strike="noStrike">
              <a:solidFill>
                <a:schemeClr val="dk1"/>
              </a:solidFill>
              <a:latin typeface="Calibri"/>
              <a:ea typeface="Calibri"/>
              <a:cs typeface="Calibri"/>
              <a:sym typeface="Calibri"/>
            </a:endParaRPr>
          </a:p>
        </p:txBody>
      </p:sp>
      <p:sp>
        <p:nvSpPr>
          <p:cNvPr id="1297" name="Google Shape;1297;p36"/>
          <p:cNvSpPr/>
          <p:nvPr/>
        </p:nvSpPr>
        <p:spPr>
          <a:xfrm>
            <a:off x="320040" y="2514600"/>
            <a:ext cx="402336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1100"/>
              <a:buFont typeface="Calibri"/>
              <a:buNone/>
            </a:pPr>
            <a:r>
              <a:rPr b="0" i="0" lang="en-US" sz="1100" u="none" cap="none" strike="noStrike">
                <a:solidFill>
                  <a:srgbClr val="F0F4FF"/>
                </a:solidFill>
                <a:latin typeface="Calibri"/>
                <a:ea typeface="Calibri"/>
                <a:cs typeface="Calibri"/>
                <a:sym typeface="Calibri"/>
              </a:rPr>
              <a:t>Si un Splay Tree accede a los mismos 100 elementos de un conjunto de 1.000.000 repetidamente, ¿cuántas comparaciones promedio toma cada acceso después de un warmup? ¿Cómo se compara con AVL para el mismo workload?</a:t>
            </a:r>
            <a:endParaRPr b="0" i="0" sz="1100" u="none" cap="none" strike="noStrike">
              <a:solidFill>
                <a:schemeClr val="dk1"/>
              </a:solidFill>
              <a:latin typeface="Calibri"/>
              <a:ea typeface="Calibri"/>
              <a:cs typeface="Calibri"/>
              <a:sym typeface="Calibri"/>
            </a:endParaRPr>
          </a:p>
        </p:txBody>
      </p:sp>
      <p:sp>
        <p:nvSpPr>
          <p:cNvPr id="1298" name="Google Shape;1298;p36"/>
          <p:cNvSpPr/>
          <p:nvPr/>
        </p:nvSpPr>
        <p:spPr>
          <a:xfrm>
            <a:off x="4572000" y="2029968"/>
            <a:ext cx="4389120" cy="1719072"/>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36"/>
          <p:cNvSpPr/>
          <p:nvPr/>
        </p:nvSpPr>
        <p:spPr>
          <a:xfrm>
            <a:off x="4754880" y="2176272"/>
            <a:ext cx="1078992" cy="256032"/>
          </a:xfrm>
          <a:prstGeom prst="roundRect">
            <a:avLst>
              <a:gd fmla="val 21429"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36"/>
          <p:cNvSpPr/>
          <p:nvPr/>
        </p:nvSpPr>
        <p:spPr>
          <a:xfrm>
            <a:off x="4754880" y="2176272"/>
            <a:ext cx="107899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PREGUNTA 2</a:t>
            </a:r>
            <a:endParaRPr b="0" i="0" sz="800" u="none" cap="none" strike="noStrike">
              <a:solidFill>
                <a:schemeClr val="dk1"/>
              </a:solidFill>
              <a:latin typeface="Calibri"/>
              <a:ea typeface="Calibri"/>
              <a:cs typeface="Calibri"/>
              <a:sym typeface="Calibri"/>
            </a:endParaRPr>
          </a:p>
        </p:txBody>
      </p:sp>
      <p:sp>
        <p:nvSpPr>
          <p:cNvPr id="1301" name="Google Shape;1301;p36"/>
          <p:cNvSpPr/>
          <p:nvPr/>
        </p:nvSpPr>
        <p:spPr>
          <a:xfrm>
            <a:off x="4754880" y="2514600"/>
            <a:ext cx="406908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1100"/>
              <a:buFont typeface="Calibri"/>
              <a:buNone/>
            </a:pPr>
            <a:r>
              <a:rPr b="0" i="0" lang="en-US" sz="1100" u="none" cap="none" strike="noStrike">
                <a:solidFill>
                  <a:srgbClr val="F0F4FF"/>
                </a:solidFill>
                <a:latin typeface="Calibri"/>
                <a:ea typeface="Calibri"/>
                <a:cs typeface="Calibri"/>
                <a:sym typeface="Calibri"/>
              </a:rPr>
              <a:t>Red-Black trees permiten máximo 2 rotaciones por inserción. ¿Qué garantía tiene un AVL tree sobre el número de rotaciones por inserción? ¿Por qué ese número importa para sistemas con escrituras frecuentes?</a:t>
            </a:r>
            <a:endParaRPr b="0" i="0" sz="1100" u="none" cap="none" strike="noStrike">
              <a:solidFill>
                <a:schemeClr val="dk1"/>
              </a:solidFill>
              <a:latin typeface="Calibri"/>
              <a:ea typeface="Calibri"/>
              <a:cs typeface="Calibri"/>
              <a:sym typeface="Calibri"/>
            </a:endParaRPr>
          </a:p>
        </p:txBody>
      </p:sp>
      <p:sp>
        <p:nvSpPr>
          <p:cNvPr id="1302" name="Google Shape;1302;p36"/>
          <p:cNvSpPr/>
          <p:nvPr/>
        </p:nvSpPr>
        <p:spPr>
          <a:xfrm>
            <a:off x="137160" y="3813048"/>
            <a:ext cx="8869680" cy="1170432"/>
          </a:xfrm>
          <a:prstGeom prst="rect">
            <a:avLst/>
          </a:prstGeom>
          <a:solidFill>
            <a:srgbClr val="141829"/>
          </a:solidFill>
          <a:ln cap="flat" cmpd="sng" w="9525">
            <a:solidFill>
              <a:srgbClr val="3D4A5C"/>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36"/>
          <p:cNvSpPr/>
          <p:nvPr/>
        </p:nvSpPr>
        <p:spPr>
          <a:xfrm>
            <a:off x="320040" y="3959352"/>
            <a:ext cx="1005840" cy="256032"/>
          </a:xfrm>
          <a:prstGeom prst="roundRect">
            <a:avLst>
              <a:gd fmla="val 21429" name="adj"/>
            </a:avLst>
          </a:prstGeom>
          <a:solidFill>
            <a:srgbClr val="8892A4"/>
          </a:solidFill>
          <a:ln cap="flat" cmpd="sng" w="12700">
            <a:solidFill>
              <a:srgbClr val="8892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36"/>
          <p:cNvSpPr/>
          <p:nvPr/>
        </p:nvSpPr>
        <p:spPr>
          <a:xfrm>
            <a:off x="320040" y="3959352"/>
            <a:ext cx="1005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RECURSOS</a:t>
            </a:r>
            <a:endParaRPr b="0" i="0" sz="800" u="none" cap="none" strike="noStrike">
              <a:solidFill>
                <a:schemeClr val="dk1"/>
              </a:solidFill>
              <a:latin typeface="Calibri"/>
              <a:ea typeface="Calibri"/>
              <a:cs typeface="Calibri"/>
              <a:sym typeface="Calibri"/>
            </a:endParaRPr>
          </a:p>
        </p:txBody>
      </p:sp>
      <p:sp>
        <p:nvSpPr>
          <p:cNvPr id="1305" name="Google Shape;1305;p36"/>
          <p:cNvSpPr/>
          <p:nvPr/>
        </p:nvSpPr>
        <p:spPr>
          <a:xfrm>
            <a:off x="320040" y="4233672"/>
            <a:ext cx="85496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4FF"/>
              </a:buClr>
              <a:buSzPts val="1000"/>
              <a:buFont typeface="Calibri"/>
              <a:buNone/>
            </a:pPr>
            <a:r>
              <a:rPr b="1" i="0" lang="en-US" sz="1000" u="none" cap="none" strike="noStrike">
                <a:solidFill>
                  <a:srgbClr val="00D4FF"/>
                </a:solidFill>
                <a:latin typeface="Calibri"/>
                <a:ea typeface="Calibri"/>
                <a:cs typeface="Calibri"/>
                <a:sym typeface="Calibri"/>
              </a:rPr>
              <a:t>CLRS Cap. 12-13</a:t>
            </a:r>
            <a:r>
              <a:rPr b="0" i="0" lang="en-US" sz="1000" u="none" cap="none" strike="noStrike">
                <a:solidFill>
                  <a:srgbClr val="F0F4FF"/>
                </a:solidFill>
                <a:latin typeface="Calibri"/>
                <a:ea typeface="Calibri"/>
                <a:cs typeface="Calibri"/>
                <a:sym typeface="Calibri"/>
              </a:rPr>
              <a:t> — BST y Red-Black Trees con pseudocódigo formal y pruebas de correctitud.    </a:t>
            </a:r>
            <a:r>
              <a:rPr b="1" i="0" lang="en-US" sz="1000" u="none" cap="none" strike="noStrike">
                <a:solidFill>
                  <a:srgbClr val="00D4FF"/>
                </a:solidFill>
                <a:latin typeface="Calibri"/>
                <a:ea typeface="Calibri"/>
                <a:cs typeface="Calibri"/>
                <a:sym typeface="Calibri"/>
              </a:rPr>
              <a:t>Weiss Cap. 4</a:t>
            </a:r>
            <a:r>
              <a:rPr b="0" i="0" lang="en-US" sz="1000" u="none" cap="none" strike="noStrike">
                <a:solidFill>
                  <a:srgbClr val="F0F4FF"/>
                </a:solidFill>
                <a:latin typeface="Calibri"/>
                <a:ea typeface="Calibri"/>
                <a:cs typeface="Calibri"/>
                <a:sym typeface="Calibri"/>
              </a:rPr>
              <a:t> — AVL Trees, Splay Trees y B-Trees con implementaciones en C++ comentadas.    </a:t>
            </a:r>
            <a:r>
              <a:rPr b="1" i="0" lang="en-US" sz="1000" u="none" cap="none" strike="noStrike">
                <a:solidFill>
                  <a:srgbClr val="00D4FF"/>
                </a:solidFill>
                <a:latin typeface="Calibri"/>
                <a:ea typeface="Calibri"/>
                <a:cs typeface="Calibri"/>
                <a:sym typeface="Calibri"/>
              </a:rPr>
              <a:t>cppreference — std::map</a:t>
            </a:r>
            <a:r>
              <a:rPr b="0" i="0" lang="en-US" sz="1000" u="none" cap="none" strike="noStrike">
                <a:solidFill>
                  <a:srgbClr val="F0F4FF"/>
                </a:solidFill>
                <a:latin typeface="Calibri"/>
                <a:ea typeface="Calibri"/>
                <a:cs typeface="Calibri"/>
                <a:sym typeface="Calibri"/>
              </a:rPr>
              <a:t> — Garantías de complejidad, comparator requirements, y operaciones disponibles del contenedor.</a:t>
            </a:r>
            <a:endParaRPr b="0" i="0" sz="1000" u="none" cap="none" strike="noStrike">
              <a:solidFill>
                <a:schemeClr val="dk1"/>
              </a:solidFill>
              <a:latin typeface="Calibri"/>
              <a:ea typeface="Calibri"/>
              <a:cs typeface="Calibri"/>
              <a:sym typeface="Calibri"/>
            </a:endParaRPr>
          </a:p>
        </p:txBody>
      </p:sp>
      <p:sp>
        <p:nvSpPr>
          <p:cNvPr id="1306" name="Google Shape;1306;p36"/>
          <p:cNvSpPr/>
          <p:nvPr/>
        </p:nvSpPr>
        <p:spPr>
          <a:xfrm>
            <a:off x="137160" y="4846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AED · Clase 7 · Próxima clase</a:t>
            </a:r>
            <a:endParaRPr b="0" i="0" sz="900" u="none" cap="none" strike="noStrike">
              <a:solidFill>
                <a:schemeClr val="dk1"/>
              </a:solidFill>
              <a:latin typeface="Calibri"/>
              <a:ea typeface="Calibri"/>
              <a:cs typeface="Calibri"/>
              <a:sym typeface="Calibri"/>
            </a:endParaRPr>
          </a:p>
        </p:txBody>
      </p:sp>
      <p:sp>
        <p:nvSpPr>
          <p:cNvPr id="1307" name="Google Shape;1307;p36"/>
          <p:cNvSpPr/>
          <p:nvPr/>
        </p:nvSpPr>
        <p:spPr>
          <a:xfrm>
            <a:off x="8503920" y="4846320"/>
            <a:ext cx="54864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36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F1A"/>
        </a:solidFill>
      </p:bgPr>
    </p:bg>
    <p:spTree>
      <p:nvGrpSpPr>
        <p:cNvPr id="1312" name="Shape 1312"/>
        <p:cNvGrpSpPr/>
        <p:nvPr/>
      </p:nvGrpSpPr>
      <p:grpSpPr>
        <a:xfrm>
          <a:off x="0" y="0"/>
          <a:ext cx="0" cy="0"/>
          <a:chOff x="0" y="0"/>
          <a:chExt cx="0" cy="0"/>
        </a:xfrm>
      </p:grpSpPr>
      <p:sp>
        <p:nvSpPr>
          <p:cNvPr id="1313" name="Google Shape;1313;p3"/>
          <p:cNvSpPr/>
          <p:nvPr/>
        </p:nvSpPr>
        <p:spPr>
          <a:xfrm>
            <a:off x="0" y="0"/>
            <a:ext cx="54864"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3"/>
          <p:cNvSpPr/>
          <p:nvPr/>
        </p:nvSpPr>
        <p:spPr>
          <a:xfrm>
            <a:off x="182880" y="137160"/>
            <a:ext cx="87782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2600"/>
              <a:buFont typeface="Trebuchet MS"/>
              <a:buNone/>
            </a:pPr>
            <a:r>
              <a:rPr b="1" lang="en-US" sz="2600">
                <a:solidFill>
                  <a:srgbClr val="F0F4FF"/>
                </a:solidFill>
                <a:latin typeface="Trebuchet MS"/>
                <a:ea typeface="Trebuchet MS"/>
                <a:cs typeface="Trebuchet MS"/>
                <a:sym typeface="Trebuchet MS"/>
              </a:rPr>
              <a:t>Próximamente en clases…</a:t>
            </a:r>
            <a:endParaRPr b="0" i="0" sz="2600" u="none" cap="none" strike="noStrike">
              <a:solidFill>
                <a:schemeClr val="dk1"/>
              </a:solidFill>
              <a:latin typeface="Calibri"/>
              <a:ea typeface="Calibri"/>
              <a:cs typeface="Calibri"/>
              <a:sym typeface="Calibri"/>
            </a:endParaRPr>
          </a:p>
        </p:txBody>
      </p:sp>
      <p:sp>
        <p:nvSpPr>
          <p:cNvPr id="1315" name="Google Shape;1315;p3"/>
          <p:cNvSpPr/>
          <p:nvPr/>
        </p:nvSpPr>
        <p:spPr>
          <a:xfrm>
            <a:off x="182880" y="749808"/>
            <a:ext cx="8778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1200"/>
              <a:buFont typeface="Calibri"/>
              <a:buNone/>
            </a:pPr>
            <a:r>
              <a:rPr b="0" i="1" lang="en-US" sz="1200" u="none" cap="none" strike="noStrike">
                <a:solidFill>
                  <a:srgbClr val="8892A4"/>
                </a:solidFill>
                <a:latin typeface="Calibri"/>
                <a:ea typeface="Calibri"/>
                <a:cs typeface="Calibri"/>
                <a:sym typeface="Calibri"/>
              </a:rPr>
              <a:t>Class roadmap</a:t>
            </a:r>
            <a:endParaRPr b="0" i="0" sz="1200" u="none" cap="none" strike="noStrike">
              <a:solidFill>
                <a:schemeClr val="dk1"/>
              </a:solidFill>
              <a:latin typeface="Calibri"/>
              <a:ea typeface="Calibri"/>
              <a:cs typeface="Calibri"/>
              <a:sym typeface="Calibri"/>
            </a:endParaRPr>
          </a:p>
        </p:txBody>
      </p:sp>
      <p:sp>
        <p:nvSpPr>
          <p:cNvPr id="1316" name="Google Shape;1316;p3"/>
          <p:cNvSpPr/>
          <p:nvPr/>
        </p:nvSpPr>
        <p:spPr>
          <a:xfrm>
            <a:off x="182880" y="1024128"/>
            <a:ext cx="1463040" cy="27432"/>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3"/>
          <p:cNvSpPr/>
          <p:nvPr/>
        </p:nvSpPr>
        <p:spPr>
          <a:xfrm>
            <a:off x="137160" y="1188720"/>
            <a:ext cx="1691640" cy="3566160"/>
          </a:xfrm>
          <a:prstGeom prst="rect">
            <a:avLst/>
          </a:prstGeom>
          <a:solidFill>
            <a:srgbClr val="141829"/>
          </a:solidFill>
          <a:ln cap="flat" cmpd="sng" w="9525">
            <a:solidFill>
              <a:srgbClr val="0891B2"/>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3"/>
          <p:cNvSpPr/>
          <p:nvPr/>
        </p:nvSpPr>
        <p:spPr>
          <a:xfrm>
            <a:off x="137160" y="1188720"/>
            <a:ext cx="1691640" cy="54864"/>
          </a:xfrm>
          <a:prstGeom prst="rect">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3"/>
          <p:cNvSpPr/>
          <p:nvPr/>
        </p:nvSpPr>
        <p:spPr>
          <a:xfrm>
            <a:off x="228600" y="1298448"/>
            <a:ext cx="15087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3600"/>
              <a:buFont typeface="Trebuchet MS"/>
              <a:buNone/>
            </a:pPr>
            <a:r>
              <a:rPr b="1" i="0" lang="en-US" sz="3600" u="none" cap="none" strike="noStrike">
                <a:solidFill>
                  <a:srgbClr val="0891B2"/>
                </a:solidFill>
                <a:latin typeface="Trebuchet MS"/>
                <a:ea typeface="Trebuchet MS"/>
                <a:cs typeface="Trebuchet MS"/>
                <a:sym typeface="Trebuchet MS"/>
              </a:rPr>
              <a:t>1</a:t>
            </a:r>
            <a:endParaRPr b="0" i="0" sz="3600" u="none" cap="none" strike="noStrike">
              <a:solidFill>
                <a:schemeClr val="dk1"/>
              </a:solidFill>
              <a:latin typeface="Calibri"/>
              <a:ea typeface="Calibri"/>
              <a:cs typeface="Calibri"/>
              <a:sym typeface="Calibri"/>
            </a:endParaRPr>
          </a:p>
        </p:txBody>
      </p:sp>
      <p:sp>
        <p:nvSpPr>
          <p:cNvPr id="1320" name="Google Shape;1320;p3"/>
          <p:cNvSpPr/>
          <p:nvPr/>
        </p:nvSpPr>
        <p:spPr>
          <a:xfrm>
            <a:off x="228600" y="1810512"/>
            <a:ext cx="15087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1300"/>
              <a:buFont typeface="Trebuchet MS"/>
              <a:buNone/>
            </a:pPr>
            <a:r>
              <a:rPr b="1" lang="en-US" sz="1300">
                <a:solidFill>
                  <a:srgbClr val="F0F4FF"/>
                </a:solidFill>
                <a:latin typeface="Trebuchet MS"/>
                <a:ea typeface="Trebuchet MS"/>
                <a:cs typeface="Trebuchet MS"/>
                <a:sym typeface="Trebuchet MS"/>
              </a:rPr>
              <a:t>B Tree</a:t>
            </a:r>
            <a:endParaRPr b="0" i="0" sz="1300" u="none" cap="none" strike="noStrike">
              <a:solidFill>
                <a:schemeClr val="dk1"/>
              </a:solidFill>
              <a:latin typeface="Calibri"/>
              <a:ea typeface="Calibri"/>
              <a:cs typeface="Calibri"/>
              <a:sym typeface="Calibri"/>
            </a:endParaRPr>
          </a:p>
        </p:txBody>
      </p:sp>
      <p:sp>
        <p:nvSpPr>
          <p:cNvPr id="1321" name="Google Shape;1321;p3"/>
          <p:cNvSpPr/>
          <p:nvPr/>
        </p:nvSpPr>
        <p:spPr>
          <a:xfrm>
            <a:off x="228600" y="2267712"/>
            <a:ext cx="1417320" cy="18288"/>
          </a:xfrm>
          <a:prstGeom prst="rect">
            <a:avLst/>
          </a:prstGeom>
          <a:solidFill>
            <a:srgbClr val="3D4A5C"/>
          </a:solidFill>
          <a:ln cap="flat" cmpd="sng" w="12700">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3"/>
          <p:cNvSpPr/>
          <p:nvPr/>
        </p:nvSpPr>
        <p:spPr>
          <a:xfrm>
            <a:off x="228600" y="2340864"/>
            <a:ext cx="1508760" cy="2240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892A4"/>
              </a:buClr>
              <a:buSzPts val="950"/>
              <a:buFont typeface="Calibri"/>
              <a:buNone/>
            </a:pPr>
            <a:r>
              <a:rPr lang="en-US" sz="950">
                <a:solidFill>
                  <a:srgbClr val="8892A4"/>
                </a:solidFill>
                <a:latin typeface="Calibri"/>
                <a:ea typeface="Calibri"/>
                <a:cs typeface="Calibri"/>
                <a:sym typeface="Calibri"/>
              </a:rPr>
              <a:t>Sigamos viendo trees</a:t>
            </a:r>
            <a:endParaRPr b="0" i="0" sz="950" u="none" cap="none" strike="noStrike">
              <a:solidFill>
                <a:schemeClr val="dk1"/>
              </a:solidFill>
              <a:latin typeface="Calibri"/>
              <a:ea typeface="Calibri"/>
              <a:cs typeface="Calibri"/>
              <a:sym typeface="Calibri"/>
            </a:endParaRPr>
          </a:p>
        </p:txBody>
      </p:sp>
      <p:sp>
        <p:nvSpPr>
          <p:cNvPr id="1323" name="Google Shape;1323;p3"/>
          <p:cNvSpPr/>
          <p:nvPr/>
        </p:nvSpPr>
        <p:spPr>
          <a:xfrm>
            <a:off x="1920240" y="1188720"/>
            <a:ext cx="1691640" cy="3566160"/>
          </a:xfrm>
          <a:prstGeom prst="rect">
            <a:avLst/>
          </a:prstGeom>
          <a:solidFill>
            <a:srgbClr val="141829"/>
          </a:solidFill>
          <a:ln cap="flat" cmpd="sng" w="9525">
            <a:solidFill>
              <a:srgbClr val="7C3AED"/>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3"/>
          <p:cNvSpPr/>
          <p:nvPr/>
        </p:nvSpPr>
        <p:spPr>
          <a:xfrm>
            <a:off x="1920240" y="1188720"/>
            <a:ext cx="1691640" cy="54864"/>
          </a:xfrm>
          <a:prstGeom prst="rect">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3"/>
          <p:cNvSpPr/>
          <p:nvPr/>
        </p:nvSpPr>
        <p:spPr>
          <a:xfrm>
            <a:off x="2011680" y="1298448"/>
            <a:ext cx="15087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3600"/>
              <a:buFont typeface="Trebuchet MS"/>
              <a:buNone/>
            </a:pPr>
            <a:r>
              <a:rPr b="1" i="0" lang="en-US" sz="3600" u="none" cap="none" strike="noStrike">
                <a:solidFill>
                  <a:srgbClr val="7C3AED"/>
                </a:solidFill>
                <a:latin typeface="Trebuchet MS"/>
                <a:ea typeface="Trebuchet MS"/>
                <a:cs typeface="Trebuchet MS"/>
                <a:sym typeface="Trebuchet MS"/>
              </a:rPr>
              <a:t>2</a:t>
            </a:r>
            <a:endParaRPr b="0" i="0" sz="3600" u="none" cap="none" strike="noStrike">
              <a:solidFill>
                <a:schemeClr val="dk1"/>
              </a:solidFill>
              <a:latin typeface="Calibri"/>
              <a:ea typeface="Calibri"/>
              <a:cs typeface="Calibri"/>
              <a:sym typeface="Calibri"/>
            </a:endParaRPr>
          </a:p>
        </p:txBody>
      </p:sp>
      <p:sp>
        <p:nvSpPr>
          <p:cNvPr id="1326" name="Google Shape;1326;p3"/>
          <p:cNvSpPr/>
          <p:nvPr/>
        </p:nvSpPr>
        <p:spPr>
          <a:xfrm>
            <a:off x="2011680" y="1810512"/>
            <a:ext cx="15087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1300"/>
              <a:buFont typeface="Trebuchet MS"/>
              <a:buNone/>
            </a:pPr>
            <a:r>
              <a:rPr b="1" lang="en-US" sz="1300">
                <a:solidFill>
                  <a:srgbClr val="F0F4FF"/>
                </a:solidFill>
                <a:latin typeface="Trebuchet MS"/>
                <a:ea typeface="Trebuchet MS"/>
                <a:cs typeface="Trebuchet MS"/>
                <a:sym typeface="Trebuchet MS"/>
              </a:rPr>
              <a:t>B+ Tree</a:t>
            </a:r>
            <a:endParaRPr b="0" i="0" sz="1300" u="none" cap="none" strike="noStrike">
              <a:solidFill>
                <a:schemeClr val="dk1"/>
              </a:solidFill>
              <a:latin typeface="Calibri"/>
              <a:ea typeface="Calibri"/>
              <a:cs typeface="Calibri"/>
              <a:sym typeface="Calibri"/>
            </a:endParaRPr>
          </a:p>
        </p:txBody>
      </p:sp>
      <p:sp>
        <p:nvSpPr>
          <p:cNvPr id="1327" name="Google Shape;1327;p3"/>
          <p:cNvSpPr/>
          <p:nvPr/>
        </p:nvSpPr>
        <p:spPr>
          <a:xfrm>
            <a:off x="2011680" y="2267712"/>
            <a:ext cx="1417320" cy="18288"/>
          </a:xfrm>
          <a:prstGeom prst="rect">
            <a:avLst/>
          </a:prstGeom>
          <a:solidFill>
            <a:srgbClr val="3D4A5C"/>
          </a:solidFill>
          <a:ln cap="flat" cmpd="sng" w="12700">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3"/>
          <p:cNvSpPr/>
          <p:nvPr/>
        </p:nvSpPr>
        <p:spPr>
          <a:xfrm>
            <a:off x="2011680" y="2340864"/>
            <a:ext cx="1508760" cy="2240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892A4"/>
              </a:buClr>
              <a:buSzPts val="950"/>
              <a:buFont typeface="Calibri"/>
              <a:buNone/>
            </a:pPr>
            <a:r>
              <a:rPr lang="en-US" sz="950">
                <a:solidFill>
                  <a:srgbClr val="8892A4"/>
                </a:solidFill>
                <a:latin typeface="Calibri"/>
                <a:ea typeface="Calibri"/>
                <a:cs typeface="Calibri"/>
                <a:sym typeface="Calibri"/>
              </a:rPr>
              <a:t>Otra variante</a:t>
            </a:r>
            <a:endParaRPr b="0" i="0" sz="950" u="none" cap="none" strike="noStrike">
              <a:solidFill>
                <a:schemeClr val="dk1"/>
              </a:solidFill>
              <a:latin typeface="Calibri"/>
              <a:ea typeface="Calibri"/>
              <a:cs typeface="Calibri"/>
              <a:sym typeface="Calibri"/>
            </a:endParaRPr>
          </a:p>
        </p:txBody>
      </p:sp>
      <p:sp>
        <p:nvSpPr>
          <p:cNvPr id="1329" name="Google Shape;1329;p3"/>
          <p:cNvSpPr/>
          <p:nvPr/>
        </p:nvSpPr>
        <p:spPr>
          <a:xfrm>
            <a:off x="3703320" y="1188720"/>
            <a:ext cx="1691640" cy="3566160"/>
          </a:xfrm>
          <a:prstGeom prst="rect">
            <a:avLst/>
          </a:prstGeom>
          <a:solidFill>
            <a:srgbClr val="141829"/>
          </a:solidFill>
          <a:ln cap="flat" cmpd="sng" w="9525">
            <a:solidFill>
              <a:srgbClr val="EF4444"/>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3"/>
          <p:cNvSpPr/>
          <p:nvPr/>
        </p:nvSpPr>
        <p:spPr>
          <a:xfrm>
            <a:off x="3703320" y="1188720"/>
            <a:ext cx="1691640" cy="54864"/>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3"/>
          <p:cNvSpPr/>
          <p:nvPr/>
        </p:nvSpPr>
        <p:spPr>
          <a:xfrm>
            <a:off x="3794760" y="1298448"/>
            <a:ext cx="15087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3600"/>
              <a:buFont typeface="Trebuchet MS"/>
              <a:buNone/>
            </a:pPr>
            <a:r>
              <a:rPr b="1" i="0" lang="en-US" sz="3600" u="none" cap="none" strike="noStrike">
                <a:solidFill>
                  <a:srgbClr val="EF4444"/>
                </a:solidFill>
                <a:latin typeface="Trebuchet MS"/>
                <a:ea typeface="Trebuchet MS"/>
                <a:cs typeface="Trebuchet MS"/>
                <a:sym typeface="Trebuchet MS"/>
              </a:rPr>
              <a:t>3</a:t>
            </a:r>
            <a:endParaRPr b="0" i="0" sz="3600" u="none" cap="none" strike="noStrike">
              <a:solidFill>
                <a:schemeClr val="dk1"/>
              </a:solidFill>
              <a:latin typeface="Calibri"/>
              <a:ea typeface="Calibri"/>
              <a:cs typeface="Calibri"/>
              <a:sym typeface="Calibri"/>
            </a:endParaRPr>
          </a:p>
        </p:txBody>
      </p:sp>
      <p:sp>
        <p:nvSpPr>
          <p:cNvPr id="1332" name="Google Shape;1332;p3"/>
          <p:cNvSpPr/>
          <p:nvPr/>
        </p:nvSpPr>
        <p:spPr>
          <a:xfrm>
            <a:off x="3794760" y="1810512"/>
            <a:ext cx="15087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1300"/>
              <a:buFont typeface="Trebuchet MS"/>
              <a:buNone/>
            </a:pPr>
            <a:r>
              <a:rPr b="1" lang="en-US" sz="1300">
                <a:solidFill>
                  <a:srgbClr val="F0F4FF"/>
                </a:solidFill>
                <a:latin typeface="Trebuchet MS"/>
                <a:ea typeface="Trebuchet MS"/>
                <a:cs typeface="Trebuchet MS"/>
                <a:sym typeface="Trebuchet MS"/>
              </a:rPr>
              <a:t>Heap</a:t>
            </a:r>
            <a:endParaRPr b="0" i="0" sz="1300" u="none" cap="none" strike="noStrike">
              <a:solidFill>
                <a:schemeClr val="dk1"/>
              </a:solidFill>
              <a:latin typeface="Calibri"/>
              <a:ea typeface="Calibri"/>
              <a:cs typeface="Calibri"/>
              <a:sym typeface="Calibri"/>
            </a:endParaRPr>
          </a:p>
        </p:txBody>
      </p:sp>
      <p:sp>
        <p:nvSpPr>
          <p:cNvPr id="1333" name="Google Shape;1333;p3"/>
          <p:cNvSpPr/>
          <p:nvPr/>
        </p:nvSpPr>
        <p:spPr>
          <a:xfrm>
            <a:off x="3794760" y="2267712"/>
            <a:ext cx="1417320" cy="18288"/>
          </a:xfrm>
          <a:prstGeom prst="rect">
            <a:avLst/>
          </a:prstGeom>
          <a:solidFill>
            <a:srgbClr val="3D4A5C"/>
          </a:solidFill>
          <a:ln cap="flat" cmpd="sng" w="12700">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3"/>
          <p:cNvSpPr/>
          <p:nvPr/>
        </p:nvSpPr>
        <p:spPr>
          <a:xfrm>
            <a:off x="3794760" y="2340864"/>
            <a:ext cx="1508760" cy="2240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892A4"/>
              </a:buClr>
              <a:buSzPts val="950"/>
              <a:buFont typeface="Calibri"/>
              <a:buNone/>
            </a:pPr>
            <a:r>
              <a:rPr lang="en-US" sz="950">
                <a:solidFill>
                  <a:srgbClr val="8892A4"/>
                </a:solidFill>
                <a:latin typeface="Calibri"/>
                <a:ea typeface="Calibri"/>
                <a:cs typeface="Calibri"/>
                <a:sym typeface="Calibri"/>
              </a:rPr>
              <a:t>No, no es ese heap</a:t>
            </a:r>
            <a:endParaRPr b="0" i="0" sz="950" u="none" cap="none" strike="noStrike">
              <a:solidFill>
                <a:schemeClr val="dk1"/>
              </a:solidFill>
              <a:latin typeface="Calibri"/>
              <a:ea typeface="Calibri"/>
              <a:cs typeface="Calibri"/>
              <a:sym typeface="Calibri"/>
            </a:endParaRPr>
          </a:p>
        </p:txBody>
      </p:sp>
      <p:sp>
        <p:nvSpPr>
          <p:cNvPr id="1335" name="Google Shape;1335;p3"/>
          <p:cNvSpPr/>
          <p:nvPr/>
        </p:nvSpPr>
        <p:spPr>
          <a:xfrm>
            <a:off x="5486400" y="1188720"/>
            <a:ext cx="1691640" cy="3566160"/>
          </a:xfrm>
          <a:prstGeom prst="rect">
            <a:avLst/>
          </a:prstGeom>
          <a:solidFill>
            <a:srgbClr val="141829"/>
          </a:solidFill>
          <a:ln cap="flat" cmpd="sng" w="9525">
            <a:solidFill>
              <a:srgbClr val="10B981"/>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3"/>
          <p:cNvSpPr/>
          <p:nvPr/>
        </p:nvSpPr>
        <p:spPr>
          <a:xfrm>
            <a:off x="5486400" y="1188720"/>
            <a:ext cx="1691640" cy="54864"/>
          </a:xfrm>
          <a:prstGeom prst="rect">
            <a:avLst/>
          </a:prstGeom>
          <a:solidFill>
            <a:srgbClr val="10B981"/>
          </a:solidFill>
          <a:ln cap="flat" cmpd="sng" w="1270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3"/>
          <p:cNvSpPr/>
          <p:nvPr/>
        </p:nvSpPr>
        <p:spPr>
          <a:xfrm>
            <a:off x="5577840" y="1298448"/>
            <a:ext cx="15087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3600"/>
              <a:buFont typeface="Trebuchet MS"/>
              <a:buNone/>
            </a:pPr>
            <a:r>
              <a:rPr b="1" i="0" lang="en-US" sz="3600" u="none" cap="none" strike="noStrike">
                <a:solidFill>
                  <a:srgbClr val="10B981"/>
                </a:solidFill>
                <a:latin typeface="Trebuchet MS"/>
                <a:ea typeface="Trebuchet MS"/>
                <a:cs typeface="Trebuchet MS"/>
                <a:sym typeface="Trebuchet MS"/>
              </a:rPr>
              <a:t>4</a:t>
            </a:r>
            <a:endParaRPr b="0" i="0" sz="3600" u="none" cap="none" strike="noStrike">
              <a:solidFill>
                <a:schemeClr val="dk1"/>
              </a:solidFill>
              <a:latin typeface="Calibri"/>
              <a:ea typeface="Calibri"/>
              <a:cs typeface="Calibri"/>
              <a:sym typeface="Calibri"/>
            </a:endParaRPr>
          </a:p>
        </p:txBody>
      </p:sp>
      <p:sp>
        <p:nvSpPr>
          <p:cNvPr id="1338" name="Google Shape;1338;p3"/>
          <p:cNvSpPr/>
          <p:nvPr/>
        </p:nvSpPr>
        <p:spPr>
          <a:xfrm>
            <a:off x="5577840" y="1810512"/>
            <a:ext cx="15087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1300"/>
              <a:buFont typeface="Trebuchet MS"/>
              <a:buNone/>
            </a:pPr>
            <a:r>
              <a:rPr b="1" lang="en-US" sz="1300">
                <a:solidFill>
                  <a:srgbClr val="F0F4FF"/>
                </a:solidFill>
                <a:latin typeface="Trebuchet MS"/>
                <a:ea typeface="Trebuchet MS"/>
                <a:cs typeface="Trebuchet MS"/>
                <a:sym typeface="Trebuchet MS"/>
              </a:rPr>
              <a:t>Otros tree</a:t>
            </a:r>
            <a:endParaRPr b="0" i="0" sz="1300" u="none" cap="none" strike="noStrike">
              <a:solidFill>
                <a:schemeClr val="dk1"/>
              </a:solidFill>
              <a:latin typeface="Calibri"/>
              <a:ea typeface="Calibri"/>
              <a:cs typeface="Calibri"/>
              <a:sym typeface="Calibri"/>
            </a:endParaRPr>
          </a:p>
        </p:txBody>
      </p:sp>
      <p:sp>
        <p:nvSpPr>
          <p:cNvPr id="1339" name="Google Shape;1339;p3"/>
          <p:cNvSpPr/>
          <p:nvPr/>
        </p:nvSpPr>
        <p:spPr>
          <a:xfrm>
            <a:off x="5577840" y="2267712"/>
            <a:ext cx="1417320" cy="18288"/>
          </a:xfrm>
          <a:prstGeom prst="rect">
            <a:avLst/>
          </a:prstGeom>
          <a:solidFill>
            <a:srgbClr val="3D4A5C"/>
          </a:solidFill>
          <a:ln cap="flat" cmpd="sng" w="12700">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3"/>
          <p:cNvSpPr/>
          <p:nvPr/>
        </p:nvSpPr>
        <p:spPr>
          <a:xfrm>
            <a:off x="5577840" y="2340864"/>
            <a:ext cx="1508760" cy="2240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892A4"/>
              </a:buClr>
              <a:buSzPts val="950"/>
              <a:buFont typeface="Calibri"/>
              <a:buNone/>
            </a:pPr>
            <a:r>
              <a:rPr lang="en-US" sz="950">
                <a:solidFill>
                  <a:srgbClr val="8892A4"/>
                </a:solidFill>
                <a:latin typeface="Calibri"/>
                <a:ea typeface="Calibri"/>
                <a:cs typeface="Calibri"/>
                <a:sym typeface="Calibri"/>
              </a:rPr>
              <a:t>Si, hay muchos!</a:t>
            </a:r>
            <a:endParaRPr b="0" i="0" sz="950" u="none" cap="none" strike="noStrike">
              <a:solidFill>
                <a:schemeClr val="dk1"/>
              </a:solidFill>
              <a:latin typeface="Calibri"/>
              <a:ea typeface="Calibri"/>
              <a:cs typeface="Calibri"/>
              <a:sym typeface="Calibri"/>
            </a:endParaRPr>
          </a:p>
        </p:txBody>
      </p:sp>
      <p:sp>
        <p:nvSpPr>
          <p:cNvPr id="1341" name="Google Shape;1341;p3"/>
          <p:cNvSpPr/>
          <p:nvPr/>
        </p:nvSpPr>
        <p:spPr>
          <a:xfrm>
            <a:off x="7269480" y="1188720"/>
            <a:ext cx="1691640" cy="3566160"/>
          </a:xfrm>
          <a:prstGeom prst="rect">
            <a:avLst/>
          </a:prstGeom>
          <a:solidFill>
            <a:srgbClr val="141829"/>
          </a:solidFill>
          <a:ln cap="flat" cmpd="sng" w="9525">
            <a:solidFill>
              <a:srgbClr val="F59E0B"/>
            </a:solidFill>
            <a:prstDash val="solid"/>
            <a:round/>
            <a:headEnd len="sm" w="sm" type="none"/>
            <a:tailEnd len="sm" w="sm" type="none"/>
          </a:ln>
          <a:effectLst>
            <a:outerShdw blurRad="101600" rotWithShape="0" algn="bl" dir="81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3"/>
          <p:cNvSpPr/>
          <p:nvPr/>
        </p:nvSpPr>
        <p:spPr>
          <a:xfrm>
            <a:off x="7269480" y="1188720"/>
            <a:ext cx="1691640" cy="54864"/>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3"/>
          <p:cNvSpPr/>
          <p:nvPr/>
        </p:nvSpPr>
        <p:spPr>
          <a:xfrm>
            <a:off x="7360920" y="1298448"/>
            <a:ext cx="15087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3600"/>
              <a:buFont typeface="Trebuchet MS"/>
              <a:buNone/>
            </a:pPr>
            <a:r>
              <a:rPr b="1" i="0" lang="en-US" sz="3600" u="none" cap="none" strike="noStrike">
                <a:solidFill>
                  <a:srgbClr val="F59E0B"/>
                </a:solidFill>
                <a:latin typeface="Trebuchet MS"/>
                <a:ea typeface="Trebuchet MS"/>
                <a:cs typeface="Trebuchet MS"/>
                <a:sym typeface="Trebuchet MS"/>
              </a:rPr>
              <a:t>5</a:t>
            </a:r>
            <a:endParaRPr b="0" i="0" sz="3600" u="none" cap="none" strike="noStrike">
              <a:solidFill>
                <a:schemeClr val="dk1"/>
              </a:solidFill>
              <a:latin typeface="Calibri"/>
              <a:ea typeface="Calibri"/>
              <a:cs typeface="Calibri"/>
              <a:sym typeface="Calibri"/>
            </a:endParaRPr>
          </a:p>
        </p:txBody>
      </p:sp>
      <p:sp>
        <p:nvSpPr>
          <p:cNvPr id="1344" name="Google Shape;1344;p3"/>
          <p:cNvSpPr/>
          <p:nvPr/>
        </p:nvSpPr>
        <p:spPr>
          <a:xfrm>
            <a:off x="7360920" y="1810512"/>
            <a:ext cx="15087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F"/>
              </a:buClr>
              <a:buSzPts val="1300"/>
              <a:buFont typeface="Trebuchet MS"/>
              <a:buNone/>
            </a:pPr>
            <a:r>
              <a:rPr b="1" lang="en-US" sz="1300">
                <a:solidFill>
                  <a:srgbClr val="F0F4FF"/>
                </a:solidFill>
                <a:latin typeface="Trebuchet MS"/>
                <a:ea typeface="Trebuchet MS"/>
                <a:cs typeface="Trebuchet MS"/>
                <a:sym typeface="Trebuchet MS"/>
              </a:rPr>
              <a:t>Intro grafos</a:t>
            </a:r>
            <a:endParaRPr b="0" i="0" sz="1300" u="none" cap="none" strike="noStrike">
              <a:solidFill>
                <a:schemeClr val="dk1"/>
              </a:solidFill>
              <a:latin typeface="Calibri"/>
              <a:ea typeface="Calibri"/>
              <a:cs typeface="Calibri"/>
              <a:sym typeface="Calibri"/>
            </a:endParaRPr>
          </a:p>
        </p:txBody>
      </p:sp>
      <p:sp>
        <p:nvSpPr>
          <p:cNvPr id="1345" name="Google Shape;1345;p3"/>
          <p:cNvSpPr/>
          <p:nvPr/>
        </p:nvSpPr>
        <p:spPr>
          <a:xfrm>
            <a:off x="7360920" y="2267712"/>
            <a:ext cx="1417320" cy="18288"/>
          </a:xfrm>
          <a:prstGeom prst="rect">
            <a:avLst/>
          </a:prstGeom>
          <a:solidFill>
            <a:srgbClr val="3D4A5C"/>
          </a:solidFill>
          <a:ln cap="flat" cmpd="sng" w="12700">
            <a:solidFill>
              <a:srgbClr val="3D4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3"/>
          <p:cNvSpPr/>
          <p:nvPr/>
        </p:nvSpPr>
        <p:spPr>
          <a:xfrm>
            <a:off x="7360920" y="2340864"/>
            <a:ext cx="1508760" cy="2240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892A4"/>
              </a:buClr>
              <a:buSzPts val="950"/>
              <a:buFont typeface="Calibri"/>
              <a:buNone/>
            </a:pPr>
            <a:r>
              <a:rPr lang="en-US" sz="950">
                <a:solidFill>
                  <a:srgbClr val="8892A4"/>
                </a:solidFill>
                <a:latin typeface="Calibri"/>
                <a:ea typeface="Calibri"/>
                <a:cs typeface="Calibri"/>
                <a:sym typeface="Calibri"/>
              </a:rPr>
              <a:t>It’s time baby!</a:t>
            </a:r>
            <a:endParaRPr b="0" i="0" sz="950" u="none" cap="none" strike="noStrike">
              <a:solidFill>
                <a:schemeClr val="dk1"/>
              </a:solidFill>
              <a:latin typeface="Calibri"/>
              <a:ea typeface="Calibri"/>
              <a:cs typeface="Calibri"/>
              <a:sym typeface="Calibri"/>
            </a:endParaRPr>
          </a:p>
        </p:txBody>
      </p:sp>
      <p:sp>
        <p:nvSpPr>
          <p:cNvPr id="1347" name="Google Shape;1347;p3"/>
          <p:cNvSpPr/>
          <p:nvPr/>
        </p:nvSpPr>
        <p:spPr>
          <a:xfrm>
            <a:off x="137160" y="4846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AED · Clase 7 · Roadmap</a:t>
            </a:r>
            <a:endParaRPr b="0" i="0" sz="900" u="none" cap="none" strike="noStrike">
              <a:solidFill>
                <a:schemeClr val="dk1"/>
              </a:solidFill>
              <a:latin typeface="Calibri"/>
              <a:ea typeface="Calibri"/>
              <a:cs typeface="Calibri"/>
              <a:sym typeface="Calibri"/>
            </a:endParaRPr>
          </a:p>
        </p:txBody>
      </p:sp>
      <p:sp>
        <p:nvSpPr>
          <p:cNvPr id="1348" name="Google Shape;1348;p3"/>
          <p:cNvSpPr/>
          <p:nvPr/>
        </p:nvSpPr>
        <p:spPr>
          <a:xfrm>
            <a:off x="8503920" y="4846320"/>
            <a:ext cx="54864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92A4"/>
              </a:buClr>
              <a:buSzPts val="900"/>
              <a:buFont typeface="Calibri"/>
              <a:buNone/>
            </a:pPr>
            <a:r>
              <a:rPr b="0" i="0" lang="en-US" sz="900" u="none" cap="none" strike="noStrike">
                <a:solidFill>
                  <a:srgbClr val="8892A4"/>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2026-05-03T22:14:00Z</dcterms:created>
  <dc:creator>Ing. Valenzuela Gabriel</dc:creator>
</cp:coreProperties>
</file>